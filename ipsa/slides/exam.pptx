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75" r:id="rId2"/>
    <p:sldId id="703" r:id="rId3"/>
    <p:sldId id="705" r:id="rId4"/>
    <p:sldId id="709" r:id="rId5"/>
    <p:sldId id="707" r:id="rId6"/>
    <p:sldId id="708" r:id="rId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31"/>
    <a:srgbClr val="000000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83890" autoAdjust="0"/>
  </p:normalViewPr>
  <p:slideViewPr>
    <p:cSldViewPr snapToGrid="0">
      <p:cViewPr varScale="1">
        <p:scale>
          <a:sx n="50" d="100"/>
          <a:sy n="50" d="100"/>
        </p:scale>
        <p:origin x="1052" y="28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addSld modSld">
      <pc:chgData name="Gerth Stølting Brodal" userId="04ef4784-6591-4f86-a140-f5c3b108582a" providerId="ADAL" clId="{73BAC7D6-516A-44B5-B4B0-C7B08CA8B392}" dt="2026-05-10T21:56:46.820" v="766" actId="207"/>
      <pc:docMkLst>
        <pc:docMk/>
      </pc:docMkLst>
      <pc:sldChg chg="modSp mod">
        <pc:chgData name="Gerth Stølting Brodal" userId="04ef4784-6591-4f86-a140-f5c3b108582a" providerId="ADAL" clId="{73BAC7D6-516A-44B5-B4B0-C7B08CA8B392}" dt="2026-05-10T21:56:46.820" v="766" actId="207"/>
        <pc:sldMkLst>
          <pc:docMk/>
          <pc:sldMk cId="1270503327" sldId="703"/>
        </pc:sldMkLst>
        <pc:spChg chg="mod">
          <ac:chgData name="Gerth Stølting Brodal" userId="04ef4784-6591-4f86-a140-f5c3b108582a" providerId="ADAL" clId="{73BAC7D6-516A-44B5-B4B0-C7B08CA8B392}" dt="2026-05-10T21:56:46.820" v="766" actId="207"/>
          <ac:spMkLst>
            <pc:docMk/>
            <pc:sldMk cId="1270503327" sldId="703"/>
            <ac:spMk id="3" creationId="{00000000-0000-0000-0000-000000000000}"/>
          </ac:spMkLst>
        </pc:spChg>
      </pc:sldChg>
      <pc:sldChg chg="addSp delSp modSp new mod delAnim modAnim modNotesTx">
        <pc:chgData name="Gerth Stølting Brodal" userId="04ef4784-6591-4f86-a140-f5c3b108582a" providerId="ADAL" clId="{73BAC7D6-516A-44B5-B4B0-C7B08CA8B392}" dt="2026-04-20T12:50:33.999" v="765" actId="1076"/>
        <pc:sldMkLst>
          <pc:docMk/>
          <pc:sldMk cId="1621346635" sldId="709"/>
        </pc:sldMkLst>
        <pc:spChg chg="mod">
          <ac:chgData name="Gerth Stølting Brodal" userId="04ef4784-6591-4f86-a140-f5c3b108582a" providerId="ADAL" clId="{73BAC7D6-516A-44B5-B4B0-C7B08CA8B392}" dt="2026-04-20T12:29:35.321" v="673" actId="14100"/>
          <ac:spMkLst>
            <pc:docMk/>
            <pc:sldMk cId="1621346635" sldId="709"/>
            <ac:spMk id="2" creationId="{A4839964-8178-89B3-04C4-FDBFEA7CD89E}"/>
          </ac:spMkLst>
        </pc:spChg>
        <pc:spChg chg="add mod">
          <ac:chgData name="Gerth Stølting Brodal" userId="04ef4784-6591-4f86-a140-f5c3b108582a" providerId="ADAL" clId="{73BAC7D6-516A-44B5-B4B0-C7B08CA8B392}" dt="2026-04-20T12:43:05.989" v="762" actId="6549"/>
          <ac:spMkLst>
            <pc:docMk/>
            <pc:sldMk cId="1621346635" sldId="709"/>
            <ac:spMk id="10" creationId="{0A1E62CB-F7E9-1988-4B21-7A499DC0F6A3}"/>
          </ac:spMkLst>
        </pc:spChg>
        <pc:spChg chg="add mod">
          <ac:chgData name="Gerth Stølting Brodal" userId="04ef4784-6591-4f86-a140-f5c3b108582a" providerId="ADAL" clId="{73BAC7D6-516A-44B5-B4B0-C7B08CA8B392}" dt="2026-04-20T12:24:17.953" v="618" actId="1076"/>
          <ac:spMkLst>
            <pc:docMk/>
            <pc:sldMk cId="1621346635" sldId="709"/>
            <ac:spMk id="15" creationId="{79F44FD5-BCE3-076F-9F02-5A3789E615F4}"/>
          </ac:spMkLst>
        </pc:spChg>
        <pc:spChg chg="add mod">
          <ac:chgData name="Gerth Stølting Brodal" userId="04ef4784-6591-4f86-a140-f5c3b108582a" providerId="ADAL" clId="{73BAC7D6-516A-44B5-B4B0-C7B08CA8B392}" dt="2026-04-20T12:24:32.051" v="634" actId="1076"/>
          <ac:spMkLst>
            <pc:docMk/>
            <pc:sldMk cId="1621346635" sldId="709"/>
            <ac:spMk id="16" creationId="{C078C52F-5AE4-B055-8261-D7352360BB9A}"/>
          </ac:spMkLst>
        </pc:spChg>
        <pc:spChg chg="add mod">
          <ac:chgData name="Gerth Stølting Brodal" userId="04ef4784-6591-4f86-a140-f5c3b108582a" providerId="ADAL" clId="{73BAC7D6-516A-44B5-B4B0-C7B08CA8B392}" dt="2026-04-20T12:33:33.499" v="686" actId="20577"/>
          <ac:spMkLst>
            <pc:docMk/>
            <pc:sldMk cId="1621346635" sldId="709"/>
            <ac:spMk id="19" creationId="{EBCC6460-8B81-C7D8-944F-4BA9F694AD3A}"/>
          </ac:spMkLst>
        </pc:spChg>
        <pc:spChg chg="add mod">
          <ac:chgData name="Gerth Stølting Brodal" userId="04ef4784-6591-4f86-a140-f5c3b108582a" providerId="ADAL" clId="{73BAC7D6-516A-44B5-B4B0-C7B08CA8B392}" dt="2026-04-20T12:25:27.326" v="644" actId="1076"/>
          <ac:spMkLst>
            <pc:docMk/>
            <pc:sldMk cId="1621346635" sldId="709"/>
            <ac:spMk id="27" creationId="{F72ECF3C-3D78-F5CE-F77B-9377DE39CDB8}"/>
          </ac:spMkLst>
        </pc:spChg>
        <pc:spChg chg="add mod">
          <ac:chgData name="Gerth Stølting Brodal" userId="04ef4784-6591-4f86-a140-f5c3b108582a" providerId="ADAL" clId="{73BAC7D6-516A-44B5-B4B0-C7B08CA8B392}" dt="2026-04-20T12:44:15.928" v="763" actId="113"/>
          <ac:spMkLst>
            <pc:docMk/>
            <pc:sldMk cId="1621346635" sldId="709"/>
            <ac:spMk id="30" creationId="{2681E6CD-554F-8D3A-ED30-88D9D04981E2}"/>
          </ac:spMkLst>
        </pc:spChg>
        <pc:picChg chg="add mod ord">
          <ac:chgData name="Gerth Stølting Brodal" userId="04ef4784-6591-4f86-a140-f5c3b108582a" providerId="ADAL" clId="{73BAC7D6-516A-44B5-B4B0-C7B08CA8B392}" dt="2026-04-20T12:35:07.409" v="735" actId="1036"/>
          <ac:picMkLst>
            <pc:docMk/>
            <pc:sldMk cId="1621346635" sldId="709"/>
            <ac:picMk id="42" creationId="{422E1ED9-C2CA-2180-0933-AE9C3478D57A}"/>
          </ac:picMkLst>
        </pc:picChg>
        <pc:picChg chg="add mod">
          <ac:chgData name="Gerth Stølting Brodal" userId="04ef4784-6591-4f86-a140-f5c3b108582a" providerId="ADAL" clId="{73BAC7D6-516A-44B5-B4B0-C7B08CA8B392}" dt="2026-04-20T12:50:33.999" v="765" actId="1076"/>
          <ac:picMkLst>
            <pc:docMk/>
            <pc:sldMk cId="1621346635" sldId="709"/>
            <ac:picMk id="45" creationId="{5BE67AD2-6117-A31F-8C68-3E75AC60DEC6}"/>
          </ac:picMkLst>
        </pc:picChg>
        <pc:cxnChg chg="add mod">
          <ac:chgData name="Gerth Stølting Brodal" userId="04ef4784-6591-4f86-a140-f5c3b108582a" providerId="ADAL" clId="{73BAC7D6-516A-44B5-B4B0-C7B08CA8B392}" dt="2026-04-20T12:24:04.486" v="617" actId="1076"/>
          <ac:cxnSpMkLst>
            <pc:docMk/>
            <pc:sldMk cId="1621346635" sldId="709"/>
            <ac:cxnSpMk id="6" creationId="{A250C8EE-B57E-773A-A776-D344E124516D}"/>
          </ac:cxnSpMkLst>
        </pc:cxnChg>
        <pc:cxnChg chg="add mod">
          <ac:chgData name="Gerth Stølting Brodal" userId="04ef4784-6591-4f86-a140-f5c3b108582a" providerId="ADAL" clId="{73BAC7D6-516A-44B5-B4B0-C7B08CA8B392}" dt="2026-04-20T12:24:24.293" v="632" actId="1035"/>
          <ac:cxnSpMkLst>
            <pc:docMk/>
            <pc:sldMk cId="1621346635" sldId="709"/>
            <ac:cxnSpMk id="9" creationId="{A8117F7D-C276-8AE8-3E95-77E9E6528BC5}"/>
          </ac:cxnSpMkLst>
        </pc:cxnChg>
        <pc:cxnChg chg="add mod">
          <ac:chgData name="Gerth Stølting Brodal" userId="04ef4784-6591-4f86-a140-f5c3b108582a" providerId="ADAL" clId="{73BAC7D6-516A-44B5-B4B0-C7B08CA8B392}" dt="2026-04-20T12:23:50.671" v="576" actId="1035"/>
          <ac:cxnSpMkLst>
            <pc:docMk/>
            <pc:sldMk cId="1621346635" sldId="709"/>
            <ac:cxnSpMk id="12" creationId="{615B64E8-C9CB-2016-0FC3-88D66041AEC5}"/>
          </ac:cxnSpMkLst>
        </pc:cxnChg>
        <pc:cxnChg chg="add mod">
          <ac:chgData name="Gerth Stølting Brodal" userId="04ef4784-6591-4f86-a140-f5c3b108582a" providerId="ADAL" clId="{73BAC7D6-516A-44B5-B4B0-C7B08CA8B392}" dt="2026-04-20T12:24:17.953" v="618" actId="1076"/>
          <ac:cxnSpMkLst>
            <pc:docMk/>
            <pc:sldMk cId="1621346635" sldId="709"/>
            <ac:cxnSpMk id="14" creationId="{A9CC7847-F374-2F79-8CDC-B7DC889CAF6E}"/>
          </ac:cxnSpMkLst>
        </pc:cxnChg>
        <pc:cxnChg chg="add mod">
          <ac:chgData name="Gerth Stølting Brodal" userId="04ef4784-6591-4f86-a140-f5c3b108582a" providerId="ADAL" clId="{73BAC7D6-516A-44B5-B4B0-C7B08CA8B392}" dt="2026-04-20T12:24:55.107" v="637" actId="1076"/>
          <ac:cxnSpMkLst>
            <pc:docMk/>
            <pc:sldMk cId="1621346635" sldId="709"/>
            <ac:cxnSpMk id="25" creationId="{4FC47C59-ECA7-41A0-4638-6C89CCCFB524}"/>
          </ac:cxnSpMkLst>
        </pc:cxnChg>
        <pc:cxnChg chg="add mod">
          <ac:chgData name="Gerth Stølting Brodal" userId="04ef4784-6591-4f86-a140-f5c3b108582a" providerId="ADAL" clId="{73BAC7D6-516A-44B5-B4B0-C7B08CA8B392}" dt="2026-04-20T12:24:43.779" v="636" actId="1076"/>
          <ac:cxnSpMkLst>
            <pc:docMk/>
            <pc:sldMk cId="1621346635" sldId="709"/>
            <ac:cxnSpMk id="28" creationId="{C054B758-A5E4-6A51-D197-320D28CE543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0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Crucial - disable AI assistants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24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rende.au.dk/en/wiseflow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112" y="3368149"/>
            <a:ext cx="11357186" cy="2937353"/>
          </a:xfrm>
        </p:spPr>
        <p:txBody>
          <a:bodyPr>
            <a:normAutofit/>
          </a:bodyPr>
          <a:lstStyle/>
          <a:p>
            <a:r>
              <a:rPr lang="en-US" dirty="0"/>
              <a:t>Missing </a:t>
            </a:r>
            <a:r>
              <a:rPr lang="en-US" dirty="0" err="1"/>
              <a:t>handins</a:t>
            </a:r>
            <a:r>
              <a:rPr lang="en-US" dirty="0"/>
              <a:t>, deadline 15 May 2026</a:t>
            </a:r>
          </a:p>
          <a:p>
            <a:r>
              <a:rPr lang="en-US" dirty="0"/>
              <a:t>Final project, deadline 31 May 2026</a:t>
            </a:r>
            <a:endParaRPr lang="en-US" baseline="30000" dirty="0"/>
          </a:p>
          <a:p>
            <a:r>
              <a:rPr lang="en-US" dirty="0"/>
              <a:t>Course evaluation</a:t>
            </a:r>
          </a:p>
          <a:p>
            <a:r>
              <a:rPr lang="en-US" dirty="0"/>
              <a:t>Exam, 20 June 2026</a:t>
            </a:r>
          </a:p>
          <a:p>
            <a:r>
              <a:rPr lang="en-US" dirty="0"/>
              <a:t>AOB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966079" y="131568"/>
            <a:ext cx="10500102" cy="2309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lang="en-US" sz="6000" dirty="0"/>
              <a:t>Introduction to Programming with</a:t>
            </a:r>
            <a:br>
              <a:rPr lang="en-US" sz="6000" dirty="0"/>
            </a:br>
            <a:r>
              <a:rPr lang="en-US" sz="6000" dirty="0"/>
              <a:t>Scientific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3816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0588"/>
            <a:ext cx="10515600" cy="1325563"/>
          </a:xfrm>
        </p:spPr>
        <p:txBody>
          <a:bodyPr/>
          <a:lstStyle/>
          <a:p>
            <a:r>
              <a:rPr lang="da-DK" dirty="0" err="1"/>
              <a:t>Exam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59769"/>
            <a:ext cx="11563350" cy="5236676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5 hours, written exam, with aids, including PC but </a:t>
            </a:r>
            <a:r>
              <a:rPr lang="en-US" b="1" dirty="0">
                <a:solidFill>
                  <a:srgbClr val="C00000"/>
                </a:solidFill>
              </a:rPr>
              <a:t>without internet</a:t>
            </a:r>
          </a:p>
          <a:p>
            <a:r>
              <a:rPr lang="en-US" b="1" dirty="0"/>
              <a:t>Communication with others about the exam is not permitted during the exam</a:t>
            </a:r>
          </a:p>
          <a:p>
            <a:r>
              <a:rPr lang="en-US" b="1" dirty="0" err="1">
                <a:hlinkClick r:id="rId3"/>
              </a:rPr>
              <a:t>WISEflow</a:t>
            </a:r>
            <a:r>
              <a:rPr lang="en-US" b="1" dirty="0">
                <a:hlinkClick r:id="rId3"/>
              </a:rPr>
              <a:t> Device Monitor </a:t>
            </a:r>
            <a:r>
              <a:rPr lang="en-US" b="1" dirty="0"/>
              <a:t>must be enabled</a:t>
            </a:r>
          </a:p>
          <a:p>
            <a:r>
              <a:rPr lang="en-US" b="1" dirty="0"/>
              <a:t>AI assistants are not allowed </a:t>
            </a:r>
          </a:p>
          <a:p>
            <a:r>
              <a:rPr lang="en-US" dirty="0"/>
              <a:t>Reexam in August</a:t>
            </a:r>
          </a:p>
          <a:p>
            <a:r>
              <a:rPr lang="en-US" dirty="0"/>
              <a:t>Grade is an </a:t>
            </a:r>
            <a:r>
              <a:rPr lang="en-US" i="1" dirty="0"/>
              <a:t>overall assessment</a:t>
            </a:r>
            <a:r>
              <a:rPr lang="en-US" dirty="0"/>
              <a:t> of the implementation project and the exam</a:t>
            </a:r>
          </a:p>
          <a:p>
            <a:pPr lvl="1"/>
            <a:r>
              <a:rPr lang="en-US" dirty="0"/>
              <a:t>The result of the final exam must meet the minimum requirements for acceptance to be able to pass the course</a:t>
            </a:r>
          </a:p>
          <a:p>
            <a:pPr lvl="1"/>
            <a:r>
              <a:rPr lang="en-US" dirty="0"/>
              <a:t>The final exam contributes 80% to the final grade</a:t>
            </a:r>
            <a:endParaRPr lang="da-DK" dirty="0"/>
          </a:p>
          <a:p>
            <a:r>
              <a:rPr lang="da-DK" dirty="0"/>
              <a:t>wiseflow.au.dk</a:t>
            </a:r>
          </a:p>
          <a:p>
            <a:pPr lvl="1"/>
            <a:r>
              <a:rPr lang="da-DK" dirty="0"/>
              <a:t>Download .zip + </a:t>
            </a:r>
            <a:r>
              <a:rPr lang="da-DK" dirty="0" err="1"/>
              <a:t>add</a:t>
            </a:r>
            <a:r>
              <a:rPr lang="da-DK" dirty="0"/>
              <a:t> missing </a:t>
            </a:r>
            <a:r>
              <a:rPr lang="da-DK" dirty="0" err="1"/>
              <a:t>code</a:t>
            </a:r>
            <a:r>
              <a:rPr lang="da-DK" dirty="0"/>
              <a:t> + upload new .zip</a:t>
            </a:r>
          </a:p>
          <a:p>
            <a:r>
              <a:rPr lang="da-DK" dirty="0" err="1"/>
              <a:t>Questions</a:t>
            </a:r>
            <a:r>
              <a:rPr lang="da-DK" dirty="0"/>
              <a:t>? – post </a:t>
            </a:r>
            <a:r>
              <a:rPr lang="da-DK" dirty="0" err="1"/>
              <a:t>them</a:t>
            </a:r>
            <a:r>
              <a:rPr lang="da-DK" dirty="0"/>
              <a:t> on </a:t>
            </a:r>
            <a:r>
              <a:rPr lang="da-DK" dirty="0" err="1"/>
              <a:t>Brightspace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050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EDEA536C-694D-F3E1-AD03-1A7728FE9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080" y="3307355"/>
            <a:ext cx="5148629" cy="35137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D871EB9-CABE-97B7-E58D-A61DCC320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204" y="79306"/>
            <a:ext cx="685896" cy="21243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64DA29E-FD9F-DA24-C39F-A4ED0C820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9" y="1575445"/>
            <a:ext cx="4517707" cy="44484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E6D72E-6528-82AF-232B-671514C9B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801" y="79306"/>
            <a:ext cx="485843" cy="25435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8B4476-CD81-7F89-CD3F-208DBDF55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141" y="70230"/>
            <a:ext cx="1105054" cy="30960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70" y="160056"/>
            <a:ext cx="10515600" cy="1325563"/>
          </a:xfrm>
        </p:spPr>
        <p:txBody>
          <a:bodyPr/>
          <a:lstStyle/>
          <a:p>
            <a:r>
              <a:rPr lang="en-US" dirty="0"/>
              <a:t>Content of .zip file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920785" y="209288"/>
            <a:ext cx="90000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8273447" y="255046"/>
            <a:ext cx="324000" cy="1098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</p:cNvCxnSpPr>
          <p:nvPr/>
        </p:nvCxnSpPr>
        <p:spPr>
          <a:xfrm>
            <a:off x="9198912" y="255046"/>
            <a:ext cx="681688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>
            <a:off x="9262412" y="1301673"/>
            <a:ext cx="618188" cy="635077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4655839" y="663262"/>
            <a:ext cx="1790037" cy="142989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391463" y="497182"/>
            <a:ext cx="519695" cy="24198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>
            <a:off x="7227744" y="3118199"/>
            <a:ext cx="419209" cy="86960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97781" y="1717277"/>
            <a:ext cx="115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Exam questions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1693" y="1344762"/>
            <a:ext cx="215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test 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9352" y="3027142"/>
            <a:ext cx="218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test 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25003" y="4073346"/>
            <a:ext cx="2514477" cy="27200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7325003" y="5194390"/>
            <a:ext cx="2514477" cy="27200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E486A75-E69C-9B25-E56B-721540EBA3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352" y="70229"/>
            <a:ext cx="2180114" cy="132556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009DF9C-51DD-070A-E8B5-DB1B6AE033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9352" y="1875958"/>
            <a:ext cx="2180114" cy="1160934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2EC7D83-4010-AD33-4924-FC9D046E83AD}"/>
              </a:ext>
            </a:extLst>
          </p:cNvPr>
          <p:cNvCxnSpPr>
            <a:cxnSpLocks/>
          </p:cNvCxnSpPr>
          <p:nvPr/>
        </p:nvCxnSpPr>
        <p:spPr>
          <a:xfrm flipV="1">
            <a:off x="4539825" y="6335995"/>
            <a:ext cx="413319" cy="23223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6144E00-ECD0-9916-8EA7-B65913911157}"/>
              </a:ext>
            </a:extLst>
          </p:cNvPr>
          <p:cNvSpPr txBox="1"/>
          <p:nvPr/>
        </p:nvSpPr>
        <p:spPr>
          <a:xfrm>
            <a:off x="1550391" y="6452110"/>
            <a:ext cx="3011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* = line with wrong output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EBDC36-7D73-E4A2-80C1-FBCE64153B1C}"/>
              </a:ext>
            </a:extLst>
          </p:cNvPr>
          <p:cNvSpPr txBox="1"/>
          <p:nvPr/>
        </p:nvSpPr>
        <p:spPr>
          <a:xfrm>
            <a:off x="9997709" y="3874612"/>
            <a:ext cx="21801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/>
            <a:r>
              <a:rPr lang="en-US" sz="1600" dirty="0">
                <a:solidFill>
                  <a:srgbClr val="C00000"/>
                </a:solidFill>
              </a:rPr>
              <a:t>run_tests.py arguments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A B C …</a:t>
            </a:r>
            <a:br>
              <a:rPr lang="en-US" sz="1600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exercises to evaluate</a:t>
            </a:r>
            <a:br>
              <a:rPr lang="en-US" sz="1600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default are all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--abort </a:t>
            </a:r>
            <a:br>
              <a:rPr lang="en-US" sz="1600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stop on first error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--verbose=</a:t>
            </a:r>
            <a:r>
              <a:rPr lang="en-US" sz="1600" i="1" dirty="0">
                <a:solidFill>
                  <a:srgbClr val="C00000"/>
                </a:solidFill>
              </a:rPr>
              <a:t>value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br>
              <a:rPr lang="en-US" sz="1600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amount of output</a:t>
            </a:r>
          </a:p>
        </p:txBody>
      </p:sp>
      <p:sp>
        <p:nvSpPr>
          <p:cNvPr id="57" name="Rounded Rectangle 36">
            <a:extLst>
              <a:ext uri="{FF2B5EF4-FFF2-40B4-BE49-F238E27FC236}">
                <a16:creationId xmlns:a16="http://schemas.microsoft.com/office/drawing/2014/main" id="{2A18B091-1E2A-C8E1-45F9-A7CD9809FA0A}"/>
              </a:ext>
            </a:extLst>
          </p:cNvPr>
          <p:cNvSpPr/>
          <p:nvPr/>
        </p:nvSpPr>
        <p:spPr>
          <a:xfrm>
            <a:off x="187134" y="4928215"/>
            <a:ext cx="1131457" cy="27200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1" grpId="0"/>
      <p:bldP spid="34" grpId="0"/>
      <p:bldP spid="35" grpId="0"/>
      <p:bldP spid="36" grpId="0" animBg="1"/>
      <p:bldP spid="37" grpId="0" animBg="1"/>
      <p:bldP spid="54" grpId="0"/>
      <p:bldP spid="55" grpId="0"/>
      <p:bldP spid="5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422E1ED9-C2CA-2180-0933-AE9C3478D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673" y="898367"/>
            <a:ext cx="10424290" cy="58636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839964-8178-89B3-04C4-FDBFEA7CD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31" y="32831"/>
            <a:ext cx="3268509" cy="923331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VS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50C8EE-B57E-773A-A776-D344E124516D}"/>
              </a:ext>
            </a:extLst>
          </p:cNvPr>
          <p:cNvCxnSpPr>
            <a:cxnSpLocks/>
          </p:cNvCxnSpPr>
          <p:nvPr/>
        </p:nvCxnSpPr>
        <p:spPr>
          <a:xfrm flipH="1">
            <a:off x="10384679" y="3159725"/>
            <a:ext cx="501012" cy="56383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117F7D-C276-8AE8-3E95-77E9E6528BC5}"/>
              </a:ext>
            </a:extLst>
          </p:cNvPr>
          <p:cNvCxnSpPr>
            <a:cxnSpLocks/>
          </p:cNvCxnSpPr>
          <p:nvPr/>
        </p:nvCxnSpPr>
        <p:spPr>
          <a:xfrm flipH="1">
            <a:off x="3778054" y="500528"/>
            <a:ext cx="236263" cy="55049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1E62CB-F7E9-1988-4B21-7A499DC0F6A3}"/>
              </a:ext>
            </a:extLst>
          </p:cNvPr>
          <p:cNvSpPr txBox="1"/>
          <p:nvPr/>
        </p:nvSpPr>
        <p:spPr>
          <a:xfrm>
            <a:off x="9785446" y="1857171"/>
            <a:ext cx="212166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Ctrl-j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Toggles terminal</a:t>
            </a:r>
          </a:p>
          <a:p>
            <a:pPr algn="ctr">
              <a:spcBef>
                <a:spcPts val="600"/>
              </a:spcBef>
            </a:pPr>
            <a:r>
              <a:rPr lang="en-US" dirty="0">
                <a:solidFill>
                  <a:srgbClr val="C00000"/>
                </a:solidFill>
              </a:rPr>
              <a:t>Ctrl-l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Clears terminal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5B64E8-C9CB-2016-0FC3-88D66041AEC5}"/>
              </a:ext>
            </a:extLst>
          </p:cNvPr>
          <p:cNvCxnSpPr>
            <a:cxnSpLocks/>
          </p:cNvCxnSpPr>
          <p:nvPr/>
        </p:nvCxnSpPr>
        <p:spPr>
          <a:xfrm flipV="1">
            <a:off x="7657360" y="4144314"/>
            <a:ext cx="344015" cy="60464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CC7847-F374-2F79-8CDC-B7DC889CAF6E}"/>
              </a:ext>
            </a:extLst>
          </p:cNvPr>
          <p:cNvCxnSpPr>
            <a:cxnSpLocks/>
          </p:cNvCxnSpPr>
          <p:nvPr/>
        </p:nvCxnSpPr>
        <p:spPr>
          <a:xfrm>
            <a:off x="8692648" y="643233"/>
            <a:ext cx="542879" cy="59351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9F44FD5-BCE3-076F-9F02-5A3789E615F4}"/>
              </a:ext>
            </a:extLst>
          </p:cNvPr>
          <p:cNvSpPr txBox="1"/>
          <p:nvPr/>
        </p:nvSpPr>
        <p:spPr>
          <a:xfrm>
            <a:off x="7657360" y="0"/>
            <a:ext cx="4090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Place terminal right</a:t>
            </a:r>
          </a:p>
          <a:p>
            <a:r>
              <a:rPr lang="en-US" i="1" dirty="0">
                <a:solidFill>
                  <a:srgbClr val="C00000"/>
                </a:solidFill>
              </a:rPr>
              <a:t>Right click menu </a:t>
            </a:r>
            <a:r>
              <a:rPr lang="en-US" dirty="0">
                <a:solidFill>
                  <a:srgbClr val="C00000"/>
                </a:solidFill>
              </a:rPr>
              <a:t>&gt; </a:t>
            </a:r>
            <a:r>
              <a:rPr lang="en-US" i="1" dirty="0">
                <a:solidFill>
                  <a:srgbClr val="C00000"/>
                </a:solidFill>
              </a:rPr>
              <a:t>Panel position </a:t>
            </a:r>
            <a:r>
              <a:rPr lang="en-US" dirty="0">
                <a:solidFill>
                  <a:srgbClr val="C00000"/>
                </a:solidFill>
              </a:rPr>
              <a:t>&gt; </a:t>
            </a:r>
            <a:r>
              <a:rPr lang="en-US" i="1" dirty="0">
                <a:solidFill>
                  <a:srgbClr val="C00000"/>
                </a:solidFill>
              </a:rPr>
              <a:t>Right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78C52F-5AE4-B055-8261-D7352360BB9A}"/>
              </a:ext>
            </a:extLst>
          </p:cNvPr>
          <p:cNvSpPr txBox="1"/>
          <p:nvPr/>
        </p:nvSpPr>
        <p:spPr>
          <a:xfrm>
            <a:off x="4004666" y="148020"/>
            <a:ext cx="295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F11 toggles full screen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CC6460-8B81-C7D8-944F-4BA9F694AD3A}"/>
              </a:ext>
            </a:extLst>
          </p:cNvPr>
          <p:cNvSpPr txBox="1"/>
          <p:nvPr/>
        </p:nvSpPr>
        <p:spPr>
          <a:xfrm>
            <a:off x="5421459" y="4650122"/>
            <a:ext cx="3070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Split tab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hold “alt” to split horizontally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C47C59-ECA7-41A0-4638-6C89CCCFB524}"/>
              </a:ext>
            </a:extLst>
          </p:cNvPr>
          <p:cNvCxnSpPr>
            <a:cxnSpLocks/>
          </p:cNvCxnSpPr>
          <p:nvPr/>
        </p:nvCxnSpPr>
        <p:spPr>
          <a:xfrm flipV="1">
            <a:off x="1007034" y="1391156"/>
            <a:ext cx="693269" cy="20638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72ECF3C-3D78-F5CE-F77B-9377DE39CDB8}"/>
              </a:ext>
            </a:extLst>
          </p:cNvPr>
          <p:cNvSpPr txBox="1"/>
          <p:nvPr/>
        </p:nvSpPr>
        <p:spPr>
          <a:xfrm>
            <a:off x="41687" y="1580172"/>
            <a:ext cx="1311981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ctrl-k ctrl-o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Open folder</a:t>
            </a:r>
          </a:p>
          <a:p>
            <a:pPr algn="ctr">
              <a:spcBef>
                <a:spcPts val="600"/>
              </a:spcBef>
            </a:pPr>
            <a:r>
              <a:rPr lang="en-US" dirty="0">
                <a:solidFill>
                  <a:srgbClr val="C00000"/>
                </a:solidFill>
              </a:rPr>
              <a:t>Click to toggle file explorer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54B758-A5E4-6A51-D197-320D28CE5435}"/>
              </a:ext>
            </a:extLst>
          </p:cNvPr>
          <p:cNvCxnSpPr>
            <a:cxnSpLocks/>
          </p:cNvCxnSpPr>
          <p:nvPr/>
        </p:nvCxnSpPr>
        <p:spPr>
          <a:xfrm flipV="1">
            <a:off x="849136" y="2805127"/>
            <a:ext cx="851167" cy="111246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681E6CD-554F-8D3A-ED30-88D9D04981E2}"/>
              </a:ext>
            </a:extLst>
          </p:cNvPr>
          <p:cNvSpPr txBox="1"/>
          <p:nvPr/>
        </p:nvSpPr>
        <p:spPr>
          <a:xfrm>
            <a:off x="-77706" y="3940516"/>
            <a:ext cx="1799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Disable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AI assistants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(GitHub Copilot)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BE67AD2-6117-A31F-8C68-3E75AC60DE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51" y="4863846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46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3104"/>
            <a:ext cx="11353800" cy="4351338"/>
          </a:xfrm>
        </p:spPr>
        <p:txBody>
          <a:bodyPr/>
          <a:lstStyle/>
          <a:p>
            <a:r>
              <a:rPr lang="en-US" dirty="0"/>
              <a:t>Each problem will be assigned a </a:t>
            </a:r>
            <a:r>
              <a:rPr lang="en-US" b="1" dirty="0"/>
              <a:t>weight</a:t>
            </a:r>
          </a:p>
          <a:p>
            <a:r>
              <a:rPr lang="en-US" dirty="0"/>
              <a:t>There will be problems of </a:t>
            </a:r>
            <a:r>
              <a:rPr lang="en-US" b="1" dirty="0"/>
              <a:t>varying difficulty</a:t>
            </a:r>
          </a:p>
          <a:p>
            <a:r>
              <a:rPr lang="en-US" dirty="0"/>
              <a:t>Code will be evaluated on </a:t>
            </a:r>
            <a:r>
              <a:rPr lang="en-US" b="1" dirty="0"/>
              <a:t>known test cases</a:t>
            </a:r>
            <a:r>
              <a:rPr lang="en-US" dirty="0"/>
              <a:t> and </a:t>
            </a:r>
            <a:r>
              <a:rPr lang="en-US" b="1" dirty="0"/>
              <a:t>unknown test cases</a:t>
            </a:r>
          </a:p>
          <a:p>
            <a:r>
              <a:rPr lang="en-US" dirty="0"/>
              <a:t>In general, </a:t>
            </a:r>
            <a:r>
              <a:rPr lang="en-US" b="1" dirty="0"/>
              <a:t>automatic scoring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in some exceptional cases manual </a:t>
            </a:r>
          </a:p>
          <a:p>
            <a:endParaRPr lang="en-US" dirty="0"/>
          </a:p>
          <a:p>
            <a:r>
              <a:rPr lang="en-US" dirty="0"/>
              <a:t>Put a </a:t>
            </a:r>
            <a:r>
              <a:rPr lang="en-US" b="1" dirty="0">
                <a:solidFill>
                  <a:srgbClr val="C00000"/>
                </a:solidFill>
              </a:rPr>
              <a:t>comment if you copied code from exercises/slides/documentation </a:t>
            </a:r>
            <a:r>
              <a:rPr lang="en-US" dirty="0"/>
              <a:t>to avoid plagiarism</a:t>
            </a:r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924124" y="508629"/>
            <a:ext cx="2659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Don’t expect partial scores for this solution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7F81E2-E6F9-C65F-900C-B50C199F9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867" y="1359493"/>
            <a:ext cx="3057952" cy="8764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9874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379" y="303852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AOB ?</a:t>
            </a:r>
          </a:p>
        </p:txBody>
      </p:sp>
    </p:spTree>
    <p:extLst>
      <p:ext uri="{BB962C8B-B14F-4D97-AF65-F5344CB8AC3E}">
        <p14:creationId xmlns:p14="http://schemas.microsoft.com/office/powerpoint/2010/main" val="2118424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39330</TotalTime>
  <Words>312</Words>
  <Application>Microsoft Office PowerPoint</Application>
  <PresentationFormat>Widescreen</PresentationFormat>
  <Paragraphs>52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Exam</vt:lpstr>
      <vt:lpstr>Content of .zip file</vt:lpstr>
      <vt:lpstr>Using VS Code</vt:lpstr>
      <vt:lpstr>Evaluation of code</vt:lpstr>
      <vt:lpstr>AOB ?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1390</cp:revision>
  <dcterms:created xsi:type="dcterms:W3CDTF">2017-10-19T06:54:16Z</dcterms:created>
  <dcterms:modified xsi:type="dcterms:W3CDTF">2026-05-10T21:56:58Z</dcterms:modified>
</cp:coreProperties>
</file>