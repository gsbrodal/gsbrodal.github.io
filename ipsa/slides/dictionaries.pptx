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476" r:id="rId2"/>
    <p:sldId id="548" r:id="rId3"/>
    <p:sldId id="554" r:id="rId4"/>
    <p:sldId id="562" r:id="rId5"/>
    <p:sldId id="568" r:id="rId6"/>
    <p:sldId id="558" r:id="rId7"/>
    <p:sldId id="570" r:id="rId8"/>
    <p:sldId id="561" r:id="rId9"/>
    <p:sldId id="545" r:id="rId10"/>
    <p:sldId id="550" r:id="rId11"/>
    <p:sldId id="559" r:id="rId12"/>
    <p:sldId id="569" r:id="rId13"/>
    <p:sldId id="546" r:id="rId14"/>
    <p:sldId id="555" r:id="rId15"/>
    <p:sldId id="551" r:id="rId16"/>
    <p:sldId id="513" r:id="rId17"/>
    <p:sldId id="563" r:id="rId18"/>
    <p:sldId id="565" r:id="rId19"/>
    <p:sldId id="566" r:id="rId20"/>
    <p:sldId id="567" r:id="rId21"/>
    <p:sldId id="544" r:id="rId22"/>
    <p:sldId id="557" r:id="rId23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83BA"/>
    <a:srgbClr val="249D24"/>
    <a:srgbClr val="FF7E0B"/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5D2106-90FA-4CA5-A8CB-EE15E53656C3}" v="6" dt="2026-02-11T07:32:49.1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07" autoAdjust="0"/>
    <p:restoredTop sz="76689" autoAdjust="0"/>
  </p:normalViewPr>
  <p:slideViewPr>
    <p:cSldViewPr snapToGrid="0">
      <p:cViewPr varScale="1">
        <p:scale>
          <a:sx n="45" d="100"/>
          <a:sy n="45" d="100"/>
        </p:scale>
        <p:origin x="1328" y="48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modSld">
      <pc:chgData name="Gerth Stølting Brodal" userId="04ef4784-6591-4f86-a140-f5c3b108582a" providerId="ADAL" clId="{73BAC7D6-516A-44B5-B4B0-C7B08CA8B392}" dt="2026-02-11T07:32:49.124" v="401" actId="20577"/>
      <pc:docMkLst>
        <pc:docMk/>
      </pc:docMkLst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893128340" sldId="476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893128340" sldId="47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893128340" sldId="476"/>
            <ac:spMk id="3" creationId="{00000000-0000-0000-0000-000000000000}"/>
          </ac:spMkLst>
        </pc:spChg>
      </pc:sldChg>
      <pc:sldChg chg="addSp modSp mod">
        <pc:chgData name="Gerth Stølting Brodal" userId="04ef4784-6591-4f86-a140-f5c3b108582a" providerId="ADAL" clId="{73BAC7D6-516A-44B5-B4B0-C7B08CA8B392}" dt="2026-02-11T07:06:50.236" v="330" actId="2085"/>
        <pc:sldMkLst>
          <pc:docMk/>
          <pc:sldMk cId="637895129" sldId="513"/>
        </pc:sldMkLst>
        <pc:spChg chg="add mod">
          <ac:chgData name="Gerth Stølting Brodal" userId="04ef4784-6591-4f86-a140-f5c3b108582a" providerId="ADAL" clId="{73BAC7D6-516A-44B5-B4B0-C7B08CA8B392}" dt="2026-02-11T07:06:50.236" v="330" actId="2085"/>
          <ac:spMkLst>
            <pc:docMk/>
            <pc:sldMk cId="637895129" sldId="513"/>
            <ac:spMk id="2" creationId="{6B3417DE-48CB-255A-C5F1-B7537FCB4B36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37895129" sldId="513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37895129" sldId="513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37895129" sldId="513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37895129" sldId="513"/>
            <ac:spMk id="39" creationId="{ACD34319-F395-A2F2-21A5-0C7A1D6F137B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637895129" sldId="51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336411019" sldId="544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36411019" sldId="54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36411019" sldId="544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36411019" sldId="544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36411019" sldId="544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36411019" sldId="544"/>
            <ac:spMk id="10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2460918877" sldId="545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460918877" sldId="54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460918877" sldId="545"/>
            <ac:spMk id="1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460918877" sldId="545"/>
            <ac:graphicFrameMk id="1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2822266895" sldId="546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822266895" sldId="54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822266895" sldId="546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822266895" sldId="546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822266895" sldId="546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58256463" sldId="548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58256463" sldId="54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58256463" sldId="54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58256463" sldId="548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58256463" sldId="548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58256463" sldId="548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3852152376" sldId="550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52152376" sldId="55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52152376" sldId="550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52152376" sldId="550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52152376" sldId="550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3852152376" sldId="550"/>
            <ac:graphicFrameMk id="6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3852152376" sldId="550"/>
            <ac:graphicFrameMk id="7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3877967072" sldId="551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77967072" sldId="55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77967072" sldId="551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77967072" sldId="551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77967072" sldId="551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77967072" sldId="551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877967072" sldId="551"/>
            <ac:spMk id="1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3877967072" sldId="551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3877967072" sldId="551"/>
            <ac:graphicFrameMk id="6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3877967072" sldId="551"/>
            <ac:graphicFrameMk id="7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2739811714" sldId="554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739811714" sldId="554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739811714" sldId="554"/>
            <ac:graphicFrameMk id="9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739811714" sldId="554"/>
            <ac:graphicFrameMk id="12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1145811308" sldId="555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145811308" sldId="55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145811308" sldId="555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11T07:32:49.124" v="401" actId="20577"/>
        <pc:sldMkLst>
          <pc:docMk/>
          <pc:sldMk cId="1771596614" sldId="557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7:32:49.124" v="401" actId="20577"/>
          <ac:spMkLst>
            <pc:docMk/>
            <pc:sldMk cId="1771596614" sldId="557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1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1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1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1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1771596614" sldId="557"/>
            <ac:spMk id="20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3099205339" sldId="558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3099205339" sldId="558"/>
            <ac:spMk id="5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3099205339" sldId="558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2705371955" sldId="559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705371955" sldId="55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705371955" sldId="559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705371955" sldId="559"/>
            <ac:spMk id="4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2970082559" sldId="561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970082559" sldId="56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970082559" sldId="561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970082559" sldId="561"/>
            <ac:spMk id="1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970082559" sldId="561"/>
            <ac:spMk id="1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970082559" sldId="561"/>
            <ac:graphicFrameMk id="10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970082559" sldId="561"/>
            <ac:graphicFrameMk id="16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4055154653" sldId="562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4055154653" sldId="562"/>
            <ac:spMk id="2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4055154653" sldId="562"/>
            <ac:graphicFrameMk id="9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2581648680" sldId="563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581648680" sldId="56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581648680" sldId="563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581648680" sldId="563"/>
            <ac:spMk id="6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2-11T07:23:22.097" v="348" actId="20577"/>
        <pc:sldMkLst>
          <pc:docMk/>
          <pc:sldMk cId="235520075" sldId="565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35520075" sldId="56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35520075" sldId="565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35520075" sldId="565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630244301" sldId="566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30244301" sldId="56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30244301" sldId="56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30244301" sldId="566"/>
            <ac:spMk id="4" creationId="{D7E080DF-C0C5-20D2-33A0-8827EF54D731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630244301" sldId="566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11T07:29:42.309" v="397" actId="313"/>
        <pc:sldMkLst>
          <pc:docMk/>
          <pc:sldMk cId="976103109" sldId="567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976103109" sldId="567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7:29:42.309" v="397" actId="313"/>
          <ac:graphicFrameMkLst>
            <pc:docMk/>
            <pc:sldMk cId="976103109" sldId="567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60002766" sldId="568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0002766" sldId="56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0002766" sldId="56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60002766" sldId="568"/>
            <ac:spMk id="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60002766" sldId="568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60002766" sldId="568"/>
            <ac:graphicFrameMk id="6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465549274" sldId="569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465549274" sldId="56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465549274" sldId="569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465549274" sldId="569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465549274" sldId="569"/>
            <ac:graphicFrameMk id="7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11T06:49:00.665" v="326" actId="790"/>
        <pc:sldMkLst>
          <pc:docMk/>
          <pc:sldMk cId="2133287186" sldId="570"/>
        </pc:sldMkLst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133287186" sldId="570"/>
            <ac:spMk id="2" creationId="{8623EDFC-B053-459E-B2F3-941E1219354B}"/>
          </ac:spMkLst>
        </pc:spChg>
        <pc:spChg chg="mod">
          <ac:chgData name="Gerth Stølting Brodal" userId="04ef4784-6591-4f86-a140-f5c3b108582a" providerId="ADAL" clId="{73BAC7D6-516A-44B5-B4B0-C7B08CA8B392}" dt="2026-02-11T06:49:00.665" v="326" actId="790"/>
          <ac:spMkLst>
            <pc:docMk/>
            <pc:sldMk cId="2133287186" sldId="570"/>
            <ac:spMk id="3" creationId="{51842941-8C40-4A22-AD1A-10553578AAC3}"/>
          </ac:spMkLst>
        </pc:spChg>
        <pc:graphicFrameChg chg="modGraphic">
          <ac:chgData name="Gerth Stølting Brodal" userId="04ef4784-6591-4f86-a140-f5c3b108582a" providerId="ADAL" clId="{73BAC7D6-516A-44B5-B4B0-C7B08CA8B392}" dt="2026-02-11T06:49:00.665" v="326" actId="790"/>
          <ac:graphicFrameMkLst>
            <pc:docMk/>
            <pc:sldMk cId="2133287186" sldId="570"/>
            <ac:graphicFrameMk id="4" creationId="{AEB6031F-8EF4-4630-91A6-9B0A0C740B6D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frozenset.remove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docs.python.org/3/library/stdtypes.html#frozenset.discard" TargetMode="Externa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search/cs?searchtype=author&amp;query=Brodal,+G+S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arxiv.org/search/cs?searchtype=author&amp;query=Mampentzidis,+K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3021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must </a:t>
            </a:r>
            <a:r>
              <a:rPr lang="en-US"/>
              <a:t>be</a:t>
            </a:r>
            <a:r>
              <a:rPr lang="en-US" baseline="0"/>
              <a:t> hashable (see later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7215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vs 5.0,</a:t>
            </a:r>
            <a:r>
              <a:rPr lang="en-US" baseline="0" dirty="0"/>
              <a:t> the key in the dictionary is the first inserted</a:t>
            </a:r>
          </a:p>
          <a:p>
            <a:r>
              <a:rPr lang="en-US" baseline="0" dirty="0"/>
              <a:t>items and keys are </a:t>
            </a:r>
            <a:r>
              <a:rPr lang="en-US" b="1" baseline="0" dirty="0"/>
              <a:t>views</a:t>
            </a:r>
            <a:r>
              <a:rPr lang="en-US" b="0" baseline="0" dirty="0"/>
              <a:t> into the dictionary (current view of the underlying dictionary)</a:t>
            </a:r>
          </a:p>
          <a:p>
            <a:r>
              <a:rPr lang="en-US" b="0" baseline="0" dirty="0"/>
              <a:t>You cannot index into a </a:t>
            </a:r>
            <a:r>
              <a:rPr lang="en-US" b="0" baseline="0" dirty="0" err="1"/>
              <a:t>dict_keys</a:t>
            </a:r>
            <a:r>
              <a:rPr lang="en-US" b="0" baseline="0" dirty="0"/>
              <a:t> object, you need to convert to a list first then.</a:t>
            </a:r>
          </a:p>
          <a:p>
            <a:endParaRPr lang="en-US" b="0" baseline="0" dirty="0"/>
          </a:p>
          <a:p>
            <a:r>
              <a:rPr lang="en-US" b="0" dirty="0"/>
              <a:t>d = {'a':1, 'b':2}</a:t>
            </a:r>
          </a:p>
          <a:p>
            <a:r>
              <a:rPr lang="en-US" b="0" dirty="0"/>
              <a:t>k = </a:t>
            </a:r>
            <a:r>
              <a:rPr lang="en-US" b="0" dirty="0" err="1"/>
              <a:t>d.keys</a:t>
            </a:r>
            <a:r>
              <a:rPr lang="en-US" b="0" dirty="0"/>
              <a:t>()</a:t>
            </a:r>
          </a:p>
          <a:p>
            <a:r>
              <a:rPr lang="en-US" b="0" dirty="0"/>
              <a:t>d['c'] = 3</a:t>
            </a:r>
          </a:p>
          <a:p>
            <a:r>
              <a:rPr lang="en-US" b="0" dirty="0"/>
              <a:t>k</a:t>
            </a:r>
          </a:p>
          <a:p>
            <a:r>
              <a:rPr lang="en-US" b="0" dirty="0"/>
              <a:t>&gt;&gt;&gt; </a:t>
            </a:r>
            <a:r>
              <a:rPr lang="en-US" b="0" dirty="0" err="1"/>
              <a:t>dict_keys</a:t>
            </a:r>
            <a:r>
              <a:rPr lang="en-US" b="0" dirty="0"/>
              <a:t>(['a', 'b', 'c'])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103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grades.get</a:t>
            </a:r>
            <a:r>
              <a:rPr lang="en-US" dirty="0"/>
              <a:t>(‘E’, [])   # always creates a new empty list before calling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5057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Keyword</a:t>
            </a:r>
            <a:r>
              <a:rPr lang="da-DK" dirty="0"/>
              <a:t> arguments </a:t>
            </a:r>
            <a:r>
              <a:rPr lang="da-DK" dirty="0" err="1"/>
              <a:t>first</a:t>
            </a:r>
            <a:r>
              <a:rPr lang="da-DK" dirty="0"/>
              <a:t> </a:t>
            </a:r>
            <a:r>
              <a:rPr lang="da-DK" dirty="0" err="1"/>
              <a:t>covered</a:t>
            </a:r>
            <a:r>
              <a:rPr lang="da-DK" dirty="0"/>
              <a:t> in</a:t>
            </a:r>
            <a:r>
              <a:rPr lang="da-DK" baseline="0" dirty="0"/>
              <a:t> </a:t>
            </a:r>
            <a:r>
              <a:rPr lang="da-DK" baseline="0" dirty="0" err="1"/>
              <a:t>later</a:t>
            </a:r>
            <a:r>
              <a:rPr lang="da-DK" baseline="0" dirty="0"/>
              <a:t> </a:t>
            </a:r>
            <a:r>
              <a:rPr lang="da-DK" baseline="0" dirty="0" err="1"/>
              <a:t>lecture</a:t>
            </a:r>
            <a:r>
              <a:rPr lang="da-DK" baseline="0" dirty="0"/>
              <a:t>, but must </a:t>
            </a:r>
            <a:r>
              <a:rPr lang="da-DK" baseline="0" dirty="0" err="1"/>
              <a:t>be</a:t>
            </a:r>
            <a:r>
              <a:rPr lang="da-DK" baseline="0" dirty="0"/>
              <a:t> valid variable </a:t>
            </a:r>
            <a:r>
              <a:rPr lang="da-DK" baseline="0" dirty="0" err="1"/>
              <a:t>name</a:t>
            </a:r>
            <a:endParaRPr lang="da-DK" baseline="0" dirty="0"/>
          </a:p>
          <a:p>
            <a:r>
              <a:rPr lang="da-DK" baseline="0" dirty="0" err="1"/>
              <a:t>intersection</a:t>
            </a:r>
            <a:r>
              <a:rPr lang="da-DK" baseline="0" dirty="0"/>
              <a:t> is not </a:t>
            </a:r>
            <a:r>
              <a:rPr lang="da-DK" baseline="0" dirty="0" err="1"/>
              <a:t>defined</a:t>
            </a:r>
            <a:r>
              <a:rPr lang="da-DK" baseline="0" dirty="0"/>
              <a:t> on </a:t>
            </a:r>
            <a:r>
              <a:rPr lang="da-DK" baseline="0" dirty="0" err="1"/>
              <a:t>dictionaries</a:t>
            </a:r>
            <a:r>
              <a:rPr lang="da-DK" baseline="0" dirty="0"/>
              <a:t> (d1 &amp; d2 not </a:t>
            </a:r>
            <a:r>
              <a:rPr lang="da-DK" baseline="0" dirty="0" err="1"/>
              <a:t>defined</a:t>
            </a:r>
            <a:r>
              <a:rPr lang="da-DK" baseline="0" dirty="0"/>
              <a:t>)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0987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18/2-18: PRE 3.7</a:t>
            </a:r>
            <a:r>
              <a:rPr lang="da-DK" baseline="0" dirty="0"/>
              <a:t> </a:t>
            </a:r>
            <a:r>
              <a:rPr lang="da-DK" baseline="0" dirty="0" err="1"/>
              <a:t>documenting</a:t>
            </a:r>
            <a:r>
              <a:rPr lang="da-DK" baseline="0" dirty="0"/>
              <a:t> </a:t>
            </a:r>
            <a:r>
              <a:rPr lang="da-DK" baseline="0" dirty="0" err="1"/>
              <a:t>does</a:t>
            </a:r>
            <a:r>
              <a:rPr lang="da-DK" baseline="0" dirty="0"/>
              <a:t> still </a:t>
            </a:r>
            <a:r>
              <a:rPr lang="da-DK" baseline="0" dirty="0" err="1"/>
              <a:t>state</a:t>
            </a:r>
            <a:r>
              <a:rPr lang="da-DK" baseline="0" dirty="0"/>
              <a:t> </a:t>
            </a:r>
            <a:r>
              <a:rPr lang="da-DK" baseline="0" dirty="0" err="1"/>
              <a:t>that</a:t>
            </a:r>
            <a:r>
              <a:rPr lang="da-DK" baseline="0" dirty="0"/>
              <a:t> the </a:t>
            </a:r>
            <a:r>
              <a:rPr lang="da-DK" baseline="0" dirty="0" err="1"/>
              <a:t>order</a:t>
            </a:r>
            <a:r>
              <a:rPr lang="da-DK" baseline="0" dirty="0"/>
              <a:t> is </a:t>
            </a:r>
            <a:r>
              <a:rPr lang="da-DK" b="1" baseline="0" dirty="0" err="1"/>
              <a:t>arbitrary</a:t>
            </a:r>
            <a:endParaRPr lang="da-DK" b="1" baseline="0" dirty="0"/>
          </a:p>
          <a:p>
            <a:r>
              <a:rPr lang="da-DK" b="1" baseline="0" dirty="0"/>
              <a:t>13/2-20 ”</a:t>
            </a:r>
            <a:r>
              <a:rPr lang="en-US" dirty="0"/>
              <a:t>Keys and values are iterated over in </a:t>
            </a:r>
            <a:r>
              <a:rPr lang="en-US" b="1" dirty="0"/>
              <a:t>insertion order</a:t>
            </a:r>
            <a:r>
              <a:rPr lang="en-US" dirty="0"/>
              <a:t>.”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6047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Could</a:t>
            </a:r>
            <a:r>
              <a:rPr lang="da-DK" dirty="0"/>
              <a:t> </a:t>
            </a:r>
            <a:r>
              <a:rPr lang="da-DK" dirty="0" err="1"/>
              <a:t>also</a:t>
            </a:r>
            <a:r>
              <a:rPr lang="da-DK" dirty="0"/>
              <a:t> have </a:t>
            </a:r>
            <a:r>
              <a:rPr lang="da-DK" dirty="0" err="1"/>
              <a:t>used</a:t>
            </a:r>
            <a:r>
              <a:rPr lang="da-DK" dirty="0"/>
              <a:t> </a:t>
            </a:r>
            <a:r>
              <a:rPr lang="en-US" dirty="0" err="1"/>
              <a:t>dict</a:t>
            </a:r>
            <a:r>
              <a:rPr lang="en-US" dirty="0"/>
              <a:t>(map(reversed, </a:t>
            </a:r>
            <a:r>
              <a:rPr lang="en-US" dirty="0" err="1"/>
              <a:t>D.items</a:t>
            </a:r>
            <a:r>
              <a:rPr lang="en-US" dirty="0"/>
              <a:t>()))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7617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one of the arguments to |, &amp; , -  or ^ is a </a:t>
            </a:r>
            <a:r>
              <a:rPr lang="en-US" dirty="0" err="1"/>
              <a:t>frozentset</a:t>
            </a:r>
            <a:r>
              <a:rPr lang="en-US" dirty="0"/>
              <a:t> and the other set, the result is type the first</a:t>
            </a:r>
          </a:p>
          <a:p>
            <a:r>
              <a:rPr lang="en-US" dirty="0"/>
              <a:t>To have a set of sets, the sets inserted must be </a:t>
            </a:r>
            <a:r>
              <a:rPr lang="en-US" dirty="0" err="1"/>
              <a:t>frozenset</a:t>
            </a:r>
            <a:r>
              <a:rPr lang="en-US" dirty="0"/>
              <a:t> since they need to be immutable</a:t>
            </a:r>
          </a:p>
          <a:p>
            <a:endParaRPr lang="en-US" dirty="0"/>
          </a:p>
          <a:p>
            <a:r>
              <a:rPr lang="en-US" dirty="0" err="1"/>
              <a:t>frozenset</a:t>
            </a:r>
            <a:r>
              <a:rPr lang="en-US" dirty="0"/>
              <a:t>([1,2]) | set([3,4])</a:t>
            </a:r>
          </a:p>
          <a:p>
            <a:r>
              <a:rPr lang="en-US" dirty="0" err="1"/>
              <a:t>frozenset</a:t>
            </a:r>
            <a:r>
              <a:rPr lang="en-US" dirty="0"/>
              <a:t>({1, 2, 3, 4})</a:t>
            </a:r>
          </a:p>
          <a:p>
            <a:r>
              <a:rPr lang="en-US" dirty="0"/>
              <a:t>set([3,4]) | </a:t>
            </a:r>
            <a:r>
              <a:rPr lang="en-US" dirty="0" err="1"/>
              <a:t>frozenset</a:t>
            </a:r>
            <a:r>
              <a:rPr lang="en-US" dirty="0"/>
              <a:t>([1,2])</a:t>
            </a:r>
          </a:p>
          <a:p>
            <a:r>
              <a:rPr lang="en-US"/>
              <a:t>{1, 2, 3, 4}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timeit.timeit</a:t>
            </a:r>
            <a:r>
              <a:rPr lang="en-US" dirty="0"/>
              <a:t>('-1 in L', setup='L = list(range(10_000_000))', number = 100)</a:t>
            </a:r>
          </a:p>
          <a:p>
            <a:r>
              <a:rPr lang="en-US" dirty="0"/>
              <a:t>4.7</a:t>
            </a:r>
          </a:p>
          <a:p>
            <a:r>
              <a:rPr lang="en-US" dirty="0" err="1"/>
              <a:t>timeit.timeit</a:t>
            </a:r>
            <a:r>
              <a:rPr lang="en-US" dirty="0"/>
              <a:t>('-1 in L', setup='L = set(range(10_000_000))', number = 100)</a:t>
            </a:r>
          </a:p>
          <a:p>
            <a:r>
              <a:rPr lang="en-US" dirty="0"/>
              <a:t>5.2e-06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2793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Cannot</a:t>
            </a:r>
            <a:r>
              <a:rPr lang="da-DK" dirty="0"/>
              <a:t> </a:t>
            </a:r>
            <a:r>
              <a:rPr lang="da-DK" dirty="0" err="1"/>
              <a:t>compare</a:t>
            </a:r>
            <a:r>
              <a:rPr lang="da-DK" dirty="0"/>
              <a:t> </a:t>
            </a:r>
            <a:r>
              <a:rPr lang="da-DK" dirty="0" err="1"/>
              <a:t>string</a:t>
            </a:r>
            <a:r>
              <a:rPr lang="da-DK" dirty="0"/>
              <a:t> and</a:t>
            </a:r>
            <a:r>
              <a:rPr lang="da-DK" baseline="0" dirty="0"/>
              <a:t> </a:t>
            </a:r>
            <a:r>
              <a:rPr lang="da-DK" baseline="0" dirty="0" err="1"/>
              <a:t>floats</a:t>
            </a:r>
            <a:endParaRPr lang="da-DK" baseline="0" dirty="0"/>
          </a:p>
          <a:p>
            <a:endParaRPr lang="da-DK" baseline="0" dirty="0"/>
          </a:p>
          <a:p>
            <a:r>
              <a:rPr lang="en-US" dirty="0"/>
              <a:t>{ 5, 5.5, 5.0, '5’ } = {'5', 5, 5.5}   # since 5 == 5.0 and 5 is inserted before 5.0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7583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 </a:t>
            </a:r>
            <a:r>
              <a:rPr lang="en-US" dirty="0"/>
              <a:t>have a set of sets, the sets inserted must be </a:t>
            </a:r>
            <a:r>
              <a:rPr lang="en-US" dirty="0" err="1"/>
              <a:t>frozenset</a:t>
            </a:r>
            <a:r>
              <a:rPr lang="en-US" dirty="0"/>
              <a:t> since they need to be immutable</a:t>
            </a:r>
          </a:p>
          <a:p>
            <a:endParaRPr lang="en-US" dirty="0"/>
          </a:p>
          <a:p>
            <a:r>
              <a:rPr lang="en-US" dirty="0"/>
              <a:t>https://docs.python.org/3/library/stdtypes.html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“Note, the </a:t>
            </a:r>
            <a:r>
              <a:rPr lang="en-US" i="1" dirty="0" err="1"/>
              <a:t>elem</a:t>
            </a:r>
            <a:r>
              <a:rPr lang="en-US" dirty="0"/>
              <a:t> argument to the __contains__(), </a:t>
            </a:r>
            <a:r>
              <a:rPr lang="en-US" dirty="0">
                <a:hlinkClick r:id="rId3" tooltip="frozenset.remove"/>
              </a:rPr>
              <a:t>remove()</a:t>
            </a:r>
            <a:r>
              <a:rPr lang="en-US" dirty="0"/>
              <a:t>, and </a:t>
            </a:r>
            <a:r>
              <a:rPr lang="en-US" dirty="0">
                <a:hlinkClick r:id="rId4" tooltip="frozenset.discard"/>
              </a:rPr>
              <a:t>discard()</a:t>
            </a:r>
            <a:r>
              <a:rPr lang="en-US" dirty="0"/>
              <a:t> methods may be a set. To support searching for an equivalent </a:t>
            </a:r>
            <a:r>
              <a:rPr lang="en-US" dirty="0" err="1"/>
              <a:t>frozenset</a:t>
            </a:r>
            <a:r>
              <a:rPr lang="en-US" dirty="0"/>
              <a:t>, a temporary one is created from </a:t>
            </a:r>
            <a:r>
              <a:rPr lang="en-US" i="1" dirty="0"/>
              <a:t>elem</a:t>
            </a:r>
            <a:r>
              <a:rPr lang="en-US" dirty="0"/>
              <a:t>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7716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x != y and y != z and z != x   can be shortened to   x != y != z != x</a:t>
            </a:r>
          </a:p>
          <a:p>
            <a:r>
              <a:rPr lang="en-US" sz="1200" b="1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{…} removes </a:t>
            </a:r>
            <a:r>
              <a:rPr lang="en-US" sz="1200" b="1" baseline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dublicates</a:t>
            </a:r>
            <a:r>
              <a:rPr lang="en-US" sz="1200" b="1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 for m</a:t>
            </a:r>
          </a:p>
          <a:p>
            <a:r>
              <a:rPr lang="en-US" sz="1200" b="1" baseline="0" dirty="0">
                <a:latin typeface="Courier New" panose="02070309020205020404" pitchFamily="49" charset="0"/>
                <a:cs typeface="Courier New" panose="02070309020205020404" pitchFamily="49" charset="0"/>
              </a:rPr>
              <a:t>Note: cannot compute L – {x} if L is a list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9302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Frozenset</a:t>
            </a:r>
            <a:r>
              <a:rPr lang="en-US" dirty="0"/>
              <a:t> is also </a:t>
            </a:r>
            <a:r>
              <a:rPr lang="en-US" dirty="0" err="1"/>
              <a:t>hashable</a:t>
            </a:r>
            <a:endParaRPr lang="en-US" dirty="0"/>
          </a:p>
          <a:p>
            <a:r>
              <a:rPr lang="en-US" dirty="0"/>
              <a:t>Each new Python execution selects a new hash function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679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Since Python 3.3: The seed for hashing Strings is changed for each new run of the Python interpreter</a:t>
            </a:r>
          </a:p>
          <a:p>
            <a:r>
              <a:rPr lang="en-US"/>
              <a:t>hash</a:t>
            </a:r>
            <a:r>
              <a:rPr lang="en-US" dirty="0"/>
              <a:t>(-1) == hash(-2</a:t>
            </a:r>
            <a:r>
              <a:rPr lang="en-US"/>
              <a:t>)  == -2 </a:t>
            </a:r>
            <a:r>
              <a:rPr lang="en-US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0378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d.popleft</a:t>
            </a:r>
            <a:r>
              <a:rPr lang="en-US" dirty="0"/>
              <a:t>()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9424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Perfomance</a:t>
            </a:r>
            <a:r>
              <a:rPr lang="da-DK" dirty="0"/>
              <a:t> is at the same </a:t>
            </a:r>
            <a:r>
              <a:rPr lang="da-DK" dirty="0" err="1"/>
              <a:t>level</a:t>
            </a:r>
            <a:r>
              <a:rPr lang="da-DK" dirty="0"/>
              <a:t> at </a:t>
            </a:r>
            <a:r>
              <a:rPr lang="da-DK" dirty="0" err="1"/>
              <a:t>tuples</a:t>
            </a:r>
            <a:r>
              <a:rPr lang="da-DK" dirty="0"/>
              <a:t>; </a:t>
            </a:r>
            <a:r>
              <a:rPr lang="da-DK" dirty="0" err="1"/>
              <a:t>no</a:t>
            </a:r>
            <a:r>
              <a:rPr lang="da-DK" dirty="0"/>
              <a:t> </a:t>
            </a:r>
            <a:r>
              <a:rPr lang="da-DK" dirty="0" err="1"/>
              <a:t>space</a:t>
            </a:r>
            <a:r>
              <a:rPr lang="da-DK" dirty="0"/>
              <a:t> overhead</a:t>
            </a:r>
          </a:p>
          <a:p>
            <a:r>
              <a:rPr lang="da-DK" dirty="0" err="1"/>
              <a:t>Guarantees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you</a:t>
            </a:r>
            <a:r>
              <a:rPr lang="da-DK" baseline="0" dirty="0"/>
              <a:t> never </a:t>
            </a:r>
            <a:r>
              <a:rPr lang="da-DK" baseline="0" dirty="0" err="1"/>
              <a:t>create</a:t>
            </a:r>
            <a:r>
              <a:rPr lang="da-DK" baseline="0" dirty="0"/>
              <a:t> </a:t>
            </a:r>
            <a:r>
              <a:rPr lang="da-DK" baseline="0" dirty="0" err="1"/>
              <a:t>too</a:t>
            </a:r>
            <a:r>
              <a:rPr lang="da-DK" baseline="0" dirty="0"/>
              <a:t> </a:t>
            </a:r>
            <a:r>
              <a:rPr lang="da-DK" baseline="0" dirty="0" err="1"/>
              <a:t>many</a:t>
            </a:r>
            <a:r>
              <a:rPr lang="da-DK" baseline="0" dirty="0"/>
              <a:t> </a:t>
            </a:r>
            <a:r>
              <a:rPr lang="da-DK" baseline="0" dirty="0" err="1"/>
              <a:t>fields</a:t>
            </a:r>
            <a:endParaRPr lang="da-DK" baseline="0" dirty="0"/>
          </a:p>
          <a:p>
            <a:r>
              <a:rPr lang="da-DK" baseline="0" dirty="0" err="1"/>
              <a:t>immutable</a:t>
            </a:r>
            <a:r>
              <a:rPr lang="da-DK" baseline="0" dirty="0"/>
              <a:t> and </a:t>
            </a:r>
            <a:r>
              <a:rPr lang="da-DK" baseline="0" dirty="0" err="1"/>
              <a:t>hashable</a:t>
            </a:r>
            <a:endParaRPr lang="da-DK" baseline="0" dirty="0"/>
          </a:p>
          <a:p>
            <a:r>
              <a:rPr lang="da-DK" baseline="0" dirty="0" err="1"/>
              <a:t>Since</a:t>
            </a:r>
            <a:r>
              <a:rPr lang="da-DK" baseline="0" dirty="0"/>
              <a:t>: Python 3.7 </a:t>
            </a:r>
            <a:r>
              <a:rPr lang="da-DK" baseline="0" dirty="0" err="1"/>
              <a:t>also</a:t>
            </a:r>
            <a:r>
              <a:rPr lang="da-DK" baseline="0" dirty="0"/>
              <a:t> data </a:t>
            </a:r>
            <a:r>
              <a:rPr lang="da-DK" baseline="0" dirty="0" err="1"/>
              <a:t>classes</a:t>
            </a:r>
            <a:r>
              <a:rPr lang="da-DK" baseline="0" dirty="0"/>
              <a:t> (</a:t>
            </a:r>
            <a:r>
              <a:rPr lang="da-DK" baseline="0" dirty="0" err="1"/>
              <a:t>will</a:t>
            </a:r>
            <a:r>
              <a:rPr lang="da-DK" baseline="0" dirty="0"/>
              <a:t> </a:t>
            </a:r>
            <a:r>
              <a:rPr lang="da-DK" baseline="0" dirty="0" err="1"/>
              <a:t>be</a:t>
            </a:r>
            <a:r>
              <a:rPr lang="da-DK" baseline="0" dirty="0"/>
              <a:t> </a:t>
            </a:r>
            <a:r>
              <a:rPr lang="da-DK" baseline="0" dirty="0" err="1"/>
              <a:t>covered</a:t>
            </a:r>
            <a:r>
              <a:rPr lang="da-DK" baseline="0" dirty="0"/>
              <a:t> in </a:t>
            </a:r>
            <a:r>
              <a:rPr lang="da-DK" baseline="0" dirty="0" err="1"/>
              <a:t>lecture</a:t>
            </a:r>
            <a:r>
              <a:rPr lang="da-DK" baseline="0" dirty="0"/>
              <a:t> on </a:t>
            </a:r>
            <a:r>
              <a:rPr lang="da-DK" baseline="0" dirty="0" err="1"/>
              <a:t>decorators</a:t>
            </a:r>
            <a:r>
              <a:rPr lang="da-DK" baseline="0" dirty="0"/>
              <a:t>, </a:t>
            </a:r>
            <a:r>
              <a:rPr lang="da-DK" baseline="0" dirty="0" err="1"/>
              <a:t>since</a:t>
            </a:r>
            <a:r>
              <a:rPr lang="da-DK" baseline="0" dirty="0"/>
              <a:t> it is a class </a:t>
            </a:r>
            <a:r>
              <a:rPr lang="da-DK" baseline="0" dirty="0" err="1"/>
              <a:t>decorator</a:t>
            </a:r>
            <a:r>
              <a:rPr lang="da-DK" baseline="0" dirty="0"/>
              <a:t>)</a:t>
            </a:r>
          </a:p>
          <a:p>
            <a:r>
              <a:rPr lang="da-DK" baseline="0" dirty="0" err="1"/>
              <a:t>namedtuple</a:t>
            </a:r>
            <a:r>
              <a:rPr lang="da-DK" baseline="0" dirty="0"/>
              <a:t> a </a:t>
            </a:r>
            <a:r>
              <a:rPr lang="da-DK" baseline="0" dirty="0" err="1"/>
              <a:t>little</a:t>
            </a:r>
            <a:r>
              <a:rPr lang="da-DK" baseline="0" dirty="0"/>
              <a:t> bit like a ”</a:t>
            </a:r>
            <a:r>
              <a:rPr lang="da-DK" baseline="0" dirty="0" err="1"/>
              <a:t>struct</a:t>
            </a:r>
            <a:r>
              <a:rPr lang="da-DK" baseline="0" dirty="0"/>
              <a:t>” in </a:t>
            </a:r>
            <a:r>
              <a:rPr lang="da-DK" baseline="0" dirty="0" err="1"/>
              <a:t>other</a:t>
            </a:r>
            <a:r>
              <a:rPr lang="da-DK" baseline="0" dirty="0"/>
              <a:t> </a:t>
            </a:r>
            <a:r>
              <a:rPr lang="da-DK" baseline="0" dirty="0" err="1"/>
              <a:t>languages</a:t>
            </a:r>
            <a:r>
              <a:rPr lang="da-DK" baseline="0" dirty="0"/>
              <a:t> (</a:t>
            </a:r>
            <a:r>
              <a:rPr lang="da-DK" baseline="0" dirty="0" err="1"/>
              <a:t>e.g</a:t>
            </a:r>
            <a:r>
              <a:rPr lang="da-DK" baseline="0" dirty="0"/>
              <a:t>. C), </a:t>
            </a:r>
            <a:r>
              <a:rPr lang="da-DK" baseline="0" dirty="0" err="1"/>
              <a:t>except</a:t>
            </a:r>
            <a:r>
              <a:rPr lang="da-DK" baseline="0" dirty="0"/>
              <a:t> </a:t>
            </a:r>
            <a:r>
              <a:rPr lang="da-DK" baseline="0" dirty="0" err="1"/>
              <a:t>that</a:t>
            </a:r>
            <a:r>
              <a:rPr lang="da-DK" baseline="0" dirty="0"/>
              <a:t> a </a:t>
            </a:r>
            <a:r>
              <a:rPr lang="da-DK" baseline="0" dirty="0" err="1"/>
              <a:t>namedtuple</a:t>
            </a:r>
            <a:r>
              <a:rPr lang="da-DK" baseline="0" dirty="0"/>
              <a:t> is </a:t>
            </a:r>
            <a:r>
              <a:rPr lang="da-DK" baseline="0" dirty="0" err="1"/>
              <a:t>immutable</a:t>
            </a:r>
            <a:endParaRPr lang="da-DK" baseline="0" dirty="0"/>
          </a:p>
          <a:p>
            <a:endParaRPr lang="da-DK" baseline="0" dirty="0"/>
          </a:p>
          <a:p>
            <a:r>
              <a:rPr lang="da-DK" baseline="0" dirty="0" err="1"/>
              <a:t>Javascript</a:t>
            </a:r>
            <a:r>
              <a:rPr lang="da-DK" baseline="0" dirty="0"/>
              <a:t> </a:t>
            </a:r>
            <a:r>
              <a:rPr lang="da-DK" baseline="0" dirty="0" err="1"/>
              <a:t>allows</a:t>
            </a:r>
            <a:r>
              <a:rPr lang="da-DK" baseline="0" dirty="0"/>
              <a:t> person.name on a </a:t>
            </a:r>
            <a:r>
              <a:rPr lang="da-DK" baseline="0" dirty="0" err="1"/>
              <a:t>dictionary</a:t>
            </a:r>
            <a:r>
              <a:rPr lang="da-DK" baseline="0" dirty="0"/>
              <a:t>, </a:t>
            </a:r>
            <a:r>
              <a:rPr lang="da-DK" baseline="0" dirty="0" err="1"/>
              <a:t>if</a:t>
            </a:r>
            <a:r>
              <a:rPr lang="da-DK" baseline="0" dirty="0"/>
              <a:t> the </a:t>
            </a:r>
            <a:r>
              <a:rPr lang="da-DK" baseline="0" dirty="0" err="1"/>
              <a:t>key</a:t>
            </a:r>
            <a:r>
              <a:rPr lang="da-DK" baseline="0" dirty="0"/>
              <a:t> is a valid </a:t>
            </a:r>
            <a:r>
              <a:rPr lang="da-DK" baseline="0" dirty="0" err="1"/>
              <a:t>attribute</a:t>
            </a:r>
            <a:r>
              <a:rPr lang="da-DK" baseline="0" dirty="0"/>
              <a:t> </a:t>
            </a:r>
            <a:r>
              <a:rPr lang="da-DK" baseline="0" dirty="0" err="1"/>
              <a:t>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4775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baseline="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fq</a:t>
            </a:r>
            <a:r>
              <a:rPr lang="en-US" sz="1200" b="0" baseline="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['x'] += 5 also possible if </a:t>
            </a:r>
            <a:r>
              <a:rPr lang="en-US" sz="1200" b="0" baseline="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fq</a:t>
            </a:r>
            <a:r>
              <a:rPr lang="en-US" sz="1200" b="0" baseline="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a dictionary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9087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arxiv.org/abs/1706.10284</a:t>
            </a:r>
          </a:p>
          <a:p>
            <a:r>
              <a:rPr lang="da-DK" dirty="0"/>
              <a:t>Cache </a:t>
            </a:r>
            <a:r>
              <a:rPr lang="da-DK" dirty="0" err="1"/>
              <a:t>Oblivious</a:t>
            </a:r>
            <a:r>
              <a:rPr lang="da-DK" dirty="0"/>
              <a:t> </a:t>
            </a:r>
            <a:r>
              <a:rPr lang="da-DK" dirty="0" err="1"/>
              <a:t>Algorithms</a:t>
            </a:r>
            <a:r>
              <a:rPr lang="da-DK" dirty="0"/>
              <a:t> for Computing the </a:t>
            </a:r>
            <a:r>
              <a:rPr lang="da-DK" dirty="0" err="1"/>
              <a:t>Triplet</a:t>
            </a:r>
            <a:r>
              <a:rPr lang="da-DK" dirty="0"/>
              <a:t> Distance </a:t>
            </a:r>
            <a:r>
              <a:rPr lang="da-DK" dirty="0" err="1"/>
              <a:t>Between</a:t>
            </a:r>
            <a:r>
              <a:rPr lang="da-DK" dirty="0"/>
              <a:t> Trees</a:t>
            </a:r>
          </a:p>
          <a:p>
            <a:r>
              <a:rPr lang="da-DK" dirty="0">
                <a:hlinkClick r:id="rId3"/>
              </a:rPr>
              <a:t>Gerth Stølting Brodal</a:t>
            </a:r>
            <a:r>
              <a:rPr lang="da-DK" dirty="0"/>
              <a:t>, </a:t>
            </a:r>
            <a:r>
              <a:rPr lang="da-DK" dirty="0">
                <a:hlinkClick r:id="rId4"/>
              </a:rPr>
              <a:t>Konstantinos Mampentzidis</a:t>
            </a:r>
            <a:endParaRPr lang="da-DK" dirty="0"/>
          </a:p>
          <a:p>
            <a:r>
              <a:rPr lang="da-DK" dirty="0"/>
              <a:t>(large </a:t>
            </a:r>
            <a:r>
              <a:rPr lang="da-DK" dirty="0" err="1"/>
              <a:t>scale</a:t>
            </a:r>
            <a:r>
              <a:rPr lang="da-DK" dirty="0"/>
              <a:t> </a:t>
            </a:r>
            <a:r>
              <a:rPr lang="da-DK" dirty="0" err="1"/>
              <a:t>trees</a:t>
            </a:r>
            <a:r>
              <a:rPr lang="da-DK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99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tutorial/datastructures.html#dictionarie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ev/peps/pep-0584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stdtypes.html#mapping-types-dict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dictionary-view-object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npw4s1QTmPg" TargetMode="External"/><Relationship Id="rId5" Type="http://schemas.openxmlformats.org/officeDocument/2006/relationships/hyperlink" Target="https://twitter.com/raymondh/status/941709626545864704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tutorial/datastructures.html#set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https://docs.python.org/3/library/stdtypes.html#set-types-set-frozenset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p33CVV29OG8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collections.html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11654950" cy="1325563"/>
          </a:xfrm>
        </p:spPr>
        <p:txBody>
          <a:bodyPr/>
          <a:lstStyle/>
          <a:p>
            <a:pPr algn="r"/>
            <a:r>
              <a:rPr lang="en-US" noProof="0" dirty="0"/>
              <a:t>Dictionaries and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53626" y="3888156"/>
            <a:ext cx="4609956" cy="2937353"/>
          </a:xfrm>
        </p:spPr>
        <p:txBody>
          <a:bodyPr>
            <a:normAutofit/>
          </a:bodyPr>
          <a:lstStyle/>
          <a:p>
            <a:r>
              <a:rPr lang="en-US" noProof="0" dirty="0" err="1"/>
              <a:t>dict</a:t>
            </a:r>
            <a:endParaRPr lang="en-US" noProof="0" dirty="0"/>
          </a:p>
          <a:p>
            <a:r>
              <a:rPr lang="en-US" noProof="0" dirty="0"/>
              <a:t>set</a:t>
            </a:r>
          </a:p>
          <a:p>
            <a:r>
              <a:rPr lang="en-US" noProof="0" dirty="0" err="1"/>
              <a:t>frozenset</a:t>
            </a:r>
            <a:endParaRPr lang="en-US" noProof="0" dirty="0"/>
          </a:p>
          <a:p>
            <a:r>
              <a:rPr lang="en-US" noProof="0" dirty="0"/>
              <a:t>set/</a:t>
            </a:r>
            <a:r>
              <a:rPr lang="en-US" noProof="0" dirty="0" err="1"/>
              <a:t>dict</a:t>
            </a:r>
            <a:r>
              <a:rPr lang="en-US" noProof="0" dirty="0"/>
              <a:t> comprehensions</a:t>
            </a:r>
          </a:p>
        </p:txBody>
      </p:sp>
    </p:spTree>
    <p:extLst>
      <p:ext uri="{BB962C8B-B14F-4D97-AF65-F5344CB8AC3E}">
        <p14:creationId xmlns:p14="http://schemas.microsoft.com/office/powerpoint/2010/main" val="893128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Dictionaries (type </a:t>
            </a:r>
            <a:r>
              <a:rPr lang="en-US" noProof="0" dirty="0" err="1"/>
              <a:t>dict</a:t>
            </a:r>
            <a:r>
              <a:rPr lang="en-US" noProof="0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988031"/>
            <a:ext cx="8934445" cy="4860183"/>
          </a:xfrm>
        </p:spPr>
        <p:txBody>
          <a:bodyPr>
            <a:norm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i="1" noProof="0" dirty="0">
                <a:cs typeface="Courier New" panose="02070309020205020404" pitchFamily="49" charset="0"/>
              </a:rPr>
              <a:t>key</a:t>
            </a:r>
            <a:r>
              <a:rPr lang="en-US" baseline="-25000" noProof="0" dirty="0">
                <a:cs typeface="Courier New" panose="02070309020205020404" pitchFamily="49" charset="0"/>
              </a:rPr>
              <a:t>1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i="1" noProof="0" dirty="0">
                <a:cs typeface="Courier New" panose="02070309020205020404" pitchFamily="49" charset="0"/>
              </a:rPr>
              <a:t>value</a:t>
            </a:r>
            <a:r>
              <a:rPr lang="en-US" baseline="-25000" noProof="0" dirty="0">
                <a:cs typeface="Courier New" panose="02070309020205020404" pitchFamily="49" charset="0"/>
              </a:rPr>
              <a:t>1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...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i="1" noProof="0" dirty="0" err="1">
                <a:cs typeface="Courier New" panose="02070309020205020404" pitchFamily="49" charset="0"/>
              </a:rPr>
              <a:t>key</a:t>
            </a:r>
            <a:r>
              <a:rPr lang="en-US" i="1" baseline="-25000" noProof="0" dirty="0" err="1">
                <a:cs typeface="Courier New" panose="02070309020205020404" pitchFamily="49" charset="0"/>
              </a:rPr>
              <a:t>k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i="1" noProof="0" dirty="0" err="1">
                <a:cs typeface="Courier New" panose="02070309020205020404" pitchFamily="49" charset="0"/>
              </a:rPr>
              <a:t>value</a:t>
            </a:r>
            <a:r>
              <a:rPr lang="en-US" i="1" baseline="-25000" noProof="0" dirty="0" err="1">
                <a:cs typeface="Courier New" panose="02070309020205020404" pitchFamily="49" charset="0"/>
              </a:rPr>
              <a:t>k</a:t>
            </a:r>
            <a:r>
              <a:rPr lang="en-US" baseline="-25000" noProof="0" dirty="0">
                <a:cs typeface="Courier New" panose="02070309020205020404" pitchFamily="49" charset="0"/>
              </a:rPr>
              <a:t> 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noProof="0" dirty="0"/>
          </a:p>
          <a:p>
            <a:r>
              <a:rPr lang="en-US" noProof="0" dirty="0"/>
              <a:t>Stores a mutable set of (key, value) pairs, denoted </a:t>
            </a:r>
            <a:r>
              <a:rPr lang="en-US" i="1" noProof="0" dirty="0"/>
              <a:t>items</a:t>
            </a:r>
            <a:r>
              <a:rPr lang="en-US" noProof="0" dirty="0"/>
              <a:t>,  with distinct keys, i.e. </a:t>
            </a:r>
            <a:r>
              <a:rPr lang="en-US" i="1" noProof="0" dirty="0"/>
              <a:t>maps</a:t>
            </a:r>
            <a:r>
              <a:rPr lang="en-US" noProof="0" dirty="0"/>
              <a:t> keys to values</a:t>
            </a:r>
          </a:p>
          <a:p>
            <a:r>
              <a:rPr lang="en-US" noProof="0" dirty="0"/>
              <a:t>Constructing empty dictionary: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noProof="0" dirty="0"/>
              <a:t> or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{}</a:t>
            </a:r>
          </a:p>
          <a:p>
            <a:r>
              <a:rPr lang="en-US" i="1" noProof="0" dirty="0" err="1">
                <a:cs typeface="Courier New" panose="02070309020205020404" pitchFamily="49" charset="0"/>
              </a:rPr>
              <a:t>dict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noProof="0" dirty="0">
                <a:cs typeface="Courier New" panose="02070309020205020404" pitchFamily="49" charset="0"/>
              </a:rPr>
              <a:t>key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noProof="0" dirty="0"/>
              <a:t> returns value associated with key in dictionary. Key must be present, otherwise a </a:t>
            </a:r>
            <a:r>
              <a:rPr lang="en-US" noProof="0" dirty="0" err="1"/>
              <a:t>KeyError</a:t>
            </a:r>
            <a:r>
              <a:rPr lang="en-US" noProof="0" dirty="0"/>
              <a:t> is raised </a:t>
            </a:r>
          </a:p>
          <a:p>
            <a:r>
              <a:rPr lang="en-US" i="1" noProof="0" dirty="0" err="1">
                <a:cs typeface="Courier New" panose="02070309020205020404" pitchFamily="49" charset="0"/>
              </a:rPr>
              <a:t>dict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noProof="0" dirty="0">
                <a:cs typeface="Courier New" panose="02070309020205020404" pitchFamily="49" charset="0"/>
              </a:rPr>
              <a:t>key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noProof="0" dirty="0"/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noProof="0" dirty="0"/>
              <a:t> </a:t>
            </a:r>
            <a:r>
              <a:rPr lang="en-US" i="1" noProof="0" dirty="0"/>
              <a:t>value</a:t>
            </a:r>
            <a:r>
              <a:rPr lang="en-US" noProof="0" dirty="0"/>
              <a:t> assigns value to </a:t>
            </a:r>
            <a:r>
              <a:rPr lang="en-US" i="1" noProof="0" dirty="0"/>
              <a:t>key</a:t>
            </a:r>
            <a:r>
              <a:rPr lang="en-US" noProof="0" dirty="0"/>
              <a:t>, overriding </a:t>
            </a:r>
            <a:r>
              <a:rPr lang="en-US" noProof="0" dirty="0" err="1"/>
              <a:t>exising</a:t>
            </a:r>
            <a:r>
              <a:rPr lang="en-US" noProof="0" dirty="0"/>
              <a:t> value if present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987320"/>
              </p:ext>
            </p:extLst>
          </p:nvPr>
        </p:nvGraphicFramePr>
        <p:xfrm>
          <a:off x="10036468" y="1771513"/>
          <a:ext cx="1508951" cy="29260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699008">
                  <a:extLst>
                    <a:ext uri="{9D8B030D-6E8A-4147-A177-3AD203B41FA5}">
                      <a16:colId xmlns:a16="http://schemas.microsoft.com/office/drawing/2014/main" val="2809744555"/>
                    </a:ext>
                  </a:extLst>
                </a:gridCol>
                <a:gridCol w="809943">
                  <a:extLst>
                    <a:ext uri="{9D8B030D-6E8A-4147-A177-3AD203B41FA5}">
                      <a16:colId xmlns:a16="http://schemas.microsoft.com/office/drawing/2014/main" val="24669154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key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value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0417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'a'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310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'foo'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'42nd'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776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29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06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'5' 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44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76613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5.5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False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49648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False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True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0150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(3,</a:t>
                      </a:r>
                      <a:r>
                        <a:rPr lang="en-US" baseline="0" noProof="0" dirty="0"/>
                        <a:t> 4)</a:t>
                      </a:r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'</a:t>
                      </a:r>
                      <a:r>
                        <a:rPr lang="en-US" noProof="0" dirty="0" err="1"/>
                        <a:t>abc</a:t>
                      </a:r>
                      <a:r>
                        <a:rPr lang="en-US" noProof="0" dirty="0"/>
                        <a:t>'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654895"/>
                  </a:ext>
                </a:extLst>
              </a:tr>
            </a:tbl>
          </a:graphicData>
        </a:graphic>
      </p:graphicFrame>
      <p:cxnSp>
        <p:nvCxnSpPr>
          <p:cNvPr id="7" name="Straight Arrow Connector 6"/>
          <p:cNvCxnSpPr/>
          <p:nvPr/>
        </p:nvCxnSpPr>
        <p:spPr>
          <a:xfrm flipV="1">
            <a:off x="10394521" y="4826469"/>
            <a:ext cx="0" cy="36355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08308" y="5270850"/>
            <a:ext cx="17652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distinct keys, </a:t>
            </a:r>
            <a:br>
              <a:rPr lang="en-US" noProof="0" dirty="0">
                <a:solidFill>
                  <a:srgbClr val="C00000"/>
                </a:solidFill>
              </a:rPr>
            </a:br>
            <a:r>
              <a:rPr lang="en-US" noProof="0" dirty="0">
                <a:solidFill>
                  <a:srgbClr val="C00000"/>
                </a:solidFill>
              </a:rPr>
              <a:t>i.e. not ”==”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6077" y="6411817"/>
            <a:ext cx="74118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https://docs.python.org/3/tutorial/datastructures.html#dictionaries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8256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Dictionaries (type </a:t>
            </a:r>
            <a:r>
              <a:rPr lang="en-US" noProof="0" dirty="0" err="1"/>
              <a:t>dict</a:t>
            </a:r>
            <a:r>
              <a:rPr lang="en-US" noProof="0" dirty="0"/>
              <a:t>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3397802"/>
              </p:ext>
            </p:extLst>
          </p:nvPr>
        </p:nvGraphicFramePr>
        <p:xfrm>
          <a:off x="910668" y="1527471"/>
          <a:ext cx="10370661" cy="3788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949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5575756">
                  <a:extLst>
                    <a:ext uri="{9D8B030D-6E8A-4147-A177-3AD203B41FA5}">
                      <a16:colId xmlns:a16="http://schemas.microsoft.com/office/drawing/2014/main" val="2674486252"/>
                    </a:ext>
                  </a:extLst>
                </a:gridCol>
              </a:tblGrid>
              <a:tr h="405450">
                <a:tc gridSpan="2"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{'a': 42, 'b': 57}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{'a': 42, 'b': 57}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dict_keys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(['a', 'b'])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d.keys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())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['a', 'b']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items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dict_items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([('a', 42), ('b', 57)])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d.items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[('a', 42), ('b', 57)]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key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print(key)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key,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items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pPr marL="0" indent="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print('Key', key, 'has value',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 a has value 42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 b has value 57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'a',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'b'}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'b'}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11" name="Pictur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0185" y="4304369"/>
            <a:ext cx="487666" cy="405904"/>
          </a:xfrm>
          <a:prstGeom prst="rect">
            <a:avLst/>
          </a:prstGeom>
        </p:spPr>
      </p:pic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6541131"/>
              </p:ext>
            </p:extLst>
          </p:nvPr>
        </p:nvGraphicFramePr>
        <p:xfrm>
          <a:off x="910668" y="5499896"/>
          <a:ext cx="10370662" cy="11708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7066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25624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35538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surname 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(zip(['Donald', 'Mickey', 'Scrooge'], ['Duck', 'Mouse', 'McDuck']))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surname['Mickey']</a:t>
                      </a:r>
                    </a:p>
                    <a:p>
                      <a:pPr marL="266700" indent="-266700">
                        <a:spcAft>
                          <a:spcPts val="12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'Mouse'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9811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Dictionaries (type </a:t>
            </a:r>
            <a:r>
              <a:rPr lang="en-US" noProof="0" dirty="0" err="1"/>
              <a:t>dict</a:t>
            </a:r>
            <a:r>
              <a:rPr lang="en-US" noProof="0" dirty="0"/>
              <a:t>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4912884"/>
              </p:ext>
            </p:extLst>
          </p:nvPr>
        </p:nvGraphicFramePr>
        <p:xfrm>
          <a:off x="1398905" y="1654551"/>
          <a:ext cx="9394190" cy="48383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9419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57764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485449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gradings = [('A', 7), ('B', 4), ('A', 12), ('C', 10), ('A', 7)]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grades =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{}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empty dictionary (grade[student] = [grade1, grade2,...])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student, grade in gradings:</a:t>
                      </a:r>
                      <a:b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student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 in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grades: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is key in dictionary</a:t>
                      </a:r>
                      <a:b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grades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  <a:b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grades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student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.append(grade)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grades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{'A': [7, 12, 7], 'B': [4], 'C': [10]}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print(grades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[7, 12, 7]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print(grades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'E'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can only lookup keys in dictionary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KeyError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'E'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grades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.get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('E'))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.get returns None if key not in dictionary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grades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.get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('E', []))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change default return value</a:t>
                      </a: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grades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.get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('A', []))</a:t>
                      </a:r>
                      <a:endParaRPr lang="en-US" sz="16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[7, 12, 7]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51546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Dictionary 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171128"/>
            <a:ext cx="10515600" cy="991645"/>
          </a:xfrm>
        </p:spPr>
        <p:txBody>
          <a:bodyPr>
            <a:normAutofit fontScale="92500"/>
          </a:bodyPr>
          <a:lstStyle/>
          <a:p>
            <a:r>
              <a:rPr lang="en-US" b="1" noProof="0" dirty="0"/>
              <a:t>Note</a:t>
            </a:r>
            <a:r>
              <a:rPr lang="en-US" noProof="0" dirty="0"/>
              <a:t>: </a:t>
            </a:r>
            <a:r>
              <a:rPr lang="en-US" i="1" noProof="0" dirty="0"/>
              <a:t>keyword initialization</a:t>
            </a:r>
            <a:r>
              <a:rPr lang="en-US" noProof="0" dirty="0"/>
              <a:t> only works if keys are strings which are valid keyword arguments to a function – but saves writing a lot of quotes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2329145"/>
              </p:ext>
            </p:extLst>
          </p:nvPr>
        </p:nvGraphicFramePr>
        <p:xfrm>
          <a:off x="1836945" y="1440989"/>
          <a:ext cx="876173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17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44521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 = {'A': 7, 'B': 42}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d2 = 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([('A', 7), ('B', 42)])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list of (key, value) pairs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d3 = </a:t>
                      </a: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(A=7, B=42)    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keyword arguments to constructor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 == d2 == d3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3587480"/>
              </p:ext>
            </p:extLst>
          </p:nvPr>
        </p:nvGraphicFramePr>
        <p:xfrm>
          <a:off x="1836945" y="4092809"/>
          <a:ext cx="8761730" cy="2621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17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44521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 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(A=1, </a:t>
                      </a:r>
                      <a:r>
                        <a:rPr lang="en-US" sz="16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B=2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d2 =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B=3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C=4)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d2                 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merge dictionaries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{'A': 1, </a:t>
                      </a:r>
                      <a:r>
                        <a:rPr lang="en-US" sz="16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'B': 3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'C': 4}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rightmost value for 'B' wins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**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d1,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**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d2, 'D': 5}    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** inserts dictionary content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{'A': 1, </a:t>
                      </a:r>
                      <a:r>
                        <a:rPr lang="en-US" sz="16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'B': 3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'C': 4, 'D': 5}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rightmost value for 'B' wins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|=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d2                          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same as d1.update(d2)</a:t>
                      </a:r>
                      <a:endParaRPr lang="en-US" sz="16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</a:t>
                      </a:r>
                      <a:endParaRPr lang="en-US" sz="16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{'A': 1, </a:t>
                      </a:r>
                      <a:r>
                        <a:rPr lang="en-US" sz="16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'B': 3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'C': 4}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0" y="4927632"/>
            <a:ext cx="1836945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noProof="0" dirty="0">
                <a:solidFill>
                  <a:srgbClr val="C00000"/>
                </a:solidFill>
              </a:rPr>
              <a:t>            |</a:t>
            </a:r>
            <a:r>
              <a:rPr lang="en-US" noProof="0" dirty="0"/>
              <a:t> and </a:t>
            </a:r>
            <a:r>
              <a:rPr lang="en-US" noProof="0" dirty="0">
                <a:solidFill>
                  <a:srgbClr val="C00000"/>
                </a:solidFill>
              </a:rPr>
              <a:t>|=</a:t>
            </a:r>
          </a:p>
          <a:p>
            <a:pPr algn="ctr">
              <a:spcBef>
                <a:spcPts val="1200"/>
              </a:spcBef>
              <a:spcAft>
                <a:spcPts val="1200"/>
              </a:spcAft>
            </a:pPr>
            <a:r>
              <a:rPr lang="en-US" noProof="0" dirty="0"/>
              <a:t>new in  </a:t>
            </a:r>
            <a:br>
              <a:rPr lang="en-US" noProof="0" dirty="0"/>
            </a:br>
            <a:r>
              <a:rPr lang="en-US" noProof="0" dirty="0"/>
              <a:t>Python 3.9</a:t>
            </a:r>
            <a:br>
              <a:rPr lang="en-US" noProof="0" dirty="0"/>
            </a:br>
            <a:r>
              <a:rPr lang="en-US" noProof="0" dirty="0">
                <a:hlinkClick r:id="rId3"/>
              </a:rPr>
              <a:t>PEP 584</a:t>
            </a:r>
            <a:endParaRPr lang="en-US" noProof="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34" y="4927632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02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2578955"/>
              </p:ext>
            </p:extLst>
          </p:nvPr>
        </p:nvGraphicFramePr>
        <p:xfrm>
          <a:off x="1590770" y="502920"/>
          <a:ext cx="9010460" cy="58521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588895">
                  <a:extLst>
                    <a:ext uri="{9D8B030D-6E8A-4147-A177-3AD203B41FA5}">
                      <a16:colId xmlns:a16="http://schemas.microsoft.com/office/drawing/2014/main" val="2809744555"/>
                    </a:ext>
                  </a:extLst>
                </a:gridCol>
                <a:gridCol w="6421565">
                  <a:extLst>
                    <a:ext uri="{9D8B030D-6E8A-4147-A177-3AD203B41FA5}">
                      <a16:colId xmlns:a16="http://schemas.microsoft.com/office/drawing/2014/main" val="2466915433"/>
                    </a:ext>
                  </a:extLst>
                </a:gridCol>
              </a:tblGrid>
              <a:tr h="338137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Dictionary operation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041741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 err="1"/>
                        <a:t>len</a:t>
                      </a:r>
                      <a:r>
                        <a:rPr lang="en-US" noProof="0" dirty="0"/>
                        <a:t>(d)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aseline="0" noProof="0" dirty="0"/>
                        <a:t>Items in dictionary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776293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d[key]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Lookup key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0621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d[key] = value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Update value of key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4964847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del d[key]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Delete an existing key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015044"/>
                  </a:ext>
                </a:extLst>
              </a:tr>
              <a:tr h="286191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key in d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Key membership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057999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key not in d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Key non-membership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168935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clear()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Remove all items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688801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copy()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Shallow copy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6953840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get(key), get(key, default)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d[key]</a:t>
                      </a:r>
                      <a:r>
                        <a:rPr lang="en-US" baseline="0" noProof="0" dirty="0"/>
                        <a:t> if key in dictionary, otherwise </a:t>
                      </a:r>
                      <a:r>
                        <a:rPr lang="en-US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r>
                        <a:rPr lang="en-US" baseline="0" noProof="0" dirty="0"/>
                        <a:t> or default</a:t>
                      </a:r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0000869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items()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i="1" noProof="0" dirty="0"/>
                        <a:t>View</a:t>
                      </a:r>
                      <a:r>
                        <a:rPr lang="en-US" noProof="0" dirty="0"/>
                        <a:t> of</a:t>
                      </a:r>
                      <a:r>
                        <a:rPr lang="en-US" baseline="0" noProof="0" dirty="0"/>
                        <a:t> the dictionaries items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8768313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keys()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i="1" noProof="0" dirty="0"/>
                        <a:t>View</a:t>
                      </a:r>
                      <a:r>
                        <a:rPr lang="en-US" noProof="0" dirty="0"/>
                        <a:t> of the dictionaries</a:t>
                      </a:r>
                      <a:r>
                        <a:rPr lang="en-US" baseline="0" noProof="0" dirty="0"/>
                        <a:t> keys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8806693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values()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i="1" noProof="0" dirty="0"/>
                        <a:t>View</a:t>
                      </a:r>
                      <a:r>
                        <a:rPr lang="en-US" noProof="0" dirty="0"/>
                        <a:t> of the dictionaries</a:t>
                      </a:r>
                      <a:r>
                        <a:rPr lang="en-US" baseline="0" noProof="0" dirty="0"/>
                        <a:t> values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1083406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pop(key)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Remove key and return</a:t>
                      </a:r>
                      <a:r>
                        <a:rPr lang="en-US" baseline="0" noProof="0" dirty="0"/>
                        <a:t> previous value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946107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 err="1"/>
                        <a:t>popitem</a:t>
                      </a:r>
                      <a:r>
                        <a:rPr lang="en-US" noProof="0" dirty="0"/>
                        <a:t>()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Remove and return an arbitrary item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242016"/>
                  </a:ext>
                </a:extLst>
              </a:tr>
              <a:tr h="18368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update()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Update key/value pairs from another dictionary/sequence of pairs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438099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053069" y="6403003"/>
            <a:ext cx="705079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2"/>
              </a:rPr>
              <a:t>https://docs.python.org/3/library/stdtypes.html#mapping-types-dict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99205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3EDFC-B053-459E-B2F3-941E1219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Tuples as dictionary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42941-8C40-4A22-AD1A-10553578A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1305"/>
            <a:ext cx="11140440" cy="554991"/>
          </a:xfrm>
        </p:spPr>
        <p:txBody>
          <a:bodyPr/>
          <a:lstStyle/>
          <a:p>
            <a:r>
              <a:rPr lang="en-US" noProof="0" dirty="0"/>
              <a:t>A tuple can be used as a dictionary key, and parenthesis can be omitted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EB6031F-8EF4-4630-91A6-9B0A0C740B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262632"/>
              </p:ext>
            </p:extLst>
          </p:nvPr>
        </p:nvGraphicFramePr>
        <p:xfrm>
          <a:off x="1638935" y="2106296"/>
          <a:ext cx="891413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41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2050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 -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1279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{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'a', 1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7,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'b', 2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42}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r>
                        <a:rPr lang="en-US" sz="18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'b', 2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r>
                        <a:rPr lang="en-US" sz="18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'b', 2</a:t>
                      </a:r>
                      <a:r>
                        <a:rPr lang="en-US" sz="18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same as above, parenthesis omitted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= [[None, None], [42, None]]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2D table as lists-of-lists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T[1][0]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T[1, 0]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wrong, T is a list (of lists)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list indices must be integers or slices, not tuple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= {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1, 0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42}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2D table as dictionary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</a:t>
                      </a:r>
                      <a:r>
                        <a:rPr lang="en-US" sz="18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1, 0</a:t>
                      </a:r>
                      <a:r>
                        <a:rPr lang="en-US" sz="18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dictionary lookup with tuple (1, 0) as key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T[1][0]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wrong, T has only one key = the tuple (1, 0)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1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32871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6625" y="185616"/>
            <a:ext cx="10515600" cy="1325563"/>
          </a:xfrm>
        </p:spPr>
        <p:txBody>
          <a:bodyPr/>
          <a:lstStyle/>
          <a:p>
            <a:r>
              <a:rPr lang="en-US" noProof="0" dirty="0"/>
              <a:t>Order returned by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list(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d.keys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  <a:r>
              <a:rPr lang="en-US" noProof="0" dirty="0"/>
              <a:t> 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9184" y="3341198"/>
            <a:ext cx="354372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noProof="0" dirty="0">
                <a:hlinkClick r:id="rId3"/>
              </a:rPr>
              <a:t>docs.python.org/3/library/stdtypes.html</a:t>
            </a:r>
            <a:endParaRPr lang="en-US" sz="1400" noProof="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4"/>
          <a:srcRect t="19351" r="3186"/>
          <a:stretch/>
        </p:blipFill>
        <p:spPr>
          <a:xfrm>
            <a:off x="7474769" y="1747474"/>
            <a:ext cx="4534030" cy="292870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4" name="Rectangle 13"/>
          <p:cNvSpPr/>
          <p:nvPr/>
        </p:nvSpPr>
        <p:spPr>
          <a:xfrm>
            <a:off x="7474769" y="4676174"/>
            <a:ext cx="453403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noProof="0" dirty="0">
                <a:hlinkClick r:id="rId5"/>
              </a:rPr>
              <a:t>Raymond Hettinger @ Twitter</a:t>
            </a:r>
            <a:endParaRPr lang="en-US" noProof="0" dirty="0"/>
          </a:p>
        </p:txBody>
      </p:sp>
      <p:sp>
        <p:nvSpPr>
          <p:cNvPr id="15" name="Rectangle 14"/>
          <p:cNvSpPr/>
          <p:nvPr/>
        </p:nvSpPr>
        <p:spPr>
          <a:xfrm>
            <a:off x="7474769" y="5227078"/>
            <a:ext cx="453403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noProof="0" dirty="0"/>
              <a:t>See also Raymond’s talk @ </a:t>
            </a:r>
            <a:r>
              <a:rPr lang="en-US" b="1" noProof="0" dirty="0" err="1"/>
              <a:t>PyCon</a:t>
            </a:r>
            <a:r>
              <a:rPr lang="en-US" b="1" noProof="0" dirty="0"/>
              <a:t> 2017</a:t>
            </a:r>
          </a:p>
          <a:p>
            <a:pPr algn="ctr"/>
            <a:r>
              <a:rPr lang="en-US" noProof="0" dirty="0">
                <a:hlinkClick r:id="rId6"/>
              </a:rPr>
              <a:t>Modern Python Dictionaries </a:t>
            </a:r>
            <a:br>
              <a:rPr lang="en-US" noProof="0" dirty="0">
                <a:hlinkClick r:id="rId6"/>
              </a:rPr>
            </a:br>
            <a:r>
              <a:rPr lang="en-US" noProof="0" dirty="0">
                <a:hlinkClick r:id="rId6"/>
              </a:rPr>
              <a:t>A confluence of a dozen great ideas</a:t>
            </a:r>
            <a:endParaRPr lang="en-US" noProof="0" dirty="0"/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291111"/>
              </p:ext>
            </p:extLst>
          </p:nvPr>
        </p:nvGraphicFramePr>
        <p:xfrm>
          <a:off x="267962" y="4213643"/>
          <a:ext cx="6894047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4047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2050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1279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{'d': 1, 'c': 2, 'b': 3, 'a': 4}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d['x'] = 5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new key at end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d['c'] = 6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overwrite value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del d['b']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remove key 'b'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d['b'] = 7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reinsert key 'b' at end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{'d': 1, 'c': 6, 'a': 4, 'x': 5, 'b': 7}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507888"/>
              </p:ext>
            </p:extLst>
          </p:nvPr>
        </p:nvGraphicFramePr>
        <p:xfrm>
          <a:off x="826625" y="1747474"/>
          <a:ext cx="5608840" cy="15544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608840">
                  <a:extLst>
                    <a:ext uri="{9D8B030D-6E8A-4147-A177-3AD203B41FA5}">
                      <a16:colId xmlns:a16="http://schemas.microsoft.com/office/drawing/2014/main" val="28097445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The Python Standard Library</a:t>
                      </a:r>
                      <a:br>
                        <a:rPr lang="en-US" noProof="0" dirty="0"/>
                      </a:br>
                      <a:r>
                        <a:rPr lang="en-US" b="1" noProof="0" dirty="0"/>
                        <a:t>Mapping Types — </a:t>
                      </a:r>
                      <a:r>
                        <a:rPr lang="en-US" b="1" noProof="0" dirty="0" err="1"/>
                        <a:t>dict</a:t>
                      </a:r>
                      <a:endParaRPr lang="en-US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0417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“Dictionaries preserve insertion order. Note that updating a key does not affect the order. Keys added after deletion are inserted at the end.” (since</a:t>
                      </a:r>
                      <a:r>
                        <a:rPr lang="en-US" baseline="0" noProof="0" dirty="0"/>
                        <a:t> Python 3.7)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776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0082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Dictionary comprehension</a:t>
            </a:r>
          </a:p>
        </p:txBody>
      </p:sp>
      <p:sp>
        <p:nvSpPr>
          <p:cNvPr id="12" name="Content Placeholder 2"/>
          <p:cNvSpPr txBox="1">
            <a:spLocks/>
          </p:cNvSpPr>
          <p:nvPr/>
        </p:nvSpPr>
        <p:spPr>
          <a:xfrm>
            <a:off x="838200" y="1815886"/>
            <a:ext cx="10515600" cy="1948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 dirty="0">
                <a:cs typeface="Courier New" panose="02070309020205020404" pitchFamily="49" charset="0"/>
              </a:rPr>
              <a:t>Similarly to creating a list using list comprehension, one can create a set of key-value pairs:</a:t>
            </a:r>
            <a:endParaRPr lang="en-US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spcBef>
                <a:spcPts val="3000"/>
              </a:spcBef>
              <a:buFont typeface="Wingdings" panose="05000000000000000000" pitchFamily="2" charset="2"/>
              <a:buNone/>
            </a:pP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i="1" noProof="0" dirty="0"/>
              <a:t>key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i="1" noProof="0" dirty="0"/>
              <a:t> value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</a:t>
            </a:r>
            <a:r>
              <a:rPr lang="en-US" i="1" noProof="0" dirty="0"/>
              <a:t>variable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i="1" noProof="0" dirty="0"/>
              <a:t>list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2965401"/>
              </p:ext>
            </p:extLst>
          </p:nvPr>
        </p:nvGraphicFramePr>
        <p:xfrm>
          <a:off x="1923645" y="4018312"/>
          <a:ext cx="8836024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3602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15389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03771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 = ['Mickey', 'Donald', 'Scrooge']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list(enumerate(names, start=1))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[(1, 'Mickey'), (2, 'Donald'), (3, 'Scrooge')]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(enumerate(names, start=1))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construct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from pairs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{1: 'Mickey', 2: 'Donald', 3: 'Scrooge'}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name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enumerate(names, start=1)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{'Mickey': 1, 'Donald': 2, 'Scrooge': 3}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09188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5337" y="118513"/>
            <a:ext cx="6543101" cy="1325563"/>
          </a:xfrm>
        </p:spPr>
        <p:txBody>
          <a:bodyPr/>
          <a:lstStyle/>
          <a:p>
            <a:r>
              <a:rPr lang="en-US" noProof="0" dirty="0"/>
              <a:t>Sets (set and </a:t>
            </a:r>
            <a:r>
              <a:rPr lang="en-US" noProof="0" dirty="0" err="1"/>
              <a:t>frozenset</a:t>
            </a:r>
            <a:r>
              <a:rPr lang="en-US" noProof="0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649" y="1331478"/>
            <a:ext cx="7256084" cy="260193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i="1" noProof="0" dirty="0">
                <a:cs typeface="Courier New" panose="02070309020205020404" pitchFamily="49" charset="0"/>
              </a:rPr>
              <a:t>value</a:t>
            </a:r>
            <a:r>
              <a:rPr lang="en-US" baseline="-25000" noProof="0" dirty="0">
                <a:cs typeface="Courier New" panose="02070309020205020404" pitchFamily="49" charset="0"/>
              </a:rPr>
              <a:t>1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...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i="1" noProof="0" dirty="0" err="1">
                <a:cs typeface="Courier New" panose="02070309020205020404" pitchFamily="49" charset="0"/>
              </a:rPr>
              <a:t>value</a:t>
            </a:r>
            <a:r>
              <a:rPr lang="en-US" i="1" baseline="-25000" noProof="0" dirty="0" err="1">
                <a:cs typeface="Courier New" panose="02070309020205020404" pitchFamily="49" charset="0"/>
              </a:rPr>
              <a:t>k</a:t>
            </a:r>
            <a:r>
              <a:rPr lang="en-US" baseline="-25000" noProof="0" dirty="0">
                <a:cs typeface="Courier New" panose="02070309020205020404" pitchFamily="49" charset="0"/>
              </a:rPr>
              <a:t> 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noProof="0" dirty="0"/>
          </a:p>
          <a:p>
            <a:r>
              <a:rPr lang="en-US" noProof="0" dirty="0"/>
              <a:t>Values of type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noProof="0" dirty="0"/>
              <a:t> represent mutable sets, where ”==” elements only appear once</a:t>
            </a:r>
          </a:p>
          <a:p>
            <a:r>
              <a:rPr lang="en-US" noProof="0" dirty="0"/>
              <a:t>Do </a:t>
            </a:r>
            <a:r>
              <a:rPr lang="en-US" b="1" noProof="0" dirty="0"/>
              <a:t>not</a:t>
            </a:r>
            <a:r>
              <a:rPr lang="en-US" noProof="0" dirty="0"/>
              <a:t> support: indexing, slicing </a:t>
            </a:r>
          </a:p>
          <a:p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frozenset</a:t>
            </a:r>
            <a:r>
              <a:rPr lang="en-US" noProof="0" dirty="0"/>
              <a:t> is an immutable version of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endParaRPr lang="en-US" noProof="0" dirty="0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4956364" y="6140151"/>
            <a:ext cx="714464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solidFill>
                  <a:schemeClr val="bg2">
                    <a:lumMod val="50000"/>
                  </a:schemeClr>
                </a:solidFill>
                <a:hlinkClick r:id="rId3"/>
              </a:rPr>
              <a:t>https://docs.python.org/3/tutorial/datastructures.html#sets</a:t>
            </a:r>
            <a:endParaRPr lang="en-US" noProof="0" dirty="0">
              <a:solidFill>
                <a:schemeClr val="bg2">
                  <a:lumMod val="50000"/>
                </a:schemeClr>
              </a:solidFill>
            </a:endParaRPr>
          </a:p>
          <a:p>
            <a:pPr algn="r"/>
            <a:r>
              <a:rPr lang="en-US" noProof="0" dirty="0">
                <a:solidFill>
                  <a:schemeClr val="bg2">
                    <a:lumMod val="50000"/>
                  </a:schemeClr>
                </a:solidFill>
                <a:hlinkClick r:id="rId4"/>
              </a:rPr>
              <a:t>https://docs.python.org/3/library/stdtypes.html#set-types-set-frozenset</a:t>
            </a:r>
            <a:endParaRPr lang="en-US" noProof="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6423183" y="561820"/>
            <a:ext cx="567782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noProof="0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714726"/>
              </p:ext>
            </p:extLst>
          </p:nvPr>
        </p:nvGraphicFramePr>
        <p:xfrm>
          <a:off x="7809018" y="259290"/>
          <a:ext cx="4210384" cy="5815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456168">
                  <a:extLst>
                    <a:ext uri="{9D8B030D-6E8A-4147-A177-3AD203B41FA5}">
                      <a16:colId xmlns:a16="http://schemas.microsoft.com/office/drawing/2014/main" val="2809744555"/>
                    </a:ext>
                  </a:extLst>
                </a:gridCol>
                <a:gridCol w="2754216">
                  <a:extLst>
                    <a:ext uri="{9D8B030D-6E8A-4147-A177-3AD203B41FA5}">
                      <a16:colId xmlns:a16="http://schemas.microsoft.com/office/drawing/2014/main" val="2466915433"/>
                    </a:ext>
                  </a:extLst>
                </a:gridCol>
              </a:tblGrid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Operation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Description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041741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 | T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Set union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776293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</a:t>
                      </a:r>
                      <a:r>
                        <a:rPr lang="en-US" baseline="0" noProof="0" dirty="0"/>
                        <a:t> &amp; T</a:t>
                      </a:r>
                      <a:endParaRPr lang="en-US" noProof="0" dirty="0"/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Set intersection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0621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</a:t>
                      </a:r>
                      <a:r>
                        <a:rPr lang="en-US" baseline="0" noProof="0" dirty="0"/>
                        <a:t> – T</a:t>
                      </a:r>
                      <a:endParaRPr lang="en-US" noProof="0" dirty="0"/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Set</a:t>
                      </a:r>
                      <a:r>
                        <a:rPr lang="en-US" baseline="0" noProof="0" dirty="0"/>
                        <a:t> difference</a:t>
                      </a:r>
                      <a:endParaRPr lang="en-US" noProof="0" dirty="0"/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4964847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</a:t>
                      </a:r>
                      <a:r>
                        <a:rPr lang="en-US" baseline="0" noProof="0" dirty="0"/>
                        <a:t> ^ T</a:t>
                      </a:r>
                      <a:r>
                        <a:rPr lang="en-US" noProof="0" dirty="0"/>
                        <a:t> 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Symmetric difference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015044"/>
                  </a:ext>
                </a:extLst>
              </a:tr>
              <a:tr h="60186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set()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Empty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( {} =</a:t>
                      </a:r>
                      <a:r>
                        <a:rPr lang="en-US" baseline="0" noProof="0" dirty="0"/>
                        <a:t> </a:t>
                      </a:r>
                      <a:r>
                        <a:rPr lang="en-US" noProof="0" dirty="0"/>
                        <a:t>empty dictionary        )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057999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set(L)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Create</a:t>
                      </a:r>
                      <a:r>
                        <a:rPr lang="en-US" baseline="0" noProof="0" dirty="0"/>
                        <a:t> set from </a:t>
                      </a:r>
                      <a:r>
                        <a:rPr lang="en-US" noProof="0" dirty="0"/>
                        <a:t>sequence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168935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x in S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Membership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688801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x not in S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Non-membership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6953840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 err="1"/>
                        <a:t>S.isdisjoint</a:t>
                      </a:r>
                      <a:r>
                        <a:rPr lang="en-US" noProof="0" dirty="0"/>
                        <a:t>(T)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Disjoint</a:t>
                      </a:r>
                      <a:r>
                        <a:rPr lang="en-US" baseline="0" noProof="0" dirty="0"/>
                        <a:t> sets</a:t>
                      </a:r>
                      <a:endParaRPr lang="en-US" noProof="0" dirty="0"/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0000869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 &lt;= T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Subset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8768313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 &lt; T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Proper subset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8806693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</a:t>
                      </a:r>
                      <a:r>
                        <a:rPr lang="en-US" baseline="0" noProof="0" dirty="0"/>
                        <a:t> &gt;= T</a:t>
                      </a:r>
                      <a:endParaRPr lang="en-US" noProof="0" dirty="0"/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Superset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946107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/>
                        <a:t>S</a:t>
                      </a:r>
                      <a:r>
                        <a:rPr lang="en-US" baseline="0" noProof="0" dirty="0"/>
                        <a:t> &gt; T</a:t>
                      </a:r>
                      <a:endParaRPr lang="en-US" noProof="0" dirty="0"/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Proper superset</a:t>
                      </a:r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242016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 err="1"/>
                        <a:t>len</a:t>
                      </a:r>
                      <a:r>
                        <a:rPr lang="en-US" noProof="0" dirty="0"/>
                        <a:t>(S)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Size</a:t>
                      </a:r>
                      <a:r>
                        <a:rPr lang="en-US" baseline="0" noProof="0" dirty="0"/>
                        <a:t> of S</a:t>
                      </a:r>
                      <a:endParaRPr lang="en-US" noProof="0" dirty="0"/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438099"/>
                  </a:ext>
                </a:extLst>
              </a:tr>
              <a:tr h="343924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 err="1"/>
                        <a:t>S.add</a:t>
                      </a:r>
                      <a:r>
                        <a:rPr lang="en-US" noProof="0" dirty="0"/>
                        <a:t>(x)</a:t>
                      </a:r>
                    </a:p>
                  </a:txBody>
                  <a:tcPr marT="36000" marB="3600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Add x to </a:t>
                      </a:r>
                      <a:r>
                        <a:rPr lang="en-US" baseline="0" noProof="0" dirty="0"/>
                        <a:t>S (not </a:t>
                      </a:r>
                      <a:r>
                        <a:rPr lang="en-US" baseline="0" noProof="0" dirty="0" err="1"/>
                        <a:t>frozenset</a:t>
                      </a:r>
                      <a:r>
                        <a:rPr lang="en-US" baseline="0" noProof="0" dirty="0"/>
                        <a:t>)</a:t>
                      </a:r>
                      <a:endParaRPr lang="en-US" noProof="0" dirty="0"/>
                    </a:p>
                  </a:txBody>
                  <a:tcPr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4584568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7031182"/>
              </p:ext>
            </p:extLst>
          </p:nvPr>
        </p:nvGraphicFramePr>
        <p:xfrm>
          <a:off x="544649" y="3910308"/>
          <a:ext cx="6957838" cy="21097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9200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3465838">
                  <a:extLst>
                    <a:ext uri="{9D8B030D-6E8A-4147-A177-3AD203B41FA5}">
                      <a16:colId xmlns:a16="http://schemas.microsoft.com/office/drawing/2014/main" val="3534283587"/>
                    </a:ext>
                  </a:extLst>
                </a:gridCol>
              </a:tblGrid>
              <a:tr h="216156">
                <a:tc gridSpan="2"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4394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{2, 5, 'a', 'c'}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= {3, 4, 5, 'c'}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| 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{2, 3, 4, 5, 'a', 'c'}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&amp; 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{5, 'c'}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^ 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{2, 3, 4, 'a'}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- 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{2, 'a'} 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{4,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5.1}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{4,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5.1}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605" y="5494989"/>
            <a:ext cx="487666" cy="40590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4617" y="2260893"/>
            <a:ext cx="350511" cy="291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152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Question – What value has the expression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9371" y="1880709"/>
            <a:ext cx="698377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sorted( { 5, 5.5, 5.0, '5' } )</a:t>
            </a:r>
          </a:p>
          <a:p>
            <a:endParaRPr lang="en-US" noProof="0" dirty="0"/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{'5', 5, 5.0, 5.5}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{5, 5.5}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['5', 5.0, 5.5]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['5', 5, 5.5]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 err="1"/>
              <a:t>TypeError</a:t>
            </a:r>
            <a:endParaRPr lang="en-US" noProof="0" dirty="0"/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Don’t know</a:t>
            </a:r>
          </a:p>
        </p:txBody>
      </p:sp>
      <p:sp>
        <p:nvSpPr>
          <p:cNvPr id="4" name="Smiley Face 3" descr="QuizAnswer"/>
          <p:cNvSpPr/>
          <p:nvPr/>
        </p:nvSpPr>
        <p:spPr>
          <a:xfrm>
            <a:off x="2390158" y="5018667"/>
            <a:ext cx="374567" cy="363338"/>
          </a:xfrm>
          <a:prstGeom prst="smileyFace">
            <a:avLst>
              <a:gd name="adj" fmla="val -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0537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5337" y="118513"/>
            <a:ext cx="6543101" cy="1325563"/>
          </a:xfrm>
        </p:spPr>
        <p:txBody>
          <a:bodyPr/>
          <a:lstStyle/>
          <a:p>
            <a:r>
              <a:rPr lang="en-US" noProof="0" dirty="0"/>
              <a:t>Sets of (frozen)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3661" y="1280160"/>
            <a:ext cx="11647351" cy="1325563"/>
          </a:xfrm>
        </p:spPr>
        <p:txBody>
          <a:bodyPr>
            <a:normAutofit/>
          </a:bodyPr>
          <a:lstStyle/>
          <a:p>
            <a:r>
              <a:rPr lang="en-US" noProof="0" dirty="0"/>
              <a:t>Sets are mutable, i.e. cannot be used as dictionary keys or elements in sets</a:t>
            </a:r>
          </a:p>
          <a:p>
            <a:r>
              <a:rPr lang="en-US" noProof="0" dirty="0"/>
              <a:t>Frozen sets can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6423183" y="561820"/>
            <a:ext cx="567782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noProof="0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8373470"/>
              </p:ext>
            </p:extLst>
          </p:nvPr>
        </p:nvGraphicFramePr>
        <p:xfrm>
          <a:off x="1161097" y="2441807"/>
          <a:ext cx="986980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98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518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1600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{{'a'}, {'a', 'b'}, {'a', 'c'}}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unhashable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type: 'set'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{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{'a'}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'b'}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'c'}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'b'}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'b'} in S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automatically converts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unhashable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set to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'b'} ==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['a', 'b']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from list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{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'b'}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42}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dictionary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frozenset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'b'}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D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{'a', 'b'} in D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dictionaries are not that friendly as sets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unhashable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type: 'set'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46" y="2911994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549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Set comprehension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65913"/>
            <a:ext cx="10515600" cy="2335576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US" noProof="0" dirty="0">
                <a:cs typeface="Courier New" panose="02070309020205020404" pitchFamily="49" charset="0"/>
              </a:rPr>
              <a:t>Similarly to creating a list using list comprehension, one can create a set of values (also using nested for- and if-statements):</a:t>
            </a:r>
            <a:endParaRPr lang="en-US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i="1" noProof="0" dirty="0"/>
              <a:t>value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</a:t>
            </a:r>
            <a:r>
              <a:rPr lang="en-US" i="1" noProof="0" dirty="0"/>
              <a:t>variable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i="1" noProof="0" dirty="0"/>
              <a:t>list</a:t>
            </a:r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noProof="0" dirty="0">
                <a:cs typeface="Courier New" panose="02070309020205020404" pitchFamily="49" charset="0"/>
              </a:rPr>
              <a:t>A value occurring multiple times as  </a:t>
            </a:r>
            <a:r>
              <a:rPr lang="en-US" i="1" noProof="0" dirty="0">
                <a:cs typeface="Courier New" panose="02070309020205020404" pitchFamily="49" charset="0"/>
              </a:rPr>
              <a:t>value</a:t>
            </a:r>
            <a:r>
              <a:rPr lang="en-US" noProof="0" dirty="0">
                <a:cs typeface="Courier New" panose="02070309020205020404" pitchFamily="49" charset="0"/>
              </a:rPr>
              <a:t>  will only be included once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754219"/>
              </p:ext>
            </p:extLst>
          </p:nvPr>
        </p:nvGraphicFramePr>
        <p:xfrm>
          <a:off x="627962" y="3576713"/>
          <a:ext cx="1099024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9024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563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primes_set.py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64078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101</a:t>
                      </a: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not_primes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 in range(2, n)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 in range(2 * f, n, f)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primes = set(range(2, n)) -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not_primes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5833937"/>
              </p:ext>
            </p:extLst>
          </p:nvPr>
        </p:nvGraphicFramePr>
        <p:xfrm>
          <a:off x="627962" y="4922006"/>
          <a:ext cx="10990244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9024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1856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52851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['a', 'b', 'c']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y,z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y in L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z in L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!= y and y != z and z != x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{('a',('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b','c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')),('a',('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c','b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')),('b',('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a','c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')),...,('c',('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b','a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{'a', 'b', 'c'}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(x,(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y,z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))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in L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y in L - {x}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z in L - {x, y}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{('c',('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b','a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')),('c',('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a','b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')),('a',('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c','b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')),...,('b',('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a','c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'))}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2266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Hash, equality, and immutability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855036" cy="5032375"/>
          </a:xfrm>
        </p:spPr>
        <p:txBody>
          <a:bodyPr>
            <a:normAutofit/>
          </a:bodyPr>
          <a:lstStyle/>
          <a:p>
            <a:r>
              <a:rPr lang="en-US" noProof="0" dirty="0"/>
              <a:t>Keys for dictionaries and sets must be </a:t>
            </a:r>
            <a:r>
              <a:rPr lang="en-US" i="1" noProof="0" dirty="0" err="1">
                <a:solidFill>
                  <a:srgbClr val="C00000"/>
                </a:solidFill>
              </a:rPr>
              <a:t>hashable</a:t>
            </a:r>
            <a:r>
              <a:rPr lang="en-US" noProof="0" dirty="0"/>
              <a:t>, i.e. have a </a:t>
            </a:r>
            <a:r>
              <a:rPr lang="en-US" noProof="0" dirty="0">
                <a:solidFill>
                  <a:srgbClr val="C00000"/>
                </a:solidFill>
              </a:rPr>
              <a:t>__hash__()</a:t>
            </a:r>
            <a:r>
              <a:rPr lang="en-US" noProof="0" dirty="0"/>
              <a:t> method returning an integer that does not change over their lifetime and an </a:t>
            </a:r>
            <a:r>
              <a:rPr lang="en-US" noProof="0" dirty="0">
                <a:solidFill>
                  <a:srgbClr val="C00000"/>
                </a:solidFill>
              </a:rPr>
              <a:t>__eq__()</a:t>
            </a:r>
            <a:r>
              <a:rPr lang="en-US" noProof="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noProof="0" dirty="0"/>
              <a:t>method to check for equality with “==”</a:t>
            </a:r>
            <a:br>
              <a:rPr lang="en-US" noProof="0" dirty="0"/>
            </a:br>
            <a:endParaRPr lang="en-US" noProof="0" dirty="0"/>
          </a:p>
          <a:p>
            <a:pPr marL="0" indent="0" algn="ctr"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'.__hash__() </a:t>
            </a:r>
            <a:r>
              <a:rPr lang="en-US" noProof="0" dirty="0"/>
              <a:t>could e.g. return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624337162</a:t>
            </a:r>
          </a:p>
          <a:p>
            <a:pPr marL="0" indent="0" algn="ctr"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(624337162).__hash__() </a:t>
            </a:r>
            <a:r>
              <a:rPr lang="en-US" noProof="0" dirty="0"/>
              <a:t>would also return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624337162</a:t>
            </a:r>
          </a:p>
          <a:p>
            <a:endParaRPr lang="en-US" noProof="0" dirty="0"/>
          </a:p>
          <a:p>
            <a:r>
              <a:rPr lang="en-US" noProof="0" dirty="0">
                <a:solidFill>
                  <a:srgbClr val="C00000"/>
                </a:solidFill>
              </a:rPr>
              <a:t>All built-in immutable types are </a:t>
            </a:r>
            <a:r>
              <a:rPr lang="en-US" noProof="0" dirty="0" err="1">
                <a:solidFill>
                  <a:srgbClr val="C00000"/>
                </a:solidFill>
              </a:rPr>
              <a:t>hashable</a:t>
            </a:r>
            <a:r>
              <a:rPr lang="en-US" noProof="0" dirty="0"/>
              <a:t>. </a:t>
            </a:r>
            <a:br>
              <a:rPr lang="en-US" noProof="0" dirty="0"/>
            </a:br>
            <a:r>
              <a:rPr lang="en-US" noProof="0" dirty="0"/>
              <a:t>In particular tuples of immutable values are </a:t>
            </a:r>
            <a:r>
              <a:rPr lang="en-US" noProof="0" dirty="0" err="1"/>
              <a:t>hashable</a:t>
            </a:r>
            <a:r>
              <a:rPr lang="en-US" noProof="0" dirty="0"/>
              <a:t>. </a:t>
            </a:r>
            <a:br>
              <a:rPr lang="en-US" noProof="0" dirty="0"/>
            </a:br>
            <a:r>
              <a:rPr lang="en-US" noProof="0" dirty="0"/>
              <a:t>I.e. nested tuples like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((('a'),'b'),('c',('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d','e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')))</a:t>
            </a:r>
            <a:r>
              <a:rPr lang="en-US" noProof="0" dirty="0"/>
              <a:t> representing trees can be used as dictionary keys or stored in a set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458113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Sketch of internal set implementation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5751431"/>
              </p:ext>
            </p:extLst>
          </p:nvPr>
        </p:nvGraphicFramePr>
        <p:xfrm>
          <a:off x="1174187" y="2535780"/>
          <a:ext cx="4390834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834">
                  <a:extLst>
                    <a:ext uri="{9D8B030D-6E8A-4147-A177-3AD203B41FA5}">
                      <a16:colId xmlns:a16="http://schemas.microsoft.com/office/drawing/2014/main" val="1548751254"/>
                    </a:ext>
                  </a:extLst>
                </a:gridCol>
              </a:tblGrid>
              <a:tr h="348273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3506239"/>
                  </a:ext>
                </a:extLst>
              </a:tr>
              <a:tr h="348273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5044655"/>
                  </a:ext>
                </a:extLst>
              </a:tr>
              <a:tr h="348273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82291"/>
                  </a:ext>
                </a:extLst>
              </a:tr>
              <a:tr h="348273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9262185"/>
                  </a:ext>
                </a:extLst>
              </a:tr>
              <a:tr h="348273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3693797"/>
                  </a:ext>
                </a:extLst>
              </a:tr>
              <a:tr h="348273">
                <a:tc>
                  <a:txBody>
                    <a:bodyPr/>
                    <a:lstStyle/>
                    <a:p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055512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426452"/>
              </p:ext>
            </p:extLst>
          </p:nvPr>
        </p:nvGraphicFramePr>
        <p:xfrm>
          <a:off x="838200" y="2117140"/>
          <a:ext cx="3052257" cy="383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02832">
                  <a:extLst>
                    <a:ext uri="{9D8B030D-6E8A-4147-A177-3AD203B41FA5}">
                      <a16:colId xmlns:a16="http://schemas.microsoft.com/office/drawing/2014/main" val="3497902532"/>
                    </a:ext>
                  </a:extLst>
                </a:gridCol>
                <a:gridCol w="449425">
                  <a:extLst>
                    <a:ext uri="{9D8B030D-6E8A-4147-A177-3AD203B41FA5}">
                      <a16:colId xmlns:a16="http://schemas.microsoft.com/office/drawing/2014/main" val="3942825485"/>
                    </a:ext>
                  </a:extLst>
                </a:gridCol>
              </a:tblGrid>
              <a:tr h="478788"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5124884"/>
                  </a:ext>
                </a:extLst>
              </a:tr>
              <a:tr h="478788"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473586"/>
                  </a:ext>
                </a:extLst>
              </a:tr>
              <a:tr h="478788"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853746"/>
                  </a:ext>
                </a:extLst>
              </a:tr>
              <a:tr h="478788"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837962"/>
                  </a:ext>
                </a:extLst>
              </a:tr>
              <a:tr h="478788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048744"/>
                  </a:ext>
                </a:extLst>
              </a:tr>
              <a:tr h="478788">
                <a:tc>
                  <a:txBody>
                    <a:bodyPr/>
                    <a:lstStyle/>
                    <a:p>
                      <a:pPr algn="r"/>
                      <a:r>
                        <a:rPr lang="en-US" sz="2400" noProof="0" dirty="0"/>
                        <a:t>hash('</a:t>
                      </a:r>
                      <a:r>
                        <a:rPr lang="en-US" sz="2400" noProof="0" dirty="0" err="1"/>
                        <a:t>abc</a:t>
                      </a:r>
                      <a:r>
                        <a:rPr lang="en-US" sz="2400" noProof="0" dirty="0"/>
                        <a:t>') % size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1901183"/>
                  </a:ext>
                </a:extLst>
              </a:tr>
              <a:tr h="478788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861113"/>
                  </a:ext>
                </a:extLst>
              </a:tr>
              <a:tr h="478788"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size - 1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07348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1906752"/>
              </p:ext>
            </p:extLst>
          </p:nvPr>
        </p:nvGraphicFramePr>
        <p:xfrm>
          <a:off x="5223498" y="4206956"/>
          <a:ext cx="5354195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0839">
                  <a:extLst>
                    <a:ext uri="{9D8B030D-6E8A-4147-A177-3AD203B41FA5}">
                      <a16:colId xmlns:a16="http://schemas.microsoft.com/office/drawing/2014/main" val="2194623880"/>
                    </a:ext>
                  </a:extLst>
                </a:gridCol>
                <a:gridCol w="1070839">
                  <a:extLst>
                    <a:ext uri="{9D8B030D-6E8A-4147-A177-3AD203B41FA5}">
                      <a16:colId xmlns:a16="http://schemas.microsoft.com/office/drawing/2014/main" val="207501731"/>
                    </a:ext>
                  </a:extLst>
                </a:gridCol>
                <a:gridCol w="1070839">
                  <a:extLst>
                    <a:ext uri="{9D8B030D-6E8A-4147-A177-3AD203B41FA5}">
                      <a16:colId xmlns:a16="http://schemas.microsoft.com/office/drawing/2014/main" val="4141108736"/>
                    </a:ext>
                  </a:extLst>
                </a:gridCol>
                <a:gridCol w="1070839">
                  <a:extLst>
                    <a:ext uri="{9D8B030D-6E8A-4147-A177-3AD203B41FA5}">
                      <a16:colId xmlns:a16="http://schemas.microsoft.com/office/drawing/2014/main" val="323324170"/>
                    </a:ext>
                  </a:extLst>
                </a:gridCol>
                <a:gridCol w="1070839">
                  <a:extLst>
                    <a:ext uri="{9D8B030D-6E8A-4147-A177-3AD203B41FA5}">
                      <a16:colId xmlns:a16="http://schemas.microsoft.com/office/drawing/2014/main" val="211424075"/>
                    </a:ext>
                  </a:extLst>
                </a:gridCol>
              </a:tblGrid>
              <a:tr h="349928"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noProof="0" dirty="0"/>
                        <a:t>'</a:t>
                      </a:r>
                      <a:r>
                        <a:rPr lang="en-US" sz="2400" noProof="0" dirty="0" err="1"/>
                        <a:t>abc</a:t>
                      </a:r>
                      <a:r>
                        <a:rPr lang="en-US" sz="2400" noProof="0" dirty="0"/>
                        <a:t>'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0" dirty="0"/>
                        <a:t>624337162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490841"/>
                  </a:ext>
                </a:extLst>
              </a:tr>
            </a:tbl>
          </a:graphicData>
        </a:graphic>
      </p:graphicFrame>
      <p:sp>
        <p:nvSpPr>
          <p:cNvPr id="8" name="Oval 7"/>
          <p:cNvSpPr/>
          <p:nvPr/>
        </p:nvSpPr>
        <p:spPr>
          <a:xfrm>
            <a:off x="3604018" y="4708306"/>
            <a:ext cx="108000" cy="108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Freeform 8"/>
          <p:cNvSpPr/>
          <p:nvPr/>
        </p:nvSpPr>
        <p:spPr>
          <a:xfrm>
            <a:off x="3670119" y="4435556"/>
            <a:ext cx="1553379" cy="386339"/>
          </a:xfrm>
          <a:custGeom>
            <a:avLst/>
            <a:gdLst>
              <a:gd name="connsiteX0" fmla="*/ 0 w 1553379"/>
              <a:gd name="connsiteY0" fmla="*/ 322061 h 386339"/>
              <a:gd name="connsiteX1" fmla="*/ 649996 w 1553379"/>
              <a:gd name="connsiteY1" fmla="*/ 366129 h 386339"/>
              <a:gd name="connsiteX2" fmla="*/ 1068636 w 1553379"/>
              <a:gd name="connsiteY2" fmla="*/ 35623 h 386339"/>
              <a:gd name="connsiteX3" fmla="*/ 1553379 w 1553379"/>
              <a:gd name="connsiteY3" fmla="*/ 24606 h 386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53379" h="386339">
                <a:moveTo>
                  <a:pt x="0" y="322061"/>
                </a:moveTo>
                <a:cubicBezTo>
                  <a:pt x="235945" y="367965"/>
                  <a:pt x="471890" y="413869"/>
                  <a:pt x="649996" y="366129"/>
                </a:cubicBezTo>
                <a:cubicBezTo>
                  <a:pt x="828102" y="318389"/>
                  <a:pt x="918072" y="92543"/>
                  <a:pt x="1068636" y="35623"/>
                </a:cubicBezTo>
                <a:cubicBezTo>
                  <a:pt x="1219200" y="-21297"/>
                  <a:pt x="1386289" y="1654"/>
                  <a:pt x="1553379" y="24606"/>
                </a:cubicBezTo>
              </a:path>
            </a:pathLst>
          </a:custGeom>
          <a:noFill/>
          <a:ln w="38100">
            <a:solidFill>
              <a:schemeClr val="tx1"/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ight Brace 9"/>
          <p:cNvSpPr/>
          <p:nvPr/>
        </p:nvSpPr>
        <p:spPr>
          <a:xfrm rot="5400000" flipH="1">
            <a:off x="7753485" y="1291192"/>
            <a:ext cx="294218" cy="5354197"/>
          </a:xfrm>
          <a:prstGeom prst="rightBrace">
            <a:avLst>
              <a:gd name="adj1" fmla="val 31710"/>
              <a:gd name="adj2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843413" y="2896956"/>
            <a:ext cx="60923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noProof="0" dirty="0">
                <a:solidFill>
                  <a:srgbClr val="C00000"/>
                </a:solidFill>
              </a:rPr>
              <a:t>elements with same hash value (hopefully few)</a:t>
            </a:r>
            <a:br>
              <a:rPr lang="en-US" sz="2400" noProof="0" dirty="0">
                <a:solidFill>
                  <a:srgbClr val="C00000"/>
                </a:solidFill>
              </a:rPr>
            </a:br>
            <a:r>
              <a:rPr lang="en-US" sz="2400" noProof="0" dirty="0">
                <a:solidFill>
                  <a:srgbClr val="C00000"/>
                </a:solidFill>
              </a:rPr>
              <a:t>search linearly using ==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8428" y="5947444"/>
            <a:ext cx="647357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Raymond Hettinger, </a:t>
            </a:r>
            <a:br>
              <a:rPr lang="en-US" noProof="0" dirty="0">
                <a:hlinkClick r:id="rId3"/>
              </a:rPr>
            </a:br>
            <a:r>
              <a:rPr lang="en-US" i="1" noProof="0" dirty="0">
                <a:hlinkClick r:id="rId3"/>
              </a:rPr>
              <a:t>Modern Python Dictionaries </a:t>
            </a:r>
            <a:br>
              <a:rPr lang="en-US" i="1" noProof="0" dirty="0">
                <a:hlinkClick r:id="rId3"/>
              </a:rPr>
            </a:br>
            <a:r>
              <a:rPr lang="en-US" i="1" noProof="0" dirty="0">
                <a:hlinkClick r:id="rId3"/>
              </a:rPr>
              <a:t>- A confluence of a dozen great ideas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779670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16C84B83-BFE6-47C5-BD02-806A3BA39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33" y="837761"/>
            <a:ext cx="5731742" cy="5952533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296827"/>
              </p:ext>
            </p:extLst>
          </p:nvPr>
        </p:nvGraphicFramePr>
        <p:xfrm>
          <a:off x="6361988" y="151852"/>
          <a:ext cx="5711201" cy="605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120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2238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101987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random import shuffle, choices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time import time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 err="1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200" b="1" noProof="0" dirty="0" err="1">
                          <a:solidFill>
                            <a:srgbClr val="FF7E0B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time_S</a:t>
                      </a:r>
                      <a:r>
                        <a:rPr lang="en-US" sz="1200" b="1" noProof="0" dirty="0">
                          <a:solidFill>
                            <a:srgbClr val="FF7E0B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[]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 err="1">
                          <a:solidFill>
                            <a:srgbClr val="249D2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time_D</a:t>
                      </a:r>
                      <a:r>
                        <a:rPr lang="en-US" sz="1200" b="1" noProof="0" dirty="0">
                          <a:solidFill>
                            <a:srgbClr val="249D2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[]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ns = [1, *range(100, 2001, 100)]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n in ns: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print(f'{n = }')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list(range(n))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shuffle(</a:t>
                      </a:r>
                      <a:r>
                        <a:rPr lang="en-US" sz="1200" b="1" noProof="0" dirty="0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>
                          <a:solidFill>
                            <a:srgbClr val="FFC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set(</a:t>
                      </a:r>
                      <a:r>
                        <a:rPr lang="en-US" sz="1200" b="1" noProof="0" dirty="0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>
                          <a:solidFill>
                            <a:srgbClr val="249D2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{value: 42 for value in </a:t>
                      </a:r>
                      <a:r>
                        <a:rPr lang="en-US" sz="1200" b="1" noProof="0" dirty="0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}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queries = choices(</a:t>
                      </a:r>
                      <a:r>
                        <a:rPr lang="en-US" sz="1200" b="1" noProof="0" dirty="0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k=1_000_000)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X, times in [(</a:t>
                      </a:r>
                      <a:r>
                        <a:rPr lang="en-US" sz="1200" b="1" noProof="0" dirty="0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b="1" noProof="0" dirty="0" err="1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), (</a:t>
                      </a:r>
                      <a:r>
                        <a:rPr lang="en-US" sz="1200" b="1" noProof="0" dirty="0">
                          <a:solidFill>
                            <a:srgbClr val="FFC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b="1" noProof="0" dirty="0" err="1">
                          <a:solidFill>
                            <a:srgbClr val="FFC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), (</a:t>
                      </a:r>
                      <a:r>
                        <a:rPr lang="en-US" sz="1200" b="1" noProof="0" dirty="0">
                          <a:solidFill>
                            <a:srgbClr val="249D2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b="1" noProof="0" dirty="0" err="1">
                          <a:solidFill>
                            <a:srgbClr val="249D2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)]: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count = 0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start = time()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q in queries: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if q 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count +=1    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times.append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((end - start) /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(queries))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200" b="1" noProof="0" dirty="0" err="1">
                          <a:solidFill>
                            <a:srgbClr val="3383BA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'.-', label='list')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200" b="1" noProof="0" dirty="0" err="1">
                          <a:solidFill>
                            <a:srgbClr val="FFC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time_S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'.-', label='set')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200" b="1" noProof="0" dirty="0" err="1">
                          <a:solidFill>
                            <a:srgbClr val="249D2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'.-', label='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('Size of list/set/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(n)')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("Average query time for 'in' (seconds)")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plt.legend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64227" y="151852"/>
            <a:ext cx="5293424" cy="685909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Membership queries 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3C1A19D-FB28-1700-35F0-784951085ABA}"/>
              </a:ext>
            </a:extLst>
          </p:cNvPr>
          <p:cNvGrpSpPr/>
          <p:nvPr/>
        </p:nvGrpSpPr>
        <p:grpSpPr>
          <a:xfrm>
            <a:off x="2974411" y="4675084"/>
            <a:ext cx="2398104" cy="1224328"/>
            <a:chOff x="2699112" y="4475843"/>
            <a:chExt cx="2398104" cy="1224328"/>
          </a:xfrm>
        </p:grpSpPr>
        <p:sp>
          <p:nvSpPr>
            <p:cNvPr id="9" name="TextBox 8"/>
            <p:cNvSpPr txBox="1"/>
            <p:nvPr/>
          </p:nvSpPr>
          <p:spPr>
            <a:xfrm>
              <a:off x="2699112" y="4475843"/>
              <a:ext cx="239810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>
                  <a:solidFill>
                    <a:srgbClr val="C00000"/>
                  </a:solidFill>
                </a:rPr>
                <a:t>Sets and dictionaries constant time </a:t>
              </a:r>
              <a:r>
                <a:rPr lang="en-US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</a:t>
              </a:r>
            </a:p>
            <a:p>
              <a:pPr algn="ctr"/>
              <a:r>
                <a:rPr lang="en-US" noProof="0" dirty="0">
                  <a:solidFill>
                    <a:srgbClr val="C00000"/>
                  </a:solidFill>
                </a:rPr>
                <a:t>≈ 1∙10</a:t>
              </a:r>
              <a:r>
                <a:rPr lang="en-US" baseline="30000" noProof="0" dirty="0">
                  <a:solidFill>
                    <a:srgbClr val="C00000"/>
                  </a:solidFill>
                </a:rPr>
                <a:t>-7 </a:t>
              </a:r>
              <a:r>
                <a:rPr lang="en-US" noProof="0" dirty="0">
                  <a:solidFill>
                    <a:srgbClr val="C00000"/>
                  </a:solidFill>
                </a:rPr>
                <a:t>sec</a:t>
              </a:r>
            </a:p>
          </p:txBody>
        </p:sp>
        <p:cxnSp>
          <p:nvCxnSpPr>
            <p:cNvPr id="10" name="Straight Arrow Connector 9"/>
            <p:cNvCxnSpPr>
              <a:cxnSpLocks/>
            </p:cNvCxnSpPr>
            <p:nvPr/>
          </p:nvCxnSpPr>
          <p:spPr>
            <a:xfrm>
              <a:off x="3898164" y="5416360"/>
              <a:ext cx="0" cy="283811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FDA7B88-B8CF-2A93-2D59-BA63F35D6ED6}"/>
              </a:ext>
            </a:extLst>
          </p:cNvPr>
          <p:cNvGrpSpPr/>
          <p:nvPr/>
        </p:nvGrpSpPr>
        <p:grpSpPr>
          <a:xfrm>
            <a:off x="2205761" y="1346594"/>
            <a:ext cx="2600340" cy="1145072"/>
            <a:chOff x="4857007" y="1508966"/>
            <a:chExt cx="1567543" cy="1145072"/>
          </a:xfrm>
        </p:grpSpPr>
        <p:sp>
          <p:nvSpPr>
            <p:cNvPr id="11" name="TextBox 10"/>
            <p:cNvSpPr txBox="1"/>
            <p:nvPr/>
          </p:nvSpPr>
          <p:spPr>
            <a:xfrm>
              <a:off x="4857007" y="1508966"/>
              <a:ext cx="156754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>
                  <a:solidFill>
                    <a:srgbClr val="C00000"/>
                  </a:solidFill>
                </a:rPr>
                <a:t>Lists</a:t>
              </a:r>
            </a:p>
            <a:p>
              <a:pPr algn="ctr"/>
              <a:r>
                <a:rPr lang="en-US" noProof="0" dirty="0">
                  <a:solidFill>
                    <a:srgbClr val="C00000"/>
                  </a:solidFill>
                </a:rPr>
                <a:t>linear time </a:t>
              </a:r>
              <a:r>
                <a:rPr lang="en-US" noProof="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</a:t>
              </a:r>
            </a:p>
            <a:p>
              <a:pPr algn="ctr"/>
              <a:r>
                <a:rPr lang="en-US" noProof="0" dirty="0">
                  <a:solidFill>
                    <a:srgbClr val="C00000"/>
                  </a:solidFill>
                </a:rPr>
                <a:t>≈ 3∙10</a:t>
              </a:r>
              <a:r>
                <a:rPr lang="en-US" baseline="30000" noProof="0" dirty="0">
                  <a:solidFill>
                    <a:srgbClr val="C00000"/>
                  </a:solidFill>
                </a:rPr>
                <a:t>-9</a:t>
              </a:r>
              <a:r>
                <a:rPr lang="en-US" noProof="0" dirty="0">
                  <a:solidFill>
                    <a:srgbClr val="C00000"/>
                  </a:solidFill>
                </a:rPr>
                <a:t> ∙ n</a:t>
              </a:r>
              <a:endParaRPr lang="en-US" baseline="30000" noProof="0" dirty="0">
                <a:solidFill>
                  <a:srgbClr val="C00000"/>
                </a:solidFill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5769980" y="2403874"/>
              <a:ext cx="269175" cy="250164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18308946-9027-9C8F-1D78-27AF5CA9EF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2835" y="6319657"/>
            <a:ext cx="487666" cy="405904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ACD34319-F395-A2F2-21A5-0C7A1D6F137B}"/>
              </a:ext>
            </a:extLst>
          </p:cNvPr>
          <p:cNvSpPr txBox="1"/>
          <p:nvPr/>
        </p:nvSpPr>
        <p:spPr>
          <a:xfrm>
            <a:off x="6960093" y="6291777"/>
            <a:ext cx="52319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noProof="0" dirty="0"/>
              <a:t>Avoid using </a:t>
            </a:r>
            <a:r>
              <a:rPr lang="en-US" sz="2400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400" noProof="0" dirty="0"/>
              <a:t> repeatedly on long lists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6B3417DE-48CB-255A-C5F1-B7537FCB4B36}"/>
              </a:ext>
            </a:extLst>
          </p:cNvPr>
          <p:cNvSpPr/>
          <p:nvPr/>
        </p:nvSpPr>
        <p:spPr>
          <a:xfrm>
            <a:off x="6027643" y="3814027"/>
            <a:ext cx="932450" cy="64293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8951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en-US" noProof="0" dirty="0"/>
              <a:t>Module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collections</a:t>
            </a:r>
            <a:r>
              <a:rPr lang="en-US" noProof="0" dirty="0"/>
              <a:t> (container datatypes)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0918371" cy="4351338"/>
          </a:xfrm>
        </p:spPr>
        <p:txBody>
          <a:bodyPr/>
          <a:lstStyle/>
          <a:p>
            <a:r>
              <a:rPr lang="en-US" noProof="0" dirty="0"/>
              <a:t>Python </a:t>
            </a:r>
            <a:r>
              <a:rPr lang="en-US" noProof="0" dirty="0" err="1"/>
              <a:t>builtin</a:t>
            </a:r>
            <a:r>
              <a:rPr lang="en-US" noProof="0" dirty="0"/>
              <a:t> containers for data: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en-US" noProof="0" dirty="0"/>
              <a:t>,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en-US" noProof="0" dirty="0"/>
              <a:t>,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noProof="0" dirty="0"/>
              <a:t>, and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en-US" noProof="0" dirty="0"/>
              <a:t>.</a:t>
            </a:r>
          </a:p>
          <a:p>
            <a:r>
              <a:rPr lang="en-US" noProof="0" dirty="0"/>
              <a:t>The module </a:t>
            </a:r>
            <a:r>
              <a:rPr lang="en-US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collections</a:t>
            </a:r>
            <a:r>
              <a:rPr lang="en-US" noProof="0" dirty="0"/>
              <a:t> provides further alternatives</a:t>
            </a:r>
            <a:br>
              <a:rPr lang="en-US" noProof="0" dirty="0"/>
            </a:br>
            <a:r>
              <a:rPr lang="en-US" noProof="0" dirty="0"/>
              <a:t>(but these are not part of the language like the </a:t>
            </a:r>
            <a:r>
              <a:rPr lang="en-US" noProof="0" dirty="0" err="1"/>
              <a:t>builtin</a:t>
            </a:r>
            <a:r>
              <a:rPr lang="en-US" noProof="0" dirty="0"/>
              <a:t> containers)</a:t>
            </a:r>
          </a:p>
          <a:p>
            <a:pPr marL="0" indent="0" defTabSz="809625">
              <a:buNone/>
              <a:tabLst>
                <a:tab pos="627063" algn="l"/>
                <a:tab pos="3043238" algn="l"/>
              </a:tabLst>
            </a:pP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defTabSz="809625">
              <a:buNone/>
              <a:tabLst>
                <a:tab pos="627063" algn="l"/>
                <a:tab pos="3043238" algn="l"/>
              </a:tabLst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deque</a:t>
            </a:r>
            <a:r>
              <a:rPr lang="en-US" noProof="0" dirty="0"/>
              <a:t>	double ended queue</a:t>
            </a:r>
          </a:p>
          <a:p>
            <a:pPr marL="0" indent="0" defTabSz="809625">
              <a:buNone/>
              <a:tabLst>
                <a:tab pos="627063" algn="l"/>
                <a:tab pos="3043238" algn="l"/>
              </a:tabLst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namedtuple</a:t>
            </a:r>
            <a:r>
              <a:rPr lang="en-US" noProof="0" dirty="0"/>
              <a:t>	tuples allowing access to fields by name</a:t>
            </a:r>
          </a:p>
          <a:p>
            <a:pPr marL="0" indent="0" defTabSz="809625">
              <a:buNone/>
              <a:tabLst>
                <a:tab pos="627063" algn="l"/>
                <a:tab pos="3043238" algn="l"/>
              </a:tabLst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Counter</a:t>
            </a:r>
            <a:r>
              <a:rPr lang="en-US" noProof="0" dirty="0"/>
              <a:t>	special dictionary to count occurrences of elements</a:t>
            </a:r>
          </a:p>
          <a:p>
            <a:pPr marL="0" indent="0" defTabSz="809625">
              <a:buNone/>
              <a:tabLst>
                <a:tab pos="627063" algn="l"/>
                <a:tab pos="3043238" algn="l"/>
              </a:tabLst>
            </a:pPr>
            <a:r>
              <a:rPr lang="en-US" noProof="0" dirty="0"/>
              <a:t>	...</a:t>
            </a:r>
          </a:p>
          <a:p>
            <a:endParaRPr lang="en-US" noProof="0" dirty="0"/>
          </a:p>
        </p:txBody>
      </p:sp>
      <p:sp>
        <p:nvSpPr>
          <p:cNvPr id="6" name="Rectangle 5"/>
          <p:cNvSpPr/>
          <p:nvPr/>
        </p:nvSpPr>
        <p:spPr>
          <a:xfrm>
            <a:off x="5251269" y="6311900"/>
            <a:ext cx="684050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000" noProof="0" dirty="0">
                <a:hlinkClick r:id="rId2"/>
              </a:rPr>
              <a:t>https://docs.python.org/3/library/collections.html</a:t>
            </a:r>
            <a:endParaRPr lang="en-US" sz="2000" noProof="0" dirty="0"/>
          </a:p>
        </p:txBody>
      </p:sp>
    </p:spTree>
    <p:extLst>
      <p:ext uri="{BB962C8B-B14F-4D97-AF65-F5344CB8AC3E}">
        <p14:creationId xmlns:p14="http://schemas.microsoft.com/office/powerpoint/2010/main" val="25816486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deque</a:t>
            </a:r>
            <a:r>
              <a:rPr lang="en-US" noProof="0" dirty="0">
                <a:latin typeface="+mn-lt"/>
                <a:cs typeface="Courier New" panose="02070309020205020404" pitchFamily="49" charset="0"/>
              </a:rPr>
              <a:t> – </a:t>
            </a:r>
            <a:r>
              <a:rPr lang="en-US" u="sng" noProof="0" dirty="0">
                <a:latin typeface="+mn-lt"/>
                <a:cs typeface="Courier New" panose="02070309020205020404" pitchFamily="49" charset="0"/>
              </a:rPr>
              <a:t>d</a:t>
            </a:r>
            <a:r>
              <a:rPr lang="en-US" noProof="0" dirty="0">
                <a:latin typeface="+mn-lt"/>
                <a:cs typeface="Courier New" panose="02070309020205020404" pitchFamily="49" charset="0"/>
              </a:rPr>
              <a:t>ouble </a:t>
            </a:r>
            <a:r>
              <a:rPr lang="en-US" u="sng" noProof="0" dirty="0">
                <a:latin typeface="+mn-lt"/>
                <a:cs typeface="Courier New" panose="02070309020205020404" pitchFamily="49" charset="0"/>
              </a:rPr>
              <a:t>e</a:t>
            </a:r>
            <a:r>
              <a:rPr lang="en-US" noProof="0" dirty="0">
                <a:latin typeface="+mn-lt"/>
                <a:cs typeface="Courier New" panose="02070309020205020404" pitchFamily="49" charset="0"/>
              </a:rPr>
              <a:t>nded </a:t>
            </a:r>
            <a:r>
              <a:rPr lang="en-US" u="sng" noProof="0" dirty="0">
                <a:latin typeface="+mn-lt"/>
                <a:cs typeface="Courier New" panose="02070309020205020404" pitchFamily="49" charset="0"/>
              </a:rPr>
              <a:t>que</a:t>
            </a:r>
            <a:r>
              <a:rPr lang="en-US" noProof="0" dirty="0">
                <a:latin typeface="+mn-lt"/>
                <a:cs typeface="Courier New" panose="02070309020205020404" pitchFamily="49" charset="0"/>
              </a:rPr>
              <a:t>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6128" y="1551302"/>
            <a:ext cx="11012897" cy="1675222"/>
          </a:xfrm>
        </p:spPr>
        <p:txBody>
          <a:bodyPr>
            <a:normAutofit/>
          </a:bodyPr>
          <a:lstStyle/>
          <a:p>
            <a:r>
              <a:rPr lang="en-US" noProof="0" dirty="0"/>
              <a:t>Extends lists with efficient updates at the front</a:t>
            </a:r>
          </a:p>
          <a:p>
            <a:r>
              <a:rPr lang="en-US" noProof="0" dirty="0"/>
              <a:t>      Inserting at the front of a standard Python list takes linear time in the</a:t>
            </a:r>
            <a:br>
              <a:rPr lang="en-US" noProof="0" dirty="0"/>
            </a:br>
            <a:r>
              <a:rPr lang="en-US" noProof="0" dirty="0"/>
              <a:t>      size of the list – very slow for long lists</a:t>
            </a:r>
          </a:p>
          <a:p>
            <a:endParaRPr lang="en-US" noProof="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341416"/>
              </p:ext>
            </p:extLst>
          </p:nvPr>
        </p:nvGraphicFramePr>
        <p:xfrm>
          <a:off x="616128" y="3095898"/>
          <a:ext cx="1104210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181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5500293">
                  <a:extLst>
                    <a:ext uri="{9D8B030D-6E8A-4147-A177-3AD203B41FA5}">
                      <a16:colId xmlns:a16="http://schemas.microsoft.com/office/drawing/2014/main" val="3534283587"/>
                    </a:ext>
                  </a:extLst>
                </a:gridCol>
              </a:tblGrid>
              <a:tr h="216156">
                <a:tc gridSpan="2"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4394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list()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L.insert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(0, 0)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insert at the front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L.insert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-1)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slow for long lists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L.insert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-2)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[-2, -1, 0, 1, 2]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collections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deque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deque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create empty deque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appendleft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efficient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appendleft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appendleft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deque([-2, -1, 0, 1, 2])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e in d: print(e, end=', ')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-2, -1, 0, 1, 2,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23" y="2270549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200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142" y="221432"/>
            <a:ext cx="10644051" cy="1325563"/>
          </a:xfrm>
        </p:spPr>
        <p:txBody>
          <a:bodyPr/>
          <a:lstStyle/>
          <a:p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namedtuple</a:t>
            </a:r>
            <a:r>
              <a:rPr lang="en-US" noProof="0" dirty="0">
                <a:latin typeface="+mn-lt"/>
                <a:cs typeface="Courier New" panose="02070309020205020404" pitchFamily="49" charset="0"/>
              </a:rPr>
              <a:t> – tuples with field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6128" y="1407609"/>
            <a:ext cx="11012897" cy="620169"/>
          </a:xfrm>
        </p:spPr>
        <p:txBody>
          <a:bodyPr>
            <a:normAutofit/>
          </a:bodyPr>
          <a:lstStyle/>
          <a:p>
            <a:r>
              <a:rPr lang="en-US" noProof="0" dirty="0"/>
              <a:t>Compromise between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en-US" noProof="0" dirty="0"/>
              <a:t> and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noProof="0" dirty="0"/>
              <a:t>, can increase code readability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7417583"/>
              </p:ext>
            </p:extLst>
          </p:nvPr>
        </p:nvGraphicFramePr>
        <p:xfrm>
          <a:off x="263884" y="2053905"/>
          <a:ext cx="11717383" cy="464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1738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30268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045788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 = ('Donald Duck', 1934, '3 feet')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as tuple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person[1]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not clear what is accessed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1934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 = {'name': 'Donald Duck', 'appeared': 1934, 'height': '3 feet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'}  # as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person['appeared']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more clear what is accessed, but ['...'] overhead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1934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collections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namedtuple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namedtuple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['name', 'appeared', 'height'])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create new type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 = 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('Donald Duck', 1934, '3 feet')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as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namedtuple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Person(name='Donald Duck', appeared=1934, height='3 feet')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person.appeared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short and clear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1934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person[1]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still possible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1934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1410789" y="4702629"/>
            <a:ext cx="2377440" cy="65314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476103" y="4663440"/>
            <a:ext cx="361406" cy="15147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2712720" y="4663440"/>
            <a:ext cx="3296194" cy="99801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AFD779A-4D09-46FD-BC14-F31893BBB592}"/>
              </a:ext>
            </a:extLst>
          </p:cNvPr>
          <p:cNvCxnSpPr>
            <a:cxnSpLocks/>
          </p:cNvCxnSpPr>
          <p:nvPr/>
        </p:nvCxnSpPr>
        <p:spPr>
          <a:xfrm flipH="1">
            <a:off x="4892040" y="4663440"/>
            <a:ext cx="1116874" cy="63500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1B0019EB-33BE-97BA-7C06-038561597A77}"/>
              </a:ext>
            </a:extLst>
          </p:cNvPr>
          <p:cNvGrpSpPr/>
          <p:nvPr/>
        </p:nvGrpSpPr>
        <p:grpSpPr>
          <a:xfrm>
            <a:off x="10407887" y="13330"/>
            <a:ext cx="1992836" cy="1200329"/>
            <a:chOff x="10407887" y="13330"/>
            <a:chExt cx="1992836" cy="120032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7E080DF-C0C5-20D2-33A0-8827EF54D731}"/>
                </a:ext>
              </a:extLst>
            </p:cNvPr>
            <p:cNvSpPr txBox="1"/>
            <p:nvPr/>
          </p:nvSpPr>
          <p:spPr>
            <a:xfrm>
              <a:off x="10563778" y="13330"/>
              <a:ext cx="1836945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US" noProof="0" dirty="0">
                  <a:solidFill>
                    <a:srgbClr val="C00000"/>
                  </a:solidFill>
                </a:rPr>
                <a:t>Since</a:t>
              </a:r>
              <a:br>
                <a:rPr lang="en-US" noProof="0" dirty="0">
                  <a:solidFill>
                    <a:srgbClr val="C00000"/>
                  </a:solidFill>
                </a:rPr>
              </a:br>
              <a:r>
                <a:rPr lang="en-US" noProof="0" dirty="0">
                  <a:solidFill>
                    <a:srgbClr val="C00000"/>
                  </a:solidFill>
                </a:rPr>
                <a:t>Python 3.7 </a:t>
              </a:r>
              <a:r>
                <a:rPr lang="en-US" noProof="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dataclass</a:t>
              </a:r>
              <a:br>
                <a:rPr lang="en-US" noProof="0" dirty="0">
                  <a:solidFill>
                    <a:srgbClr val="C00000"/>
                  </a:solidFill>
                </a:rPr>
              </a:br>
              <a:r>
                <a:rPr lang="en-US" noProof="0" dirty="0">
                  <a:solidFill>
                    <a:srgbClr val="C00000"/>
                  </a:solidFill>
                </a:rPr>
                <a:t>better choice</a:t>
              </a:r>
              <a:endParaRPr lang="en-US" noProof="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A096CE3-516F-E1E8-40C5-CB86C3E9C34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07887" y="155895"/>
              <a:ext cx="487666" cy="4059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0244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21432"/>
            <a:ext cx="10644051" cy="1325563"/>
          </a:xfrm>
        </p:spPr>
        <p:txBody>
          <a:bodyPr/>
          <a:lstStyle/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Counter</a:t>
            </a:r>
            <a:r>
              <a:rPr lang="en-US" noProof="0" dirty="0">
                <a:latin typeface="+mn-lt"/>
                <a:cs typeface="Courier New" panose="02070309020205020404" pitchFamily="49" charset="0"/>
              </a:rPr>
              <a:t> – dictionaries for counting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0692648"/>
              </p:ext>
            </p:extLst>
          </p:nvPr>
        </p:nvGraphicFramePr>
        <p:xfrm>
          <a:off x="237308" y="1546995"/>
          <a:ext cx="11717383" cy="492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1738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380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36499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collections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fq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('abracadabra')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create new counter from a sequence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fq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({'a': 5, 'b': 2, 'r': 2, 'c': 1, 'd': 1})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frequencies of the letters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fq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['a']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fq.most_common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[('a', 5), ('b', 2), ('r', 2)]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fq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['x'] += 5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increase count of 'x', also valid if 'x' not in Counter yet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aaabbbcc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aabdd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counters can be subtracted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({'b': 2, 'c': 2, 'a': 1})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2, 1, 3, 4, 5])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([3, 3, 3])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counters can be added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{3: 4, 1: 2, 2: 1, 4: 1, 5: 1})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= '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adsf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DSA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fda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 SA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fdsa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T.lower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().split()).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most_common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[('f', 5), ('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4), ('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dsaf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4)]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61031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8600" y="280445"/>
            <a:ext cx="11730789" cy="63707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Handin 3 &amp; 4 – Triplet distance (Dobson, 1975)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50622" y="2141034"/>
            <a:ext cx="7258396" cy="4367357"/>
          </a:xfrm>
        </p:spPr>
        <p:txBody>
          <a:bodyPr>
            <a:normAutofit fontScale="47500" lnSpcReduction="20000"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((('A','F'),'B'),('D',('C','E')))   (((('D','A'),'B'),'F'),('C','E'))</a:t>
            </a:r>
          </a:p>
          <a:p>
            <a:pPr marL="0" indent="0">
              <a:spcBef>
                <a:spcPts val="600"/>
              </a:spcBef>
              <a:buNone/>
            </a:pP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(a)                                     (b)</a:t>
            </a:r>
          </a:p>
          <a:p>
            <a:pPr marL="0" indent="0">
              <a:spcBef>
                <a:spcPts val="600"/>
              </a:spcBef>
              <a:buNone/>
            </a:pP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/\                                      /\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/  \                                    /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/    \                                  /  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/      \                                /    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/        \                              /      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/          \                            /        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/\          /\                          /\          /\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/  \        /  \                        /  \        /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/    \      /    \                      /    \     'C'  'E'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/\    'B'  'D'    /\                    /    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/  \              /  \                  /\      'F'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'A'  'F'          'C'  'E'               /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/  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/\    'B'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/  \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'D'  'A'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9823" y="3180908"/>
            <a:ext cx="201999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noProof="0" dirty="0">
                <a:solidFill>
                  <a:srgbClr val="C00000"/>
                </a:solidFill>
              </a:rPr>
              <a:t>How similar are the trees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78454" y="6210447"/>
            <a:ext cx="25940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solidFill>
                  <a:schemeClr val="bg2">
                    <a:lumMod val="50000"/>
                  </a:schemeClr>
                </a:solidFill>
              </a:rPr>
              <a:t>arxiv.org/abs/1706.10284</a:t>
            </a:r>
          </a:p>
        </p:txBody>
      </p:sp>
    </p:spTree>
    <p:extLst>
      <p:ext uri="{BB962C8B-B14F-4D97-AF65-F5344CB8AC3E}">
        <p14:creationId xmlns:p14="http://schemas.microsoft.com/office/powerpoint/2010/main" val="3364110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8600" y="288758"/>
            <a:ext cx="11730789" cy="63707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Handin 3 &amp; 4 – Triplet distance (Dobson, 1975)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50622" y="2141034"/>
            <a:ext cx="8803178" cy="4367357"/>
          </a:xfrm>
        </p:spPr>
        <p:txBody>
          <a:bodyPr>
            <a:noAutofit/>
          </a:bodyPr>
          <a:lstStyle/>
          <a:p>
            <a:pPr marL="0" indent="0">
              <a:spcBef>
                <a:spcPts val="300"/>
              </a:spcBef>
              <a:buNone/>
            </a:pPr>
            <a:endParaRPr lang="en-US" sz="13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300"/>
              </a:spcBef>
              <a:buNone/>
            </a:pPr>
            <a:endParaRPr lang="en-US" sz="13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(a)                                     (b)</a:t>
            </a:r>
          </a:p>
          <a:p>
            <a:pPr marL="0" indent="0">
              <a:spcBef>
                <a:spcPts val="300"/>
              </a:spcBef>
              <a:buNone/>
            </a:pPr>
            <a:endParaRPr lang="en-US" sz="13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anchor *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/\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/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/  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/    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/      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         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/        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\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\ 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anchor *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/\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\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\      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 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/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\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\   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'C'  'E'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'B'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'D'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/\  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/  \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\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'F'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'A'  'F'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'C'  'E'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/\</a:t>
            </a: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'B'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</a:t>
            </a: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  \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'D'  'A'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1380677" y="1345390"/>
                <a:ext cx="9426633" cy="10161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noProof="0" dirty="0">
                    <a:solidFill>
                      <a:schemeClr val="tx1"/>
                    </a:solidFill>
                  </a:rPr>
                  <a:t>Consider all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noProof="0" smtClean="0">
                            <a:solidFill>
                              <a:schemeClr val="tx1"/>
                            </a:solidFill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 noProof="0" smtClean="0">
                                <a:solidFill>
                                  <a:schemeClr val="tx1"/>
                                </a:solidFill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nor/>
                                  <m:brk m:alnAt="7"/>
                                </m:rPr>
                                <a:rPr lang="en-US" sz="2400" b="0" i="0" noProof="0" smtClean="0">
                                  <a:solidFill>
                                    <a:schemeClr val="tx1"/>
                                  </a:solidFill>
                                </a:rPr>
                                <m:t>n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nor/>
                                </m:rPr>
                                <a:rPr lang="en-US" sz="2400" b="0" i="0" noProof="0" smtClean="0">
                                  <a:solidFill>
                                    <a:schemeClr val="tx1"/>
                                  </a:solidFill>
                                </a:rPr>
                                <m:t>3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noProof="0" dirty="0">
                    <a:solidFill>
                      <a:schemeClr val="tx1"/>
                    </a:solidFill>
                  </a:rPr>
                  <a:t> subsets of size three and count how many do not have identical substructure (topology) in the </a:t>
                </a:r>
                <a:r>
                  <a:rPr lang="en-US" sz="2400" noProof="0">
                    <a:solidFill>
                      <a:schemeClr val="tx1"/>
                    </a:solidFill>
                  </a:rPr>
                  <a:t>two trees</a:t>
                </a:r>
                <a:endParaRPr lang="en-US" sz="2400" noProof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677" y="1345390"/>
                <a:ext cx="9426633" cy="1016112"/>
              </a:xfrm>
              <a:prstGeom prst="rect">
                <a:avLst/>
              </a:prstGeom>
              <a:blipFill>
                <a:blip r:embed="rId3"/>
                <a:stretch>
                  <a:fillRect b="-13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>
            <a:off x="393124" y="3105594"/>
            <a:ext cx="1695795" cy="1962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/\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  \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/    \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'D'    /\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/  \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'A'  'F'</a:t>
            </a:r>
          </a:p>
          <a:p>
            <a:pPr>
              <a:spcBef>
                <a:spcPts val="300"/>
              </a:spcBef>
            </a:pPr>
            <a:endParaRPr lang="en-US" sz="13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300"/>
              </a:spcBef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('D',('A','F'))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52779" y="3105594"/>
            <a:ext cx="1798867" cy="1962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/\      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  \     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/    \    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'F'    /\   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/  \  </a:t>
            </a:r>
          </a:p>
          <a:p>
            <a:pPr>
              <a:spcBef>
                <a:spcPts val="300"/>
              </a:spcBef>
            </a:pPr>
            <a:r>
              <a:rPr lang="en-US" sz="13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'A'  'D'</a:t>
            </a:r>
          </a:p>
          <a:p>
            <a:pPr>
              <a:spcBef>
                <a:spcPts val="300"/>
              </a:spcBef>
            </a:pPr>
            <a:endParaRPr lang="en-US" sz="13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300"/>
              </a:spcBef>
            </a:pPr>
            <a:r>
              <a:rPr lang="en-US" sz="13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('F',('A','D'))</a:t>
            </a:r>
          </a:p>
        </p:txBody>
      </p:sp>
      <p:sp>
        <p:nvSpPr>
          <p:cNvPr id="16" name="Right Arrow 15"/>
          <p:cNvSpPr/>
          <p:nvPr/>
        </p:nvSpPr>
        <p:spPr>
          <a:xfrm rot="10800000">
            <a:off x="2152777" y="3776072"/>
            <a:ext cx="698270" cy="548640"/>
          </a:xfrm>
          <a:prstGeom prst="rightArrow">
            <a:avLst/>
          </a:prstGeom>
          <a:solidFill>
            <a:srgbClr val="FFFF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Right Arrow 16"/>
          <p:cNvSpPr/>
          <p:nvPr/>
        </p:nvSpPr>
        <p:spPr>
          <a:xfrm>
            <a:off x="9110747" y="3753228"/>
            <a:ext cx="698270" cy="548640"/>
          </a:xfrm>
          <a:prstGeom prst="rightArrow">
            <a:avLst/>
          </a:prstGeom>
          <a:solidFill>
            <a:srgbClr val="FFFF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4842318" y="3353118"/>
            <a:ext cx="22771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noProof="0" dirty="0">
                <a:solidFill>
                  <a:srgbClr val="C00000"/>
                </a:solidFill>
              </a:rPr>
              <a:t>{ </a:t>
            </a:r>
            <a:r>
              <a:rPr lang="en-US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sz="2000" noProof="0" dirty="0">
                <a:solidFill>
                  <a:srgbClr val="C00000"/>
                </a:solidFill>
              </a:rPr>
              <a:t>,</a:t>
            </a:r>
            <a:r>
              <a:rPr lang="en-US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'D'</a:t>
            </a:r>
            <a:r>
              <a:rPr lang="en-US" sz="2000" noProof="0" dirty="0">
                <a:solidFill>
                  <a:srgbClr val="C00000"/>
                </a:solidFill>
              </a:rPr>
              <a:t>, </a:t>
            </a:r>
            <a:r>
              <a:rPr lang="en-US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'F'</a:t>
            </a:r>
            <a:r>
              <a:rPr lang="en-US" sz="2000" noProof="0" dirty="0">
                <a:solidFill>
                  <a:srgbClr val="C00000"/>
                </a:solidFill>
              </a:rP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78454" y="6210447"/>
            <a:ext cx="25940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solidFill>
                  <a:schemeClr val="bg2">
                    <a:lumMod val="50000"/>
                  </a:schemeClr>
                </a:solidFill>
              </a:rPr>
              <a:t>arxiv.org/abs/1706.10284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48" y="5067670"/>
            <a:ext cx="137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canonical ordering</a:t>
            </a:r>
          </a:p>
        </p:txBody>
      </p:sp>
    </p:spTree>
    <p:extLst>
      <p:ext uri="{BB962C8B-B14F-4D97-AF65-F5344CB8AC3E}">
        <p14:creationId xmlns:p14="http://schemas.microsoft.com/office/powerpoint/2010/main" val="1771596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6" grpId="0" animBg="1"/>
      <p:bldP spid="17" grpId="0" animBg="1"/>
      <p:bldP spid="20" grpId="0"/>
    </p:bldLst>
  </p:timing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27550</TotalTime>
  <Words>4152</Words>
  <Application>Microsoft Office PowerPoint</Application>
  <PresentationFormat>Widescreen</PresentationFormat>
  <Paragraphs>524</Paragraphs>
  <Slides>22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Courier New</vt:lpstr>
      <vt:lpstr>Wingdings</vt:lpstr>
      <vt:lpstr>Office Theme</vt:lpstr>
      <vt:lpstr>Dictionaries and Sets</vt:lpstr>
      <vt:lpstr>Dictionaries (type dict)</vt:lpstr>
      <vt:lpstr>Dictionaries (type dict)</vt:lpstr>
      <vt:lpstr>Dictionaries (type dict)</vt:lpstr>
      <vt:lpstr>Dictionary initialization</vt:lpstr>
      <vt:lpstr>PowerPoint Presentation</vt:lpstr>
      <vt:lpstr>Tuples as dictionary keys</vt:lpstr>
      <vt:lpstr>Order returned by list(d.keys()) ?</vt:lpstr>
      <vt:lpstr>Dictionary comprehension</vt:lpstr>
      <vt:lpstr>Sets (set and frozenset)</vt:lpstr>
      <vt:lpstr>Question – What value has the expression ?</vt:lpstr>
      <vt:lpstr>Sets of (frozen) sets</vt:lpstr>
      <vt:lpstr>Set comprehension</vt:lpstr>
      <vt:lpstr>Hash, equality, and immutability</vt:lpstr>
      <vt:lpstr>Sketch of internal set implementation</vt:lpstr>
      <vt:lpstr>Membership queries  in</vt:lpstr>
      <vt:lpstr>Module collections (container datatypes)</vt:lpstr>
      <vt:lpstr>deque – double ended queues</vt:lpstr>
      <vt:lpstr>namedtuple – tuples with field names</vt:lpstr>
      <vt:lpstr>Counter – dictionaries for counting</vt:lpstr>
      <vt:lpstr>Handin 3 &amp; 4 – Triplet distance (Dobson, 1975)</vt:lpstr>
      <vt:lpstr>Handin 3 &amp; 4 – Triplet distance (Dobson, 1975)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893</cp:revision>
  <dcterms:created xsi:type="dcterms:W3CDTF">2017-10-19T06:54:16Z</dcterms:created>
  <dcterms:modified xsi:type="dcterms:W3CDTF">2026-02-11T07:32:57Z</dcterms:modified>
</cp:coreProperties>
</file>