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470" r:id="rId2"/>
    <p:sldId id="766" r:id="rId3"/>
    <p:sldId id="761" r:id="rId4"/>
    <p:sldId id="782" r:id="rId5"/>
    <p:sldId id="784" r:id="rId6"/>
    <p:sldId id="800" r:id="rId7"/>
    <p:sldId id="783" r:id="rId8"/>
    <p:sldId id="803" r:id="rId9"/>
    <p:sldId id="767" r:id="rId10"/>
    <p:sldId id="786" r:id="rId11"/>
    <p:sldId id="768" r:id="rId12"/>
    <p:sldId id="802" r:id="rId13"/>
    <p:sldId id="765" r:id="rId14"/>
    <p:sldId id="789" r:id="rId15"/>
    <p:sldId id="788" r:id="rId16"/>
    <p:sldId id="785" r:id="rId17"/>
    <p:sldId id="790" r:id="rId18"/>
    <p:sldId id="792" r:id="rId19"/>
    <p:sldId id="791" r:id="rId20"/>
    <p:sldId id="793" r:id="rId21"/>
    <p:sldId id="794" r:id="rId22"/>
    <p:sldId id="795" r:id="rId23"/>
    <p:sldId id="797" r:id="rId24"/>
    <p:sldId id="779" r:id="rId25"/>
    <p:sldId id="780" r:id="rId26"/>
    <p:sldId id="804" r:id="rId27"/>
    <p:sldId id="618" r:id="rId28"/>
    <p:sldId id="511" r:id="rId29"/>
    <p:sldId id="801" r:id="rId30"/>
    <p:sldId id="798" r:id="rId31"/>
    <p:sldId id="799" r:id="rId3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  <a:srgbClr val="FFF2CC"/>
    <a:srgbClr val="FFA7A7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49" autoAdjust="0"/>
    <p:restoredTop sz="75499" autoAdjust="0"/>
  </p:normalViewPr>
  <p:slideViewPr>
    <p:cSldViewPr snapToGrid="0">
      <p:cViewPr varScale="1">
        <p:scale>
          <a:sx n="137" d="100"/>
          <a:sy n="137" d="100"/>
        </p:scale>
        <p:origin x="984" y="126"/>
      </p:cViewPr>
      <p:guideLst/>
    </p:cSldViewPr>
  </p:slideViewPr>
  <p:outlineViewPr>
    <p:cViewPr>
      <p:scale>
        <a:sx n="33" d="100"/>
        <a:sy n="33" d="100"/>
      </p:scale>
      <p:origin x="0" y="-68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undo custSel modSld">
      <pc:chgData name="Gerth Stølting Brodal" userId="04ef4784-6591-4f86-a140-f5c3b108582a" providerId="ADAL" clId="{73BAC7D6-516A-44B5-B4B0-C7B08CA8B392}" dt="2026-04-19T22:02:43.674" v="578" actId="790"/>
      <pc:docMkLst>
        <pc:docMk/>
      </pc:docMkLst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20486345" sldId="470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0486345" sldId="47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0486345" sldId="470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529165140" sldId="511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529165140" sldId="51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529165140" sldId="511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1194406365" sldId="618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194406365" sldId="618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1194406365" sldId="618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4194574005" sldId="761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4194574005" sldId="76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4194574005" sldId="761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14T22:30:44.971" v="342" actId="20577"/>
        <pc:sldMkLst>
          <pc:docMk/>
          <pc:sldMk cId="1847396043" sldId="765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847396043" sldId="76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847396043" sldId="765"/>
            <ac:spMk id="4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2:30:44.971" v="342" actId="20577"/>
          <ac:graphicFrameMkLst>
            <pc:docMk/>
            <pc:sldMk cId="1847396043" sldId="765"/>
            <ac:graphicFrameMk id="5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14T21:58:30.700" v="185" actId="20577"/>
        <pc:sldMkLst>
          <pc:docMk/>
          <pc:sldMk cId="298046743" sldId="766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98046743" sldId="76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98046743" sldId="766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98046743" sldId="766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98046743" sldId="766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98046743" sldId="766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98046743" sldId="766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2874579054" sldId="767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874579054" sldId="767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874579054" sldId="767"/>
            <ac:spMk id="3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874579054" sldId="767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874579054" sldId="767"/>
            <ac:graphicFrameMk id="6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874579054" sldId="767"/>
            <ac:graphicFrameMk id="7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874579054" sldId="767"/>
            <ac:graphicFrameMk id="8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874579054" sldId="767"/>
            <ac:graphicFrameMk id="9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874579054" sldId="767"/>
            <ac:graphicFrameMk id="10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14T22:31:25.956" v="343" actId="20577"/>
        <pc:sldMkLst>
          <pc:docMk/>
          <pc:sldMk cId="229453076" sldId="768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29453076" sldId="76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29453076" sldId="768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29453076" sldId="768"/>
            <ac:graphicFrameMk id="5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29453076" sldId="768"/>
            <ac:graphicFrameMk id="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1996554883" sldId="779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996554883" sldId="77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996554883" sldId="779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1996554883" sldId="779"/>
            <ac:graphicFrameMk id="3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1996554883" sldId="779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1764873955" sldId="780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764873955" sldId="78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764873955" sldId="780"/>
            <ac:spMk id="5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764873955" sldId="780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764873955" sldId="780"/>
            <ac:spMk id="8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764873955" sldId="780"/>
            <ac:spMk id="10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764873955" sldId="780"/>
            <ac:spMk id="1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764873955" sldId="780"/>
            <ac:spMk id="14" creationId="{978056D6-C424-74FA-BAE3-5493ACE8134B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764873955" sldId="780"/>
            <ac:spMk id="22" creationId="{73E98C91-FBF1-9B49-ED97-B99622E55B08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764873955" sldId="780"/>
            <ac:spMk id="51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764873955" sldId="780"/>
            <ac:spMk id="57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2957128108" sldId="782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957128108" sldId="78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957128108" sldId="782"/>
            <ac:spMk id="9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957128108" sldId="782"/>
            <ac:spMk id="1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957128108" sldId="782"/>
            <ac:spMk id="20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957128108" sldId="782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957128108" sldId="782"/>
            <ac:graphicFrameMk id="17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2832775796" sldId="783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832775796" sldId="78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832775796" sldId="783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832775796" sldId="783"/>
            <ac:spMk id="1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832775796" sldId="783"/>
            <ac:spMk id="13" creationId="{AA4C9A04-140C-D580-AD21-8A49899858D6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832775796" sldId="783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832775796" sldId="783"/>
            <ac:graphicFrameMk id="11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1680995835" sldId="784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680995835" sldId="784"/>
            <ac:spMk id="5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470661657" sldId="785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470661657" sldId="785"/>
            <ac:spMk id="2" creationId="{00000000-0000-0000-0000-000000000000}"/>
          </ac:spMkLst>
        </pc:spChg>
      </pc:sldChg>
      <pc:sldChg chg="modSp mod modNotesTx">
        <pc:chgData name="Gerth Stølting Brodal" userId="04ef4784-6591-4f86-a140-f5c3b108582a" providerId="ADAL" clId="{73BAC7D6-516A-44B5-B4B0-C7B08CA8B392}" dt="2026-04-19T22:02:43.674" v="578" actId="790"/>
        <pc:sldMkLst>
          <pc:docMk/>
          <pc:sldMk cId="3310034871" sldId="786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310034871" sldId="786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310034871" sldId="786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310034871" sldId="786"/>
            <ac:spMk id="10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3310034871" sldId="786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3310034871" sldId="786"/>
            <ac:graphicFrameMk id="8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2347165515" sldId="788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347165515" sldId="78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347165515" sldId="788"/>
            <ac:spMk id="7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347165515" sldId="788"/>
            <ac:spMk id="1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347165515" sldId="788"/>
            <ac:graphicFrameMk id="9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2266908387" sldId="789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266908387" sldId="78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266908387" sldId="789"/>
            <ac:spMk id="9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266908387" sldId="789"/>
            <ac:graphicFrameMk id="8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19T22:02:21.091" v="577" actId="790"/>
        <pc:sldMkLst>
          <pc:docMk/>
          <pc:sldMk cId="3474449255" sldId="790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474449255" sldId="79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2:38:12.234" v="471" actId="20577"/>
          <ac:spMkLst>
            <pc:docMk/>
            <pc:sldMk cId="3474449255" sldId="790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474449255" sldId="790"/>
            <ac:spMk id="6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3474449255" sldId="790"/>
            <ac:graphicFrameMk id="5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773748744" sldId="791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773748744" sldId="791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773748744" sldId="791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773748744" sldId="791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773748744" sldId="791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617726596" sldId="792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617726596" sldId="792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617726596" sldId="792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617726596" sldId="792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2:32:02.878" v="348" actId="20577"/>
        <pc:sldMkLst>
          <pc:docMk/>
          <pc:sldMk cId="1121050547" sldId="793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121050547" sldId="793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2:32:02.878" v="348" actId="20577"/>
          <ac:spMkLst>
            <pc:docMk/>
            <pc:sldMk cId="1121050547" sldId="793"/>
            <ac:spMk id="6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1121050547" sldId="793"/>
            <ac:spMk id="7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1121050547" sldId="793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3361084387" sldId="794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361084387" sldId="794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361084387" sldId="794"/>
            <ac:spMk id="5" creationId="{936A2807-631B-0640-32B8-94472DC6366E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3361084387" sldId="794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2:45:20.868" v="569" actId="20577"/>
        <pc:sldMkLst>
          <pc:docMk/>
          <pc:sldMk cId="2125248726" sldId="795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125248726" sldId="795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2:45:20.868" v="569" actId="20577"/>
          <ac:spMkLst>
            <pc:docMk/>
            <pc:sldMk cId="2125248726" sldId="795"/>
            <ac:spMk id="3" creationId="{92CCF01C-3B77-FB18-E6F3-EEC7E36E1A83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125248726" sldId="795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506658253" sldId="797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506658253" sldId="797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506658253" sldId="797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3752852980" sldId="798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752852980" sldId="798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752852980" sldId="798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752852980" sldId="798"/>
            <ac:spMk id="6" creationId="{906FD70E-611B-C398-9DA3-D666A942E3AB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3752852980" sldId="798"/>
            <ac:graphicFrameMk id="4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2357954353" sldId="799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357954353" sldId="799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357954353" sldId="799"/>
            <ac:spMk id="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357954353" sldId="799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2357954353" sldId="799"/>
            <ac:graphicFrameMk id="8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4262509072" sldId="800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4262509072" sldId="800"/>
            <ac:spMk id="2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4262509072" sldId="800"/>
            <ac:spMk id="15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4262509072" sldId="800"/>
            <ac:graphicFrameMk id="4" creationId="{00000000-0000-0000-0000-000000000000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4262509072" sldId="800"/>
            <ac:graphicFrameMk id="23" creationId="{00000000-0000-0000-0000-000000000000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2227252231" sldId="801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2227252231" sldId="801"/>
            <ac:spMk id="2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3533997958" sldId="802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533997958" sldId="802"/>
            <ac:spMk id="2" creationId="{B820491B-72BA-CDFD-9002-D0AAE9D0F05F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533997958" sldId="802"/>
            <ac:spMk id="3" creationId="{2091BD0F-6025-7088-2C6D-F3D110B0CEC2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533997958" sldId="802"/>
            <ac:spMk id="8" creationId="{BF9B9ECB-D779-D139-ACE1-1DF1A3FDFE00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533997958" sldId="802"/>
            <ac:spMk id="13" creationId="{DB01946D-D27F-6A7A-0D52-01295BA1DABD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533997958" sldId="802"/>
            <ac:spMk id="26" creationId="{F9AEF6FF-9E68-4748-909B-AF3227784463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533997958" sldId="802"/>
            <ac:spMk id="27" creationId="{C9C7C5A9-27F4-C293-4C4D-D4A7879C7476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3533997958" sldId="802"/>
            <ac:graphicFrameMk id="6" creationId="{742EE9F5-C111-723C-E4E0-65611ABA84FF}"/>
          </ac:graphicFrameMkLst>
        </pc:graphicFrameChg>
      </pc:sldChg>
      <pc:sldChg chg="modSp mod">
        <pc:chgData name="Gerth Stølting Brodal" userId="04ef4784-6591-4f86-a140-f5c3b108582a" providerId="ADAL" clId="{73BAC7D6-516A-44B5-B4B0-C7B08CA8B392}" dt="2026-04-14T21:42:39.634" v="0" actId="790"/>
        <pc:sldMkLst>
          <pc:docMk/>
          <pc:sldMk cId="313089034" sldId="803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313089034" sldId="803"/>
            <ac:spMk id="2" creationId="{00000000-0000-0000-0000-000000000000}"/>
          </ac:spMkLst>
        </pc:sp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313089034" sldId="803"/>
            <ac:graphicFrameMk id="4" creationId="{00000000-0000-0000-0000-000000000000}"/>
          </ac:graphicFrameMkLst>
        </pc:graphicFrameChg>
      </pc:sldChg>
      <pc:sldChg chg="modSp mod modNotesTx">
        <pc:chgData name="Gerth Stølting Brodal" userId="04ef4784-6591-4f86-a140-f5c3b108582a" providerId="ADAL" clId="{73BAC7D6-516A-44B5-B4B0-C7B08CA8B392}" dt="2026-04-19T22:01:52.133" v="576" actId="790"/>
        <pc:sldMkLst>
          <pc:docMk/>
          <pc:sldMk cId="702637341" sldId="804"/>
        </pc:sldMkLst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702637341" sldId="804"/>
            <ac:spMk id="2" creationId="{A0B84023-3078-C4B5-5312-0AF582E51936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702637341" sldId="804"/>
            <ac:spMk id="3" creationId="{CE40604B-5714-DD09-2AAD-A3CBA8DA447E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702637341" sldId="804"/>
            <ac:spMk id="10" creationId="{C1C5EE14-69FF-C096-E2FF-B209C461DA84}"/>
          </ac:spMkLst>
        </pc:spChg>
        <pc:spChg chg="mod">
          <ac:chgData name="Gerth Stølting Brodal" userId="04ef4784-6591-4f86-a140-f5c3b108582a" providerId="ADAL" clId="{73BAC7D6-516A-44B5-B4B0-C7B08CA8B392}" dt="2026-04-14T21:42:39.634" v="0" actId="790"/>
          <ac:spMkLst>
            <pc:docMk/>
            <pc:sldMk cId="702637341" sldId="804"/>
            <ac:spMk id="12" creationId="{6D7AD44B-46D3-C5E3-6C5C-5E22B9C06C68}"/>
          </ac:spMkLst>
        </pc:spChg>
        <pc:graphicFrameChg chg="modGraphic">
          <ac:chgData name="Gerth Stølting Brodal" userId="04ef4784-6591-4f86-a140-f5c3b108582a" providerId="ADAL" clId="{73BAC7D6-516A-44B5-B4B0-C7B08CA8B392}" dt="2026-04-14T22:53:22.550" v="571" actId="20577"/>
          <ac:graphicFrameMkLst>
            <pc:docMk/>
            <pc:sldMk cId="702637341" sldId="804"/>
            <ac:graphicFrameMk id="6" creationId="{63D05D8F-E4CE-D2B7-50BA-3357697B4C3E}"/>
          </ac:graphicFrameMkLst>
        </pc:graphicFrameChg>
        <pc:graphicFrameChg chg="modGraphic">
          <ac:chgData name="Gerth Stølting Brodal" userId="04ef4784-6591-4f86-a140-f5c3b108582a" providerId="ADAL" clId="{73BAC7D6-516A-44B5-B4B0-C7B08CA8B392}" dt="2026-04-14T21:42:39.634" v="0" actId="790"/>
          <ac:graphicFrameMkLst>
            <pc:docMk/>
            <pc:sldMk cId="702637341" sldId="804"/>
            <ac:graphicFrameMk id="7" creationId="{79649BBE-6858-C83D-689E-9BF61C41B79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internal workings of </a:t>
            </a:r>
            <a:r>
              <a:rPr lang="en-US"/>
              <a:t>a Python for-loop.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12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strings,</a:t>
            </a:r>
            <a:r>
              <a:rPr lang="en-US" baseline="0" dirty="0"/>
              <a:t> tuples, sets, dictionaries support iteration (dictionaries over the set of values)</a:t>
            </a:r>
          </a:p>
          <a:p>
            <a:r>
              <a:rPr lang="en-US" baseline="0" dirty="0"/>
              <a:t>Note: </a:t>
            </a:r>
            <a:r>
              <a:rPr lang="en-US" baseline="0" dirty="0" err="1"/>
              <a:t>iterable</a:t>
            </a:r>
            <a:r>
              <a:rPr lang="en-US" baseline="0" dirty="0"/>
              <a:t> classes ideally support __iter__ otherwise it falls back and tries to use __</a:t>
            </a:r>
            <a:r>
              <a:rPr lang="en-US" baseline="0" dirty="0" err="1"/>
              <a:t>getitem</a:t>
            </a:r>
            <a:r>
              <a:rPr lang="en-US" baseline="0" dirty="0"/>
              <a:t>__...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8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x in list(L):  # copy of list</a:t>
            </a:r>
          </a:p>
          <a:p>
            <a:r>
              <a:rPr lang="en-US" dirty="0"/>
              <a:t>    print(x)</a:t>
            </a:r>
          </a:p>
          <a:p>
            <a:r>
              <a:rPr lang="en-US" dirty="0"/>
              <a:t>    </a:t>
            </a:r>
            <a:r>
              <a:rPr lang="en-US" dirty="0" err="1"/>
              <a:t>L.append</a:t>
            </a:r>
            <a:r>
              <a:rPr lang="en-US" dirty="0"/>
              <a:t>(x + 1)</a:t>
            </a:r>
          </a:p>
          <a:p>
            <a:endParaRPr lang="en-US" dirty="0"/>
          </a:p>
          <a:p>
            <a:r>
              <a:rPr lang="en-US" dirty="0"/>
              <a:t>Vs</a:t>
            </a:r>
          </a:p>
          <a:p>
            <a:endParaRPr lang="en-US" dirty="0"/>
          </a:p>
          <a:p>
            <a:r>
              <a:rPr lang="en-US" dirty="0"/>
              <a:t>for x in L:  #</a:t>
            </a:r>
            <a:r>
              <a:rPr lang="en-US" baseline="0" dirty="0"/>
              <a:t> changing list </a:t>
            </a:r>
            <a:endParaRPr lang="en-US" dirty="0"/>
          </a:p>
          <a:p>
            <a:r>
              <a:rPr lang="en-US" dirty="0"/>
              <a:t>    print(x)</a:t>
            </a:r>
          </a:p>
          <a:p>
            <a:r>
              <a:rPr lang="en-US" dirty="0"/>
              <a:t>    </a:t>
            </a:r>
            <a:r>
              <a:rPr lang="en-US" dirty="0" err="1"/>
              <a:t>L.append</a:t>
            </a:r>
            <a:r>
              <a:rPr lang="en-US" dirty="0"/>
              <a:t>(x + 1)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19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zip</a:t>
            </a:r>
            <a:r>
              <a:rPr lang="en-US" baseline="0" noProof="0" dirty="0"/>
              <a:t> takes a sequence of </a:t>
            </a:r>
            <a:r>
              <a:rPr lang="en-US" baseline="0" noProof="0" dirty="0" err="1"/>
              <a:t>iterables</a:t>
            </a:r>
            <a:r>
              <a:rPr lang="en-US" baseline="0" noProof="0" dirty="0"/>
              <a:t> and creates an </a:t>
            </a:r>
            <a:r>
              <a:rPr lang="en-US" baseline="0" noProof="0" dirty="0" err="1"/>
              <a:t>iterable</a:t>
            </a:r>
            <a:endParaRPr lang="en-US" baseline="0" noProof="0" dirty="0"/>
          </a:p>
          <a:p>
            <a:r>
              <a:rPr lang="en-US" baseline="0" noProof="0" dirty="0"/>
              <a:t>for zip the iterator equals the </a:t>
            </a:r>
            <a:r>
              <a:rPr lang="en-US" baseline="0" noProof="0" dirty="0" err="1"/>
              <a:t>iterable</a:t>
            </a:r>
            <a:r>
              <a:rPr lang="en-US" baseline="0" noProof="0" dirty="0"/>
              <a:t>, i.e. </a:t>
            </a:r>
            <a:r>
              <a:rPr lang="en-US" baseline="0" noProof="0" dirty="0">
                <a:latin typeface="Courier"/>
              </a:rPr>
              <a:t>z is iter(zip) == True</a:t>
            </a:r>
          </a:p>
          <a:p>
            <a:endParaRPr lang="en-US" baseline="0" noProof="0" dirty="0">
              <a:latin typeface="Courier"/>
            </a:endParaRPr>
          </a:p>
          <a:p>
            <a:r>
              <a:rPr lang="en-US" baseline="0" noProof="0" dirty="0">
                <a:latin typeface="Courier"/>
              </a:rPr>
              <a:t>if “it” is replaced by “r” in for loops, then the counting will always start from 42</a:t>
            </a:r>
          </a:p>
          <a:p>
            <a:endParaRPr lang="en-US" baseline="0" noProof="0" dirty="0">
              <a:latin typeface="Courier"/>
            </a:endParaRPr>
          </a:p>
          <a:p>
            <a:r>
              <a:rPr lang="en-US" baseline="0" noProof="0" dirty="0">
                <a:latin typeface="Courier"/>
              </a:rPr>
              <a:t>if ”range(5)” and ”it” are swapped in zip, then zip will eat one element of ”it” and the second counting will start at 24..12 !!!</a:t>
            </a:r>
            <a:endParaRPr lang="en-US" noProof="0" dirty="0">
              <a:latin typeface="Courie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3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For build-in </a:t>
            </a:r>
            <a:r>
              <a:rPr lang="en-US" b="1" noProof="0" dirty="0"/>
              <a:t>ranges </a:t>
            </a:r>
            <a:r>
              <a:rPr lang="en-US" noProof="0" dirty="0"/>
              <a:t>there is a separation with classes ‘range’ and ‘</a:t>
            </a:r>
            <a:r>
              <a:rPr lang="en-US" noProof="0" dirty="0" err="1"/>
              <a:t>range_iterator</a:t>
            </a:r>
            <a:r>
              <a:rPr lang="en-US" noProof="0" dirty="0"/>
              <a:t>’</a:t>
            </a:r>
          </a:p>
          <a:p>
            <a:r>
              <a:rPr lang="en-US" b="1" noProof="0" dirty="0"/>
              <a:t>Files </a:t>
            </a:r>
            <a:r>
              <a:rPr lang="en-US" noProof="0" dirty="0"/>
              <a:t>created with open are also </a:t>
            </a:r>
            <a:r>
              <a:rPr lang="en-US" noProof="0" dirty="0" err="1"/>
              <a:t>iterable</a:t>
            </a:r>
            <a:r>
              <a:rPr lang="en-US" noProof="0" dirty="0"/>
              <a:t>, and iter just returns the file itself, i.e., the file also acts as an iterator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76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term “The old sequence iteration protocol” is the term used in the documentation.</a:t>
            </a:r>
          </a:p>
          <a:p>
            <a:r>
              <a:rPr lang="en-US" dirty="0" err="1"/>
              <a:t>IndexError</a:t>
            </a:r>
            <a:r>
              <a:rPr lang="en-US" dirty="0"/>
              <a:t> and </a:t>
            </a:r>
            <a:r>
              <a:rPr lang="en-US" dirty="0" err="1"/>
              <a:t>StopIteration</a:t>
            </a:r>
            <a:r>
              <a:rPr lang="en-US" dirty="0"/>
              <a:t> will both stop iterator </a:t>
            </a:r>
          </a:p>
          <a:p>
            <a:endParaRPr lang="en-US" dirty="0"/>
          </a:p>
          <a:p>
            <a:r>
              <a:rPr lang="en-US" dirty="0"/>
              <a:t>The class </a:t>
            </a:r>
            <a:r>
              <a:rPr lang="en-US" dirty="0" err="1"/>
              <a:t>xml.etree.ElementTree.Element</a:t>
            </a:r>
            <a:r>
              <a:rPr lang="en-US" dirty="0"/>
              <a:t> (node in an XML document) is </a:t>
            </a:r>
            <a:r>
              <a:rPr lang="en-US" dirty="0" err="1"/>
              <a:t>iterable</a:t>
            </a:r>
            <a:r>
              <a:rPr lang="en-US" dirty="0"/>
              <a:t> by defining __</a:t>
            </a:r>
            <a:r>
              <a:rPr lang="en-US" dirty="0" err="1"/>
              <a:t>getitem</a:t>
            </a:r>
            <a:r>
              <a:rPr lang="en-US" dirty="0"/>
              <a:t>__, that is list of the children. It has no __</a:t>
            </a:r>
            <a:r>
              <a:rPr lang="en-US" dirty="0" err="1"/>
              <a:t>iter</a:t>
            </a:r>
            <a:r>
              <a:rPr lang="en-US" dirty="0"/>
              <a:t>__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063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has </a:t>
            </a:r>
            <a:r>
              <a:rPr lang="en-US" b="1" dirty="0"/>
              <a:t>generator expressions</a:t>
            </a:r>
            <a:r>
              <a:rPr lang="en-US" dirty="0"/>
              <a:t> and </a:t>
            </a:r>
            <a:r>
              <a:rPr lang="en-US" b="1" dirty="0"/>
              <a:t>generator functions</a:t>
            </a:r>
            <a:endParaRPr lang="da-DK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58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o = (x ** 2 for x in range(5))</a:t>
            </a:r>
          </a:p>
          <a:p>
            <a:r>
              <a:rPr lang="en-US" noProof="0" dirty="0"/>
              <a:t>for y in o: print(y)  # print all squares</a:t>
            </a:r>
          </a:p>
          <a:p>
            <a:r>
              <a:rPr lang="en-US" noProof="0" dirty="0"/>
              <a:t>for y in o: print(y)  # prints nothing, since generator expression is exhausted</a:t>
            </a:r>
          </a:p>
          <a:p>
            <a:r>
              <a:rPr lang="en-US" noProof="0" dirty="0"/>
              <a:t>iter(o) is o   # the </a:t>
            </a:r>
            <a:r>
              <a:rPr lang="en-US" noProof="0" dirty="0" err="1"/>
              <a:t>iterable</a:t>
            </a:r>
            <a:r>
              <a:rPr lang="en-US" noProof="0" dirty="0"/>
              <a:t> is also the iterator for itself</a:t>
            </a:r>
          </a:p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97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Parenthesis needed when more parameters, e.g.</a:t>
            </a:r>
          </a:p>
          <a:p>
            <a:r>
              <a:rPr lang="en-US" dirty="0"/>
              <a:t>sum((x**2 for x in range(10)), start=100)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62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b="1" dirty="0"/>
              <a:t>return</a:t>
            </a:r>
            <a:r>
              <a:rPr lang="en-US" dirty="0"/>
              <a:t> has an argument, then this will be given as arguments to the </a:t>
            </a:r>
            <a:r>
              <a:rPr lang="en-US" dirty="0" err="1"/>
              <a:t>StopIteration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67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585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</a:t>
            </a:r>
            <a:r>
              <a:rPr lang="en-US" b="1" dirty="0"/>
              <a:t>from</a:t>
            </a:r>
            <a:r>
              <a:rPr lang="en-US" b="0" dirty="0"/>
              <a:t> would print</a:t>
            </a:r>
            <a:r>
              <a:rPr lang="en-US" b="0" baseline="0" dirty="0"/>
              <a:t> a list of ‘generators’ for each child</a:t>
            </a:r>
          </a:p>
          <a:p>
            <a:endParaRPr lang="en-US" b="0" baseline="0" dirty="0"/>
          </a:p>
          <a:p>
            <a:r>
              <a:rPr lang="en-US" b="0" baseline="0" dirty="0"/>
              <a:t>“yield from G” does not improve performance over “for x in G: yield x”</a:t>
            </a:r>
          </a:p>
          <a:p>
            <a:r>
              <a:rPr lang="en-US" b="0" baseline="0" dirty="0"/>
              <a:t>See code: yield_recursive_performance_comparison.py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117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Python 3.12 bug: </a:t>
            </a:r>
            <a:r>
              <a:rPr lang="en-US" noProof="0" dirty="0" err="1"/>
              <a:t>r.close</a:t>
            </a:r>
            <a:r>
              <a:rPr lang="en-US" noProof="0" dirty="0"/>
              <a:t> does not release resources</a:t>
            </a:r>
          </a:p>
          <a:p>
            <a:r>
              <a:rPr lang="en-US" noProof="0" dirty="0"/>
              <a:t>https://github.com/python/cpython/issues/118272</a:t>
            </a:r>
          </a:p>
          <a:p>
            <a:r>
              <a:rPr lang="en-US" noProof="0" dirty="0"/>
              <a:t>Fixed in 3.13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785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99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for squares only the size of the list is reported, </a:t>
            </a:r>
            <a:r>
              <a:rPr lang="en-US" dirty="0" err="1"/>
              <a:t>ie</a:t>
            </a:r>
            <a:r>
              <a:rPr lang="en-US" dirty="0"/>
              <a:t>. pointers to the integers – the recursive space for the integers is </a:t>
            </a:r>
            <a:r>
              <a:rPr lang="en-US" b="1" dirty="0"/>
              <a:t>not </a:t>
            </a:r>
            <a:r>
              <a:rPr lang="en-US" dirty="0"/>
              <a:t>reported</a:t>
            </a:r>
          </a:p>
          <a:p>
            <a:endParaRPr lang="en-US" dirty="0"/>
          </a:p>
          <a:p>
            <a:r>
              <a:rPr lang="en-US" dirty="0"/>
              <a:t>Demo:</a:t>
            </a:r>
          </a:p>
          <a:p>
            <a:r>
              <a:rPr lang="da-DK" dirty="0"/>
              <a:t>IDLE:</a:t>
            </a:r>
          </a:p>
          <a:p>
            <a:r>
              <a:rPr lang="da-DK" dirty="0"/>
              <a:t>start</a:t>
            </a:r>
            <a:r>
              <a:rPr lang="da-DK" baseline="0" dirty="0"/>
              <a:t> </a:t>
            </a:r>
            <a:r>
              <a:rPr lang="da-DK" baseline="0" dirty="0" err="1"/>
              <a:t>task</a:t>
            </a:r>
            <a:r>
              <a:rPr lang="da-DK" baseline="0" dirty="0"/>
              <a:t> manager</a:t>
            </a:r>
          </a:p>
          <a:p>
            <a:r>
              <a:rPr lang="da-DK" baseline="0" dirty="0"/>
              <a:t>start IDLE</a:t>
            </a:r>
          </a:p>
          <a:p>
            <a:r>
              <a:rPr lang="da-DK" baseline="0" dirty="0"/>
              <a:t>L = list(range(1_000_000)</a:t>
            </a:r>
            <a:endParaRPr lang="en-US" dirty="0"/>
          </a:p>
          <a:p>
            <a:r>
              <a:rPr lang="en-US" dirty="0"/>
              <a:t>X = range(10_000_000)</a:t>
            </a:r>
          </a:p>
          <a:p>
            <a:r>
              <a:rPr lang="da-DK" dirty="0"/>
              <a:t>X = []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632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2024: </a:t>
            </a:r>
            <a:r>
              <a:rPr lang="da-DK" b="1" dirty="0"/>
              <a:t>memory-profiler 0.61.0 is no longer </a:t>
            </a:r>
            <a:r>
              <a:rPr lang="da-DK" b="1" dirty="0" err="1"/>
              <a:t>maintained</a:t>
            </a:r>
            <a:endParaRPr lang="en-US" dirty="0"/>
          </a:p>
          <a:p>
            <a:r>
              <a:rPr lang="en-US" dirty="0" err="1"/>
              <a:t>mprof</a:t>
            </a:r>
            <a:r>
              <a:rPr lang="en-US" baseline="0" dirty="0"/>
              <a:t> script is part of the memory-profiler module installed in the Python directory Python???/scripts</a:t>
            </a:r>
          </a:p>
          <a:p>
            <a:r>
              <a:rPr lang="en-US" baseline="0" dirty="0"/>
              <a:t>“</a:t>
            </a:r>
            <a:r>
              <a:rPr lang="en-US" baseline="0" dirty="0" err="1"/>
              <a:t>mprof</a:t>
            </a:r>
            <a:r>
              <a:rPr lang="en-US" baseline="0" dirty="0"/>
              <a:t> run” creates a file “mprofile_20220406123307.dat” (number is the date and time)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755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reference/compound_stmts.html#the-for-stateme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reference/datamodel.html#object.__contains__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itertools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reference/expressions.html#generator-expression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ev/peps/pep-0289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reference/expressions.html#yield-expression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peps.python.org/pep-0448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reference/expressions.html#generator.clos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1twn9kLmY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memory-profiler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632" y="2920558"/>
            <a:ext cx="11603892" cy="1325563"/>
          </a:xfrm>
        </p:spPr>
        <p:txBody>
          <a:bodyPr/>
          <a:lstStyle/>
          <a:p>
            <a:pPr algn="r"/>
            <a:r>
              <a:rPr lang="en-US" noProof="0" dirty="0"/>
              <a:t>Generators, iterators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8183" y="3920647"/>
            <a:ext cx="4303229" cy="2937353"/>
          </a:xfrm>
        </p:spPr>
        <p:txBody>
          <a:bodyPr>
            <a:normAutofit/>
          </a:bodyPr>
          <a:lstStyle/>
          <a:p>
            <a:r>
              <a:rPr lang="en-US" noProof="0" dirty="0"/>
              <a:t>__iter__, __next__</a:t>
            </a:r>
          </a:p>
          <a:p>
            <a:r>
              <a:rPr lang="en-US" noProof="0" dirty="0"/>
              <a:t>yield</a:t>
            </a:r>
          </a:p>
          <a:p>
            <a:r>
              <a:rPr lang="en-US" noProof="0" dirty="0"/>
              <a:t>generator expression</a:t>
            </a:r>
          </a:p>
          <a:p>
            <a:r>
              <a:rPr lang="en-US" noProof="0" dirty="0"/>
              <a:t>measuring memory usage</a:t>
            </a:r>
          </a:p>
        </p:txBody>
      </p:sp>
    </p:spTree>
    <p:extLst>
      <p:ext uri="{BB962C8B-B14F-4D97-AF65-F5344CB8AC3E}">
        <p14:creationId xmlns:p14="http://schemas.microsoft.com/office/powerpoint/2010/main" val="20486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Iterable</a:t>
            </a:r>
            <a:r>
              <a:rPr lang="en-US" noProof="0" dirty="0"/>
              <a:t>  &amp; Iterator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208469"/>
              </p:ext>
            </p:extLst>
          </p:nvPr>
        </p:nvGraphicFramePr>
        <p:xfrm>
          <a:off x="973415" y="1589895"/>
          <a:ext cx="4135755" cy="4611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57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 = ['a', 'b', 'c']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type(L)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'list'&gt;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__iter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type(it)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'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list_iterator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'&gt;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it.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__next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'a'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it.__next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'b'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it.__next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'c'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it.__next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StopIteration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Exception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3124"/>
              </p:ext>
            </p:extLst>
          </p:nvPr>
        </p:nvGraphicFramePr>
        <p:xfrm>
          <a:off x="5611087" y="1589895"/>
          <a:ext cx="5629154" cy="3240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9154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 = ['a', 'b', 'c']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 =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calls </a:t>
                      </a:r>
                      <a:r>
                        <a:rPr lang="en-US" sz="18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L.__iter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(it) 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calls </a:t>
                      </a:r>
                      <a:r>
                        <a:rPr lang="en-US" sz="18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it.__next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__()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'a'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next(it)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'b'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next(it)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'c'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next(it)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StopIteration</a:t>
                      </a:r>
                      <a:endParaRPr lang="en-US" sz="18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519657" y="5172932"/>
            <a:ext cx="6672343" cy="993217"/>
          </a:xfrm>
        </p:spPr>
        <p:txBody>
          <a:bodyPr>
            <a:normAutofit fontScale="92500"/>
          </a:bodyPr>
          <a:lstStyle/>
          <a:p>
            <a:r>
              <a:rPr lang="en-US" sz="2400" noProof="0" dirty="0"/>
              <a:t>Lists are </a:t>
            </a:r>
            <a:r>
              <a:rPr lang="en-US" sz="2400" noProof="0" dirty="0" err="1">
                <a:solidFill>
                  <a:srgbClr val="C00000"/>
                </a:solidFill>
              </a:rPr>
              <a:t>iterable</a:t>
            </a:r>
            <a:r>
              <a:rPr lang="en-US" sz="2400" noProof="0" dirty="0"/>
              <a:t> (must support __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iter__</a:t>
            </a:r>
            <a:r>
              <a:rPr lang="en-US" sz="2400" noProof="0" dirty="0"/>
              <a:t>)</a:t>
            </a:r>
          </a:p>
          <a:p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iter</a:t>
            </a:r>
            <a:r>
              <a:rPr lang="en-US" sz="2400" noProof="0" dirty="0"/>
              <a:t> returns an </a:t>
            </a:r>
            <a:r>
              <a:rPr lang="en-US" sz="2400" noProof="0" dirty="0">
                <a:solidFill>
                  <a:srgbClr val="C00000"/>
                </a:solidFill>
              </a:rPr>
              <a:t>iterator </a:t>
            </a:r>
            <a:r>
              <a:rPr lang="en-US" sz="2400" noProof="0" dirty="0"/>
              <a:t>(must support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__next__</a:t>
            </a:r>
            <a:r>
              <a:rPr lang="en-US" sz="2400" noProof="0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082" y="6370679"/>
            <a:ext cx="866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Some </a:t>
            </a:r>
            <a:r>
              <a:rPr lang="en-US" noProof="0" dirty="0" err="1"/>
              <a:t>iterables</a:t>
            </a:r>
            <a:r>
              <a:rPr lang="en-US" noProof="0" dirty="0"/>
              <a:t> in Python: string, list, set, tuple, </a:t>
            </a:r>
            <a:r>
              <a:rPr lang="en-US" noProof="0" dirty="0" err="1"/>
              <a:t>dict</a:t>
            </a:r>
            <a:r>
              <a:rPr lang="en-US" noProof="0" dirty="0"/>
              <a:t>, range, enumerate, zip, map, reversed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6743" y="3702050"/>
            <a:ext cx="2448608" cy="9588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buClr>
                <a:srgbClr val="C00000"/>
              </a:buClr>
              <a:buSzPct val="100000"/>
            </a:pPr>
            <a:endParaRPr lang="en-US" b="1" noProof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>
              <a:buClr>
                <a:srgbClr val="C00000"/>
              </a:buClr>
              <a:buSzPct val="100000"/>
            </a:pPr>
            <a:endParaRPr lang="en-US" sz="1600" noProof="0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algn="ctr">
              <a:buClr>
                <a:srgbClr val="C00000"/>
              </a:buClr>
              <a:buSzPct val="100000"/>
            </a:pPr>
            <a:r>
              <a:rPr lang="en-US" sz="1600" noProof="0" dirty="0">
                <a:solidFill>
                  <a:schemeClr val="tx1"/>
                </a:solidFill>
                <a:cs typeface="Courier New" panose="02070309020205020404" pitchFamily="49" charset="0"/>
              </a:rPr>
              <a:t>iterator ≈ pointer into list</a:t>
            </a:r>
          </a:p>
          <a:p>
            <a:pPr algn="ctr">
              <a:buClr>
                <a:srgbClr val="C00000"/>
              </a:buClr>
              <a:buSzPct val="100000"/>
            </a:pPr>
            <a:endParaRPr lang="en-US" b="1" noProof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>
              <a:buClr>
                <a:srgbClr val="C00000"/>
              </a:buClr>
              <a:buSzPct val="100000"/>
            </a:pPr>
            <a:r>
              <a:rPr lang="en-US" b="1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['a', 'b', 'c']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9820374" y="4076700"/>
            <a:ext cx="0" cy="227376"/>
          </a:xfrm>
          <a:prstGeom prst="straightConnector1">
            <a:avLst/>
          </a:prstGeom>
          <a:ln w="25400"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46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Iterator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rgbClr val="C00000"/>
                </a:solidFill>
              </a:rPr>
              <a:t>next(</a:t>
            </a:r>
            <a:r>
              <a:rPr lang="en-US" i="1" noProof="0" dirty="0" err="1"/>
              <a:t>iterator_object</a:t>
            </a:r>
            <a:r>
              <a:rPr lang="en-US" noProof="0" dirty="0">
                <a:solidFill>
                  <a:srgbClr val="C00000"/>
                </a:solidFill>
              </a:rPr>
              <a:t>)</a:t>
            </a:r>
            <a:r>
              <a:rPr lang="en-US" noProof="0" dirty="0"/>
              <a:t> returns the next element from the iterator, by calling the </a:t>
            </a:r>
            <a:r>
              <a:rPr lang="en-US" i="1" noProof="0" dirty="0" err="1"/>
              <a:t>iterator_object</a:t>
            </a:r>
            <a:r>
              <a:rPr lang="en-US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.__next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  <a:r>
              <a:rPr lang="en-US" noProof="0" dirty="0"/>
              <a:t>. If no more elements to report, raises exception </a:t>
            </a:r>
            <a:r>
              <a:rPr lang="en-US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StopIteration</a:t>
            </a:r>
            <a:endParaRPr lang="en-US" noProof="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noProof="0" dirty="0">
                <a:solidFill>
                  <a:srgbClr val="C00000"/>
                </a:solidFill>
              </a:rPr>
              <a:t>next(</a:t>
            </a:r>
            <a:r>
              <a:rPr lang="en-US" i="1" noProof="0" dirty="0" err="1"/>
              <a:t>iterator_object</a:t>
            </a:r>
            <a:r>
              <a:rPr lang="en-US" noProof="0" dirty="0"/>
              <a:t>,</a:t>
            </a:r>
            <a:r>
              <a:rPr lang="en-US" i="1" noProof="0" dirty="0"/>
              <a:t> default</a:t>
            </a:r>
            <a:r>
              <a:rPr lang="en-US" noProof="0" dirty="0">
                <a:solidFill>
                  <a:srgbClr val="C00000"/>
                </a:solidFill>
              </a:rPr>
              <a:t>) </a:t>
            </a:r>
            <a:r>
              <a:rPr lang="en-US" noProof="0" dirty="0"/>
              <a:t>returns </a:t>
            </a:r>
            <a:r>
              <a:rPr lang="en-US" i="1" noProof="0" dirty="0"/>
              <a:t>default</a:t>
            </a:r>
            <a:r>
              <a:rPr lang="en-US" noProof="0" dirty="0"/>
              <a:t> when no more elements are available (no exception is raised)</a:t>
            </a:r>
          </a:p>
          <a:p>
            <a:r>
              <a:rPr lang="en-US" noProof="0" dirty="0"/>
              <a:t>for-loops and list comprehensions require </a:t>
            </a:r>
            <a:r>
              <a:rPr lang="en-US" noProof="0" dirty="0" err="1"/>
              <a:t>iterable</a:t>
            </a:r>
            <a:r>
              <a:rPr lang="en-US" noProof="0" dirty="0"/>
              <a:t> objects</a:t>
            </a:r>
            <a:br>
              <a:rPr lang="en-US" noProof="0" dirty="0"/>
            </a:b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for x in range(5):</a:t>
            </a:r>
            <a:r>
              <a:rPr lang="en-US" sz="2400" noProof="0" dirty="0"/>
              <a:t>   </a:t>
            </a:r>
            <a:r>
              <a:rPr lang="en-US" noProof="0" dirty="0"/>
              <a:t>and   </a:t>
            </a:r>
            <a:r>
              <a:rPr lang="en-US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[2**x for x in range(5)]</a:t>
            </a:r>
          </a:p>
          <a:p>
            <a:r>
              <a:rPr lang="en-US" noProof="0" dirty="0"/>
              <a:t>The iterator concept is also central to Java and C++</a:t>
            </a:r>
          </a:p>
        </p:txBody>
      </p:sp>
    </p:spTree>
    <p:extLst>
      <p:ext uri="{BB962C8B-B14F-4D97-AF65-F5344CB8AC3E}">
        <p14:creationId xmlns:p14="http://schemas.microsoft.com/office/powerpoint/2010/main" val="4194574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urier"/>
              </a:rPr>
              <a:t>for </a:t>
            </a:r>
            <a:r>
              <a:rPr lang="en-US" noProof="0" dirty="0"/>
              <a:t>loop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080159"/>
              </p:ext>
            </p:extLst>
          </p:nvPr>
        </p:nvGraphicFramePr>
        <p:xfrm>
          <a:off x="475358" y="1690688"/>
          <a:ext cx="519620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62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3248"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93619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['a', 'b', 'c']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b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3125882" y="2583417"/>
            <a:ext cx="2607276" cy="1484711"/>
            <a:chOff x="3125882" y="2583417"/>
            <a:chExt cx="2607276" cy="1484711"/>
          </a:xfrm>
        </p:grpSpPr>
        <p:cxnSp>
          <p:nvCxnSpPr>
            <p:cNvPr id="6" name="Straight Arrow Connector 5"/>
            <p:cNvCxnSpPr/>
            <p:nvPr/>
          </p:nvCxnSpPr>
          <p:spPr>
            <a:xfrm flipH="1" flipV="1">
              <a:off x="4097949" y="2583417"/>
              <a:ext cx="148279" cy="518982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125882" y="3052465"/>
              <a:ext cx="260727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noProof="0" dirty="0" err="1">
                  <a:solidFill>
                    <a:srgbClr val="C00000"/>
                  </a:solidFill>
                </a:rPr>
                <a:t>iterable</a:t>
              </a:r>
              <a:r>
                <a:rPr lang="en-US" sz="2000" noProof="0" dirty="0">
                  <a:solidFill>
                    <a:srgbClr val="C00000"/>
                  </a:solidFill>
                </a:rPr>
                <a:t> object </a:t>
              </a:r>
              <a:br>
                <a:rPr lang="en-US" sz="2000" noProof="0" dirty="0">
                  <a:solidFill>
                    <a:srgbClr val="C00000"/>
                  </a:solidFill>
                </a:rPr>
              </a:br>
              <a:r>
                <a:rPr lang="en-US" sz="2000" noProof="0" dirty="0">
                  <a:solidFill>
                    <a:srgbClr val="C00000"/>
                  </a:solidFill>
                </a:rPr>
                <a:t>(can call </a:t>
              </a:r>
              <a:r>
                <a:rPr lang="en-US" sz="2000" noProof="0" dirty="0">
                  <a:solidFill>
                    <a:srgbClr val="C00000"/>
                  </a:solidFill>
                  <a:latin typeface="Courier"/>
                </a:rPr>
                <a:t>iter</a:t>
              </a:r>
              <a:r>
                <a:rPr lang="en-US" sz="2000" noProof="0" dirty="0">
                  <a:solidFill>
                    <a:srgbClr val="C00000"/>
                  </a:solidFill>
                </a:rPr>
                <a:t> on it to generate an iterator)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207589" y="2484562"/>
            <a:ext cx="1865871" cy="1424067"/>
            <a:chOff x="1207589" y="2484562"/>
            <a:chExt cx="1865871" cy="1424067"/>
          </a:xfrm>
        </p:grpSpPr>
        <p:cxnSp>
          <p:nvCxnSpPr>
            <p:cNvPr id="11" name="Straight Arrow Connector 10"/>
            <p:cNvCxnSpPr/>
            <p:nvPr/>
          </p:nvCxnSpPr>
          <p:spPr>
            <a:xfrm flipH="1" flipV="1">
              <a:off x="1696105" y="2484562"/>
              <a:ext cx="325907" cy="716181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1207589" y="3200743"/>
              <a:ext cx="18658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noProof="0" dirty="0">
                  <a:solidFill>
                    <a:srgbClr val="C00000"/>
                  </a:solidFill>
                </a:rPr>
                <a:t>result of  </a:t>
              </a:r>
              <a:r>
                <a:rPr lang="en-US" sz="2000" noProof="0" dirty="0">
                  <a:solidFill>
                    <a:srgbClr val="C00000"/>
                  </a:solidFill>
                  <a:latin typeface="Courier"/>
                </a:rPr>
                <a:t>next</a:t>
              </a:r>
              <a:r>
                <a:rPr lang="en-US" sz="2000" noProof="0" dirty="0">
                  <a:solidFill>
                    <a:srgbClr val="C00000"/>
                  </a:solidFill>
                </a:rPr>
                <a:t> on iterator</a:t>
              </a:r>
            </a:p>
          </p:txBody>
        </p:sp>
      </p:grp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54735"/>
              </p:ext>
            </p:extLst>
          </p:nvPr>
        </p:nvGraphicFramePr>
        <p:xfrm>
          <a:off x="6520437" y="1690688"/>
          <a:ext cx="519620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62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3248"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93619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['a', 'b', 'c']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24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while True:</a:t>
                      </a:r>
                      <a:b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try:</a:t>
                      </a:r>
                      <a:b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24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b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except </a:t>
                      </a:r>
                      <a:r>
                        <a:rPr lang="en-US" sz="24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StopIteration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b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break</a:t>
                      </a:r>
                      <a:b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816708" y="2525465"/>
            <a:ext cx="472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noProof="0" dirty="0"/>
              <a:t>≡</a:t>
            </a:r>
          </a:p>
        </p:txBody>
      </p:sp>
    </p:spTree>
    <p:extLst>
      <p:ext uri="{BB962C8B-B14F-4D97-AF65-F5344CB8AC3E}">
        <p14:creationId xmlns:p14="http://schemas.microsoft.com/office/powerpoint/2010/main" val="295712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7" y="1133347"/>
            <a:ext cx="11820525" cy="4648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4907667" y="6289159"/>
            <a:ext cx="7098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solidFill>
                  <a:schemeClr val="bg1">
                    <a:lumMod val="50000"/>
                  </a:schemeClr>
                </a:solidFill>
                <a:hlinkClick r:id="rId3"/>
              </a:rPr>
              <a:t>docs.python.org/3/reference/</a:t>
            </a:r>
            <a:r>
              <a:rPr lang="en-US" noProof="0" dirty="0" err="1">
                <a:solidFill>
                  <a:schemeClr val="bg1">
                    <a:lumMod val="50000"/>
                  </a:schemeClr>
                </a:solidFill>
                <a:hlinkClick r:id="rId3"/>
              </a:rPr>
              <a:t>compound_stmts.html#the-for-statement</a:t>
            </a:r>
            <a:endParaRPr lang="en-US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035924" y="4036019"/>
            <a:ext cx="151297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945184" y="4026370"/>
            <a:ext cx="800319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618164" y="5359388"/>
            <a:ext cx="175651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515031" y="2234223"/>
            <a:ext cx="68253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995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588066"/>
              </p:ext>
            </p:extLst>
          </p:nvPr>
        </p:nvGraphicFramePr>
        <p:xfrm>
          <a:off x="5322235" y="2304228"/>
          <a:ext cx="62915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15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3248"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93619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 = [1, 2]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266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L[:0]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[0] - 2, 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[0] - 1]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[1,2]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 [-1,0,1,2]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-1 [-3,-2,-1,0,1,2]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-2 [-5,-4,-3,-2,-1,0,1,2]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-3 [-7,-6,-5,-4,-3,-2,-1,0,1,2]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urier"/>
              </a:rPr>
              <a:t>for </a:t>
            </a:r>
            <a:r>
              <a:rPr lang="en-US" noProof="0" dirty="0"/>
              <a:t>loop over changing </a:t>
            </a:r>
            <a:r>
              <a:rPr lang="en-US" noProof="0" dirty="0" err="1"/>
              <a:t>iterable</a:t>
            </a:r>
            <a:endParaRPr lang="en-US" noProof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581358"/>
              </p:ext>
            </p:extLst>
          </p:nvPr>
        </p:nvGraphicFramePr>
        <p:xfrm>
          <a:off x="648853" y="2296164"/>
          <a:ext cx="4283393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33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3248">
                <a:tc>
                  <a:txBody>
                    <a:bodyPr/>
                    <a:lstStyle/>
                    <a:p>
                      <a:r>
                        <a:rPr lang="en-US" sz="2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93619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 = [1, 2]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266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2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r>
                        <a:rPr lang="en-US" sz="2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24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append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2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+ 2)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[1, 2]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 [1, 2, 3]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 [1, 2, 3, 4]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 [1, 2, 3, 4, 5]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 [1, 2, 3, 4, 5, 6]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2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86" y="1507618"/>
            <a:ext cx="487666" cy="405904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1384904" y="1313314"/>
            <a:ext cx="5562679" cy="2723807"/>
            <a:chOff x="-753233" y="2651577"/>
            <a:chExt cx="5562679" cy="2723807"/>
          </a:xfrm>
        </p:grpSpPr>
        <p:cxnSp>
          <p:nvCxnSpPr>
            <p:cNvPr id="33" name="Straight Arrow Connector 32"/>
            <p:cNvCxnSpPr/>
            <p:nvPr/>
          </p:nvCxnSpPr>
          <p:spPr>
            <a:xfrm flipH="1">
              <a:off x="1741311" y="3467734"/>
              <a:ext cx="535129" cy="1715249"/>
            </a:xfrm>
            <a:prstGeom prst="straightConnector1">
              <a:avLst/>
            </a:prstGeom>
            <a:ln w="57150">
              <a:solidFill>
                <a:schemeClr val="accent5">
                  <a:lumMod val="20000"/>
                  <a:lumOff val="80000"/>
                </a:schemeClr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2276440" y="3467734"/>
              <a:ext cx="1860186" cy="1907650"/>
            </a:xfrm>
            <a:prstGeom prst="straightConnector1">
              <a:avLst/>
            </a:prstGeom>
            <a:ln w="57150">
              <a:solidFill>
                <a:schemeClr val="accent5">
                  <a:lumMod val="20000"/>
                  <a:lumOff val="80000"/>
                </a:schemeClr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H="1">
              <a:off x="1739382" y="3465809"/>
              <a:ext cx="535129" cy="1715249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-753233" y="2651577"/>
              <a:ext cx="556267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noProof="0" dirty="0">
                  <a:solidFill>
                    <a:srgbClr val="C00000"/>
                  </a:solidFill>
                </a:rPr>
                <a:t>Changing (extending) the list while scanning </a:t>
              </a:r>
              <a:br>
                <a:rPr lang="en-US" sz="2000" noProof="0" dirty="0">
                  <a:solidFill>
                    <a:srgbClr val="C00000"/>
                  </a:solidFill>
                </a:rPr>
              </a:br>
              <a:r>
                <a:rPr lang="en-US" sz="2000" noProof="0" dirty="0">
                  <a:solidFill>
                    <a:srgbClr val="C00000"/>
                  </a:solidFill>
                </a:rPr>
                <a:t>The iterator over a list is just an index into the list</a:t>
              </a:r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2274511" y="3465809"/>
              <a:ext cx="1860186" cy="190765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250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urier"/>
              </a:rPr>
              <a:t>range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73323"/>
              </p:ext>
            </p:extLst>
          </p:nvPr>
        </p:nvGraphicFramePr>
        <p:xfrm>
          <a:off x="838200" y="1530537"/>
          <a:ext cx="440880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88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3248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93619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range(1, 6)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1,2,3,4,5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'range'&gt;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iter(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'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range_iterator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'&gt;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x in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b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print(x)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[1, 2, 3, 4, 5]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2685329" y="3957822"/>
            <a:ext cx="2561676" cy="707886"/>
            <a:chOff x="2685329" y="4095608"/>
            <a:chExt cx="2561676" cy="707886"/>
          </a:xfrm>
        </p:grpSpPr>
        <p:cxnSp>
          <p:nvCxnSpPr>
            <p:cNvPr id="5" name="Straight Arrow Connector 4"/>
            <p:cNvCxnSpPr/>
            <p:nvPr/>
          </p:nvCxnSpPr>
          <p:spPr>
            <a:xfrm flipH="1">
              <a:off x="2685329" y="4610174"/>
              <a:ext cx="462985" cy="19332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2955935" y="4095608"/>
              <a:ext cx="229107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noProof="0" dirty="0" err="1">
                  <a:solidFill>
                    <a:srgbClr val="C00000"/>
                  </a:solidFill>
                </a:rPr>
                <a:t>iterable</a:t>
              </a:r>
              <a:r>
                <a:rPr lang="en-US" sz="2000" noProof="0" dirty="0">
                  <a:solidFill>
                    <a:srgbClr val="C00000"/>
                  </a:solidFill>
                </a:rPr>
                <a:t> expected but got iterator ?</a:t>
              </a:r>
            </a:p>
          </p:txBody>
        </p:sp>
      </p:grp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961209"/>
              </p:ext>
            </p:extLst>
          </p:nvPr>
        </p:nvGraphicFramePr>
        <p:xfrm>
          <a:off x="5716270" y="1530537"/>
          <a:ext cx="563753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5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3248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93619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range_iterator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object at 0x03E7FFC8&gt;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range_iterator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object at 0x03E7FFC8&gt;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81345" y="3816537"/>
            <a:ext cx="57073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noProof="0" dirty="0"/>
              <a:t>Calling </a:t>
            </a:r>
            <a:r>
              <a:rPr lang="en-US" sz="2400" noProof="0" dirty="0">
                <a:latin typeface="Courier"/>
              </a:rPr>
              <a:t>iter</a:t>
            </a:r>
            <a:r>
              <a:rPr lang="en-US" sz="2400" noProof="0" dirty="0"/>
              <a:t> on a </a:t>
            </a:r>
            <a:r>
              <a:rPr lang="en-US" sz="2400" noProof="0" dirty="0" err="1">
                <a:latin typeface="Courier"/>
              </a:rPr>
              <a:t>range_iterator</a:t>
            </a:r>
            <a:br>
              <a:rPr lang="en-US" sz="2400" noProof="0" dirty="0">
                <a:latin typeface="Courier"/>
              </a:rPr>
            </a:br>
            <a:r>
              <a:rPr lang="en-US" sz="2400" noProof="0" dirty="0"/>
              <a:t> just returns the iterator itself, i.e. can use the iterator wherever an </a:t>
            </a:r>
            <a:r>
              <a:rPr lang="en-US" sz="2400" noProof="0" dirty="0" err="1"/>
              <a:t>iterable</a:t>
            </a:r>
            <a:r>
              <a:rPr lang="en-US" sz="2400" noProof="0" dirty="0"/>
              <a:t> is expected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053079-479A-85CC-6EEB-FBE23A979696}"/>
              </a:ext>
            </a:extLst>
          </p:cNvPr>
          <p:cNvGrpSpPr/>
          <p:nvPr/>
        </p:nvGrpSpPr>
        <p:grpSpPr>
          <a:xfrm>
            <a:off x="2222344" y="5706221"/>
            <a:ext cx="3127249" cy="470409"/>
            <a:chOff x="1280804" y="4327437"/>
            <a:chExt cx="3127249" cy="470409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2F0C4F0-2046-10AE-3F62-81662588B213}"/>
                </a:ext>
              </a:extLst>
            </p:cNvPr>
            <p:cNvCxnSpPr/>
            <p:nvPr/>
          </p:nvCxnSpPr>
          <p:spPr>
            <a:xfrm flipH="1">
              <a:off x="1280804" y="4604526"/>
              <a:ext cx="462985" cy="193320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4C9A04-140C-D580-AD21-8A49899858D6}"/>
                </a:ext>
              </a:extLst>
            </p:cNvPr>
            <p:cNvSpPr txBox="1"/>
            <p:nvPr/>
          </p:nvSpPr>
          <p:spPr>
            <a:xfrm>
              <a:off x="1616149" y="4327437"/>
              <a:ext cx="27919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noProof="0" dirty="0">
                  <a:solidFill>
                    <a:srgbClr val="C00000"/>
                  </a:solidFill>
                </a:rPr>
                <a:t>create list from </a:t>
              </a:r>
              <a:r>
                <a:rPr lang="en-US" sz="2000" noProof="0" dirty="0" err="1">
                  <a:solidFill>
                    <a:srgbClr val="C00000"/>
                  </a:solidFill>
                </a:rPr>
                <a:t>iterable</a:t>
              </a:r>
              <a:endParaRPr lang="en-US" sz="2000" noProof="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277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urier"/>
              </a:rPr>
              <a:t>str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893152"/>
              </p:ext>
            </p:extLst>
          </p:nvPr>
        </p:nvGraphicFramePr>
        <p:xfrm>
          <a:off x="838200" y="1668323"/>
          <a:ext cx="550100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0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73248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93619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 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'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abcde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create list from </a:t>
                      </a:r>
                      <a:r>
                        <a:rPr lang="en-US" sz="18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iterable</a:t>
                      </a:r>
                      <a:endParaRPr lang="en-US" sz="18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['a', 'b', 'c', 'd', 'e']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'str'&gt;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iter(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&lt;class '</a:t>
                      </a: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str_ascii_iterator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'&gt;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'a'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'b'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iter(it) is it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['c', 'd', 'e']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8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an </a:t>
            </a:r>
            <a:r>
              <a:rPr lang="en-US" noProof="0" dirty="0" err="1"/>
              <a:t>interable</a:t>
            </a:r>
            <a:r>
              <a:rPr lang="en-US" noProof="0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952691"/>
              </p:ext>
            </p:extLst>
          </p:nvPr>
        </p:nvGraphicFramePr>
        <p:xfrm>
          <a:off x="224742" y="1589895"/>
          <a:ext cx="7028180" cy="5023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281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Names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__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__(self, *</a:t>
                      </a:r>
                      <a:r>
                        <a:rPr lang="en-US" sz="1600" b="1" baseline="0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en-US" sz="1600" b="1" baseline="0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people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baseline="0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</a:t>
                      </a:r>
                      <a:endParaRPr lang="en-US" sz="1600" b="1" baseline="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__iter__(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self):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Names_iterator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6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Names_iterator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__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__(self, names):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self.idx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0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self.names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names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__next__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self.idx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&gt;=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self.names.</a:t>
                      </a:r>
                      <a:r>
                        <a:rPr lang="en-US" sz="1600" b="1" baseline="0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people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raise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StopIteration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self.idx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+= 1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self.names.</a:t>
                      </a:r>
                      <a:r>
                        <a:rPr lang="en-US" sz="1600" b="1" baseline="0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people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self.idx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- 1]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duckburg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Names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'Donald'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'Goofy'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'Mickey'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'Minnie'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duckburg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498452"/>
              </p:ext>
            </p:extLst>
          </p:nvPr>
        </p:nvGraphicFramePr>
        <p:xfrm>
          <a:off x="5117147" y="2160004"/>
          <a:ext cx="195770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7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983372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Donald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Goofy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Mickey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Minnie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607755"/>
              </p:ext>
            </p:extLst>
          </p:nvPr>
        </p:nvGraphicFramePr>
        <p:xfrm>
          <a:off x="7572629" y="2924511"/>
          <a:ext cx="145923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2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Names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751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4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4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__iter__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954143"/>
              </p:ext>
            </p:extLst>
          </p:nvPr>
        </p:nvGraphicFramePr>
        <p:xfrm>
          <a:off x="9441309" y="2748974"/>
          <a:ext cx="2629218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921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object </a:t>
                      </a:r>
                      <a:r>
                        <a:rPr lang="en-US" sz="1400" b="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duckburg</a:t>
                      </a:r>
                      <a:endParaRPr lang="en-US" sz="14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4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4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__class__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people: ('Donald',...)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574582"/>
              </p:ext>
            </p:extLst>
          </p:nvPr>
        </p:nvGraphicFramePr>
        <p:xfrm>
          <a:off x="7395478" y="4466148"/>
          <a:ext cx="2416493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64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27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400" b="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Names_iterator</a:t>
                      </a:r>
                      <a:endParaRPr lang="en-US" sz="14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08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4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4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__next__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131731"/>
              </p:ext>
            </p:extLst>
          </p:nvPr>
        </p:nvGraphicFramePr>
        <p:xfrm>
          <a:off x="9996693" y="4264104"/>
          <a:ext cx="2097405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74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object</a:t>
                      </a:r>
                      <a:r>
                        <a:rPr lang="en-US" sz="1400" b="0" i="0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(iterator)</a:t>
                      </a:r>
                      <a:endParaRPr lang="en-US" sz="1400" b="0" i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i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4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names: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i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__class__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H="1" flipV="1">
            <a:off x="10790643" y="3785294"/>
            <a:ext cx="0" cy="11731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9031861" y="3419998"/>
            <a:ext cx="61345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9811971" y="5135321"/>
            <a:ext cx="283183" cy="725"/>
          </a:xfrm>
          <a:prstGeom prst="straightConnector1">
            <a:avLst/>
          </a:prstGeom>
          <a:ln w="38100">
            <a:solidFill>
              <a:srgbClr val="C0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579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35" y="0"/>
            <a:ext cx="10515600" cy="1325563"/>
          </a:xfrm>
        </p:spPr>
        <p:txBody>
          <a:bodyPr/>
          <a:lstStyle/>
          <a:p>
            <a:r>
              <a:rPr lang="en-US" noProof="0" dirty="0"/>
              <a:t>An infinite </a:t>
            </a:r>
            <a:r>
              <a:rPr lang="en-US" noProof="0" dirty="0" err="1"/>
              <a:t>iterable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015070"/>
              </p:ext>
            </p:extLst>
          </p:nvPr>
        </p:nvGraphicFramePr>
        <p:xfrm>
          <a:off x="352064" y="1173207"/>
          <a:ext cx="6294755" cy="484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47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infinite_range.py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481960">
                <a:tc>
                  <a:txBody>
                    <a:bodyPr/>
                    <a:lstStyle/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6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infinite_range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__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__(self, start=0, step=1):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self.start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start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self.step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step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__iter__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6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infinite_range_iterator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6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infinite_range_iterator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__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__(self,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inf_range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self.range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inf_range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self.current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self.range.start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__next__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value =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self.current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self.current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+=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self.range.step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value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__iter__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make iterator </a:t>
                      </a:r>
                      <a:r>
                        <a:rPr lang="en-US" sz="16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iterable</a:t>
                      </a:r>
                      <a:endParaRPr lang="en-US" sz="16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self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65872"/>
              </p:ext>
            </p:extLst>
          </p:nvPr>
        </p:nvGraphicFramePr>
        <p:xfrm>
          <a:off x="6867568" y="1173207"/>
          <a:ext cx="4972368" cy="48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23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infinite_range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(42, -3)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value in zip(range(5),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  <a:b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value)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0 42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1 39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2 36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3 33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4 30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value in zip(range(5),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  <a:b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print(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value)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0 27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1 24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2 21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3 18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4 15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print(sum(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))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don't do this 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i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(runs forever)</a:t>
                      </a:r>
                      <a:endParaRPr lang="en-US" sz="16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8135" y="5414769"/>
            <a:ext cx="487666" cy="4059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76868" y="6059217"/>
            <a:ext cx="7863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noProof="0" dirty="0">
                <a:latin typeface="Courier"/>
              </a:rPr>
              <a:t>sum</a:t>
            </a:r>
            <a:r>
              <a:rPr lang="en-US" sz="2400" noProof="0" dirty="0"/>
              <a:t> and </a:t>
            </a:r>
            <a:r>
              <a:rPr lang="en-US" sz="2400" noProof="0" dirty="0">
                <a:latin typeface="Courier"/>
              </a:rPr>
              <a:t>zip </a:t>
            </a:r>
            <a:r>
              <a:rPr lang="en-US" sz="2400" noProof="0" dirty="0"/>
              <a:t>take </a:t>
            </a:r>
            <a:r>
              <a:rPr lang="en-US" sz="2400" noProof="0" dirty="0" err="1"/>
              <a:t>iterables</a:t>
            </a:r>
            <a:r>
              <a:rPr lang="en-US" sz="2400" noProof="0" dirty="0"/>
              <a:t> </a:t>
            </a:r>
            <a:br>
              <a:rPr lang="en-US" sz="2400" noProof="0" dirty="0"/>
            </a:br>
            <a:r>
              <a:rPr lang="en-US" sz="2400" noProof="0" dirty="0"/>
              <a:t>(</a:t>
            </a:r>
            <a:r>
              <a:rPr lang="en-US" sz="2400" noProof="0" dirty="0">
                <a:latin typeface="Courier"/>
              </a:rPr>
              <a:t>zip</a:t>
            </a:r>
            <a:r>
              <a:rPr lang="en-US" sz="2400" noProof="0" dirty="0"/>
              <a:t> stops when shortest </a:t>
            </a:r>
            <a:r>
              <a:rPr lang="en-US" sz="2400" noProof="0" dirty="0" err="1"/>
              <a:t>iterable</a:t>
            </a:r>
            <a:r>
              <a:rPr lang="en-US" sz="2400" noProof="0" dirty="0"/>
              <a:t> is exhausted)</a:t>
            </a:r>
          </a:p>
        </p:txBody>
      </p:sp>
    </p:spTree>
    <p:extLst>
      <p:ext uri="{BB962C8B-B14F-4D97-AF65-F5344CB8AC3E}">
        <p14:creationId xmlns:p14="http://schemas.microsoft.com/office/powerpoint/2010/main" val="3310034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an </a:t>
            </a:r>
            <a:r>
              <a:rPr lang="en-US" noProof="0" dirty="0" err="1"/>
              <a:t>iterable</a:t>
            </a:r>
            <a:r>
              <a:rPr lang="en-US" noProof="0" dirty="0"/>
              <a:t> class (</a:t>
            </a:r>
            <a:r>
              <a:rPr lang="en-US" noProof="0" dirty="0" err="1"/>
              <a:t>iterable</a:t>
            </a:r>
            <a:r>
              <a:rPr lang="en-US" noProof="0" dirty="0"/>
              <a:t> = iterator)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547374"/>
              </p:ext>
            </p:extLst>
          </p:nvPr>
        </p:nvGraphicFramePr>
        <p:xfrm>
          <a:off x="1534714" y="1634971"/>
          <a:ext cx="5316855" cy="4886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68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my_range.py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600" b="1" baseline="0" noProof="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my_range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__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__(self, 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step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en-US" sz="1600" b="1" baseline="0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en-US" sz="1600" b="1" baseline="0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end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en-US" sz="1600" b="1" baseline="0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step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step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self.x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__iter__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self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self also iterator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__next__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self.x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&gt;=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en-US" sz="1600" b="1" baseline="0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raise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StopIteration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answer =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self.x</a:t>
                      </a: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self.x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+=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</a:t>
                      </a:r>
                      <a:r>
                        <a:rPr lang="en-US" sz="1600" b="1" baseline="0" noProof="0" dirty="0" err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step</a:t>
                      </a:r>
                      <a:endParaRPr lang="en-US" sz="1600" b="1" baseline="0" noProof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answer</a:t>
                      </a: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endParaRPr lang="en-US" sz="16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None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 = </a:t>
                      </a:r>
                      <a:r>
                        <a:rPr lang="en-US" sz="16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my_range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1.5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baseline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0.1</a:t>
                      </a: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63465"/>
              </p:ext>
            </p:extLst>
          </p:nvPr>
        </p:nvGraphicFramePr>
        <p:xfrm>
          <a:off x="7548083" y="1634971"/>
          <a:ext cx="2832289" cy="220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289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680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845104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list(r)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[1.5, 1.6, 1.7000000000000002, 1.8000000000000003, 1.9000000000000004]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list(r)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169552" y="4147929"/>
            <a:ext cx="4833395" cy="2564297"/>
          </a:xfrm>
        </p:spPr>
        <p:txBody>
          <a:bodyPr>
            <a:normAutofit lnSpcReduction="10000"/>
          </a:bodyPr>
          <a:lstStyle/>
          <a:p>
            <a:r>
              <a:rPr lang="en-US" noProof="0" dirty="0"/>
              <a:t>Note that object acts both as an </a:t>
            </a:r>
            <a:r>
              <a:rPr lang="en-US" noProof="0" dirty="0" err="1"/>
              <a:t>iterable</a:t>
            </a:r>
            <a:r>
              <a:rPr lang="en-US" noProof="0" dirty="0"/>
              <a:t> and an iterator</a:t>
            </a:r>
          </a:p>
          <a:p>
            <a:r>
              <a:rPr lang="en-US" noProof="0" dirty="0"/>
              <a:t>This e.g. also applies to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zip</a:t>
            </a:r>
            <a:r>
              <a:rPr lang="en-US" noProof="0" dirty="0"/>
              <a:t> objects</a:t>
            </a:r>
          </a:p>
          <a:p>
            <a:r>
              <a:rPr lang="en-US" noProof="0" dirty="0"/>
              <a:t>Can only iterate over a </a:t>
            </a:r>
            <a:r>
              <a:rPr lang="en-US" noProof="0" dirty="0" err="1">
                <a:latin typeface="Courier"/>
              </a:rPr>
              <a:t>my_range</a:t>
            </a:r>
            <a:r>
              <a:rPr lang="en-US" noProof="0" dirty="0"/>
              <a:t> once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1648" y="3385155"/>
            <a:ext cx="487666" cy="4059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5248" y="5922947"/>
            <a:ext cx="487666" cy="40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491B-72BA-CDFD-9002-D0AAE9D0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119419"/>
            <a:ext cx="8489588" cy="1325563"/>
          </a:xfrm>
        </p:spPr>
        <p:txBody>
          <a:bodyPr/>
          <a:lstStyle/>
          <a:p>
            <a:r>
              <a:rPr lang="en-US" noProof="0" dirty="0"/>
              <a:t>The old sequence iteration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1BD0F-6025-7088-2C6D-F3D110B0C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434" y="1825625"/>
            <a:ext cx="4103077" cy="435133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600" noProof="0" dirty="0"/>
              <a:t>Class with no </a:t>
            </a:r>
            <a:r>
              <a:rPr lang="en-US" sz="2600" noProof="0" dirty="0">
                <a:latin typeface="Courier"/>
              </a:rPr>
              <a:t>__iter__</a:t>
            </a:r>
            <a:r>
              <a:rPr lang="en-US" sz="2600" noProof="0" dirty="0"/>
              <a:t> method but supporting index lookup with </a:t>
            </a:r>
            <a:r>
              <a:rPr lang="en-US" sz="2600" noProof="0" dirty="0">
                <a:latin typeface="Courier"/>
              </a:rPr>
              <a:t>__</a:t>
            </a:r>
            <a:r>
              <a:rPr lang="en-US" sz="2600" noProof="0" dirty="0" err="1">
                <a:latin typeface="Courier"/>
              </a:rPr>
              <a:t>getitem</a:t>
            </a:r>
            <a:r>
              <a:rPr lang="en-US" sz="2600" noProof="0" dirty="0">
                <a:latin typeface="Courier"/>
              </a:rPr>
              <a:t>__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600" noProof="0" dirty="0"/>
              <a:t>Python automatically creates iterator looking up </a:t>
            </a:r>
            <a:br>
              <a:rPr lang="en-US" sz="2600" noProof="0" dirty="0"/>
            </a:br>
            <a:r>
              <a:rPr lang="en-US" sz="2600" noProof="0" dirty="0"/>
              <a:t>   </a:t>
            </a:r>
            <a:r>
              <a:rPr lang="en-US" sz="2600" i="1" noProof="0" dirty="0"/>
              <a:t>obj</a:t>
            </a:r>
            <a:r>
              <a:rPr lang="en-US" sz="2600" noProof="0" dirty="0"/>
              <a:t>[0], </a:t>
            </a:r>
            <a:r>
              <a:rPr lang="en-US" sz="2600" i="1" noProof="0" dirty="0"/>
              <a:t>obj</a:t>
            </a:r>
            <a:r>
              <a:rPr lang="en-US" sz="2600" noProof="0" dirty="0"/>
              <a:t>[1], </a:t>
            </a:r>
            <a:r>
              <a:rPr lang="en-US" sz="2600" i="1" noProof="0" dirty="0"/>
              <a:t>obj</a:t>
            </a:r>
            <a:r>
              <a:rPr lang="en-US" sz="2600" noProof="0" dirty="0"/>
              <a:t>[2], ... </a:t>
            </a:r>
            <a:br>
              <a:rPr lang="en-US" sz="2600" noProof="0" dirty="0"/>
            </a:br>
            <a:r>
              <a:rPr lang="en-US" sz="2600" noProof="0" dirty="0"/>
              <a:t>until </a:t>
            </a:r>
            <a:r>
              <a:rPr lang="en-US" sz="2600" noProof="0" dirty="0" err="1"/>
              <a:t>IndexError</a:t>
            </a:r>
            <a:r>
              <a:rPr lang="en-US" sz="2600" noProof="0" dirty="0"/>
              <a:t> raised</a:t>
            </a:r>
          </a:p>
          <a:p>
            <a:pPr>
              <a:spcBef>
                <a:spcPts val="0"/>
              </a:spcBef>
            </a:pPr>
            <a:r>
              <a:rPr lang="en-US" sz="2600" noProof="0" dirty="0"/>
              <a:t>Keyword </a:t>
            </a:r>
            <a:r>
              <a:rPr lang="en-US" sz="2600" noProof="0" dirty="0">
                <a:latin typeface="Courier"/>
              </a:rPr>
              <a:t>in</a:t>
            </a:r>
            <a:r>
              <a:rPr lang="en-US" sz="2600" noProof="0" dirty="0"/>
              <a:t> falls back to iteration if no method </a:t>
            </a:r>
            <a:r>
              <a:rPr lang="en-US" sz="2600" noProof="0" dirty="0">
                <a:latin typeface="Courier"/>
              </a:rPr>
              <a:t>__contains__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2EE9F5-C111-723C-E4E0-65611ABA8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579240"/>
              </p:ext>
            </p:extLst>
          </p:nvPr>
        </p:nvGraphicFramePr>
        <p:xfrm>
          <a:off x="369277" y="1520805"/>
          <a:ext cx="7377748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2368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  <a:gridCol w="2405380">
                  <a:extLst>
                    <a:ext uri="{9D8B030D-6E8A-4147-A177-3AD203B41FA5}">
                      <a16:colId xmlns:a16="http://schemas.microsoft.com/office/drawing/2014/main" val="1163376990"/>
                    </a:ext>
                  </a:extLst>
                </a:gridCol>
              </a:tblGrid>
              <a:tr h="173248">
                <a:tc gridSpan="2"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93619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Odd_numbers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</a:t>
                      </a:r>
                      <a:b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getitem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(self, 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  <a:b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print('getting item', </a:t>
                      </a:r>
                      <a:r>
                        <a:rPr lang="en-US" sz="1600" b="1" baseline="0" noProof="0" dirty="0" err="1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b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not 0 &lt;= 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 10:</a:t>
                      </a:r>
                      <a:b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raise 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IndexError</a:t>
                      </a:r>
                      <a:b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return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2 * 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idx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+ 1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odds = 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Odd_numbers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odds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(odds)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&lt;iterator object at ...&gt;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print(next(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next(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next(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0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1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2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1 3 5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 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odds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0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1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2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 </a:t>
                      </a:r>
                      <a:r>
                        <a:rPr lang="en-US" sz="16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odds</a:t>
                      </a:r>
                      <a:endParaRPr lang="en-US" sz="1600" b="1" baseline="0" noProof="0" dirty="0">
                        <a:solidFill>
                          <a:schemeClr val="accent6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0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1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2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3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4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5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6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7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8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9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accent6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getting item 10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F9B9ECB-D779-D139-ACE1-1DF1A3FDFE00}"/>
              </a:ext>
            </a:extLst>
          </p:cNvPr>
          <p:cNvSpPr txBox="1"/>
          <p:nvPr/>
        </p:nvSpPr>
        <p:spPr>
          <a:xfrm>
            <a:off x="4691159" y="6488668"/>
            <a:ext cx="73777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https://docs.python.org/3/reference/datamodel.html#object.__contains__</a:t>
            </a:r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AEF6FF-9E68-4748-909B-AF3227784463}"/>
              </a:ext>
            </a:extLst>
          </p:cNvPr>
          <p:cNvSpPr/>
          <p:nvPr/>
        </p:nvSpPr>
        <p:spPr>
          <a:xfrm>
            <a:off x="9340645" y="119419"/>
            <a:ext cx="2728261" cy="61774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This is a reminiscence from Python 1 – now rarely used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53FA89-5FD7-23F9-743B-DD5245CA8AF7}"/>
              </a:ext>
            </a:extLst>
          </p:cNvPr>
          <p:cNvCxnSpPr>
            <a:cxnSpLocks/>
          </p:cNvCxnSpPr>
          <p:nvPr/>
        </p:nvCxnSpPr>
        <p:spPr>
          <a:xfrm flipH="1">
            <a:off x="6045148" y="1497806"/>
            <a:ext cx="734271" cy="445241"/>
          </a:xfrm>
          <a:prstGeom prst="straightConnector1">
            <a:avLst/>
          </a:prstGeom>
          <a:ln w="57150">
            <a:solidFill>
              <a:schemeClr val="accent5">
                <a:lumMod val="20000"/>
                <a:lumOff val="80000"/>
              </a:schemeClr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C9C7C5A9-27F4-C293-4C4D-D4A7879C7476}"/>
              </a:ext>
            </a:extLst>
          </p:cNvPr>
          <p:cNvSpPr/>
          <p:nvPr/>
        </p:nvSpPr>
        <p:spPr>
          <a:xfrm>
            <a:off x="6656439" y="1294448"/>
            <a:ext cx="432106" cy="219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315816-4F4B-81B0-B96B-5BEBDDF202AD}"/>
              </a:ext>
            </a:extLst>
          </p:cNvPr>
          <p:cNvCxnSpPr>
            <a:cxnSpLocks/>
          </p:cNvCxnSpPr>
          <p:nvPr/>
        </p:nvCxnSpPr>
        <p:spPr>
          <a:xfrm flipH="1">
            <a:off x="6099175" y="1373187"/>
            <a:ext cx="882650" cy="533400"/>
          </a:xfrm>
          <a:prstGeom prst="straightConnector1">
            <a:avLst/>
          </a:prstGeom>
          <a:ln w="38100">
            <a:solidFill>
              <a:srgbClr val="C0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B01946D-D27F-6A7A-0D52-01295BA1DABD}"/>
              </a:ext>
            </a:extLst>
          </p:cNvPr>
          <p:cNvSpPr txBox="1"/>
          <p:nvPr/>
        </p:nvSpPr>
        <p:spPr>
          <a:xfrm>
            <a:off x="6907545" y="1120695"/>
            <a:ext cx="4884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0" dirty="0" err="1">
                <a:solidFill>
                  <a:srgbClr val="C00000"/>
                </a:solidFill>
                <a:latin typeface="Courier"/>
              </a:rPr>
              <a:t>odds.__contains</a:t>
            </a:r>
            <a:r>
              <a:rPr lang="en-US" sz="2000" noProof="0" dirty="0">
                <a:solidFill>
                  <a:srgbClr val="C00000"/>
                </a:solidFill>
                <a:latin typeface="Courier"/>
              </a:rPr>
              <a:t>__</a:t>
            </a:r>
            <a:r>
              <a:rPr lang="en-US" sz="2000" noProof="0" dirty="0">
                <a:solidFill>
                  <a:srgbClr val="C00000"/>
                </a:solidFill>
              </a:rPr>
              <a:t> does not exist</a:t>
            </a:r>
          </a:p>
        </p:txBody>
      </p:sp>
    </p:spTree>
    <p:extLst>
      <p:ext uri="{BB962C8B-B14F-4D97-AF65-F5344CB8AC3E}">
        <p14:creationId xmlns:p14="http://schemas.microsoft.com/office/powerpoint/2010/main" val="3533997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itertools</a:t>
            </a:r>
            <a:endParaRPr lang="en-US" noProof="0" dirty="0"/>
          </a:p>
        </p:txBody>
      </p:sp>
      <p:sp>
        <p:nvSpPr>
          <p:cNvPr id="4" name="Rectangle 3"/>
          <p:cNvSpPr/>
          <p:nvPr/>
        </p:nvSpPr>
        <p:spPr>
          <a:xfrm>
            <a:off x="7261177" y="6176963"/>
            <a:ext cx="46996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hlinkClick r:id="rId2"/>
              </a:rPr>
              <a:t>https://docs.python.org/3/library/itertools.html</a:t>
            </a:r>
            <a:endParaRPr lang="en-US" noProof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160049"/>
              </p:ext>
            </p:extLst>
          </p:nvPr>
        </p:nvGraphicFramePr>
        <p:xfrm>
          <a:off x="282354" y="2062163"/>
          <a:ext cx="1186719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2318">
                  <a:extLst>
                    <a:ext uri="{9D8B030D-6E8A-4147-A177-3AD203B41FA5}">
                      <a16:colId xmlns:a16="http://schemas.microsoft.com/office/drawing/2014/main" val="2736975199"/>
                    </a:ext>
                  </a:extLst>
                </a:gridCol>
                <a:gridCol w="6024880">
                  <a:extLst>
                    <a:ext uri="{9D8B030D-6E8A-4147-A177-3AD203B41FA5}">
                      <a16:colId xmlns:a16="http://schemas.microsoft.com/office/drawing/2014/main" val="2087390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Function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64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count(start,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step)</a:t>
                      </a:r>
                      <a:endParaRPr lang="en-US" sz="2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tx1"/>
                          </a:solidFill>
                        </a:rPr>
                        <a:t>Infinite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</a:rPr>
                        <a:t> sequence: 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stat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step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</a:rPr>
                        <a:t>, ...</a:t>
                      </a:r>
                      <a:endParaRPr lang="en-US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707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cycle(seq)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tx1"/>
                          </a:solidFill>
                        </a:rPr>
                        <a:t>Infinite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</a:rPr>
                        <a:t> repeats of the elements from 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seq</a:t>
                      </a:r>
                      <a:endParaRPr lang="en-US" sz="2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537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repeat(value[,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times])</a:t>
                      </a:r>
                      <a:endParaRPr lang="en-US" sz="240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tx1"/>
                          </a:solidFill>
                        </a:rPr>
                        <a:t>Infinite repeats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</a:rPr>
                        <a:t> or 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times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</a:rPr>
                        <a:t> repeats</a:t>
                      </a:r>
                      <a:endParaRPr lang="en-US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000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chain(seq0,...,</a:t>
                      </a:r>
                      <a:r>
                        <a:rPr lang="en-US" sz="2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seqk</a:t>
                      </a:r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tx1"/>
                          </a:solidFill>
                        </a:rPr>
                        <a:t>Concatenate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</a:rPr>
                        <a:t> sequences</a:t>
                      </a:r>
                      <a:endParaRPr lang="en-US" sz="24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890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starmap</a:t>
                      </a:r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2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seq)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(*seq[0]), </a:t>
                      </a:r>
                      <a:r>
                        <a:rPr lang="en-US" sz="2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(*seq[1]), …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554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permutations(seq)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tx1"/>
                          </a:solidFill>
                        </a:rPr>
                        <a:t>Generate all possible permutations of </a:t>
                      </a:r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seq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551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islice</a:t>
                      </a:r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(seq, start,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stop, step</a:t>
                      </a:r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>
                          <a:solidFill>
                            <a:schemeClr val="tx1"/>
                          </a:solidFill>
                        </a:rPr>
                        <a:t>Create</a:t>
                      </a:r>
                      <a:r>
                        <a:rPr lang="en-US" sz="2400" baseline="0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noProof="0" dirty="0">
                          <a:solidFill>
                            <a:schemeClr val="tx1"/>
                          </a:solidFill>
                        </a:rPr>
                        <a:t>a slice of </a:t>
                      </a:r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seq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006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noProof="0" dirty="0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482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396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336" y="15913"/>
            <a:ext cx="11595664" cy="1325563"/>
          </a:xfrm>
        </p:spPr>
        <p:txBody>
          <a:bodyPr/>
          <a:lstStyle/>
          <a:p>
            <a:r>
              <a:rPr lang="en-US" noProof="0" dirty="0"/>
              <a:t>Example : Java iterators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423729"/>
              </p:ext>
            </p:extLst>
          </p:nvPr>
        </p:nvGraphicFramePr>
        <p:xfrm>
          <a:off x="596336" y="1076638"/>
          <a:ext cx="782828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282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vector-iterator.java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69718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java.util.Vector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java.util.Iterator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endParaRPr lang="en-US" sz="1800" b="1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IteratorTest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{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public static void main(String[]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{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Vector&lt;Integer&gt; a = new Vector&lt;Integer&gt;();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a.add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(7);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a.add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(42);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// "C" for-loop &amp; get method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for (int i=0; i&lt;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a.size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i++)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  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a.get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(i)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);         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// iterator</a:t>
                      </a:r>
                    </a:p>
                    <a:p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for (Iterator it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a.iterator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it.hasNext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)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  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it.next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);    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// for-each loop – syntax sugar since Java 5</a:t>
                      </a:r>
                    </a:p>
                    <a:p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for (Integer e : a)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	  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System.out.println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(e);         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}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7407802" y="3169368"/>
            <a:ext cx="4595930" cy="1495962"/>
            <a:chOff x="2685330" y="3307532"/>
            <a:chExt cx="4595930" cy="1495962"/>
          </a:xfrm>
        </p:grpSpPr>
        <p:cxnSp>
          <p:nvCxnSpPr>
            <p:cNvPr id="7" name="Straight Arrow Connector 6"/>
            <p:cNvCxnSpPr/>
            <p:nvPr/>
          </p:nvCxnSpPr>
          <p:spPr>
            <a:xfrm flipH="1">
              <a:off x="2685330" y="4049442"/>
              <a:ext cx="1205081" cy="754052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890411" y="3307532"/>
              <a:ext cx="339084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noProof="0" dirty="0">
                  <a:solidFill>
                    <a:srgbClr val="C00000"/>
                  </a:solidFill>
                </a:rPr>
                <a:t>In Java iteration does not stop using exceptions, but instead the iterator can be tested if it is at the end of the </a:t>
              </a:r>
              <a:r>
                <a:rPr lang="en-US" sz="2000" noProof="0" dirty="0" err="1">
                  <a:solidFill>
                    <a:srgbClr val="C00000"/>
                  </a:solidFill>
                </a:rPr>
                <a:t>iterable</a:t>
              </a:r>
              <a:endParaRPr lang="en-US" sz="2000" noProof="0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6908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146" y="15913"/>
            <a:ext cx="11189853" cy="1325563"/>
          </a:xfrm>
        </p:spPr>
        <p:txBody>
          <a:bodyPr/>
          <a:lstStyle/>
          <a:p>
            <a:r>
              <a:rPr lang="en-US" noProof="0" dirty="0"/>
              <a:t>Example : C++ iterators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992452"/>
              </p:ext>
            </p:extLst>
          </p:nvPr>
        </p:nvGraphicFramePr>
        <p:xfrm>
          <a:off x="1002147" y="1150220"/>
          <a:ext cx="10149205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92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0002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vector-iterator.cpp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69718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#include &lt;iostream&gt;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#include &lt;vector&gt;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 main() {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// Vector is part of STL (Standard Template Library)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std::vector&lt;int&gt; 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 = {20, 23, 26};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// "C" indexing - since C++98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for (int i = 0; i &lt; </a:t>
                      </a:r>
                      <a:r>
                        <a:rPr lang="en-US" sz="1800" b="1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A.size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i++)   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std::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cout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&lt;&lt; 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A[i]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&lt;&lt; std::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endl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// iterator - since C++98 </a:t>
                      </a:r>
                    </a:p>
                    <a:p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for (std::vector&lt;int&gt;::iterator it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A.begin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it !=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A.end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++it)  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std::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cout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&lt;&lt;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*it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&lt;&lt; std::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endl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// "auto" iterator - since C++11</a:t>
                      </a:r>
                    </a:p>
                    <a:p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for (auto it 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A.begin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it != </a:t>
                      </a:r>
                      <a:r>
                        <a:rPr lang="en-US" sz="1800" b="1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A.end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(); ++it)  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std::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cout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&lt;&lt;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*it</a:t>
                      </a:r>
                      <a:r>
                        <a:rPr lang="en-US" sz="1800" b="1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&lt;&lt; std::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endl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// Range-based for-loop - since C++11</a:t>
                      </a:r>
                    </a:p>
                    <a:p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for (auto e : A)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std::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cout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&lt;&lt; e &lt;&lt; std:: </a:t>
                      </a:r>
                      <a:r>
                        <a:rPr lang="en-US" sz="1800" b="1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endl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8519586" y="2588602"/>
            <a:ext cx="2631766" cy="1392164"/>
            <a:chOff x="3797114" y="2788549"/>
            <a:chExt cx="2631766" cy="1392164"/>
          </a:xfrm>
        </p:grpSpPr>
        <p:cxnSp>
          <p:nvCxnSpPr>
            <p:cNvPr id="6" name="Straight Arrow Connector 5"/>
            <p:cNvCxnSpPr/>
            <p:nvPr/>
          </p:nvCxnSpPr>
          <p:spPr>
            <a:xfrm flipH="1">
              <a:off x="4538845" y="3752031"/>
              <a:ext cx="142175" cy="428682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3797114" y="2788549"/>
              <a:ext cx="263176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noProof="0" dirty="0">
                  <a:solidFill>
                    <a:srgbClr val="C00000"/>
                  </a:solidFill>
                </a:rPr>
                <a:t>In C++ iterators can be tested if they reach the end of the </a:t>
              </a:r>
              <a:r>
                <a:rPr lang="en-US" sz="2000" noProof="0" dirty="0" err="1">
                  <a:solidFill>
                    <a:srgbClr val="C00000"/>
                  </a:solidFill>
                </a:rPr>
                <a:t>iterable</a:t>
              </a:r>
              <a:endParaRPr lang="en-US" sz="2000" noProof="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916509" y="4366111"/>
            <a:ext cx="1837919" cy="1256034"/>
            <a:chOff x="4768189" y="1661806"/>
            <a:chExt cx="1837919" cy="1256034"/>
          </a:xfrm>
        </p:grpSpPr>
        <p:cxnSp>
          <p:nvCxnSpPr>
            <p:cNvPr id="11" name="Straight Arrow Connector 10"/>
            <p:cNvCxnSpPr/>
            <p:nvPr/>
          </p:nvCxnSpPr>
          <p:spPr>
            <a:xfrm flipV="1">
              <a:off x="5884858" y="1661806"/>
              <a:ext cx="126227" cy="541568"/>
            </a:xfrm>
            <a:prstGeom prst="straightConnector1">
              <a:avLst/>
            </a:prstGeom>
            <a:ln w="38100">
              <a:solidFill>
                <a:srgbClr val="C00000"/>
              </a:solidFill>
              <a:headEnd type="non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4768189" y="2209954"/>
              <a:ext cx="183791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noProof="0" dirty="0">
                  <a:solidFill>
                    <a:srgbClr val="C00000"/>
                  </a:solidFill>
                </a:rPr>
                <a:t>move iterator to next element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7165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7573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noProof="0" dirty="0"/>
              <a:t>Generators</a:t>
            </a:r>
          </a:p>
        </p:txBody>
      </p:sp>
    </p:spTree>
    <p:extLst>
      <p:ext uri="{BB962C8B-B14F-4D97-AF65-F5344CB8AC3E}">
        <p14:creationId xmlns:p14="http://schemas.microsoft.com/office/powerpoint/2010/main" val="470661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Generator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80461" y="1105825"/>
            <a:ext cx="4294786" cy="5201179"/>
          </a:xfrm>
        </p:spPr>
        <p:txBody>
          <a:bodyPr>
            <a:normAutofit/>
          </a:bodyPr>
          <a:lstStyle/>
          <a:p>
            <a:r>
              <a:rPr lang="en-US" noProof="0" dirty="0"/>
              <a:t>A generator expression </a:t>
            </a:r>
            <a:br>
              <a:rPr lang="en-US" noProof="0" dirty="0"/>
            </a:br>
            <a:r>
              <a:rPr lang="en-US" noProof="0" dirty="0"/>
              <a:t>   </a:t>
            </a:r>
            <a:r>
              <a:rPr lang="en-US" sz="2000" b="1" noProof="0" dirty="0">
                <a:solidFill>
                  <a:srgbClr val="C00000"/>
                </a:solidFill>
                <a:latin typeface="Courier"/>
              </a:rPr>
              <a:t>(</a:t>
            </a:r>
            <a:r>
              <a:rPr lang="en-US" sz="2000" b="1" noProof="0" dirty="0">
                <a:latin typeface="Courier"/>
              </a:rPr>
              <a:t>... </a:t>
            </a:r>
            <a:r>
              <a:rPr lang="en-US" sz="2000" b="1" noProof="0" dirty="0">
                <a:solidFill>
                  <a:srgbClr val="C00000"/>
                </a:solidFill>
                <a:latin typeface="Courier"/>
              </a:rPr>
              <a:t>for</a:t>
            </a:r>
            <a:r>
              <a:rPr lang="en-US" sz="2000" b="1" noProof="0" dirty="0">
                <a:latin typeface="Courier"/>
              </a:rPr>
              <a:t> x </a:t>
            </a:r>
            <a:r>
              <a:rPr lang="en-US" sz="2000" b="1" noProof="0" dirty="0">
                <a:solidFill>
                  <a:srgbClr val="C00000"/>
                </a:solidFill>
                <a:latin typeface="Courier"/>
              </a:rPr>
              <a:t>in</a:t>
            </a:r>
            <a:r>
              <a:rPr lang="en-US" sz="2000" b="1" noProof="0" dirty="0">
                <a:latin typeface="Courier"/>
              </a:rPr>
              <a:t> ...</a:t>
            </a:r>
            <a:r>
              <a:rPr lang="en-US" sz="2000" b="1" noProof="0" dirty="0">
                <a:solidFill>
                  <a:srgbClr val="C00000"/>
                </a:solidFill>
                <a:latin typeface="Courier"/>
              </a:rPr>
              <a:t>)</a:t>
            </a:r>
            <a:r>
              <a:rPr lang="en-US" sz="2000" b="1" noProof="0" dirty="0">
                <a:latin typeface="Courier"/>
              </a:rPr>
              <a:t> </a:t>
            </a:r>
            <a:br>
              <a:rPr lang="en-US" sz="2000" b="1" noProof="0" dirty="0">
                <a:latin typeface="Courier"/>
              </a:rPr>
            </a:br>
            <a:r>
              <a:rPr lang="en-US" noProof="0" dirty="0"/>
              <a:t>looks like a list comprehension, except square brackets are replaced by parenthesis</a:t>
            </a:r>
          </a:p>
          <a:p>
            <a:r>
              <a:rPr lang="en-US" noProof="0" dirty="0"/>
              <a:t>Is an </a:t>
            </a:r>
            <a:r>
              <a:rPr lang="en-US" noProof="0" dirty="0" err="1"/>
              <a:t>iterable</a:t>
            </a:r>
            <a:r>
              <a:rPr lang="en-US" noProof="0" dirty="0"/>
              <a:t> and iterator, that uses less memory than a list comprehension</a:t>
            </a:r>
          </a:p>
          <a:p>
            <a:r>
              <a:rPr lang="en-US" dirty="0"/>
              <a:t>C</a:t>
            </a:r>
            <a:r>
              <a:rPr lang="en-US" noProof="0" dirty="0" err="1"/>
              <a:t>omputation</a:t>
            </a:r>
            <a:r>
              <a:rPr lang="en-US" noProof="0" dirty="0"/>
              <a:t> is done </a:t>
            </a:r>
            <a:r>
              <a:rPr lang="en-US" i="1" noProof="0" dirty="0"/>
              <a:t>lazily</a:t>
            </a:r>
            <a:r>
              <a:rPr lang="en-US" noProof="0" dirty="0"/>
              <a:t>, i.e. first when needed</a:t>
            </a:r>
          </a:p>
          <a:p>
            <a:endParaRPr lang="en-US" noProof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448929"/>
              </p:ext>
            </p:extLst>
          </p:nvPr>
        </p:nvGraphicFramePr>
        <p:xfrm>
          <a:off x="257266" y="1933138"/>
          <a:ext cx="7412355" cy="4063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123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** 2 for x in range(5)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list comprehension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[0, 1, 4, 9, 16]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list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** 2 for x in range(3)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generator expression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&lt;generator object &lt;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genexpr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 at 0x03D9F8A0&gt;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 =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** 2 for x in range(3)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next(o)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use generator expression as iterator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next(o)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next(o)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next(o)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StopIteration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Rectangle 5">
            <a:hlinkClick r:id="rId3"/>
          </p:cNvPr>
          <p:cNvSpPr/>
          <p:nvPr/>
        </p:nvSpPr>
        <p:spPr>
          <a:xfrm>
            <a:off x="3638282" y="6307004"/>
            <a:ext cx="83841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/>
            <a:r>
              <a:rPr lang="en-US" noProof="0" dirty="0">
                <a:hlinkClick r:id="rId3"/>
              </a:rPr>
              <a:t>https://docs.python.org/3/reference/expressions.html#generator-expressions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4449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Nested generator expressions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37183"/>
              </p:ext>
            </p:extLst>
          </p:nvPr>
        </p:nvGraphicFramePr>
        <p:xfrm>
          <a:off x="1434147" y="1690688"/>
          <a:ext cx="9323705" cy="3240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37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squares =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** 2 for x in range(1, 6)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generator expression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ratios =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/ y for y in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squares)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generator expression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ratios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&lt;generator object &lt;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genexpr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 at 0x031FC230&gt;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(ratios)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(ratios)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0.25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(ratios)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[0.1111111111111111, 0.0625, 0.04]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remaining 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42041" y="5286456"/>
            <a:ext cx="10725239" cy="1276390"/>
          </a:xfrm>
        </p:spPr>
        <p:txBody>
          <a:bodyPr>
            <a:normAutofit fontScale="92500" lnSpcReduction="10000"/>
          </a:bodyPr>
          <a:lstStyle/>
          <a:p>
            <a:r>
              <a:rPr lang="en-US" noProof="0" dirty="0"/>
              <a:t>Each fraction is first computed when requested by </a:t>
            </a:r>
            <a:r>
              <a:rPr lang="en-US" noProof="0" dirty="0">
                <a:latin typeface="Courier"/>
              </a:rPr>
              <a:t>next(ratios)</a:t>
            </a:r>
            <a:r>
              <a:rPr lang="en-US" noProof="0" dirty="0"/>
              <a:t> (implicitly called repeatedly in </a:t>
            </a:r>
            <a:r>
              <a:rPr lang="en-US" noProof="0" dirty="0">
                <a:latin typeface="Courier"/>
              </a:rPr>
              <a:t>list(ratios)</a:t>
            </a:r>
            <a:r>
              <a:rPr lang="en-US" noProof="0" dirty="0"/>
              <a:t>)</a:t>
            </a:r>
          </a:p>
          <a:p>
            <a:r>
              <a:rPr lang="en-US" noProof="0" dirty="0"/>
              <a:t>The next value of </a:t>
            </a:r>
            <a:r>
              <a:rPr lang="en-US" noProof="0" dirty="0">
                <a:latin typeface="Courier"/>
              </a:rPr>
              <a:t>squares</a:t>
            </a:r>
            <a:r>
              <a:rPr lang="en-US" noProof="0" dirty="0"/>
              <a:t> is first computed when needed by </a:t>
            </a:r>
            <a:r>
              <a:rPr lang="en-US" noProof="0" dirty="0">
                <a:latin typeface="Courier"/>
              </a:rPr>
              <a:t>ratios</a:t>
            </a:r>
          </a:p>
        </p:txBody>
      </p:sp>
    </p:spTree>
    <p:extLst>
      <p:ext uri="{BB962C8B-B14F-4D97-AF65-F5344CB8AC3E}">
        <p14:creationId xmlns:p14="http://schemas.microsoft.com/office/powerpoint/2010/main" val="617726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Generator expressions as function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2291" y="4780345"/>
            <a:ext cx="10515600" cy="1388961"/>
          </a:xfrm>
        </p:spPr>
        <p:txBody>
          <a:bodyPr>
            <a:normAutofit/>
          </a:bodyPr>
          <a:lstStyle/>
          <a:p>
            <a:r>
              <a:rPr lang="en-US" noProof="0" dirty="0"/>
              <a:t>Python allows to omit a pair of parenthesis when a generator expression is the only argument to a function</a:t>
            </a:r>
          </a:p>
          <a:p>
            <a:pPr marL="0" indent="0" algn="ctr">
              <a:buNone/>
            </a:pPr>
            <a:r>
              <a:rPr lang="en-US" sz="2400" b="1" noProof="0" dirty="0">
                <a:latin typeface="Courier"/>
              </a:rPr>
              <a:t>f(... for x in ...)   ≡   f(</a:t>
            </a:r>
            <a:r>
              <a:rPr lang="en-US" sz="2400" b="1" noProof="0" dirty="0">
                <a:solidFill>
                  <a:srgbClr val="C00000"/>
                </a:solidFill>
                <a:latin typeface="Courier"/>
              </a:rPr>
              <a:t>(</a:t>
            </a:r>
            <a:r>
              <a:rPr lang="en-US" sz="2400" b="1" noProof="0" dirty="0">
                <a:latin typeface="Courier"/>
              </a:rPr>
              <a:t>... for x in ...</a:t>
            </a:r>
            <a:r>
              <a:rPr lang="en-US" sz="2400" b="1" noProof="0" dirty="0">
                <a:solidFill>
                  <a:srgbClr val="C00000"/>
                </a:solidFill>
                <a:latin typeface="Courier"/>
              </a:rPr>
              <a:t>)</a:t>
            </a:r>
            <a:r>
              <a:rPr lang="en-US" sz="2400" b="1" noProof="0" dirty="0">
                <a:latin typeface="Courier"/>
              </a:rPr>
              <a:t>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741750"/>
              </p:ext>
            </p:extLst>
          </p:nvPr>
        </p:nvGraphicFramePr>
        <p:xfrm>
          <a:off x="1297622" y="2026276"/>
          <a:ext cx="9596755" cy="241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67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680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928747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doubles =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* 2 for x in range(1, 6)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sum(doubles)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sum takes an </a:t>
                      </a:r>
                      <a:r>
                        <a:rPr lang="en-US" sz="18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iterable</a:t>
                      </a:r>
                      <a:endParaRPr lang="en-US" sz="18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* 2 for x in range(1, 6)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sum(x * 2 for x in range(1, 6))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one pair of parenthesis omitted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754691" y="6366450"/>
            <a:ext cx="32631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PEP 289 – Generator Expressions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73748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Generator functions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579425"/>
              </p:ext>
            </p:extLst>
          </p:nvPr>
        </p:nvGraphicFramePr>
        <p:xfrm>
          <a:off x="718930" y="1801771"/>
          <a:ext cx="5501005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0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two.py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two():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2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two()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&lt;generator object two at 0x03629510&gt;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 = two()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next(t)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next(t)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next(t)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StopIteration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6599582" y="206735"/>
            <a:ext cx="5247861" cy="634016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A </a:t>
            </a:r>
            <a:r>
              <a:rPr lang="en-US" i="1" noProof="0" dirty="0"/>
              <a:t>generator function</a:t>
            </a:r>
            <a:r>
              <a:rPr lang="en-US" noProof="0" dirty="0"/>
              <a:t> contains one or more 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yield</a:t>
            </a:r>
            <a:r>
              <a:rPr lang="en-US" noProof="0" dirty="0"/>
              <a:t> statements</a:t>
            </a:r>
          </a:p>
          <a:p>
            <a:r>
              <a:rPr lang="en-US" noProof="0" dirty="0"/>
              <a:t>Python automatically makes a call to a generator function into an </a:t>
            </a:r>
            <a:r>
              <a:rPr lang="en-US" noProof="0" dirty="0" err="1"/>
              <a:t>iterable</a:t>
            </a:r>
            <a:r>
              <a:rPr lang="en-US" noProof="0" dirty="0"/>
              <a:t> and iterator (provides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__iter__</a:t>
            </a:r>
            <a:r>
              <a:rPr lang="en-US" noProof="0" dirty="0"/>
              <a:t> and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__next__</a:t>
            </a:r>
            <a:r>
              <a:rPr lang="en-US" noProof="0" dirty="0"/>
              <a:t>)</a:t>
            </a:r>
          </a:p>
          <a:p>
            <a:r>
              <a:rPr lang="en-US" noProof="0" dirty="0"/>
              <a:t>Calling a generator function returns a </a:t>
            </a:r>
            <a:r>
              <a:rPr lang="en-US" i="1" noProof="0" dirty="0"/>
              <a:t>generator object</a:t>
            </a:r>
          </a:p>
          <a:p>
            <a:r>
              <a:rPr lang="en-US" noProof="0" dirty="0"/>
              <a:t>Whenever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  <a:r>
              <a:rPr lang="en-US" noProof="0" dirty="0"/>
              <a:t> is called on a generator object, the execution of the function continues until the next </a:t>
            </a:r>
            <a:r>
              <a:rPr lang="en-US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yield</a:t>
            </a:r>
            <a:r>
              <a:rPr lang="en-US" noProof="0" dirty="0">
                <a:solidFill>
                  <a:srgbClr val="C00000"/>
                </a:solidFill>
              </a:rPr>
              <a:t> </a:t>
            </a:r>
            <a:r>
              <a:rPr lang="en-US" i="1" noProof="0" dirty="0">
                <a:solidFill>
                  <a:srgbClr val="C00000"/>
                </a:solidFill>
              </a:rPr>
              <a:t>exp</a:t>
            </a:r>
            <a:r>
              <a:rPr lang="en-US" noProof="0" dirty="0"/>
              <a:t> and the value of </a:t>
            </a:r>
            <a:r>
              <a:rPr lang="en-US" i="1" noProof="0" dirty="0"/>
              <a:t>exp</a:t>
            </a:r>
            <a:r>
              <a:rPr lang="en-US" noProof="0" dirty="0"/>
              <a:t> is returned as a result of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next</a:t>
            </a:r>
          </a:p>
          <a:p>
            <a:r>
              <a:rPr lang="en-US" noProof="0" dirty="0">
                <a:cs typeface="Courier New" panose="02070309020205020404" pitchFamily="49" charset="0"/>
              </a:rPr>
              <a:t>Reaching the end of the function or a return statement, will raise </a:t>
            </a:r>
            <a:r>
              <a:rPr lang="en-US" noProof="0" dirty="0" err="1">
                <a:latin typeface="Courier" pitchFamily="49" charset="0"/>
                <a:cs typeface="Courier New" panose="02070309020205020404" pitchFamily="49" charset="0"/>
              </a:rPr>
              <a:t>StopIteration</a:t>
            </a:r>
            <a:endParaRPr lang="en-US" noProof="0" dirty="0">
              <a:latin typeface="Courier" pitchFamily="49" charset="0"/>
              <a:cs typeface="Courier New" panose="02070309020205020404" pitchFamily="49" charset="0"/>
            </a:endParaRPr>
          </a:p>
          <a:p>
            <a:r>
              <a:rPr lang="en-US" noProof="0" dirty="0"/>
              <a:t>Once consumed, can't be reused</a:t>
            </a:r>
            <a:endParaRPr lang="en-US" noProof="0" dirty="0">
              <a:latin typeface="Courier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39803" y="6306577"/>
            <a:ext cx="74761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https://docs.python.org/3/reference/expressions.html#yield-expressions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1050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Generator functions (II)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151512"/>
              </p:ext>
            </p:extLst>
          </p:nvPr>
        </p:nvGraphicFramePr>
        <p:xfrm>
          <a:off x="2048510" y="1629765"/>
          <a:ext cx="80949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49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my_generator.py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my_generator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'Start'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i in range(n):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chr(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('A') + i)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'Done'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 =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my_generator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print(g)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&lt;generator object 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my_generator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at 0x03E2F6F0&gt;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print(list(g))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['Start', 'A', 'B', 'C', 'Done']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print(list(g))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generator object g exhausted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print(*</a:t>
                      </a:r>
                      <a:r>
                        <a:rPr lang="en-US" sz="1800" b="1" baseline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my_generator</a:t>
                      </a: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(5))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* takes an </a:t>
                      </a:r>
                      <a:r>
                        <a:rPr lang="en-US" sz="18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iterable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(PEP 448)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Start A B C D E Done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36A2807-631B-0640-32B8-94472DC6366E}"/>
              </a:ext>
            </a:extLst>
          </p:cNvPr>
          <p:cNvSpPr txBox="1"/>
          <p:nvPr/>
        </p:nvSpPr>
        <p:spPr>
          <a:xfrm>
            <a:off x="6003098" y="6432755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hlinkClick r:id="rId2"/>
              </a:rPr>
              <a:t>PEP 448 – Additional Unpacking Generalizations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61084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Generator functions (III)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546574"/>
              </p:ext>
            </p:extLst>
          </p:nvPr>
        </p:nvGraphicFramePr>
        <p:xfrm>
          <a:off x="1024572" y="2396743"/>
          <a:ext cx="10142855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28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my_range_generator.py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my_range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(start, end, step):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start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while x &lt; end: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x += step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my_range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(1.5, 2.0, 0.1))</a:t>
                      </a:r>
                      <a:endParaRPr lang="en-US" sz="1800" b="1" baseline="0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[1.5, 1.6, 1.7000000000000002, 1.8000000000000003, 1.9000000000000004]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CF01C-3B77-FB18-E6F3-EEC7E36E1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572" y="5686816"/>
            <a:ext cx="10329228" cy="1112620"/>
          </a:xfrm>
        </p:spPr>
        <p:txBody>
          <a:bodyPr>
            <a:normAutofit/>
          </a:bodyPr>
          <a:lstStyle/>
          <a:p>
            <a:r>
              <a:rPr lang="en-US" noProof="0" dirty="0"/>
              <a:t>Generator functions are often (much) easier to write than creating an </a:t>
            </a:r>
            <a:r>
              <a:rPr lang="en-US" noProof="0" dirty="0" err="1"/>
              <a:t>iterable</a:t>
            </a:r>
            <a:r>
              <a:rPr lang="en-US" noProof="0" dirty="0"/>
              <a:t> class and the accompanying iterator class</a:t>
            </a:r>
          </a:p>
        </p:txBody>
      </p:sp>
    </p:spTree>
    <p:extLst>
      <p:ext uri="{BB962C8B-B14F-4D97-AF65-F5344CB8AC3E}">
        <p14:creationId xmlns:p14="http://schemas.microsoft.com/office/powerpoint/2010/main" val="2125248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Pipelining generators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682768"/>
              </p:ext>
            </p:extLst>
          </p:nvPr>
        </p:nvGraphicFramePr>
        <p:xfrm>
          <a:off x="1161097" y="1906493"/>
          <a:ext cx="9869805" cy="413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98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squares(seq):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seq should be an </a:t>
                      </a:r>
                      <a:r>
                        <a:rPr lang="en-US" sz="18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iterable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object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for x in seq:   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use iterator to run through seq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x ** 2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generator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squares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(range(5)))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[0, 1, 4, 9, 16]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squares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squares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(range(5))))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pipelining generators</a:t>
                      </a:r>
                      <a:endParaRPr lang="en-US" sz="18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[0, 1, 16, 81, 256]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squares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squares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(range(100000000))))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pipelining generators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1999999950000000333333333333333330000000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sum((x ** 2) ** 2 for x in range(100000000))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generator expression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1999999950000000333333333333333330000000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sum([(x ** 2) ** 2 for x in range(100000000)])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list comprehension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MemoryError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when using a 32-bit version of Python, limited to 2 GB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6658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Courier"/>
              </a:rPr>
              <a:t>yield </a:t>
            </a:r>
            <a:r>
              <a:rPr lang="en-US" noProof="0" dirty="0"/>
              <a:t> vs  </a:t>
            </a:r>
            <a:r>
              <a:rPr lang="en-US" noProof="0" dirty="0">
                <a:latin typeface="Courier"/>
              </a:rPr>
              <a:t>yield from</a:t>
            </a:r>
            <a:endParaRPr lang="en-US" b="0" noProof="0" dirty="0">
              <a:latin typeface="Courier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850091"/>
              </p:ext>
            </p:extLst>
          </p:nvPr>
        </p:nvGraphicFramePr>
        <p:xfrm>
          <a:off x="1934926" y="2244033"/>
          <a:ext cx="3960000" cy="2401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344">
                <a:tc>
                  <a:txBody>
                    <a:bodyPr/>
                    <a:lstStyle/>
                    <a:p>
                      <a:r>
                        <a:rPr lang="en-US" sz="20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20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g():</a:t>
                      </a:r>
                      <a:b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20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</a:t>
                      </a:r>
                      <a:b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20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[2, 3, 4]</a:t>
                      </a:r>
                      <a:b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20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list(g())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[1, </a:t>
                      </a:r>
                      <a:r>
                        <a:rPr lang="en-US" sz="20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2, 3, 4</a:t>
                      </a:r>
                      <a:r>
                        <a:rPr lang="en-US" sz="20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5]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458139"/>
              </p:ext>
            </p:extLst>
          </p:nvPr>
        </p:nvGraphicFramePr>
        <p:xfrm>
          <a:off x="6323660" y="2244033"/>
          <a:ext cx="4259580" cy="240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95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6800">
                <a:tc>
                  <a:txBody>
                    <a:bodyPr/>
                    <a:lstStyle/>
                    <a:p>
                      <a:r>
                        <a:rPr lang="en-US" sz="20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20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g():</a:t>
                      </a:r>
                      <a:b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20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1</a:t>
                      </a:r>
                      <a:b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20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 from</a:t>
                      </a: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[2, 3, 4]</a:t>
                      </a:r>
                      <a:b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20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5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list(g())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20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[1, 2, 3, 4, 5]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833622" y="5060820"/>
            <a:ext cx="10515600" cy="930227"/>
          </a:xfrm>
        </p:spPr>
        <p:txBody>
          <a:bodyPr>
            <a:normAutofit lnSpcReduction="10000"/>
          </a:bodyPr>
          <a:lstStyle/>
          <a:p>
            <a:r>
              <a:rPr lang="en-US" sz="2400" b="1" noProof="0" dirty="0">
                <a:latin typeface="Courier"/>
              </a:rPr>
              <a:t>yield from </a:t>
            </a:r>
            <a:r>
              <a:rPr lang="en-US" noProof="0" dirty="0"/>
              <a:t>available since Python 3.3 </a:t>
            </a:r>
          </a:p>
          <a:p>
            <a:r>
              <a:rPr lang="en-US" sz="2400" b="1" noProof="0" dirty="0">
                <a:latin typeface="Courier"/>
              </a:rPr>
              <a:t>yield from </a:t>
            </a:r>
            <a:r>
              <a:rPr lang="en-US" sz="2400" b="1" i="1" noProof="0" dirty="0">
                <a:latin typeface="Courier"/>
              </a:rPr>
              <a:t>exp</a:t>
            </a:r>
            <a:r>
              <a:rPr lang="en-US" sz="2400" b="1" noProof="0" dirty="0">
                <a:latin typeface="Courier"/>
              </a:rPr>
              <a:t>  ≈  for x in </a:t>
            </a:r>
            <a:r>
              <a:rPr lang="en-US" sz="2400" b="1" i="1" noProof="0" dirty="0">
                <a:latin typeface="Courier"/>
              </a:rPr>
              <a:t>exp</a:t>
            </a:r>
            <a:r>
              <a:rPr lang="en-US" sz="2400" b="1" noProof="0" dirty="0">
                <a:latin typeface="Courier"/>
              </a:rPr>
              <a:t>: yield x</a:t>
            </a:r>
          </a:p>
        </p:txBody>
      </p:sp>
    </p:spTree>
    <p:extLst>
      <p:ext uri="{BB962C8B-B14F-4D97-AF65-F5344CB8AC3E}">
        <p14:creationId xmlns:p14="http://schemas.microsoft.com/office/powerpoint/2010/main" val="1996554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Recursive  </a:t>
            </a:r>
            <a:r>
              <a:rPr lang="en-US" b="0" noProof="0" dirty="0">
                <a:latin typeface="Courier"/>
              </a:rPr>
              <a:t>yield from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057137"/>
              </p:ext>
            </p:extLst>
          </p:nvPr>
        </p:nvGraphicFramePr>
        <p:xfrm>
          <a:off x="1057236" y="2391648"/>
          <a:ext cx="6183630" cy="3590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36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traverse(T):  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recursive generator</a:t>
                      </a:r>
                    </a:p>
                    <a:p>
                      <a:pPr marL="266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</a:t>
                      </a:r>
                      <a:r>
                        <a:rPr lang="en-US" sz="18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isinstance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(T, tuple):</a:t>
                      </a:r>
                    </a:p>
                    <a:p>
                      <a:pPr marL="266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for child in T:</a:t>
                      </a:r>
                    </a:p>
                    <a:p>
                      <a:pPr marL="266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 from 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traverse(child)</a:t>
                      </a:r>
                    </a:p>
                    <a:p>
                      <a:pPr marL="266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else:</a:t>
                      </a:r>
                    </a:p>
                    <a:p>
                      <a:pPr marL="2667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 = (((1, 2), 3, (4, 5)), (6, (7, 9)))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traverse(T)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&lt;generator object traverse at 0x03279F30&gt;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list(traverse(T))</a:t>
                      </a:r>
                      <a:endParaRPr lang="en-US" sz="18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 algn="l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[1, 2, 3, 4, 5, 6, 7, 9]</a:t>
                      </a:r>
                      <a:endParaRPr lang="en-US" sz="18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pSp>
        <p:nvGrpSpPr>
          <p:cNvPr id="67" name="Group 66"/>
          <p:cNvGrpSpPr/>
          <p:nvPr/>
        </p:nvGrpSpPr>
        <p:grpSpPr>
          <a:xfrm>
            <a:off x="8301517" y="2745914"/>
            <a:ext cx="3052283" cy="2115442"/>
            <a:chOff x="7361498" y="2363142"/>
            <a:chExt cx="3052283" cy="2115442"/>
          </a:xfrm>
        </p:grpSpPr>
        <p:grpSp>
          <p:nvGrpSpPr>
            <p:cNvPr id="66" name="Group 65"/>
            <p:cNvGrpSpPr/>
            <p:nvPr/>
          </p:nvGrpSpPr>
          <p:grpSpPr>
            <a:xfrm>
              <a:off x="7541498" y="2438912"/>
              <a:ext cx="2692280" cy="1859673"/>
              <a:chOff x="7541498" y="2438912"/>
              <a:chExt cx="2692280" cy="1859673"/>
            </a:xfrm>
          </p:grpSpPr>
          <p:cxnSp>
            <p:nvCxnSpPr>
              <p:cNvPr id="26" name="Straight Connector 25"/>
              <p:cNvCxnSpPr/>
              <p:nvPr/>
            </p:nvCxnSpPr>
            <p:spPr>
              <a:xfrm flipV="1">
                <a:off x="8601288" y="3698509"/>
                <a:ext cx="249519" cy="60007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flipH="1" flipV="1">
                <a:off x="8850807" y="3698509"/>
                <a:ext cx="249520" cy="6000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7541498" y="3698510"/>
                <a:ext cx="249519" cy="60007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H="1" flipV="1">
                <a:off x="7791017" y="3698510"/>
                <a:ext cx="249520" cy="6000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9734739" y="3698509"/>
                <a:ext cx="249519" cy="60007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flipH="1" flipV="1">
                <a:off x="9984258" y="3698509"/>
                <a:ext cx="249520" cy="6000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flipV="1">
                <a:off x="9472741" y="3094937"/>
                <a:ext cx="249519" cy="60007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 flipH="1" flipV="1">
                <a:off x="9722260" y="3094937"/>
                <a:ext cx="249520" cy="60007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V="1">
                <a:off x="7817312" y="3030917"/>
                <a:ext cx="489447" cy="67166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flipH="1" flipV="1">
                <a:off x="8304953" y="3030917"/>
                <a:ext cx="11398" cy="67166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 flipH="1" flipV="1">
                <a:off x="8304953" y="3030915"/>
                <a:ext cx="586804" cy="66721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51" idx="7"/>
              </p:cNvCxnSpPr>
              <p:nvPr/>
            </p:nvCxnSpPr>
            <p:spPr>
              <a:xfrm flipV="1">
                <a:off x="8374400" y="2438912"/>
                <a:ext cx="649182" cy="5888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>
                <a:stCxn id="32" idx="1"/>
              </p:cNvCxnSpPr>
              <p:nvPr/>
            </p:nvCxnSpPr>
            <p:spPr>
              <a:xfrm flipH="1" flipV="1">
                <a:off x="9023582" y="2438913"/>
                <a:ext cx="631037" cy="5888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7703632" y="3622645"/>
              <a:ext cx="180000" cy="18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noProof="0" dirty="0">
                <a:solidFill>
                  <a:schemeClr val="tx1"/>
                </a:solidFill>
                <a:latin typeface="Courier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8421290" y="4118584"/>
              <a:ext cx="360000" cy="36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  <a:latin typeface="Courier"/>
                </a:rPr>
                <a:t>4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8920328" y="4118584"/>
              <a:ext cx="360000" cy="36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  <a:latin typeface="Courier"/>
                </a:rPr>
                <a:t>5</a:t>
              </a:r>
            </a:p>
          </p:txBody>
        </p:sp>
        <p:sp>
          <p:nvSpPr>
            <p:cNvPr id="36" name="Oval 35"/>
            <p:cNvSpPr>
              <a:spLocks noChangeAspect="1"/>
            </p:cNvSpPr>
            <p:nvPr/>
          </p:nvSpPr>
          <p:spPr>
            <a:xfrm>
              <a:off x="8773285" y="3622739"/>
              <a:ext cx="180000" cy="18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noProof="0" dirty="0">
                <a:solidFill>
                  <a:schemeClr val="tx1"/>
                </a:solidFill>
                <a:latin typeface="Courier"/>
              </a:endParaRPr>
            </a:p>
          </p:txBody>
        </p:sp>
        <p:sp>
          <p:nvSpPr>
            <p:cNvPr id="3" name="Oval 2"/>
            <p:cNvSpPr/>
            <p:nvPr/>
          </p:nvSpPr>
          <p:spPr>
            <a:xfrm>
              <a:off x="7361498" y="4118584"/>
              <a:ext cx="360000" cy="36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  <a:latin typeface="Courier"/>
                </a:rPr>
                <a:t>1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7860536" y="4118584"/>
              <a:ext cx="360000" cy="36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  <a:latin typeface="Courier"/>
                </a:rPr>
                <a:t>2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8135938" y="3548547"/>
              <a:ext cx="360000" cy="36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  <a:latin typeface="Courier"/>
                </a:rPr>
                <a:t>3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9279338" y="3515011"/>
              <a:ext cx="360000" cy="36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  <a:latin typeface="Courier"/>
                </a:rPr>
                <a:t>6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9554743" y="4118584"/>
              <a:ext cx="360000" cy="36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  <a:latin typeface="Courier"/>
                </a:rPr>
                <a:t>7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10053781" y="4118584"/>
              <a:ext cx="360000" cy="36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  <a:latin typeface="Courier"/>
                </a:rPr>
                <a:t>9</a:t>
              </a: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9894258" y="3608508"/>
              <a:ext cx="180000" cy="18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noProof="0" dirty="0">
                <a:solidFill>
                  <a:schemeClr val="tx1"/>
                </a:solidFill>
                <a:latin typeface="Courier"/>
              </a:endParaRPr>
            </a:p>
          </p:txBody>
        </p:sp>
        <p:sp>
          <p:nvSpPr>
            <p:cNvPr id="32" name="Oval 31"/>
            <p:cNvSpPr>
              <a:spLocks noChangeAspect="1"/>
            </p:cNvSpPr>
            <p:nvPr/>
          </p:nvSpPr>
          <p:spPr>
            <a:xfrm>
              <a:off x="9628259" y="3001440"/>
              <a:ext cx="180000" cy="18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noProof="0" dirty="0">
                <a:solidFill>
                  <a:schemeClr val="tx1"/>
                </a:solidFill>
                <a:latin typeface="Courier"/>
              </a:endParaRPr>
            </a:p>
          </p:txBody>
        </p:sp>
        <p:sp>
          <p:nvSpPr>
            <p:cNvPr id="51" name="Oval 50"/>
            <p:cNvSpPr>
              <a:spLocks noChangeAspect="1"/>
            </p:cNvSpPr>
            <p:nvPr/>
          </p:nvSpPr>
          <p:spPr>
            <a:xfrm>
              <a:off x="8220760" y="3001440"/>
              <a:ext cx="180000" cy="18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noProof="0" dirty="0">
                <a:solidFill>
                  <a:schemeClr val="tx1"/>
                </a:solidFill>
                <a:latin typeface="Courier"/>
              </a:endParaRPr>
            </a:p>
          </p:txBody>
        </p:sp>
        <p:sp>
          <p:nvSpPr>
            <p:cNvPr id="57" name="Oval 56"/>
            <p:cNvSpPr>
              <a:spLocks noChangeAspect="1"/>
            </p:cNvSpPr>
            <p:nvPr/>
          </p:nvSpPr>
          <p:spPr>
            <a:xfrm>
              <a:off x="8946060" y="2363142"/>
              <a:ext cx="180000" cy="180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noProof="0" dirty="0">
                <a:solidFill>
                  <a:schemeClr val="tx1"/>
                </a:solidFill>
                <a:latin typeface="Courier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78056D6-C424-74FA-BAE3-5493ACE8134B}"/>
              </a:ext>
            </a:extLst>
          </p:cNvPr>
          <p:cNvSpPr txBox="1"/>
          <p:nvPr/>
        </p:nvSpPr>
        <p:spPr>
          <a:xfrm>
            <a:off x="7515301" y="1508971"/>
            <a:ext cx="4191509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noProof="0" dirty="0">
                <a:solidFill>
                  <a:srgbClr val="C00000"/>
                </a:solidFill>
                <a:latin typeface="Courier"/>
              </a:rPr>
              <a:t>for</a:t>
            </a:r>
            <a:r>
              <a:rPr lang="en-US" b="1" noProof="0" dirty="0">
                <a:latin typeface="Courier"/>
              </a:rPr>
              <a:t> value </a:t>
            </a:r>
            <a:r>
              <a:rPr lang="en-US" b="1" noProof="0" dirty="0">
                <a:solidFill>
                  <a:srgbClr val="C00000"/>
                </a:solidFill>
                <a:latin typeface="Courier"/>
              </a:rPr>
              <a:t>in</a:t>
            </a:r>
            <a:r>
              <a:rPr lang="en-US" b="1" noProof="0" dirty="0">
                <a:latin typeface="Courier"/>
              </a:rPr>
              <a:t> traverse(child):</a:t>
            </a:r>
          </a:p>
          <a:p>
            <a:r>
              <a:rPr lang="en-US" b="1" noProof="0" dirty="0">
                <a:latin typeface="Courier"/>
              </a:rPr>
              <a:t>    </a:t>
            </a:r>
            <a:r>
              <a:rPr lang="en-US" b="1" noProof="0" dirty="0">
                <a:solidFill>
                  <a:srgbClr val="C00000"/>
                </a:solidFill>
                <a:latin typeface="Courier"/>
              </a:rPr>
              <a:t>yield</a:t>
            </a:r>
            <a:r>
              <a:rPr lang="en-US" b="1" noProof="0" dirty="0">
                <a:latin typeface="Courier"/>
              </a:rPr>
              <a:t> value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FE5551-FE05-5632-52BB-F1C98A964A4D}"/>
              </a:ext>
            </a:extLst>
          </p:cNvPr>
          <p:cNvCxnSpPr>
            <a:cxnSpLocks/>
          </p:cNvCxnSpPr>
          <p:nvPr/>
        </p:nvCxnSpPr>
        <p:spPr>
          <a:xfrm flipH="1">
            <a:off x="6621514" y="2029087"/>
            <a:ext cx="1191012" cy="17704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3E98C91-FBF1-9B49-ED97-B99622E55B08}"/>
              </a:ext>
            </a:extLst>
          </p:cNvPr>
          <p:cNvSpPr txBox="1"/>
          <p:nvPr/>
        </p:nvSpPr>
        <p:spPr>
          <a:xfrm>
            <a:off x="7717221" y="1150883"/>
            <a:ext cx="3767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without  </a:t>
            </a:r>
            <a:r>
              <a:rPr lang="en-US" b="1" noProof="0" dirty="0">
                <a:solidFill>
                  <a:srgbClr val="C00000"/>
                </a:solidFill>
                <a:latin typeface="Courier"/>
              </a:rPr>
              <a:t>yield from</a:t>
            </a:r>
          </a:p>
        </p:txBody>
      </p:sp>
    </p:spTree>
    <p:extLst>
      <p:ext uri="{BB962C8B-B14F-4D97-AF65-F5344CB8AC3E}">
        <p14:creationId xmlns:p14="http://schemas.microsoft.com/office/powerpoint/2010/main" val="1764873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84023-3078-C4B5-5312-0AF582E5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Generator </a:t>
            </a:r>
            <a:r>
              <a:rPr lang="en-US" noProof="0" dirty="0">
                <a:latin typeface="Courier"/>
              </a:rPr>
              <a:t>.close()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0604B-5714-DD09-2AAD-A3CBA8DA4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91206"/>
            <a:ext cx="5075555" cy="2766793"/>
          </a:xfrm>
        </p:spPr>
        <p:txBody>
          <a:bodyPr>
            <a:normAutofit lnSpcReduction="10000"/>
          </a:bodyPr>
          <a:lstStyle/>
          <a:p>
            <a:r>
              <a:rPr lang="en-US" sz="2400" noProof="0" dirty="0"/>
              <a:t>A generator can be forced to terminate by calling </a:t>
            </a:r>
            <a:r>
              <a:rPr lang="en-US" sz="2400" b="1" noProof="0" dirty="0">
                <a:solidFill>
                  <a:srgbClr val="C00000"/>
                </a:solidFill>
                <a:latin typeface="Courier"/>
              </a:rPr>
              <a:t>.close()</a:t>
            </a:r>
          </a:p>
          <a:p>
            <a:r>
              <a:rPr lang="en-US" sz="2400" noProof="0" dirty="0"/>
              <a:t>Technically, the generator continues with a </a:t>
            </a:r>
            <a:r>
              <a:rPr lang="en-US" sz="2400" b="1" noProof="0" dirty="0" err="1">
                <a:latin typeface="Courier"/>
              </a:rPr>
              <a:t>GeneratorExit</a:t>
            </a:r>
            <a:r>
              <a:rPr lang="en-US" sz="2400" noProof="0" dirty="0"/>
              <a:t> exception raised, so that it can clean up before returning</a:t>
            </a:r>
          </a:p>
          <a:p>
            <a:r>
              <a:rPr lang="en-US" sz="2400" noProof="0" dirty="0"/>
              <a:t>Useful to release resources from generators, e.g. infinite generators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D05D8F-E4CE-D2B7-50BA-3357697B4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953514"/>
              </p:ext>
            </p:extLst>
          </p:nvPr>
        </p:nvGraphicFramePr>
        <p:xfrm>
          <a:off x="838200" y="1723147"/>
          <a:ext cx="507555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55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u="none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random_integers.py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5395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lang="en-US" sz="1400" b="1" u="none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en-US" sz="1400" b="1" u="none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random_integers</a:t>
                      </a:r>
                      <a: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(n):</a:t>
                      </a:r>
                      <a:b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seen = set()  </a:t>
                      </a:r>
                      <a:r>
                        <a:rPr lang="en-US" sz="1400" b="1" u="none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integers generated so far</a:t>
                      </a:r>
                      <a:br>
                        <a:rPr lang="en-US" sz="1400" b="1" u="none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while </a:t>
                      </a:r>
                      <a:r>
                        <a:rPr lang="en-US" sz="1400" b="1" u="none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(seen) &lt; n:</a:t>
                      </a:r>
                      <a:b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value = </a:t>
                      </a:r>
                      <a:r>
                        <a:rPr lang="en-US" sz="1400" b="1" u="none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random.randint</a:t>
                      </a:r>
                      <a: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(1, n)</a:t>
                      </a:r>
                      <a:b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value in seen:</a:t>
                      </a:r>
                      <a:b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continue  </a:t>
                      </a:r>
                      <a:r>
                        <a:rPr lang="en-US" sz="1400" b="1" u="none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skip duplicates</a:t>
                      </a:r>
                      <a:b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u="none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seen.add</a:t>
                      </a:r>
                      <a: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(value)</a:t>
                      </a:r>
                      <a:b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u="none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1400" b="1" u="none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value</a:t>
                      </a:r>
                      <a:endParaRPr lang="en-US" sz="1400" b="1" u="none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649BBE-6858-C83D-689E-9BF61C41B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489135"/>
              </p:ext>
            </p:extLst>
          </p:nvPr>
        </p:nvGraphicFramePr>
        <p:xfrm>
          <a:off x="6436995" y="1723146"/>
          <a:ext cx="491680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8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82772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38492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 = </a:t>
                      </a: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random_integers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(10)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next(r)</a:t>
                      </a:r>
                      <a:endParaRPr lang="en-US" sz="14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 algn="l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next(r)</a:t>
                      </a:r>
                      <a:endParaRPr lang="en-US" sz="14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 algn="l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sz="14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next(r)</a:t>
                      </a:r>
                      <a:endParaRPr lang="en-US" sz="14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 algn="l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</a:t>
                      </a:r>
                      <a:endParaRPr lang="en-US" sz="14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r.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next(r)</a:t>
                      </a:r>
                      <a:endParaRPr lang="en-US" sz="14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 algn="l">
                        <a:spcAft>
                          <a:spcPts val="120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StopIteration</a:t>
                      </a:r>
                      <a:endParaRPr lang="en-US" sz="14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 = </a:t>
                      </a: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random_integers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(1_000_000_000)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next(r)</a:t>
                      </a:r>
                    </a:p>
                    <a:p>
                      <a:pPr marL="266700" indent="-266700" algn="l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191907382       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memory usage ~ 10 MB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sum(next(r) for _ in range(10_000_000))</a:t>
                      </a:r>
                    </a:p>
                    <a:p>
                      <a:pPr marL="266700" indent="-266700" algn="l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4998986626629771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memory usage ~ 550 MB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r.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memory usage ~ 10 MB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next(r)</a:t>
                      </a:r>
                    </a:p>
                    <a:p>
                      <a:pPr marL="266700" indent="-266700" algn="l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StopIteration</a:t>
                      </a:r>
                      <a:endParaRPr lang="en-US" sz="14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4F8254-3B6B-9066-A3DF-07C5FD9B238B}"/>
              </a:ext>
            </a:extLst>
          </p:cNvPr>
          <p:cNvCxnSpPr>
            <a:cxnSpLocks/>
          </p:cNvCxnSpPr>
          <p:nvPr/>
        </p:nvCxnSpPr>
        <p:spPr>
          <a:xfrm flipH="1" flipV="1">
            <a:off x="7772397" y="5573111"/>
            <a:ext cx="993231" cy="67409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C5EE14-69FF-C096-E2FF-B209C461DA84}"/>
              </a:ext>
            </a:extLst>
          </p:cNvPr>
          <p:cNvSpPr txBox="1"/>
          <p:nvPr/>
        </p:nvSpPr>
        <p:spPr>
          <a:xfrm>
            <a:off x="6436995" y="6211669"/>
            <a:ext cx="4916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releases the </a:t>
            </a:r>
            <a:r>
              <a:rPr lang="en-US" b="1" noProof="0" dirty="0">
                <a:latin typeface="Courier"/>
              </a:rPr>
              <a:t>seen</a:t>
            </a:r>
            <a:r>
              <a:rPr lang="en-US" noProof="0" dirty="0"/>
              <a:t> set containing 10.000.001 elements for garbage collection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7AD44B-46D3-C5E3-6C5C-5E22B9C06C68}"/>
              </a:ext>
            </a:extLst>
          </p:cNvPr>
          <p:cNvSpPr txBox="1"/>
          <p:nvPr/>
        </p:nvSpPr>
        <p:spPr>
          <a:xfrm>
            <a:off x="5825359" y="99403"/>
            <a:ext cx="6258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noProof="0" dirty="0">
                <a:hlinkClick r:id="rId3"/>
              </a:rPr>
              <a:t>docs.python.org/3/reference/</a:t>
            </a:r>
            <a:r>
              <a:rPr lang="en-US" noProof="0" dirty="0" err="1">
                <a:hlinkClick r:id="rId3"/>
              </a:rPr>
              <a:t>expressions.html#generator.close</a:t>
            </a:r>
            <a:endParaRPr lang="en-US" noProof="0" dirty="0"/>
          </a:p>
          <a:p>
            <a:pPr algn="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2637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53886"/>
          </a:xfrm>
        </p:spPr>
        <p:txBody>
          <a:bodyPr/>
          <a:lstStyle/>
          <a:p>
            <a:r>
              <a:rPr lang="en-US" noProof="0" dirty="0"/>
              <a:t>Making objects </a:t>
            </a:r>
            <a:r>
              <a:rPr lang="en-US" noProof="0" dirty="0" err="1"/>
              <a:t>iterable</a:t>
            </a:r>
            <a:r>
              <a:rPr lang="en-US" noProof="0" dirty="0"/>
              <a:t> using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yield</a:t>
            </a:r>
            <a:r>
              <a:rPr lang="en-US" noProof="0" dirty="0"/>
              <a:t>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197582"/>
              </p:ext>
            </p:extLst>
          </p:nvPr>
        </p:nvGraphicFramePr>
        <p:xfrm>
          <a:off x="2659697" y="1026659"/>
          <a:ext cx="6872605" cy="560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26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vector2D.py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class vector2D: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__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init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__(self,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x_value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y_value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x_value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y_value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__iter__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generator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self.x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self.y</a:t>
                      </a:r>
                      <a:endParaRPr lang="en-US" sz="1800" b="1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__iter__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(self): 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alternative</a:t>
                      </a:r>
                      <a:r>
                        <a:rPr lang="en-US" sz="18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generator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yield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self.x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self.y</a:t>
                      </a: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 = vector2D(5, 7)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print(list(v))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print(tuple(v))</a:t>
                      </a:r>
                    </a:p>
                    <a:p>
                      <a:r>
                        <a:rPr lang="en-US" sz="18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print(set(v))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en-US" sz="18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[5, 7]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(5, 7)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800" b="1" baseline="0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{5, 7}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44063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Generators vs </a:t>
            </a:r>
            <a:r>
              <a:rPr lang="en-US" noProof="0" dirty="0" err="1"/>
              <a:t>iterables</a:t>
            </a:r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2069"/>
            <a:ext cx="10898688" cy="4784900"/>
          </a:xfrm>
        </p:spPr>
        <p:txBody>
          <a:bodyPr>
            <a:normAutofit/>
          </a:bodyPr>
          <a:lstStyle/>
          <a:p>
            <a:endParaRPr lang="en-US" noProof="0" dirty="0"/>
          </a:p>
          <a:p>
            <a:r>
              <a:rPr lang="en-US" noProof="0" dirty="0" err="1"/>
              <a:t>Iterables</a:t>
            </a:r>
            <a:r>
              <a:rPr lang="en-US" noProof="0" dirty="0"/>
              <a:t> can often be reused (like lists, tuples, strings)</a:t>
            </a:r>
          </a:p>
          <a:p>
            <a:r>
              <a:rPr lang="en-US" noProof="0" dirty="0"/>
              <a:t>Generators cannot be reused (only if a new generator object is created, starting over again)</a:t>
            </a:r>
          </a:p>
          <a:p>
            <a:endParaRPr lang="en-US" noProof="0" dirty="0"/>
          </a:p>
          <a:p>
            <a:r>
              <a:rPr lang="en-US" noProof="0" dirty="0"/>
              <a:t>David Beazley’s tutorial on </a:t>
            </a:r>
            <a:br>
              <a:rPr lang="en-US" noProof="0" dirty="0"/>
            </a:br>
            <a:r>
              <a:rPr lang="en-US" noProof="0" dirty="0"/>
              <a:t>“</a:t>
            </a:r>
            <a:r>
              <a:rPr lang="en-US" i="1" noProof="0" dirty="0"/>
              <a:t>Generators: The Final Frontier</a:t>
            </a:r>
            <a:r>
              <a:rPr lang="en-US" noProof="0" dirty="0"/>
              <a:t>”, </a:t>
            </a:r>
            <a:r>
              <a:rPr lang="en-US" noProof="0" dirty="0" err="1"/>
              <a:t>PyCon</a:t>
            </a:r>
            <a:r>
              <a:rPr lang="en-US" noProof="0" dirty="0"/>
              <a:t> 2014 (3:50:54)</a:t>
            </a:r>
            <a:br>
              <a:rPr lang="en-US" noProof="0" dirty="0"/>
            </a:br>
            <a:r>
              <a:rPr lang="en-US" noProof="0" dirty="0"/>
              <a:t>Throughout advanced discussion of generators, e.g. how to use </a:t>
            </a:r>
            <a: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.send</a:t>
            </a:r>
            <a:r>
              <a:rPr lang="en-US" noProof="0" dirty="0"/>
              <a:t> method to implement coroutines</a:t>
            </a:r>
            <a:b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noProof="0" dirty="0">
                <a:hlinkClick r:id="rId3"/>
              </a:rPr>
              <a:t>https://www.youtube.com/watch?v=D1twn9kLmYg</a:t>
            </a:r>
            <a:endParaRPr lang="en-US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165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7573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8000" noProof="0" dirty="0"/>
              <a:t>Measuring memory usage</a:t>
            </a:r>
          </a:p>
        </p:txBody>
      </p:sp>
    </p:spTree>
    <p:extLst>
      <p:ext uri="{BB962C8B-B14F-4D97-AF65-F5344CB8AC3E}">
        <p14:creationId xmlns:p14="http://schemas.microsoft.com/office/powerpoint/2010/main" val="22272522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Measuring memory usage (memory profiling)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186" y="1619786"/>
            <a:ext cx="4941273" cy="5057176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  <a:tabLst>
                <a:tab pos="630238" algn="l"/>
              </a:tabLst>
            </a:pPr>
            <a:r>
              <a:rPr lang="en-US" sz="2400" noProof="0" dirty="0"/>
              <a:t>Macro level: </a:t>
            </a:r>
          </a:p>
          <a:p>
            <a:pPr marL="0" indent="0">
              <a:spcAft>
                <a:spcPts val="600"/>
              </a:spcAft>
              <a:buNone/>
              <a:tabLst>
                <a:tab pos="630238" algn="l"/>
              </a:tabLst>
            </a:pPr>
            <a:r>
              <a:rPr lang="en-US" sz="2400" noProof="0" dirty="0"/>
              <a:t>	Task Manager (Windows)</a:t>
            </a:r>
            <a:br>
              <a:rPr lang="en-US" sz="2400" noProof="0" dirty="0"/>
            </a:br>
            <a:r>
              <a:rPr lang="en-US" sz="2400" noProof="0" dirty="0"/>
              <a:t>	Activity Monitor (Mac)</a:t>
            </a:r>
            <a:br>
              <a:rPr lang="en-US" sz="2400" noProof="0" dirty="0"/>
            </a:br>
            <a:r>
              <a:rPr lang="en-US" sz="2400" noProof="0" dirty="0"/>
              <a:t>	top (Linux)</a:t>
            </a:r>
          </a:p>
          <a:p>
            <a:r>
              <a:rPr lang="en-US" sz="2400" noProof="0" dirty="0"/>
              <a:t>Variable level: </a:t>
            </a:r>
          </a:p>
          <a:p>
            <a:pPr marL="0" indent="0" algn="ctr">
              <a:buNone/>
            </a:pPr>
            <a:r>
              <a:rPr lang="en-US" sz="2400" noProof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getsizeof</a:t>
            </a:r>
            <a:r>
              <a:rPr lang="en-US" sz="2400" noProof="0" dirty="0"/>
              <a:t> from </a:t>
            </a:r>
            <a:r>
              <a:rPr lang="en-US" sz="2400" noProof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</a:t>
            </a:r>
            <a:r>
              <a:rPr lang="en-US" sz="2400" noProof="0" dirty="0"/>
              <a:t> module</a:t>
            </a:r>
          </a:p>
          <a:p>
            <a:r>
              <a:rPr lang="en-US" sz="2400" noProof="0" dirty="0"/>
              <a:t>Detailed overview:</a:t>
            </a:r>
          </a:p>
          <a:p>
            <a:pPr marL="0" indent="0" algn="ctr">
              <a:buNone/>
            </a:pPr>
            <a:r>
              <a:rPr lang="en-US" sz="2400" noProof="0" dirty="0"/>
              <a:t>Module </a:t>
            </a:r>
            <a:r>
              <a:rPr lang="en-US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memory_profiler</a:t>
            </a:r>
            <a:endParaRPr lang="en-US" sz="1600" noProof="0" dirty="0"/>
          </a:p>
          <a:p>
            <a:pPr indent="0">
              <a:buNone/>
            </a:pPr>
            <a:r>
              <a:rPr lang="en-US" sz="2400" noProof="0" dirty="0"/>
              <a:t>Allows detailed space usage of the code line-by-line (using @profile function decorator) or a plot of total space usage over time</a:t>
            </a:r>
          </a:p>
          <a:p>
            <a:pPr indent="0">
              <a:buNone/>
            </a:pPr>
            <a:r>
              <a:rPr lang="en-US" sz="2400" noProof="0" dirty="0"/>
              <a:t>  pip install memory-profiler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602441"/>
              </p:ext>
            </p:extLst>
          </p:nvPr>
        </p:nvGraphicFramePr>
        <p:xfrm>
          <a:off x="5319121" y="1778633"/>
          <a:ext cx="6683693" cy="4398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36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40545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29972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getsizeof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(42)</a:t>
                      </a:r>
                      <a:endParaRPr lang="en-US" sz="16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28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# size of the integer 42 is 28 bytes</a:t>
                      </a:r>
                      <a:endParaRPr lang="en-US" sz="16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getsizeof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(42 ** 42)</a:t>
                      </a:r>
                      <a:endParaRPr lang="en-US" sz="16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56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the size increases with value</a:t>
                      </a:r>
                      <a:endParaRPr lang="en-US" sz="16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getsizeof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('42')</a:t>
                      </a:r>
                      <a:endParaRPr lang="en-US" sz="16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51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size of a string</a:t>
                      </a:r>
                      <a:endParaRPr lang="en-US" sz="1600" b="1" baseline="0" noProof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  <a:tabLst/>
                        <a:defRPr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as np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getsizeof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np.array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(range(100), </a:t>
                      </a: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dtype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='int32'))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512  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also works on </a:t>
                      </a:r>
                      <a:r>
                        <a:rPr lang="en-US" sz="1600" b="1" baseline="0" noProof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Numpy</a:t>
                      </a:r>
                      <a:r>
                        <a:rPr lang="en-US" sz="16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arrays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squares = [x ** 2 for x in range(1000000)]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getsizeof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(squares)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8448728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 = (x ** 2 for x in range(1000000))</a:t>
                      </a:r>
                      <a:endParaRPr lang="en-US" sz="16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6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sys.</a:t>
                      </a:r>
                      <a:r>
                        <a:rPr lang="en-US" sz="16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getsizeof</a:t>
                      </a: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(g)</a:t>
                      </a:r>
                      <a:endParaRPr lang="en-US" sz="16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en-US" sz="16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208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D382B19-9670-0A5B-34D4-4E12ED8911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8334" y="6249121"/>
            <a:ext cx="487666" cy="4059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6FD70E-611B-C398-9DA3-D666A942E3AB}"/>
              </a:ext>
            </a:extLst>
          </p:cNvPr>
          <p:cNvSpPr txBox="1"/>
          <p:nvPr/>
        </p:nvSpPr>
        <p:spPr>
          <a:xfrm>
            <a:off x="6096000" y="6267407"/>
            <a:ext cx="600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size values depend on the Python version, e.g. 32 vs 64 bit</a:t>
            </a:r>
          </a:p>
        </p:txBody>
      </p:sp>
    </p:spTree>
    <p:extLst>
      <p:ext uri="{BB962C8B-B14F-4D97-AF65-F5344CB8AC3E}">
        <p14:creationId xmlns:p14="http://schemas.microsoft.com/office/powerpoint/2010/main" val="3752852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62" y="294222"/>
            <a:ext cx="5505965" cy="1325563"/>
          </a:xfrm>
        </p:spPr>
        <p:txBody>
          <a:bodyPr/>
          <a:lstStyle/>
          <a:p>
            <a:r>
              <a:rPr lang="en-US" b="0" noProof="0" dirty="0">
                <a:latin typeface="+mn-lt"/>
                <a:cs typeface="Courier New" panose="02070309020205020404" pitchFamily="49" charset="0"/>
              </a:rPr>
              <a:t>Module</a:t>
            </a:r>
            <a:r>
              <a:rPr lang="en-US" noProof="0" dirty="0">
                <a:latin typeface="+mn-lt"/>
                <a:cs typeface="Courier New" panose="02070309020205020404" pitchFamily="49" charset="0"/>
              </a:rPr>
              <a:t> </a:t>
            </a:r>
            <a:br>
              <a:rPr lang="en-US" noProof="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memory-profiler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883275"/>
              </p:ext>
            </p:extLst>
          </p:nvPr>
        </p:nvGraphicFramePr>
        <p:xfrm>
          <a:off x="6053954" y="4120316"/>
          <a:ext cx="5926455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264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memory_sin_usage.py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5768">
                <a:tc>
                  <a:txBody>
                    <a:bodyPr/>
                    <a:lstStyle/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math import sin, pi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 a in range(1000):</a:t>
                      </a:r>
                    </a:p>
                    <a:p>
                      <a:pPr marL="0" indent="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list(range(int(1000000 * sin(pi * a / 250))))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Windows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39358"/>
                  </a:ext>
                </a:extLst>
              </a:tr>
              <a:tr h="559919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pip install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memory-profiler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mprof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run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memory_sin_usage.py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mprof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Sampling memory every 0.1s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running as a Python program...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mprof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plot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66051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91662" y="1497057"/>
            <a:ext cx="3446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noProof="0" dirty="0">
                <a:hlinkClick r:id="rId3"/>
              </a:rPr>
              <a:t>pypi.org/project/memory-profiler/</a:t>
            </a:r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023" y="353333"/>
            <a:ext cx="5448300" cy="35814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516735"/>
              </p:ext>
            </p:extLst>
          </p:nvPr>
        </p:nvGraphicFramePr>
        <p:xfrm>
          <a:off x="211591" y="1986716"/>
          <a:ext cx="5666105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61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memory_usage.py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25768">
                <a:tc>
                  <a:txBody>
                    <a:bodyPr/>
                    <a:lstStyle/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</a:t>
                      </a:r>
                      <a:r>
                        <a:rPr lang="en-US" sz="1400" b="1" baseline="0" noProof="0" dirty="0" err="1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memory_profiler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import </a:t>
                      </a: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profile</a:t>
                      </a:r>
                    </a:p>
                    <a:p>
                      <a:pPr marL="0" indent="0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@profile  </a:t>
                      </a:r>
                      <a:r>
                        <a:rPr lang="en-US" sz="1400" b="1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prints new statistics for each call</a:t>
                      </a:r>
                      <a:endParaRPr lang="en-US" sz="14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use_memory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  <a:endParaRPr lang="en-US" sz="1400" b="1" baseline="0" noProof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 = 0</a:t>
                      </a:r>
                    </a:p>
                    <a:p>
                      <a:pPr marL="0" indent="0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x = list(range(20_000_000))</a:t>
                      </a:r>
                    </a:p>
                    <a:p>
                      <a:pPr marL="0" indent="0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 += sum(x)</a:t>
                      </a:r>
                    </a:p>
                    <a:p>
                      <a:pPr marL="0" indent="0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y = list(range(10_000_000))</a:t>
                      </a:r>
                    </a:p>
                    <a:p>
                      <a:pPr marL="0" indent="0">
                        <a:spcAft>
                          <a:spcPts val="60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s += sum(x)</a:t>
                      </a:r>
                    </a:p>
                    <a:p>
                      <a:pPr marL="0" indent="0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None/>
                      </a:pPr>
                      <a:r>
                        <a:rPr lang="en-US" sz="14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use_memory</a:t>
                      </a:r>
                      <a:r>
                        <a:rPr lang="en-US" sz="14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 Shell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39358"/>
                  </a:ext>
                </a:extLst>
              </a:tr>
              <a:tr h="559919">
                <a:tc>
                  <a:txBody>
                    <a:bodyPr/>
                    <a:lstStyle/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Filename: C:/.../memory_usage.py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Line #  Mem usage  Increment   Line Contents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================================================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3   32.0 MiB   32.0 MiB  @profile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4                        def </a:t>
                      </a:r>
                      <a:r>
                        <a:rPr lang="en-US" sz="1100" b="1" baseline="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use_memory</a:t>
                      </a: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():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5   32.0 MiB    0.0 MiB      s = 0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6  415.9 MiB  383.9 MiB      x = list(range(20_000_000))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7  415.9 MiB    0.0 MiB      s += sum(x)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8  607.8 MiB  191.9 MiB      y = list(range(10_000_000))</a:t>
                      </a:r>
                    </a:p>
                    <a:p>
                      <a:pPr marL="266700" marR="0" lvl="0" indent="-2667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  <a:tabLst/>
                        <a:defRPr/>
                      </a:pPr>
                      <a:r>
                        <a:rPr lang="en-US" sz="1100" b="1" baseline="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9  607.8 MiB    0.0 MiB      s += sum(x)</a:t>
                      </a:r>
                      <a:endParaRPr lang="en-US" sz="1100" b="1" baseline="0" noProof="0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660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954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51131</TotalTime>
  <Words>4745</Words>
  <Application>Microsoft Office PowerPoint</Application>
  <PresentationFormat>Widescreen</PresentationFormat>
  <Paragraphs>664</Paragraphs>
  <Slides>31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Courier</vt:lpstr>
      <vt:lpstr>Courier New</vt:lpstr>
      <vt:lpstr>Wingdings</vt:lpstr>
      <vt:lpstr>Office Theme</vt:lpstr>
      <vt:lpstr>Generators, iterators</vt:lpstr>
      <vt:lpstr>Iterable  &amp; Iterator</vt:lpstr>
      <vt:lpstr>Iterator</vt:lpstr>
      <vt:lpstr>for loop</vt:lpstr>
      <vt:lpstr>PowerPoint Presentation</vt:lpstr>
      <vt:lpstr>for loop over changing iterable</vt:lpstr>
      <vt:lpstr>range</vt:lpstr>
      <vt:lpstr>str</vt:lpstr>
      <vt:lpstr>Creating an interable class</vt:lpstr>
      <vt:lpstr>An infinite iterable</vt:lpstr>
      <vt:lpstr>Creating an iterable class (iterable = iterator)</vt:lpstr>
      <vt:lpstr>The old sequence iteration protocol</vt:lpstr>
      <vt:lpstr>itertools</vt:lpstr>
      <vt:lpstr>Example : Java iterators</vt:lpstr>
      <vt:lpstr>Example : C++ iterators</vt:lpstr>
      <vt:lpstr>Generators</vt:lpstr>
      <vt:lpstr>Generator expressions</vt:lpstr>
      <vt:lpstr>Nested generator expressions</vt:lpstr>
      <vt:lpstr>Generator expressions as function arguments</vt:lpstr>
      <vt:lpstr>Generator functions</vt:lpstr>
      <vt:lpstr>Generator functions (II)</vt:lpstr>
      <vt:lpstr>Generator functions (III)</vt:lpstr>
      <vt:lpstr>Pipelining generators</vt:lpstr>
      <vt:lpstr>yield  vs  yield from</vt:lpstr>
      <vt:lpstr>Recursive  yield from</vt:lpstr>
      <vt:lpstr>Generator .close()</vt:lpstr>
      <vt:lpstr>Making objects iterable using yield </vt:lpstr>
      <vt:lpstr>Generators vs iterables</vt:lpstr>
      <vt:lpstr>Measuring memory usage</vt:lpstr>
      <vt:lpstr>Measuring memory usage (memory profiling)</vt:lpstr>
      <vt:lpstr>Module  memory-profiler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1712</cp:revision>
  <dcterms:created xsi:type="dcterms:W3CDTF">2017-10-19T06:54:16Z</dcterms:created>
  <dcterms:modified xsi:type="dcterms:W3CDTF">2026-04-19T22:02:52Z</dcterms:modified>
</cp:coreProperties>
</file>