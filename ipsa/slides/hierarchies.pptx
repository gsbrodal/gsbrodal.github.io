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83" r:id="rId2"/>
    <p:sldId id="676" r:id="rId3"/>
    <p:sldId id="686" r:id="rId4"/>
    <p:sldId id="687" r:id="rId5"/>
    <p:sldId id="688" r:id="rId6"/>
    <p:sldId id="689" r:id="rId7"/>
    <p:sldId id="690" r:id="rId8"/>
    <p:sldId id="691" r:id="rId9"/>
    <p:sldId id="694" r:id="rId10"/>
    <p:sldId id="677" r:id="rId11"/>
    <p:sldId id="692" r:id="rId12"/>
    <p:sldId id="700" r:id="rId13"/>
    <p:sldId id="693" r:id="rId14"/>
    <p:sldId id="695" r:id="rId15"/>
    <p:sldId id="697" r:id="rId16"/>
    <p:sldId id="696" r:id="rId17"/>
    <p:sldId id="684" r:id="rId18"/>
    <p:sldId id="698" r:id="rId19"/>
    <p:sldId id="621" r:id="rId20"/>
    <p:sldId id="701" r:id="rId21"/>
    <p:sldId id="699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  <a:srgbClr val="FFA7A7"/>
    <a:srgbClr val="DEEBF7"/>
    <a:srgbClr val="E2F0D9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41" autoAdjust="0"/>
    <p:restoredTop sz="72494" autoAdjust="0"/>
  </p:normalViewPr>
  <p:slideViewPr>
    <p:cSldViewPr snapToGrid="0">
      <p:cViewPr>
        <p:scale>
          <a:sx n="66" d="100"/>
          <a:sy n="66" d="100"/>
        </p:scale>
        <p:origin x="428" y="-984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modSld">
      <pc:chgData name="Gerth Stølting Brodal" userId="04ef4784-6591-4f86-a140-f5c3b108582a" providerId="ADAL" clId="{73BAC7D6-516A-44B5-B4B0-C7B08CA8B392}" dt="2026-03-02T12:09:20.499" v="0" actId="790"/>
      <pc:docMkLst>
        <pc:docMk/>
      </pc:docMkLst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1006511185" sldId="483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006511185" sldId="48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006511185" sldId="483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312054074" sldId="621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2054074" sldId="62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2054074" sldId="621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2915881254" sldId="676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915881254" sldId="6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915881254" sldId="67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2915881254" sldId="67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2256920451" sldId="677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256920451" sldId="67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256920451" sldId="677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2256920451" sldId="677"/>
            <ac:graphicFrameMk id="3" creationId="{D6D534D7-5E3E-1FE6-6F11-36B3D6F84712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2256920451" sldId="677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2256920451" sldId="677"/>
            <ac:graphicFrameMk id="7" creationId="{FEF4743D-B782-E89B-A7DB-FDB1BE9D5A37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1203910268" sldId="684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203910268" sldId="68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203910268" sldId="684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472647731" sldId="686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72647731" sldId="6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72647731" sldId="68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72647731" sldId="686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72647731" sldId="686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72647731" sldId="686"/>
            <ac:spMk id="1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72647731" sldId="686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72647731" sldId="686"/>
            <ac:graphicFrameMk id="9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72647731" sldId="686"/>
            <ac:graphicFrameMk id="10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72647731" sldId="686"/>
            <ac:graphicFrameMk id="12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72647731" sldId="686"/>
            <ac:graphicFrameMk id="13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4198244594" sldId="687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198244594" sldId="68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198244594" sldId="68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198244594" sldId="68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198244594" sldId="687"/>
            <ac:spMk id="1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198244594" sldId="687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198244594" sldId="687"/>
            <ac:graphicFrameMk id="13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198244594" sldId="687"/>
            <ac:graphicFrameMk id="1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318931638" sldId="688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8931638" sldId="6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8931638" sldId="68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8931638" sldId="688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318931638" sldId="688"/>
            <ac:spMk id="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318931638" sldId="688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318931638" sldId="688"/>
            <ac:graphicFrameMk id="13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318931638" sldId="688"/>
            <ac:graphicFrameMk id="1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1327406697" sldId="689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327406697" sldId="689"/>
            <ac:spMk id="19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327406697" sldId="68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327406697" sldId="689"/>
            <ac:graphicFrameMk id="1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4066017642" sldId="690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66017642" sldId="690"/>
            <ac:spMk id="2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066017642" sldId="690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066017642" sldId="690"/>
            <ac:graphicFrameMk id="13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066017642" sldId="690"/>
            <ac:graphicFrameMk id="1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1968748728" sldId="691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68748728" sldId="69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68748728" sldId="691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68748728" sldId="691"/>
            <ac:spMk id="1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968748728" sldId="691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968748728" sldId="691"/>
            <ac:graphicFrameMk id="10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968748728" sldId="691"/>
            <ac:graphicFrameMk id="13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232688819" sldId="692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32688819" sldId="69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32688819" sldId="69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32688819" sldId="692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32688819" sldId="692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111229943" sldId="693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111229943" sldId="69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111229943" sldId="693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111229943" sldId="69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207864458" sldId="694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07864458" sldId="69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07864458" sldId="694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07864458" sldId="694"/>
            <ac:graphicFrameMk id="11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07864458" sldId="694"/>
            <ac:graphicFrameMk id="12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07864458" sldId="694"/>
            <ac:graphicFrameMk id="13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2881013406" sldId="695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881013406" sldId="69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881013406" sldId="695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881013406" sldId="695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2881013406" sldId="695"/>
            <ac:spMk id="1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2881013406" sldId="695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1983749371" sldId="696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83749371" sldId="69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83749371" sldId="69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83749371" sldId="69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1983749371" sldId="696"/>
            <ac:spMk id="6" creationId="{FEE6BC6B-68CC-437E-BFBA-9B24D826FAF6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1983749371" sldId="69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23315896" sldId="697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3315896" sldId="69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23315896" sldId="697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23315896" sldId="69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776451279" sldId="698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776451279" sldId="69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776451279" sldId="698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776451279" sldId="698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776451279" sldId="698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3840876851" sldId="699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840876851" sldId="69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3840876851" sldId="699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840876851" sldId="69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3840876851" sldId="699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4082157600" sldId="700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82157600" sldId="70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82157600" sldId="700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82157600" sldId="700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4082157600" sldId="700"/>
            <ac:spMk id="2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082157600" sldId="700"/>
            <ac:graphicFrameMk id="7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4082157600" sldId="700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02T12:09:20.499" v="0" actId="790"/>
        <pc:sldMkLst>
          <pc:docMk/>
          <pc:sldMk cId="923762653" sldId="701"/>
        </pc:sldMkLst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923762653" sldId="701"/>
            <ac:spMk id="2" creationId="{4A5645FE-B263-6B12-9647-79B1518D104E}"/>
          </ac:spMkLst>
        </pc:spChg>
        <pc:spChg chg="mod">
          <ac:chgData name="Gerth Stølting Brodal" userId="04ef4784-6591-4f86-a140-f5c3b108582a" providerId="ADAL" clId="{73BAC7D6-516A-44B5-B4B0-C7B08CA8B392}" dt="2026-03-02T12:09:20.499" v="0" actId="790"/>
          <ac:spMkLst>
            <pc:docMk/>
            <pc:sldMk cId="923762653" sldId="701"/>
            <ac:spMk id="9" creationId="{31B27B3B-62B7-98FC-F209-5EBE9B81FAF6}"/>
          </ac:spMkLst>
        </pc:spChg>
        <pc:graphicFrameChg chg="modGraphic">
          <ac:chgData name="Gerth Stølting Brodal" userId="04ef4784-6591-4f86-a140-f5c3b108582a" providerId="ADAL" clId="{73BAC7D6-516A-44B5-B4B0-C7B08CA8B392}" dt="2026-03-02T12:09:20.499" v="0" actId="790"/>
          <ac:graphicFrameMkLst>
            <pc:docMk/>
            <pc:sldMk cId="923762653" sldId="701"/>
            <ac:graphicFrameMk id="6" creationId="{4B2DEBA8-48BF-76BA-9C6B-7F6C2D260592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961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27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235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7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85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super() alone returns a temporary object of the superclass that then allows you to call that superclass’s methods.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850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673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Class </a:t>
            </a:r>
            <a:r>
              <a:rPr lang="da-DK" dirty="0" err="1"/>
              <a:t>object</a:t>
            </a:r>
            <a:r>
              <a:rPr lang="da-DK" dirty="0"/>
              <a:t> has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restrictions</a:t>
            </a:r>
            <a:r>
              <a:rPr lang="da-DK" dirty="0"/>
              <a:t>; </a:t>
            </a:r>
            <a:r>
              <a:rPr lang="da-DK" dirty="0" err="1"/>
              <a:t>e.g</a:t>
            </a:r>
            <a:r>
              <a:rPr lang="da-DK" dirty="0"/>
              <a:t>. </a:t>
            </a:r>
            <a:r>
              <a:rPr lang="da-DK" dirty="0" err="1"/>
              <a:t>cannot</a:t>
            </a:r>
            <a:r>
              <a:rPr lang="da-DK" dirty="0"/>
              <a:t> </a:t>
            </a:r>
            <a:r>
              <a:rPr lang="da-DK" dirty="0" err="1"/>
              <a:t>create</a:t>
            </a:r>
            <a:r>
              <a:rPr lang="da-DK" dirty="0"/>
              <a:t> </a:t>
            </a:r>
            <a:r>
              <a:rPr lang="da-DK" dirty="0" err="1"/>
              <a:t>attributes</a:t>
            </a:r>
            <a:r>
              <a:rPr lang="da-DK" dirty="0"/>
              <a:t> on </a:t>
            </a:r>
            <a:r>
              <a:rPr lang="da-DK" dirty="0" err="1"/>
              <a:t>objects</a:t>
            </a:r>
            <a:r>
              <a:rPr lang="da-DK" dirty="0"/>
              <a:t> of class </a:t>
            </a:r>
            <a:r>
              <a:rPr lang="da-DK" dirty="0" err="1"/>
              <a:t>object</a:t>
            </a:r>
            <a:r>
              <a:rPr lang="da-DK" dirty="0"/>
              <a:t>;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create</a:t>
            </a:r>
            <a:r>
              <a:rPr lang="da-DK" dirty="0"/>
              <a:t> a </a:t>
            </a:r>
            <a:r>
              <a:rPr lang="da-DK" dirty="0" err="1"/>
              <a:t>subclasss</a:t>
            </a:r>
            <a:endParaRPr lang="da-DK" dirty="0"/>
          </a:p>
          <a:p>
            <a:endParaRPr lang="da-DK" dirty="0"/>
          </a:p>
          <a:p>
            <a:r>
              <a:rPr lang="da-DK" dirty="0"/>
              <a:t>o = </a:t>
            </a:r>
            <a:r>
              <a:rPr lang="da-DK" dirty="0" err="1"/>
              <a:t>object</a:t>
            </a:r>
            <a:r>
              <a:rPr lang="da-DK" dirty="0"/>
              <a:t>()</a:t>
            </a:r>
          </a:p>
          <a:p>
            <a:r>
              <a:rPr lang="da-DK" dirty="0" err="1"/>
              <a:t>o.x</a:t>
            </a:r>
            <a:r>
              <a:rPr lang="da-DK" dirty="0"/>
              <a:t> = 7  # </a:t>
            </a:r>
            <a:r>
              <a:rPr lang="da-DK" dirty="0" err="1"/>
              <a:t>fails</a:t>
            </a:r>
            <a:endParaRPr lang="da-DK" dirty="0"/>
          </a:p>
          <a:p>
            <a:r>
              <a:rPr lang="da-DK" dirty="0"/>
              <a:t>class C(</a:t>
            </a:r>
            <a:r>
              <a:rPr lang="da-DK" dirty="0" err="1"/>
              <a:t>object</a:t>
            </a:r>
            <a:r>
              <a:rPr lang="da-DK" dirty="0"/>
              <a:t>): </a:t>
            </a:r>
            <a:r>
              <a:rPr lang="da-DK" dirty="0" err="1"/>
              <a:t>pass</a:t>
            </a:r>
            <a:endParaRPr lang="da-DK" dirty="0"/>
          </a:p>
          <a:p>
            <a:r>
              <a:rPr lang="da-DK" dirty="0"/>
              <a:t>o = C()</a:t>
            </a:r>
          </a:p>
          <a:p>
            <a:r>
              <a:rPr lang="da-DK" dirty="0" err="1"/>
              <a:t>o.x</a:t>
            </a:r>
            <a:r>
              <a:rPr lang="da-DK" dirty="0"/>
              <a:t> = 7  # </a:t>
            </a:r>
            <a:r>
              <a:rPr lang="da-DK" dirty="0" err="1"/>
              <a:t>succeeds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606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3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overriding in a subclass can be used to inject functionality into a subclass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796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(Left example from previous slide)</a:t>
            </a:r>
          </a:p>
          <a:p>
            <a:r>
              <a:rPr lang="en-US" dirty="0"/>
              <a:t>Alternative:</a:t>
            </a:r>
            <a:r>
              <a:rPr lang="en-US" baseline="0" dirty="0"/>
              <a:t> In class A make an implementation of g that throws an exception “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raise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NotImplementedError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()”</a:t>
            </a:r>
            <a:r>
              <a:rPr lang="en-US" baseline="0" dirty="0"/>
              <a:t>, or just “pass” – then one could also create instances of A in Java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6220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</a:t>
            </a:r>
            <a:r>
              <a:rPr lang="en-US" baseline="0" dirty="0"/>
              <a:t> code as previous slide, except g -&gt; __g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0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of code injection</a:t>
            </a:r>
            <a:r>
              <a:rPr lang="en-US" baseline="0" dirty="0"/>
              <a:t> using multiple inheritance, and where body of new class is empty</a:t>
            </a:r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197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257 and 6 </a:t>
            </a:r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change</a:t>
            </a:r>
            <a:r>
              <a:rPr lang="da-DK" dirty="0"/>
              <a:t> with the Python version (holds for Python 3.13)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94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All </a:t>
            </a:r>
            <a:r>
              <a:rPr lang="da-DK" dirty="0" err="1"/>
              <a:t>classes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subclasses</a:t>
            </a:r>
            <a:r>
              <a:rPr lang="da-DK" dirty="0"/>
              <a:t> of the </a:t>
            </a:r>
            <a:r>
              <a:rPr lang="da-DK" dirty="0" err="1"/>
              <a:t>object</a:t>
            </a:r>
            <a:r>
              <a:rPr lang="da-DK" dirty="0"/>
              <a:t> class</a:t>
            </a:r>
          </a:p>
          <a:p>
            <a:r>
              <a:rPr lang="da-DK" dirty="0"/>
              <a:t>The class </a:t>
            </a:r>
            <a:r>
              <a:rPr lang="da-DK" dirty="0" err="1"/>
              <a:t>decorator</a:t>
            </a:r>
            <a:r>
              <a:rPr lang="da-DK" dirty="0"/>
              <a:t> @functools.total_ordering  </a:t>
            </a:r>
            <a:r>
              <a:rPr lang="da-DK" dirty="0" err="1"/>
              <a:t>exploits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to </a:t>
            </a:r>
            <a:r>
              <a:rPr lang="da-DK" dirty="0" err="1"/>
              <a:t>add</a:t>
            </a:r>
            <a:r>
              <a:rPr lang="da-DK" dirty="0"/>
              <a:t> __le__ </a:t>
            </a:r>
            <a:r>
              <a:rPr lang="da-DK" dirty="0" err="1"/>
              <a:t>etc</a:t>
            </a:r>
            <a:r>
              <a:rPr lang="da-DK" dirty="0"/>
              <a:t> to a class </a:t>
            </a:r>
            <a:r>
              <a:rPr lang="da-DK" dirty="0" err="1"/>
              <a:t>if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__lt__ is </a:t>
            </a:r>
            <a:r>
              <a:rPr lang="da-DK" dirty="0" err="1"/>
              <a:t>defined</a:t>
            </a:r>
            <a:r>
              <a:rPr lang="da-DK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478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control.pptx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0991197" cy="1325563"/>
          </a:xfrm>
        </p:spPr>
        <p:txBody>
          <a:bodyPr/>
          <a:lstStyle/>
          <a:p>
            <a:pPr algn="r"/>
            <a:r>
              <a:rPr lang="en-US" noProof="0" dirty="0"/>
              <a:t>Class </a:t>
            </a:r>
            <a:r>
              <a:rPr lang="en-US" noProof="0" dirty="0" err="1"/>
              <a:t>hierarcies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inheritance</a:t>
            </a:r>
          </a:p>
          <a:p>
            <a:r>
              <a:rPr lang="en-US" noProof="0" dirty="0"/>
              <a:t>method overriding</a:t>
            </a:r>
          </a:p>
          <a:p>
            <a:r>
              <a:rPr lang="en-US" noProof="0" dirty="0"/>
              <a:t>super</a:t>
            </a:r>
          </a:p>
          <a:p>
            <a:r>
              <a:rPr lang="en-US" noProof="0" dirty="0"/>
              <a:t>multiple inheritance</a:t>
            </a:r>
          </a:p>
        </p:txBody>
      </p:sp>
    </p:spTree>
    <p:extLst>
      <p:ext uri="{BB962C8B-B14F-4D97-AF65-F5344CB8AC3E}">
        <p14:creationId xmlns:p14="http://schemas.microsoft.com/office/powerpoint/2010/main" val="100651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873" y="145919"/>
            <a:ext cx="6621049" cy="1325563"/>
          </a:xfrm>
        </p:spPr>
        <p:txBody>
          <a:bodyPr/>
          <a:lstStyle/>
          <a:p>
            <a:r>
              <a:rPr lang="en-US" noProof="0" dirty="0"/>
              <a:t>Calling methods of a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5284304" cy="4600227"/>
          </a:xfrm>
        </p:spPr>
        <p:txBody>
          <a:bodyPr>
            <a:normAutofit/>
          </a:bodyPr>
          <a:lstStyle/>
          <a:p>
            <a:r>
              <a:rPr lang="en-US" noProof="0" dirty="0"/>
              <a:t>If an object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noProof="0" dirty="0"/>
              <a:t> of class 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/>
              <a:t> has a method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</a:t>
            </a:r>
            <a:r>
              <a:rPr lang="en-US" noProof="0" dirty="0"/>
              <a:t>, then usually you call </a:t>
            </a:r>
            <a:r>
              <a:rPr lang="en-US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noProof="0" dirty="0"/>
              <a:t>It is possible to call the method in the class directly using </a:t>
            </a:r>
            <a:r>
              <a:rPr lang="en-US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</a:t>
            </a:r>
            <a:r>
              <a:rPr lang="en-US" noProof="0" dirty="0"/>
              <a:t>, where the object is the first argument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r>
              <a:rPr lang="en-US" i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923829"/>
              </p:ext>
            </p:extLst>
          </p:nvPr>
        </p:nvGraphicFramePr>
        <p:xfrm>
          <a:off x="7530811" y="640080"/>
          <a:ext cx="400558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5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x):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x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.x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 = X()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obj.set_x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obj.get_x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= }')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obj.x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}')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X.get_x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(obj)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0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obj.get_x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= 42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0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obj.x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42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0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X.get_x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(obj) = 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588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Classes and Objects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026993"/>
              </p:ext>
            </p:extLst>
          </p:nvPr>
        </p:nvGraphicFramePr>
        <p:xfrm>
          <a:off x="682086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1" name="Straight Arrow Connector 10"/>
          <p:cNvCxnSpPr/>
          <p:nvPr/>
        </p:nvCxnSpPr>
        <p:spPr>
          <a:xfrm>
            <a:off x="4511036" y="2480153"/>
            <a:ext cx="1542856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46740" y="1965895"/>
            <a:ext cx="1514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00000"/>
                </a:solidFill>
              </a:rPr>
              <a:t>instance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5683821"/>
              </p:ext>
            </p:extLst>
          </p:nvPr>
        </p:nvGraphicFramePr>
        <p:xfrm>
          <a:off x="6275540" y="1965895"/>
          <a:ext cx="537083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41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object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2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'Mickey Mouse'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address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'Mouse Street 42, Duckburg'</a:t>
                      </a:r>
                      <a:endParaRPr lang="en-US" sz="1800" b="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104844"/>
              </p:ext>
            </p:extLst>
          </p:nvPr>
        </p:nvGraphicFramePr>
        <p:xfrm>
          <a:off x="6275540" y="3291458"/>
          <a:ext cx="537083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41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 object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2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 = 'Donald</a:t>
                      </a:r>
                      <a:r>
                        <a:rPr lang="en-US" sz="180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Duck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address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'Duck Steet 13, Duckburg'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'1094'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{'programming' : 'A' }</a:t>
                      </a:r>
                      <a:endParaRPr lang="en-US" sz="1800" b="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028951"/>
              </p:ext>
            </p:extLst>
          </p:nvPr>
        </p:nvGraphicFramePr>
        <p:xfrm>
          <a:off x="6275540" y="5178748"/>
          <a:ext cx="537083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41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Employee object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2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 = 'Goofy'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address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'Clumsy Road 7, Duckburg'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employer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</a:t>
                      </a:r>
                      <a:r>
                        <a:rPr lang="en-US" sz="1800" b="0" i="0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Yarvard</a:t>
                      </a:r>
                      <a:r>
                        <a:rPr lang="en-US" sz="18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University'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256914"/>
              </p:ext>
            </p:extLst>
          </p:nvPr>
        </p:nvGraphicFramePr>
        <p:xfrm>
          <a:off x="682087" y="3440627"/>
          <a:ext cx="359600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>
            <a:off x="4511036" y="4392460"/>
            <a:ext cx="1542856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46740" y="3878202"/>
            <a:ext cx="1514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00000"/>
                </a:solidFill>
              </a:rPr>
              <a:t>instance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75540" y="968493"/>
            <a:ext cx="5148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/>
              <a:t>Observation:</a:t>
            </a:r>
            <a:r>
              <a:rPr lang="en-US" sz="2400" noProof="0" dirty="0">
                <a:solidFill>
                  <a:srgbClr val="C00000"/>
                </a:solidFill>
              </a:rPr>
              <a:t> students</a:t>
            </a:r>
            <a:r>
              <a:rPr lang="en-US" sz="2400" noProof="0" dirty="0"/>
              <a:t> and </a:t>
            </a:r>
            <a:r>
              <a:rPr lang="en-US" sz="2400" noProof="0" dirty="0">
                <a:solidFill>
                  <a:srgbClr val="C00000"/>
                </a:solidFill>
              </a:rPr>
              <a:t>employees</a:t>
            </a:r>
            <a:r>
              <a:rPr lang="en-US" sz="2400" noProof="0" dirty="0"/>
              <a:t> are </a:t>
            </a:r>
            <a:r>
              <a:rPr lang="en-US" sz="2400" noProof="0" dirty="0">
                <a:solidFill>
                  <a:srgbClr val="C00000"/>
                </a:solidFill>
              </a:rPr>
              <a:t>persons</a:t>
            </a:r>
            <a:r>
              <a:rPr lang="en-US" sz="2400" noProof="0" dirty="0"/>
              <a:t> with additional attributes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892" y="3138140"/>
            <a:ext cx="5757314" cy="3528748"/>
          </a:xfrm>
          <a:prstGeom prst="roundRect">
            <a:avLst>
              <a:gd name="adj" fmla="val 7530"/>
            </a:avLst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264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5" grpId="0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Classes and Objects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83184"/>
              </p:ext>
            </p:extLst>
          </p:nvPr>
        </p:nvGraphicFramePr>
        <p:xfrm>
          <a:off x="682086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459500"/>
              </p:ext>
            </p:extLst>
          </p:nvPr>
        </p:nvGraphicFramePr>
        <p:xfrm>
          <a:off x="682087" y="3440627"/>
          <a:ext cx="359600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732772" y="3864279"/>
            <a:ext cx="3496329" cy="1315233"/>
            <a:chOff x="732773" y="3864279"/>
            <a:chExt cx="3463446" cy="1315233"/>
          </a:xfrm>
        </p:grpSpPr>
        <p:sp>
          <p:nvSpPr>
            <p:cNvPr id="3" name="Rounded Rectangle 2"/>
            <p:cNvSpPr/>
            <p:nvPr/>
          </p:nvSpPr>
          <p:spPr>
            <a:xfrm>
              <a:off x="732773" y="3864279"/>
              <a:ext cx="3463446" cy="1315233"/>
            </a:xfrm>
            <a:prstGeom prst="roundRect">
              <a:avLst>
                <a:gd name="adj" fmla="val 7530"/>
              </a:avLst>
            </a:prstGeom>
            <a:noFill/>
            <a:ln w="2857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26145" y="3864279"/>
              <a:ext cx="1358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person</a:t>
              </a:r>
              <a:r>
                <a:rPr lang="en-US" sz="1200" noProof="0" dirty="0">
                  <a:solidFill>
                    <a:srgbClr val="C00000"/>
                  </a:solidFill>
                </a:rPr>
                <a:t> attributes</a:t>
              </a:r>
            </a:p>
          </p:txBody>
        </p:sp>
      </p:grp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5142867" y="1636857"/>
            <a:ext cx="6446464" cy="81042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b="1" noProof="0" dirty="0"/>
              <a:t>Goal</a:t>
            </a:r>
            <a:r>
              <a:rPr lang="en-US" sz="2400" noProof="0" dirty="0"/>
              <a:t> – avoid redefining the 4 methods  below from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person</a:t>
            </a:r>
            <a:r>
              <a:rPr lang="en-US" sz="2400" noProof="0" dirty="0"/>
              <a:t> class again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student</a:t>
            </a:r>
            <a:r>
              <a:rPr lang="en-US" sz="2400" noProof="0" dirty="0"/>
              <a:t> class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913776"/>
              </p:ext>
            </p:extLst>
          </p:nvPr>
        </p:nvGraphicFramePr>
        <p:xfrm>
          <a:off x="5680684" y="3114357"/>
          <a:ext cx="537083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Person: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name):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.name = name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.name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address):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.address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address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.address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244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818825"/>
              </p:ext>
            </p:extLst>
          </p:nvPr>
        </p:nvGraphicFramePr>
        <p:xfrm>
          <a:off x="5530665" y="3100387"/>
          <a:ext cx="564388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438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Student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(Person)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.id =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.id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course, grade):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.grades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[course] = grade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.grades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Classes inheritance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266292"/>
              </p:ext>
            </p:extLst>
          </p:nvPr>
        </p:nvGraphicFramePr>
        <p:xfrm>
          <a:off x="682086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365971"/>
              </p:ext>
            </p:extLst>
          </p:nvPr>
        </p:nvGraphicFramePr>
        <p:xfrm>
          <a:off x="671070" y="3440627"/>
          <a:ext cx="359600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732772" y="3864279"/>
            <a:ext cx="3496329" cy="1315233"/>
            <a:chOff x="732773" y="3864279"/>
            <a:chExt cx="3463446" cy="1315233"/>
          </a:xfrm>
        </p:grpSpPr>
        <p:sp>
          <p:nvSpPr>
            <p:cNvPr id="3" name="Rounded Rectangle 2"/>
            <p:cNvSpPr/>
            <p:nvPr/>
          </p:nvSpPr>
          <p:spPr>
            <a:xfrm>
              <a:off x="732773" y="3864279"/>
              <a:ext cx="3463446" cy="1315233"/>
            </a:xfrm>
            <a:prstGeom prst="roundRect">
              <a:avLst>
                <a:gd name="adj" fmla="val 7530"/>
              </a:avLst>
            </a:prstGeom>
            <a:noFill/>
            <a:ln w="2857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26145" y="3864279"/>
              <a:ext cx="1358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person</a:t>
              </a:r>
              <a:r>
                <a:rPr lang="en-US" sz="1200" noProof="0" dirty="0">
                  <a:solidFill>
                    <a:srgbClr val="C00000"/>
                  </a:solidFill>
                </a:rPr>
                <a:t> attributes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35879" y="1319162"/>
            <a:ext cx="61179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400" noProof="0" dirty="0"/>
          </a:p>
          <a:p>
            <a:pPr algn="ctr"/>
            <a:r>
              <a:rPr lang="en-US" sz="2400" noProof="0" dirty="0"/>
              <a:t>class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Student</a:t>
            </a:r>
            <a:r>
              <a:rPr lang="en-US" sz="2400" noProof="0" dirty="0"/>
              <a:t> </a:t>
            </a:r>
            <a:r>
              <a:rPr lang="en-US" sz="2400" noProof="0" dirty="0">
                <a:solidFill>
                  <a:srgbClr val="C00000"/>
                </a:solidFill>
              </a:rPr>
              <a:t>inherits</a:t>
            </a:r>
            <a:r>
              <a:rPr lang="en-US" sz="2400" noProof="0" dirty="0"/>
              <a:t> from class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Person</a:t>
            </a:r>
          </a:p>
          <a:p>
            <a:pPr algn="ctr"/>
            <a:r>
              <a:rPr lang="en-US" sz="2400" noProof="0" dirty="0"/>
              <a:t>class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Person</a:t>
            </a:r>
            <a:r>
              <a:rPr lang="en-US" sz="2400" noProof="0" dirty="0"/>
              <a:t> is the </a:t>
            </a:r>
            <a:r>
              <a:rPr lang="en-US" sz="2400" noProof="0" dirty="0">
                <a:solidFill>
                  <a:srgbClr val="C00000"/>
                </a:solidFill>
              </a:rPr>
              <a:t>base class </a:t>
            </a:r>
            <a:r>
              <a:rPr lang="en-US" sz="2400" noProof="0" dirty="0"/>
              <a:t>of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Student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7915722" y="2519491"/>
            <a:ext cx="379118" cy="1083001"/>
            <a:chOff x="7915722" y="2112298"/>
            <a:chExt cx="379118" cy="1083001"/>
          </a:xfrm>
        </p:grpSpPr>
        <p:cxnSp>
          <p:nvCxnSpPr>
            <p:cNvPr id="15" name="Straight Arrow Connector 14"/>
            <p:cNvCxnSpPr/>
            <p:nvPr/>
          </p:nvCxnSpPr>
          <p:spPr>
            <a:xfrm flipH="1">
              <a:off x="7915722" y="2688682"/>
              <a:ext cx="181768" cy="506617"/>
            </a:xfrm>
            <a:prstGeom prst="straightConnector1">
              <a:avLst/>
            </a:prstGeom>
            <a:ln w="76200">
              <a:solidFill>
                <a:schemeClr val="accent5">
                  <a:lumMod val="20000"/>
                  <a:lumOff val="8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8" idx="2"/>
            </p:cNvCxnSpPr>
            <p:nvPr/>
          </p:nvCxnSpPr>
          <p:spPr>
            <a:xfrm flipH="1">
              <a:off x="7943850" y="2112298"/>
              <a:ext cx="350990" cy="998805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893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726198"/>
              </p:ext>
            </p:extLst>
          </p:nvPr>
        </p:nvGraphicFramePr>
        <p:xfrm>
          <a:off x="5307316" y="1497005"/>
          <a:ext cx="4142589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258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Person: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.name = None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.address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  <a:p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endParaRPr lang="en-US" sz="1800" b="1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Student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(Person)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.id = None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.grades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{}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Person.__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Classes constructors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846542"/>
              </p:ext>
            </p:extLst>
          </p:nvPr>
        </p:nvGraphicFramePr>
        <p:xfrm>
          <a:off x="679675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141929"/>
              </p:ext>
            </p:extLst>
          </p:nvPr>
        </p:nvGraphicFramePr>
        <p:xfrm>
          <a:off x="679676" y="3440627"/>
          <a:ext cx="359600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730361" y="3864279"/>
            <a:ext cx="3496329" cy="1315233"/>
            <a:chOff x="732773" y="3864279"/>
            <a:chExt cx="3463446" cy="1315233"/>
          </a:xfrm>
        </p:grpSpPr>
        <p:sp>
          <p:nvSpPr>
            <p:cNvPr id="3" name="Rounded Rectangle 2"/>
            <p:cNvSpPr/>
            <p:nvPr/>
          </p:nvSpPr>
          <p:spPr>
            <a:xfrm>
              <a:off x="732773" y="3864279"/>
              <a:ext cx="3463446" cy="1315233"/>
            </a:xfrm>
            <a:prstGeom prst="roundRect">
              <a:avLst>
                <a:gd name="adj" fmla="val 7530"/>
              </a:avLst>
            </a:prstGeom>
            <a:noFill/>
            <a:ln w="2857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26145" y="3864279"/>
              <a:ext cx="1358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person</a:t>
              </a:r>
              <a:r>
                <a:rPr lang="en-US" sz="1200" noProof="0" dirty="0">
                  <a:solidFill>
                    <a:srgbClr val="C00000"/>
                  </a:solidFill>
                </a:rPr>
                <a:t> attributes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9718632" y="2230326"/>
            <a:ext cx="23757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rgbClr val="C00000"/>
                </a:solidFill>
              </a:rPr>
              <a:t>constructor for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Person</a:t>
            </a:r>
            <a:r>
              <a:rPr lang="en-US" sz="2000" noProof="0" dirty="0">
                <a:solidFill>
                  <a:srgbClr val="C00000"/>
                </a:solidFill>
              </a:rPr>
              <a:t> class</a:t>
            </a:r>
            <a:endParaRPr lang="en-US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ight Brace 15"/>
          <p:cNvSpPr/>
          <p:nvPr/>
        </p:nvSpPr>
        <p:spPr>
          <a:xfrm>
            <a:off x="9581997" y="2264840"/>
            <a:ext cx="136635" cy="646501"/>
          </a:xfrm>
          <a:prstGeom prst="rightBrace">
            <a:avLst>
              <a:gd name="adj1" fmla="val 4179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Right Brace 16"/>
          <p:cNvSpPr/>
          <p:nvPr/>
        </p:nvSpPr>
        <p:spPr>
          <a:xfrm>
            <a:off x="9581997" y="3829989"/>
            <a:ext cx="136635" cy="1124393"/>
          </a:xfrm>
          <a:prstGeom prst="rightBrace">
            <a:avLst>
              <a:gd name="adj1" fmla="val 4179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9718632" y="4038242"/>
            <a:ext cx="23757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rgbClr val="C00000"/>
                </a:solidFill>
              </a:rPr>
              <a:t>constructor for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Student</a:t>
            </a:r>
            <a:r>
              <a:rPr lang="en-US" sz="2000" noProof="0" dirty="0">
                <a:solidFill>
                  <a:srgbClr val="C00000"/>
                </a:solidFill>
              </a:rPr>
              <a:t> class</a:t>
            </a:r>
            <a:endParaRPr lang="en-US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57308" y="5280559"/>
            <a:ext cx="60298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Notes</a:t>
            </a:r>
            <a:r>
              <a:rPr lang="en-US" noProof="0" dirty="0"/>
              <a:t>  </a:t>
            </a:r>
          </a:p>
          <a:p>
            <a:pPr marL="342900" indent="-342900">
              <a:buFont typeface="+mj-lt"/>
              <a:buAutoNum type="arabicParenR"/>
            </a:pP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noProof="0" dirty="0"/>
              <a:t>If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Student.__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/>
              <a:t> is not defined,  then</a:t>
            </a:r>
            <a:br>
              <a:rPr lang="en-US" noProof="0" dirty="0"/>
            </a:b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Person.__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/>
              <a:t> will be called</a:t>
            </a:r>
          </a:p>
          <a:p>
            <a:pPr marL="342900" indent="-342900">
              <a:buFont typeface="+mj-lt"/>
              <a:buAutoNum type="arabicParenR"/>
            </a:pPr>
            <a:r>
              <a:rPr lang="en-US" noProof="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Student.__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/>
              <a:t> must call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Person.__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/>
              <a:t> to</a:t>
            </a:r>
            <a:br>
              <a:rPr lang="en-US" noProof="0" dirty="0"/>
            </a:br>
            <a:r>
              <a:rPr lang="en-US" noProof="0" dirty="0"/>
              <a:t> initialize 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address</a:t>
            </a:r>
            <a:r>
              <a:rPr lang="en-US" noProof="0" dirty="0"/>
              <a:t> attributes</a:t>
            </a:r>
          </a:p>
        </p:txBody>
      </p:sp>
    </p:spTree>
    <p:extLst>
      <p:ext uri="{BB962C8B-B14F-4D97-AF65-F5344CB8AC3E}">
        <p14:creationId xmlns:p14="http://schemas.microsoft.com/office/powerpoint/2010/main" val="1327406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543194"/>
              </p:ext>
            </p:extLst>
          </p:nvPr>
        </p:nvGraphicFramePr>
        <p:xfrm>
          <a:off x="5307313" y="1497005"/>
          <a:ext cx="4411316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131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self.name = None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self.address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None</a:t>
                      </a:r>
                    </a:p>
                    <a:p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Student(Person):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self.id = None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self.grades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{}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800" b="1" strike="noStrike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strike="sngStrike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Person.__</a:t>
                      </a:r>
                      <a:r>
                        <a:rPr lang="en-US" sz="1800" b="1" strike="sngStrike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strike="sngStrike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__(self)</a:t>
                      </a:r>
                      <a:endParaRPr lang="en-US" sz="1800" b="1" strike="noStrike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super().__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super()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926239"/>
              </p:ext>
            </p:extLst>
          </p:nvPr>
        </p:nvGraphicFramePr>
        <p:xfrm>
          <a:off x="679675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745241"/>
              </p:ext>
            </p:extLst>
          </p:nvPr>
        </p:nvGraphicFramePr>
        <p:xfrm>
          <a:off x="679676" y="3440627"/>
          <a:ext cx="359600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730361" y="3864279"/>
            <a:ext cx="3496329" cy="1315233"/>
            <a:chOff x="732773" y="3864279"/>
            <a:chExt cx="3463446" cy="1315233"/>
          </a:xfrm>
        </p:grpSpPr>
        <p:sp>
          <p:nvSpPr>
            <p:cNvPr id="3" name="Rounded Rectangle 2"/>
            <p:cNvSpPr/>
            <p:nvPr/>
          </p:nvSpPr>
          <p:spPr>
            <a:xfrm>
              <a:off x="732773" y="3864279"/>
              <a:ext cx="3463446" cy="1315233"/>
            </a:xfrm>
            <a:prstGeom prst="roundRect">
              <a:avLst>
                <a:gd name="adj" fmla="val 7530"/>
              </a:avLst>
            </a:prstGeom>
            <a:noFill/>
            <a:ln w="2857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26145" y="3864279"/>
              <a:ext cx="1358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person</a:t>
              </a:r>
              <a:r>
                <a:rPr lang="en-US" sz="1200" noProof="0" dirty="0">
                  <a:solidFill>
                    <a:srgbClr val="C00000"/>
                  </a:solidFill>
                </a:rPr>
                <a:t> attributes</a:t>
              </a: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5243514" y="5586035"/>
            <a:ext cx="6943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Notes</a:t>
            </a:r>
            <a:r>
              <a:rPr lang="en-US" noProof="0" dirty="0"/>
              <a:t>  </a:t>
            </a:r>
          </a:p>
          <a:p>
            <a:pPr marL="342900" indent="-342900">
              <a:buFont typeface="+mj-lt"/>
              <a:buAutoNum type="arabicParenR"/>
            </a:pP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noProof="0" dirty="0"/>
              <a:t>Function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super()</a:t>
            </a:r>
            <a:r>
              <a:rPr lang="en-US" noProof="0" dirty="0"/>
              <a:t> searches for attributes in base class</a:t>
            </a:r>
          </a:p>
          <a:p>
            <a:pPr marL="342900" indent="-342900">
              <a:buFont typeface="+mj-lt"/>
              <a:buAutoNum type="arabicParenR"/>
            </a:pPr>
            <a:r>
              <a:rPr lang="en-US" noProof="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</a:t>
            </a:r>
            <a:r>
              <a:rPr lang="en-US" noProof="0" dirty="0">
                <a:cs typeface="Courier New" panose="02070309020205020404" pitchFamily="49" charset="0"/>
              </a:rPr>
              <a:t> is often a keyword in other OO languages, like Java and C++</a:t>
            </a:r>
          </a:p>
          <a:p>
            <a:pPr marL="342900" indent="-342900">
              <a:buFont typeface="+mj-lt"/>
              <a:buAutoNum type="arabicParenR"/>
            </a:pPr>
            <a:r>
              <a:rPr lang="en-US" noProof="0" dirty="0">
                <a:solidFill>
                  <a:srgbClr val="C00000"/>
                </a:solidFill>
                <a:cs typeface="Courier New" panose="02070309020205020404" pitchFamily="49" charset="0"/>
              </a:rPr>
              <a:t> </a:t>
            </a:r>
            <a:r>
              <a:rPr lang="en-US" noProof="0" dirty="0">
                <a:cs typeface="Courier New" panose="02070309020205020404" pitchFamily="49" charset="0"/>
              </a:rPr>
              <a:t>Note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super().__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  <a:r>
              <a:rPr lang="en-US" noProof="0" dirty="0">
                <a:cs typeface="Courier New" panose="02070309020205020404" pitchFamily="49" charset="0"/>
              </a:rPr>
              <a:t> does not need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noProof="0" dirty="0">
                <a:cs typeface="Courier New" panose="02070309020205020404" pitchFamily="49" charset="0"/>
              </a:rPr>
              <a:t> as argument</a:t>
            </a:r>
            <a:endParaRPr lang="en-US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10011526" y="4644913"/>
            <a:ext cx="18185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>
                <a:solidFill>
                  <a:srgbClr val="C00000"/>
                </a:solidFill>
              </a:rPr>
              <a:t>alternative constructor</a:t>
            </a:r>
            <a:endParaRPr lang="en-US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Right Brace 19"/>
          <p:cNvSpPr/>
          <p:nvPr/>
        </p:nvSpPr>
        <p:spPr>
          <a:xfrm>
            <a:off x="9874891" y="4679427"/>
            <a:ext cx="136635" cy="646501"/>
          </a:xfrm>
          <a:prstGeom prst="rightBrace">
            <a:avLst>
              <a:gd name="adj1" fmla="val 41795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6017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Method search order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712759"/>
              </p:ext>
            </p:extLst>
          </p:nvPr>
        </p:nvGraphicFramePr>
        <p:xfrm>
          <a:off x="682086" y="1497005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43831"/>
              </p:ext>
            </p:extLst>
          </p:nvPr>
        </p:nvGraphicFramePr>
        <p:xfrm>
          <a:off x="6129885" y="4624108"/>
          <a:ext cx="537083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0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41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 object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2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 = 'Donald</a:t>
                      </a:r>
                      <a:r>
                        <a:rPr lang="en-US" sz="1800" i="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Duck</a:t>
                      </a:r>
                      <a:r>
                        <a:rPr lang="en-US" sz="1800" i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address</a:t>
                      </a:r>
                      <a:r>
                        <a:rPr lang="en-US" sz="1800" b="0" i="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'Duck Steet 13, Duckburg'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 = '1094'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b="0" i="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 = {'programming' : 'A' }</a:t>
                      </a:r>
                      <a:endParaRPr lang="en-US" sz="1800" b="0" i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5235948"/>
              </p:ext>
            </p:extLst>
          </p:nvPr>
        </p:nvGraphicFramePr>
        <p:xfrm>
          <a:off x="682086" y="4547908"/>
          <a:ext cx="3596005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Student(Person)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 flipH="1" flipV="1">
            <a:off x="4446739" y="5564035"/>
            <a:ext cx="1514497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91262" y="4939683"/>
            <a:ext cx="16254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00000"/>
                </a:solidFill>
              </a:rPr>
              <a:t>instance of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2527452" y="3380429"/>
            <a:ext cx="1436" cy="79866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84601" y="3645064"/>
            <a:ext cx="16934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00000"/>
                </a:solidFill>
              </a:rPr>
              <a:t>parent class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874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Class hierarchy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143385"/>
              </p:ext>
            </p:extLst>
          </p:nvPr>
        </p:nvGraphicFramePr>
        <p:xfrm>
          <a:off x="5507672" y="2234741"/>
          <a:ext cx="3596006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Person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(name)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get_name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(address)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get_address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581340"/>
              </p:ext>
            </p:extLst>
          </p:nvPr>
        </p:nvGraphicFramePr>
        <p:xfrm>
          <a:off x="3358611" y="4747933"/>
          <a:ext cx="3596005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Student(Person)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get_id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set_grade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(course, grade)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get_grades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6" name="Straight Arrow Connector 15"/>
          <p:cNvCxnSpPr/>
          <p:nvPr/>
        </p:nvCxnSpPr>
        <p:spPr>
          <a:xfrm flipV="1">
            <a:off x="7315200" y="1590355"/>
            <a:ext cx="0" cy="49198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9546"/>
              </p:ext>
            </p:extLst>
          </p:nvPr>
        </p:nvGraphicFramePr>
        <p:xfrm>
          <a:off x="5517197" y="640742"/>
          <a:ext cx="3596006" cy="774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object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en-US" sz="180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69143"/>
              </p:ext>
            </p:extLst>
          </p:nvPr>
        </p:nvGraphicFramePr>
        <p:xfrm>
          <a:off x="7757795" y="4742891"/>
          <a:ext cx="3596005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Employee(Person)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set_employer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(employer)</a:t>
                      </a:r>
                      <a:b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get_employer</a:t>
                      </a: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7" name="Straight Arrow Connector 16"/>
          <p:cNvCxnSpPr/>
          <p:nvPr/>
        </p:nvCxnSpPr>
        <p:spPr>
          <a:xfrm flipH="1" flipV="1">
            <a:off x="8037736" y="4008590"/>
            <a:ext cx="1287239" cy="63008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5419725" y="4002964"/>
            <a:ext cx="1274898" cy="63571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864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Method overriding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829300" y="5761464"/>
            <a:ext cx="627580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noProof="0" dirty="0"/>
              <a:t>In Java one can use the keyword ”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en-US" sz="2400" noProof="0" dirty="0"/>
              <a:t>” to prevent any subclass to override a method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497533"/>
              </p:ext>
            </p:extLst>
          </p:nvPr>
        </p:nvGraphicFramePr>
        <p:xfrm>
          <a:off x="3547110" y="1690688"/>
          <a:ext cx="50977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77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overloading.py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say(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print('A says hello')</a:t>
                      </a:r>
                    </a:p>
                    <a:p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 is a subclass of A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say(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print('B says hello')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super().say()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B().say()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says hello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says hello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6D534D7-5E3E-1FE6-6F11-36B3D6F847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32331"/>
              </p:ext>
            </p:extLst>
          </p:nvPr>
        </p:nvGraphicFramePr>
        <p:xfrm>
          <a:off x="9808527" y="3895901"/>
          <a:ext cx="1307148" cy="774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1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67B8B5A-7DC7-557B-2819-8DE46A448F3C}"/>
              </a:ext>
            </a:extLst>
          </p:cNvPr>
          <p:cNvCxnSpPr/>
          <p:nvPr/>
        </p:nvCxnSpPr>
        <p:spPr>
          <a:xfrm flipV="1">
            <a:off x="10427335" y="3281995"/>
            <a:ext cx="0" cy="49198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EF4743D-B782-E89B-A7DB-FDB1BE9D5A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398605"/>
              </p:ext>
            </p:extLst>
          </p:nvPr>
        </p:nvGraphicFramePr>
        <p:xfrm>
          <a:off x="9818052" y="2301902"/>
          <a:ext cx="1275080" cy="774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0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</a:t>
                      </a:r>
                      <a:endParaRPr lang="en-US" sz="1800" b="0" i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8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6920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What does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b.f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noProof="0" dirty="0"/>
              <a:t> print 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0849" y="3111500"/>
            <a:ext cx="4429125" cy="24320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AttributeError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Ag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6323715" y="4178243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599911"/>
              </p:ext>
            </p:extLst>
          </p:nvPr>
        </p:nvGraphicFramePr>
        <p:xfrm>
          <a:off x="1969921" y="2131478"/>
          <a:ext cx="3186430" cy="4093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6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f(self):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g(self):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print("Ag")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B(A):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g(self):</a:t>
                      </a:r>
                    </a:p>
                    <a:p>
                      <a:pPr marL="0" indent="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B()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68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2097"/>
            <a:ext cx="10515600" cy="1325563"/>
          </a:xfrm>
        </p:spPr>
        <p:txBody>
          <a:bodyPr/>
          <a:lstStyle/>
          <a:p>
            <a:r>
              <a:rPr lang="en-US" noProof="0" dirty="0" err="1"/>
              <a:t>Undefind</a:t>
            </a:r>
            <a:r>
              <a:rPr lang="en-US" noProof="0" dirty="0"/>
              <a:t> methods in superclass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45295"/>
              </p:ext>
            </p:extLst>
          </p:nvPr>
        </p:nvGraphicFramePr>
        <p:xfrm>
          <a:off x="932766" y="1160023"/>
          <a:ext cx="3186430" cy="5388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6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B(A):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B()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A()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222929"/>
              </p:ext>
            </p:extLst>
          </p:nvPr>
        </p:nvGraphicFramePr>
        <p:xfrm>
          <a:off x="4329248" y="1160023"/>
          <a:ext cx="7002780" cy="5388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27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5862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93030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B(A):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B()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A()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AttributeError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'A' object has no attribute 'g'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26" name="Group 25"/>
          <p:cNvGrpSpPr/>
          <p:nvPr/>
        </p:nvGrpSpPr>
        <p:grpSpPr>
          <a:xfrm>
            <a:off x="5685345" y="4422486"/>
            <a:ext cx="3615559" cy="550059"/>
            <a:chOff x="5685345" y="4422486"/>
            <a:chExt cx="3615559" cy="550059"/>
          </a:xfrm>
        </p:grpSpPr>
        <p:cxnSp>
          <p:nvCxnSpPr>
            <p:cNvPr id="9" name="Straight Arrow Connector 8"/>
            <p:cNvCxnSpPr/>
            <p:nvPr/>
          </p:nvCxnSpPr>
          <p:spPr>
            <a:xfrm flipH="1">
              <a:off x="5685345" y="4664098"/>
              <a:ext cx="1100427" cy="30844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6785772" y="4422486"/>
              <a:ext cx="25151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noProof="0" dirty="0">
                  <a:solidFill>
                    <a:srgbClr val="C00000"/>
                  </a:solidFill>
                </a:rPr>
                <a:t>can create instance of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901543" y="1839255"/>
            <a:ext cx="4355378" cy="1831271"/>
            <a:chOff x="6901543" y="1839255"/>
            <a:chExt cx="4355378" cy="1831271"/>
          </a:xfrm>
        </p:grpSpPr>
        <p:sp>
          <p:nvSpPr>
            <p:cNvPr id="16" name="TextBox 15"/>
            <p:cNvSpPr txBox="1"/>
            <p:nvPr/>
          </p:nvSpPr>
          <p:spPr>
            <a:xfrm>
              <a:off x="8100064" y="1839255"/>
              <a:ext cx="3156857" cy="1831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noProof="0" dirty="0">
                  <a:solidFill>
                    <a:srgbClr val="C00000"/>
                  </a:solidFill>
                </a:rPr>
                <a:t>method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r>
                <a:rPr lang="en-US" noProof="0" dirty="0">
                  <a:solidFill>
                    <a:srgbClr val="C00000"/>
                  </a:solidFill>
                </a:rPr>
                <a:t> undefined in class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US" noProof="0" dirty="0">
                  <a:solidFill>
                    <a:srgbClr val="C00000"/>
                  </a:solidFill>
                </a:rPr>
                <a:t>;  subclasses must implement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r>
                <a:rPr lang="en-US" noProof="0" dirty="0">
                  <a:solidFill>
                    <a:srgbClr val="C00000"/>
                  </a:solidFill>
                </a:rPr>
                <a:t> to be able to call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</a:t>
              </a:r>
              <a:endParaRPr lang="en-US" noProof="0" dirty="0">
                <a:solidFill>
                  <a:srgbClr val="C00000"/>
                </a:solidFill>
              </a:endParaRPr>
            </a:p>
            <a:p>
              <a:r>
                <a:rPr lang="en-US" noProof="0" dirty="0">
                  <a:solidFill>
                    <a:srgbClr val="C00000"/>
                  </a:solidFill>
                </a:rPr>
                <a:t>in Java,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US" noProof="0" dirty="0">
                  <a:solidFill>
                    <a:srgbClr val="C00000"/>
                  </a:solidFill>
                </a:rPr>
                <a:t> would have been required to be declared an </a:t>
              </a:r>
              <a:r>
                <a:rPr lang="en-US" i="1" noProof="0" dirty="0">
                  <a:solidFill>
                    <a:srgbClr val="C00000"/>
                  </a:solidFill>
                </a:rPr>
                <a:t>abstract class</a:t>
              </a:r>
              <a:endPara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H="1" flipV="1">
              <a:off x="6901543" y="2634343"/>
              <a:ext cx="1198522" cy="65315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5436909" y="4805070"/>
            <a:ext cx="5251360" cy="646331"/>
            <a:chOff x="5436909" y="4805070"/>
            <a:chExt cx="5251360" cy="646331"/>
          </a:xfrm>
        </p:grpSpPr>
        <p:cxnSp>
          <p:nvCxnSpPr>
            <p:cNvPr id="14" name="Straight Arrow Connector 13"/>
            <p:cNvCxnSpPr/>
            <p:nvPr/>
          </p:nvCxnSpPr>
          <p:spPr>
            <a:xfrm flipH="1">
              <a:off x="5436909" y="5112226"/>
              <a:ext cx="1348864" cy="13379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6785772" y="4805070"/>
              <a:ext cx="39024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noProof="0" dirty="0">
                  <a:solidFill>
                    <a:srgbClr val="C00000"/>
                  </a:solidFill>
                </a:rPr>
                <a:t>fails since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r>
                <a:rPr lang="en-US" noProof="0" dirty="0">
                  <a:solidFill>
                    <a:srgbClr val="C00000"/>
                  </a:solidFill>
                </a:rPr>
                <a:t> is not </a:t>
              </a:r>
              <a:br>
                <a:rPr lang="en-US" noProof="0" dirty="0">
                  <a:solidFill>
                    <a:srgbClr val="C00000"/>
                  </a:solidFill>
                </a:rPr>
              </a:br>
              <a:r>
                <a:rPr lang="en-US" noProof="0" dirty="0">
                  <a:solidFill>
                    <a:srgbClr val="C00000"/>
                  </a:solidFill>
                </a:rPr>
                <a:t>defined in class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215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Name mangling and inheritance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074304"/>
              </p:ext>
            </p:extLst>
          </p:nvPr>
        </p:nvGraphicFramePr>
        <p:xfrm>
          <a:off x="1833244" y="1825625"/>
          <a:ext cx="3186430" cy="4063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6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A: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f(self):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print("Ag")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B(A):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def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print("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B()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Ag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096000" y="2825750"/>
            <a:ext cx="5772150" cy="2879725"/>
          </a:xfrm>
        </p:spPr>
        <p:txBody>
          <a:bodyPr/>
          <a:lstStyle/>
          <a:p>
            <a:r>
              <a:rPr lang="en-US" noProof="0" dirty="0"/>
              <a:t>The call to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A.__g</a:t>
            </a:r>
            <a:r>
              <a:rPr lang="en-US" noProof="0" dirty="0"/>
              <a:t> in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A.f</a:t>
            </a:r>
            <a:r>
              <a:rPr lang="en-US" noProof="0" dirty="0"/>
              <a:t> forces a call </a:t>
            </a:r>
            <a:r>
              <a:rPr lang="en-US" noProof="0" dirty="0">
                <a:cs typeface="Courier New" panose="02070309020205020404" pitchFamily="49" charset="0"/>
              </a:rPr>
              <a:t>to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__g</a:t>
            </a:r>
            <a:r>
              <a:rPr lang="en-US" noProof="0" dirty="0"/>
              <a:t> to stay within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noProof="0" dirty="0">
              <a:cs typeface="Courier New" panose="02070309020205020404" pitchFamily="49" charset="0"/>
            </a:endParaRPr>
          </a:p>
          <a:p>
            <a:r>
              <a:rPr lang="en-US" noProof="0" dirty="0">
                <a:cs typeface="Courier New" panose="02070309020205020404" pitchFamily="49" charset="0"/>
              </a:rPr>
              <a:t>Recall that due to name mangling,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__g</a:t>
            </a:r>
            <a:r>
              <a:rPr lang="en-US" noProof="0" dirty="0">
                <a:cs typeface="Courier New" panose="02070309020205020404" pitchFamily="49" charset="0"/>
              </a:rPr>
              <a:t> is accessible as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A._A__g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6445" y="82495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229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897" y="433661"/>
            <a:ext cx="5114925" cy="1325563"/>
          </a:xfrm>
        </p:spPr>
        <p:txBody>
          <a:bodyPr/>
          <a:lstStyle/>
          <a:p>
            <a:r>
              <a:rPr lang="en-US" noProof="0" dirty="0"/>
              <a:t>Multiple 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134" y="1759224"/>
            <a:ext cx="5318791" cy="4351338"/>
          </a:xfrm>
        </p:spPr>
        <p:txBody>
          <a:bodyPr>
            <a:normAutofit/>
          </a:bodyPr>
          <a:lstStyle/>
          <a:p>
            <a:r>
              <a:rPr lang="en-US" sz="2400" noProof="0" dirty="0"/>
              <a:t>A class can inherit attributes from multiple classes (in example two)</a:t>
            </a:r>
          </a:p>
          <a:p>
            <a:r>
              <a:rPr lang="en-US" sz="2400" noProof="0" dirty="0"/>
              <a:t>When calling a method defined in several ancestor classes, Python executes only one of the these </a:t>
            </a:r>
            <a:br>
              <a:rPr lang="en-US" sz="2400" noProof="0" dirty="0"/>
            </a:br>
            <a:r>
              <a:rPr lang="en-US" sz="2400" noProof="0" dirty="0"/>
              <a:t>(in the example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say_hello</a:t>
            </a:r>
            <a:r>
              <a:rPr lang="en-US" sz="2400" noProof="0" dirty="0"/>
              <a:t>)</a:t>
            </a:r>
          </a:p>
          <a:p>
            <a:r>
              <a:rPr lang="en-US" sz="2400" noProof="0" dirty="0"/>
              <a:t>Which one is determined by the so called ”C3 Method Resolution Order” (originating from the Dylan language)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120318"/>
              </p:ext>
            </p:extLst>
          </p:nvPr>
        </p:nvGraphicFramePr>
        <p:xfrm>
          <a:off x="6297471" y="167213"/>
          <a:ext cx="5928043" cy="646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80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multiple_inheritance.py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print("Alice says hello")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say_good_night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print("Alice says good night")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print("Bob says hello")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say_good_morning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print("Bob says good morning")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X(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Multiple inheritance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say(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self.say_good_morning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C3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resolution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Alice.</a:t>
                      </a:r>
                      <a:r>
                        <a:rPr lang="en-US" sz="16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from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Alice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Bob.</a:t>
                      </a:r>
                      <a:r>
                        <a:rPr lang="en-US" sz="16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from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Bob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self.say_good_night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X().say()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 says good morning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 says hello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 says hello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 says hello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 says good night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77134" y="6068110"/>
            <a:ext cx="438626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hlinkClick r:id="rId2" action="ppaction://hlinkpres?slideindex=1&amp;slidetitle="/>
              </a:rPr>
              <a:t>Raymond Hettinger, </a:t>
            </a:r>
            <a:r>
              <a:rPr lang="en-US" i="1" noProof="0" dirty="0">
                <a:hlinkClick r:id="rId2" action="ppaction://hlinkpres?slideindex=1&amp;slidetitle="/>
              </a:rPr>
              <a:t>Super considered super!</a:t>
            </a:r>
            <a:r>
              <a:rPr lang="en-US" noProof="0" dirty="0">
                <a:hlinkClick r:id="rId2" action="ppaction://hlinkpres?slideindex=1&amp;slidetitle="/>
              </a:rPr>
              <a:t> </a:t>
            </a:r>
          </a:p>
          <a:p>
            <a:r>
              <a:rPr lang="en-US" noProof="0" dirty="0">
                <a:hlinkClick r:id="rId2" action="ppaction://hlinkpres?slideindex=1&amp;slidetitle="/>
              </a:rPr>
              <a:t>Conference talk at </a:t>
            </a:r>
            <a:r>
              <a:rPr lang="en-US" noProof="0" dirty="0" err="1">
                <a:hlinkClick r:id="rId2" action="ppaction://hlinkpres?slideindex=1&amp;slidetitle="/>
              </a:rPr>
              <a:t>PyCon</a:t>
            </a:r>
            <a:r>
              <a:rPr lang="en-US" noProof="0" dirty="0">
                <a:hlinkClick r:id="rId2" action="ppaction://hlinkpres?slideindex=1&amp;slidetitle="/>
              </a:rPr>
              <a:t> 2015</a:t>
            </a:r>
            <a:endParaRPr lang="en-US" noProof="0" dirty="0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8644345" y="5746616"/>
            <a:ext cx="591802" cy="170250"/>
          </a:xfrm>
          <a:prstGeom prst="straightConnector1">
            <a:avLst/>
          </a:prstGeom>
          <a:ln w="76200">
            <a:solidFill>
              <a:schemeClr val="accent5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 flipV="1">
            <a:off x="8644345" y="5746616"/>
            <a:ext cx="1011502" cy="11523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55847" y="5600239"/>
            <a:ext cx="20254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since 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Alice</a:t>
            </a:r>
            <a:r>
              <a:rPr lang="en-US" sz="1400" noProof="0" dirty="0"/>
              <a:t> before </a:t>
            </a:r>
            <a:r>
              <a:rPr lang="en-US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lang="en-US" sz="1400" noProof="0" dirty="0"/>
              <a:t> in list of super classes</a:t>
            </a:r>
          </a:p>
        </p:txBody>
      </p:sp>
    </p:spTree>
    <p:extLst>
      <p:ext uri="{BB962C8B-B14F-4D97-AF65-F5344CB8AC3E}">
        <p14:creationId xmlns:p14="http://schemas.microsoft.com/office/powerpoint/2010/main" val="2881013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582" y="442060"/>
            <a:ext cx="10515600" cy="1550241"/>
          </a:xfrm>
        </p:spPr>
        <p:txBody>
          <a:bodyPr>
            <a:normAutofit/>
          </a:bodyPr>
          <a:lstStyle/>
          <a:p>
            <a:r>
              <a:rPr lang="en-US" noProof="0" dirty="0"/>
              <a:t>C3 Method </a:t>
            </a:r>
            <a:br>
              <a:rPr lang="en-US" noProof="0" dirty="0"/>
            </a:br>
            <a:r>
              <a:rPr lang="en-US" noProof="0" dirty="0"/>
              <a:t>resolution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919" y="2225942"/>
            <a:ext cx="4514850" cy="343001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noProof="0" dirty="0"/>
              <a:t>Use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help(</a:t>
            </a:r>
            <a: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noProof="0" dirty="0"/>
              <a:t> to determine the resolution order for the class</a:t>
            </a:r>
          </a:p>
          <a:p>
            <a:r>
              <a:rPr lang="en-US" noProof="0" dirty="0"/>
              <a:t>or access 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mro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/>
              <a:t> attribute of the class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49658"/>
              </p:ext>
            </p:extLst>
          </p:nvPr>
        </p:nvGraphicFramePr>
        <p:xfrm>
          <a:off x="5262213" y="589527"/>
          <a:ext cx="6558373" cy="5861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837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mro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(&lt;class '__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main__.X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'&gt;, &lt;class '__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main__.Alice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'&gt;, &lt;class '__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main__.Bob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'&gt;, &lt;class 'object'&gt;)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 on class X in module __main__: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X(Alice, Bob)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Method resolution order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   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   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   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    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builtins.object</a:t>
                      </a:r>
                      <a:endParaRPr lang="en-US" sz="16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Methods defined here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say(self)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Methods inherited from Alice: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say_good_night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...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Methods inherited from Bob: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say_good_morning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15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011" y="354614"/>
            <a:ext cx="11763374" cy="1325563"/>
          </a:xfrm>
        </p:spPr>
        <p:txBody>
          <a:bodyPr/>
          <a:lstStyle/>
          <a:p>
            <a:r>
              <a:rPr lang="en-US" noProof="0" dirty="0"/>
              <a:t>Question – Who says hello ? Bob says good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2974" y="3429000"/>
            <a:ext cx="2790825" cy="1666876"/>
          </a:xfrm>
        </p:spPr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en-US" noProof="0" dirty="0"/>
              <a:t>Alice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Bob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 err="1"/>
              <a:t>Dont</a:t>
            </a:r>
            <a:r>
              <a:rPr lang="en-US" noProof="0" dirty="0"/>
              <a:t>’ know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1313478"/>
              </p:ext>
            </p:extLst>
          </p:nvPr>
        </p:nvGraphicFramePr>
        <p:xfrm>
          <a:off x="1413543" y="2121853"/>
          <a:ext cx="632650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6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inheritance.py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print("Alice says hello")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say_hello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print("Bob says hello")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say_good_morning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.say_hello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print("Bob says good morning")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Alice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Multiple inheritance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pass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X().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say_good_morning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Smiley Face 4" descr="QuizAnswer"/>
          <p:cNvSpPr/>
          <p:nvPr/>
        </p:nvSpPr>
        <p:spPr>
          <a:xfrm>
            <a:off x="8066790" y="3467101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6BC6B-68CC-437E-BFBA-9B24D826FAF6}"/>
              </a:ext>
            </a:extLst>
          </p:cNvPr>
          <p:cNvSpPr/>
          <p:nvPr/>
        </p:nvSpPr>
        <p:spPr>
          <a:xfrm>
            <a:off x="227615" y="6356056"/>
            <a:ext cx="1196438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400" noProof="0" dirty="0"/>
              <a:t>…example of code injection using multiple inheritance and where body of new class is empty</a:t>
            </a:r>
          </a:p>
        </p:txBody>
      </p:sp>
    </p:spTree>
    <p:extLst>
      <p:ext uri="{BB962C8B-B14F-4D97-AF65-F5344CB8AC3E}">
        <p14:creationId xmlns:p14="http://schemas.microsoft.com/office/powerpoint/2010/main" val="198374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Comparing objects and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44725"/>
            <a:ext cx="11122571" cy="4248150"/>
          </a:xfrm>
        </p:spPr>
        <p:txBody>
          <a:bodyPr>
            <a:normAutofit/>
          </a:bodyPr>
          <a:lstStyle/>
          <a:p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noProof="0" dirty="0"/>
              <a:t> returns a unique </a:t>
            </a:r>
            <a:r>
              <a:rPr lang="en-US" sz="2400" noProof="0" dirty="0" err="1"/>
              <a:t>identifyer</a:t>
            </a:r>
            <a:r>
              <a:rPr lang="en-US" sz="2400" noProof="0" dirty="0"/>
              <a:t> for an object (in </a:t>
            </a:r>
            <a:r>
              <a:rPr lang="en-US" sz="2400" noProof="0" dirty="0" err="1"/>
              <a:t>CPython</a:t>
            </a:r>
            <a:r>
              <a:rPr lang="en-US" sz="2400" noProof="0" dirty="0"/>
              <a:t> the memory address)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obj1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obj2 </a:t>
            </a:r>
            <a:r>
              <a:rPr lang="en-US" sz="2400" noProof="0" dirty="0"/>
              <a:t>tests if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id(obj1) == id(obj2)</a:t>
            </a:r>
          </a:p>
          <a:p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noProof="0" dirty="0"/>
              <a:t> and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.__class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 </a:t>
            </a:r>
            <a:r>
              <a:rPr lang="en-US" sz="2400" noProof="0" dirty="0"/>
              <a:t>return the class of an object</a:t>
            </a:r>
          </a:p>
          <a:p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isinstance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object, class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/>
              <a:t>checks if an object is of a particular class, </a:t>
            </a:r>
            <a:r>
              <a:rPr lang="en-US" sz="2400" i="1" noProof="0" dirty="0"/>
              <a:t>or a derived subclass</a:t>
            </a:r>
          </a:p>
          <a:p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issubclass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class1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class2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noProof="0" dirty="0"/>
              <a:t> checks if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class1</a:t>
            </a:r>
            <a:r>
              <a:rPr lang="en-US" sz="2400" noProof="0" dirty="0"/>
              <a:t> is a subclass of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class2</a:t>
            </a:r>
          </a:p>
          <a:p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noProof="0" dirty="0">
                <a:latin typeface="Calibri body"/>
                <a:cs typeface="Courier New" panose="02070309020205020404" pitchFamily="49" charset="0"/>
              </a:rPr>
              <a:t>Note: PEP8 recommends to use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isinstance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(x, int)</a:t>
            </a:r>
            <a:r>
              <a:rPr lang="en-US" sz="2400" noProof="0" dirty="0">
                <a:cs typeface="Courier New" panose="02070309020205020404" pitchFamily="49" charset="0"/>
              </a:rPr>
              <a:t> over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type(x) is int</a:t>
            </a:r>
          </a:p>
          <a:p>
            <a:pPr marL="0" indent="0">
              <a:buNone/>
            </a:pP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910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69869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noProof="0" dirty="0"/>
              <a:t> </a:t>
            </a:r>
            <a:r>
              <a:rPr lang="en-US" noProof="0" dirty="0" err="1"/>
              <a:t>is</a:t>
            </a:r>
            <a:r>
              <a:rPr lang="en-US" noProof="0" dirty="0"/>
              <a:t> not for integers, strings, ...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noProof="0" dirty="0"/>
              <a:t> </a:t>
            </a:r>
            <a:r>
              <a:rPr lang="en-US" noProof="0" dirty="0" err="1"/>
              <a:t>is</a:t>
            </a:r>
            <a:r>
              <a:rPr lang="en-US" noProof="0" dirty="0"/>
              <a:t> not ==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4689" y="5323378"/>
            <a:ext cx="5767311" cy="1496748"/>
          </a:xfrm>
        </p:spPr>
        <p:txBody>
          <a:bodyPr>
            <a:normAutofit fontScale="77500" lnSpcReduction="20000"/>
          </a:bodyPr>
          <a:lstStyle/>
          <a:p>
            <a:r>
              <a:rPr lang="en-US" noProof="0" dirty="0"/>
              <a:t>Only use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noProof="0" dirty="0"/>
              <a:t> on objects !</a:t>
            </a:r>
          </a:p>
          <a:p>
            <a:pPr>
              <a:lnSpc>
                <a:spcPct val="120000"/>
              </a:lnSpc>
            </a:pPr>
            <a:r>
              <a:rPr lang="en-US" noProof="0" dirty="0"/>
              <a:t>Even though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isinstance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(42, object)</a:t>
            </a:r>
            <a:r>
              <a:rPr lang="en-US" noProof="0" dirty="0"/>
              <a:t> and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isinstance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", object)</a:t>
            </a:r>
            <a:r>
              <a:rPr lang="en-US" noProof="0" dirty="0"/>
              <a:t> are true, do not use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US" noProof="0" dirty="0"/>
              <a:t> on integers and strings !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27338"/>
              </p:ext>
            </p:extLst>
          </p:nvPr>
        </p:nvGraphicFramePr>
        <p:xfrm>
          <a:off x="1049912" y="1503281"/>
          <a:ext cx="5001660" cy="516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66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500 + 500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1000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500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1000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x == 1000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int.__eq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range(0, 1000):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if x - 1 + 1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print(x)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break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range(0, -1000, -1):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if x + 1 - 1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print(x)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break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338952"/>
              </p:ext>
            </p:extLst>
          </p:nvPr>
        </p:nvGraphicFramePr>
        <p:xfrm>
          <a:off x="7019682" y="1503281"/>
          <a:ext cx="4545330" cy="3514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"[1:]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x, y = 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", "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"[1:]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x, 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== y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x.__eq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__(y)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390" y="2959762"/>
            <a:ext cx="487666" cy="4059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390" y="4859802"/>
            <a:ext cx="487666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390" y="6207955"/>
            <a:ext cx="487666" cy="40590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689" y="2666389"/>
            <a:ext cx="487666" cy="40590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689" y="399488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451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Comparison of OO in Python, Java and C++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46650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private, public, .... – in Python everything in an object is public</a:t>
            </a:r>
          </a:p>
          <a:p>
            <a:r>
              <a:rPr lang="en-US" noProof="0" dirty="0"/>
              <a:t>class inheritance – core concept in OO programming</a:t>
            </a:r>
          </a:p>
          <a:p>
            <a:pPr lvl="1"/>
            <a:r>
              <a:rPr lang="en-US" noProof="0" dirty="0"/>
              <a:t>Python and C++ support multiple inheritance</a:t>
            </a:r>
          </a:p>
          <a:p>
            <a:pPr lvl="1"/>
            <a:r>
              <a:rPr lang="en-US" noProof="0" dirty="0"/>
              <a:t>Java only allows single inheritance, but Java ”interfaces” allow for something like multiple inheritance</a:t>
            </a:r>
          </a:p>
          <a:p>
            <a:r>
              <a:rPr lang="en-US" noProof="0" dirty="0"/>
              <a:t>Python and C++ allow overloading standard operators (+, *, ...). </a:t>
            </a:r>
            <a:br>
              <a:rPr lang="en-US" noProof="0" dirty="0"/>
            </a:br>
            <a:r>
              <a:rPr lang="en-US" noProof="0" dirty="0"/>
              <a:t>In Java it is not possible</a:t>
            </a:r>
          </a:p>
          <a:p>
            <a:r>
              <a:rPr lang="en-US" noProof="0" dirty="0"/>
              <a:t>Overloading methods </a:t>
            </a:r>
          </a:p>
          <a:p>
            <a:pPr lvl="1"/>
            <a:r>
              <a:rPr lang="en-US" noProof="0" dirty="0"/>
              <a:t>Python extremely dynamic (hard to say anything about the </a:t>
            </a:r>
            <a:r>
              <a:rPr lang="en-US" noProof="0" dirty="0" err="1"/>
              <a:t>behaviour</a:t>
            </a:r>
            <a:r>
              <a:rPr lang="en-US" noProof="0" dirty="0"/>
              <a:t> of a program in general)</a:t>
            </a:r>
          </a:p>
          <a:p>
            <a:pPr lvl="1"/>
            <a:r>
              <a:rPr lang="en-US" noProof="0" dirty="0"/>
              <a:t>Java and C++’s type systems allow several methods with same name in a class, where they are distinguished by the type of the arguments, whereas Python allows only one method that can have * and ** arguments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12054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B2DEBA8-48BF-76BA-9C6B-7F6C2D260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24161"/>
              </p:ext>
            </p:extLst>
          </p:nvPr>
        </p:nvGraphicFramePr>
        <p:xfrm>
          <a:off x="1056554" y="2211790"/>
          <a:ext cx="10078892" cy="3697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889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Pair: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__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x, y):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self._x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x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self._y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point = Pair(3, 5)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print(point)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class Pair has no __str__ method, uses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object.__str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&lt;__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main__.Pair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 at 0x0000027571904B50&gt;</a:t>
                      </a:r>
                    </a:p>
                    <a:p>
                      <a:pPr marL="266700" indent="-266700">
                        <a:spcBef>
                          <a:spcPts val="1200"/>
                        </a:spcBef>
                        <a:spcAft>
                          <a:spcPts val="12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Pair.__str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lambda self: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f'Pair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self._x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}, {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self._y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})'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print(point)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Pair(3, 5)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A5645FE-B263-6B12-9647-79B1518D1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Python is really dynamic…</a:t>
            </a:r>
            <a:br>
              <a:rPr lang="en-US" noProof="0" dirty="0"/>
            </a:br>
            <a:r>
              <a:rPr lang="en-US" noProof="0" dirty="0"/>
              <a:t>(this is ugly – likely don’t do this at home)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D07E36-6B6C-6001-70A2-41F4505A4C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86" y="4789917"/>
            <a:ext cx="487666" cy="40590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A93F9E-AED5-ACA8-C8B2-7566EE841E45}"/>
              </a:ext>
            </a:extLst>
          </p:cNvPr>
          <p:cNvCxnSpPr>
            <a:cxnSpLocks/>
          </p:cNvCxnSpPr>
          <p:nvPr/>
        </p:nvCxnSpPr>
        <p:spPr>
          <a:xfrm flipH="1" flipV="1">
            <a:off x="3119718" y="5195821"/>
            <a:ext cx="853489" cy="108190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1B27B3B-62B7-98FC-F209-5EBE9B81FAF6}"/>
              </a:ext>
            </a:extLst>
          </p:cNvPr>
          <p:cNvSpPr txBox="1"/>
          <p:nvPr/>
        </p:nvSpPr>
        <p:spPr>
          <a:xfrm>
            <a:off x="4050048" y="6123834"/>
            <a:ext cx="8141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dynamically add a method to an existing class (and all existing instances),</a:t>
            </a:r>
          </a:p>
          <a:p>
            <a:r>
              <a:rPr lang="en-US" noProof="0" dirty="0"/>
              <a:t>e.g. technique used by the class decorator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@functools.total_ordering</a:t>
            </a:r>
          </a:p>
        </p:txBody>
      </p:sp>
    </p:spTree>
    <p:extLst>
      <p:ext uri="{BB962C8B-B14F-4D97-AF65-F5344CB8AC3E}">
        <p14:creationId xmlns:p14="http://schemas.microsoft.com/office/powerpoint/2010/main" val="923762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283" y="654380"/>
            <a:ext cx="5114925" cy="738242"/>
          </a:xfrm>
        </p:spPr>
        <p:txBody>
          <a:bodyPr>
            <a:normAutofit/>
          </a:bodyPr>
          <a:lstStyle/>
          <a:p>
            <a:r>
              <a:rPr lang="en-US" noProof="0" dirty="0"/>
              <a:t>C++ example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829590"/>
              </p:ext>
            </p:extLst>
          </p:nvPr>
        </p:nvGraphicFramePr>
        <p:xfrm>
          <a:off x="6194108" y="381109"/>
          <a:ext cx="5643880" cy="615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438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printing.cpp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#include &lt;iostream&gt;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using namespace std;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void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(int x)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"An integer " &lt;&lt; x &lt;&lt;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};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void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(string s)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"A string " &lt;&lt; s &lt;&lt;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};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main() {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");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 integer 42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string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917128" y="1650122"/>
            <a:ext cx="4937234" cy="4575613"/>
          </a:xfrm>
        </p:spPr>
        <p:txBody>
          <a:bodyPr>
            <a:normAutofit/>
          </a:bodyPr>
          <a:lstStyle/>
          <a:p>
            <a:r>
              <a:rPr lang="en-US" noProof="0" dirty="0"/>
              <a:t>Multiple methods with identical name (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noProof="0" dirty="0"/>
              <a:t>)</a:t>
            </a:r>
          </a:p>
          <a:p>
            <a:r>
              <a:rPr lang="en-US" noProof="0" dirty="0"/>
              <a:t>The types distinguish the different methods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315417"/>
              </p:ext>
            </p:extLst>
          </p:nvPr>
        </p:nvGraphicFramePr>
        <p:xfrm>
          <a:off x="140149" y="3731172"/>
          <a:ext cx="5507355" cy="300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037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4043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value):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int):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print('An integer', value)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str):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 string', value)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C.print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76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41285</TotalTime>
  <Words>3109</Words>
  <Application>Microsoft Office PowerPoint</Application>
  <PresentationFormat>Widescreen</PresentationFormat>
  <Paragraphs>493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body</vt:lpstr>
      <vt:lpstr>Calibri Light</vt:lpstr>
      <vt:lpstr>Courier New</vt:lpstr>
      <vt:lpstr>Wingdings</vt:lpstr>
      <vt:lpstr>Office Theme</vt:lpstr>
      <vt:lpstr>Class hierarcies</vt:lpstr>
      <vt:lpstr>Calling methods of a class</vt:lpstr>
      <vt:lpstr>Classes and Objects</vt:lpstr>
      <vt:lpstr>Classes and Objects</vt:lpstr>
      <vt:lpstr>Classes inheritance</vt:lpstr>
      <vt:lpstr>Classes constructors</vt:lpstr>
      <vt:lpstr>super()</vt:lpstr>
      <vt:lpstr>Method search order</vt:lpstr>
      <vt:lpstr>Class hierarchy</vt:lpstr>
      <vt:lpstr>Method overriding</vt:lpstr>
      <vt:lpstr>Question – What does b.f() print ? </vt:lpstr>
      <vt:lpstr>Undefind methods in superclass ?</vt:lpstr>
      <vt:lpstr>Name mangling and inheritance</vt:lpstr>
      <vt:lpstr>Multiple inheritance</vt:lpstr>
      <vt:lpstr>C3 Method  resolution order</vt:lpstr>
      <vt:lpstr>Question – Who says hello ? Bob says good morning</vt:lpstr>
      <vt:lpstr>Comparing objects and classes</vt:lpstr>
      <vt:lpstr>is is not for integers, strings, ... and is is not ==</vt:lpstr>
      <vt:lpstr>Comparison of OO in Python, Java and C++</vt:lpstr>
      <vt:lpstr>Python is really dynamic… (this is ugly – likely don’t do this at home)</vt:lpstr>
      <vt:lpstr>C++ example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1252</cp:revision>
  <dcterms:created xsi:type="dcterms:W3CDTF">2017-10-19T06:54:16Z</dcterms:created>
  <dcterms:modified xsi:type="dcterms:W3CDTF">2026-03-02T12:09:29Z</dcterms:modified>
</cp:coreProperties>
</file>