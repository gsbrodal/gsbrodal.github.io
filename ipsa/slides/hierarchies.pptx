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483" r:id="rId2"/>
    <p:sldId id="676" r:id="rId3"/>
    <p:sldId id="686" r:id="rId4"/>
    <p:sldId id="687" r:id="rId5"/>
    <p:sldId id="688" r:id="rId6"/>
    <p:sldId id="689" r:id="rId7"/>
    <p:sldId id="690" r:id="rId8"/>
    <p:sldId id="691" r:id="rId9"/>
    <p:sldId id="694" r:id="rId10"/>
    <p:sldId id="677" r:id="rId11"/>
    <p:sldId id="692" r:id="rId12"/>
    <p:sldId id="700" r:id="rId13"/>
    <p:sldId id="693" r:id="rId14"/>
    <p:sldId id="695" r:id="rId15"/>
    <p:sldId id="697" r:id="rId16"/>
    <p:sldId id="696" r:id="rId17"/>
    <p:sldId id="684" r:id="rId18"/>
    <p:sldId id="698" r:id="rId19"/>
    <p:sldId id="621" r:id="rId20"/>
    <p:sldId id="701" r:id="rId21"/>
    <p:sldId id="699" r:id="rId22"/>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2CC"/>
    <a:srgbClr val="FFA7A7"/>
    <a:srgbClr val="DEEBF7"/>
    <a:srgbClr val="E2F0D9"/>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42FA1A-F726-4471-A8FF-CB6ED2969EB7}" v="58" dt="2026-03-04T06:17:17.7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41" autoAdjust="0"/>
    <p:restoredTop sz="72494" autoAdjust="0"/>
  </p:normalViewPr>
  <p:slideViewPr>
    <p:cSldViewPr snapToGrid="0">
      <p:cViewPr varScale="1">
        <p:scale>
          <a:sx n="134" d="100"/>
          <a:sy n="134" d="100"/>
        </p:scale>
        <p:origin x="168" y="288"/>
      </p:cViewPr>
      <p:guideLst/>
    </p:cSldViewPr>
  </p:slideViewPr>
  <p:outlineViewPr>
    <p:cViewPr>
      <p:scale>
        <a:sx n="33" d="100"/>
        <a:sy n="33" d="100"/>
      </p:scale>
      <p:origin x="0" y="-6808"/>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th Stølting Brodal" userId="04ef4784-6591-4f86-a140-f5c3b108582a" providerId="ADAL" clId="{73BAC7D6-516A-44B5-B4B0-C7B08CA8B392}"/>
    <pc:docChg chg="undo custSel modSld">
      <pc:chgData name="Gerth Stølting Brodal" userId="04ef4784-6591-4f86-a140-f5c3b108582a" providerId="ADAL" clId="{73BAC7D6-516A-44B5-B4B0-C7B08CA8B392}" dt="2026-03-04T06:19:44.158" v="1290" actId="313"/>
      <pc:docMkLst>
        <pc:docMk/>
      </pc:docMkLst>
      <pc:sldChg chg="modSp mod">
        <pc:chgData name="Gerth Stølting Brodal" userId="04ef4784-6591-4f86-a140-f5c3b108582a" providerId="ADAL" clId="{73BAC7D6-516A-44B5-B4B0-C7B08CA8B392}" dt="2026-03-02T12:09:20.499" v="0" actId="790"/>
        <pc:sldMkLst>
          <pc:docMk/>
          <pc:sldMk cId="1006511185" sldId="483"/>
        </pc:sldMkLst>
        <pc:spChg chg="mod">
          <ac:chgData name="Gerth Stølting Brodal" userId="04ef4784-6591-4f86-a140-f5c3b108582a" providerId="ADAL" clId="{73BAC7D6-516A-44B5-B4B0-C7B08CA8B392}" dt="2026-03-02T12:09:20.499" v="0" actId="790"/>
          <ac:spMkLst>
            <pc:docMk/>
            <pc:sldMk cId="1006511185" sldId="483"/>
            <ac:spMk id="2" creationId="{00000000-0000-0000-0000-000000000000}"/>
          </ac:spMkLst>
        </pc:spChg>
        <pc:spChg chg="mod">
          <ac:chgData name="Gerth Stølting Brodal" userId="04ef4784-6591-4f86-a140-f5c3b108582a" providerId="ADAL" clId="{73BAC7D6-516A-44B5-B4B0-C7B08CA8B392}" dt="2026-03-02T12:09:20.499" v="0" actId="790"/>
          <ac:spMkLst>
            <pc:docMk/>
            <pc:sldMk cId="1006511185" sldId="483"/>
            <ac:spMk id="3" creationId="{00000000-0000-0000-0000-000000000000}"/>
          </ac:spMkLst>
        </pc:spChg>
      </pc:sldChg>
      <pc:sldChg chg="modSp mod">
        <pc:chgData name="Gerth Stølting Brodal" userId="04ef4784-6591-4f86-a140-f5c3b108582a" providerId="ADAL" clId="{73BAC7D6-516A-44B5-B4B0-C7B08CA8B392}" dt="2026-03-04T06:07:46.768" v="1035" actId="14100"/>
        <pc:sldMkLst>
          <pc:docMk/>
          <pc:sldMk cId="3312054074" sldId="621"/>
        </pc:sldMkLst>
        <pc:spChg chg="mod">
          <ac:chgData name="Gerth Stølting Brodal" userId="04ef4784-6591-4f86-a140-f5c3b108582a" providerId="ADAL" clId="{73BAC7D6-516A-44B5-B4B0-C7B08CA8B392}" dt="2026-03-02T12:09:20.499" v="0" actId="790"/>
          <ac:spMkLst>
            <pc:docMk/>
            <pc:sldMk cId="3312054074" sldId="621"/>
            <ac:spMk id="2" creationId="{00000000-0000-0000-0000-000000000000}"/>
          </ac:spMkLst>
        </pc:spChg>
        <pc:spChg chg="mod">
          <ac:chgData name="Gerth Stølting Brodal" userId="04ef4784-6591-4f86-a140-f5c3b108582a" providerId="ADAL" clId="{73BAC7D6-516A-44B5-B4B0-C7B08CA8B392}" dt="2026-03-04T06:07:46.768" v="1035" actId="14100"/>
          <ac:spMkLst>
            <pc:docMk/>
            <pc:sldMk cId="3312054074" sldId="621"/>
            <ac:spMk id="3" creationId="{00000000-0000-0000-0000-000000000000}"/>
          </ac:spMkLst>
        </pc:spChg>
      </pc:sldChg>
      <pc:sldChg chg="modSp mod modNotesTx">
        <pc:chgData name="Gerth Stølting Brodal" userId="04ef4784-6591-4f86-a140-f5c3b108582a" providerId="ADAL" clId="{73BAC7D6-516A-44B5-B4B0-C7B08CA8B392}" dt="2026-03-04T04:43:51.307" v="120" actId="20577"/>
        <pc:sldMkLst>
          <pc:docMk/>
          <pc:sldMk cId="2915881254" sldId="676"/>
        </pc:sldMkLst>
        <pc:spChg chg="mod">
          <ac:chgData name="Gerth Stølting Brodal" userId="04ef4784-6591-4f86-a140-f5c3b108582a" providerId="ADAL" clId="{73BAC7D6-516A-44B5-B4B0-C7B08CA8B392}" dt="2026-03-02T12:09:20.499" v="0" actId="790"/>
          <ac:spMkLst>
            <pc:docMk/>
            <pc:sldMk cId="2915881254" sldId="676"/>
            <ac:spMk id="2" creationId="{00000000-0000-0000-0000-000000000000}"/>
          </ac:spMkLst>
        </pc:spChg>
        <pc:spChg chg="mod">
          <ac:chgData name="Gerth Stølting Brodal" userId="04ef4784-6591-4f86-a140-f5c3b108582a" providerId="ADAL" clId="{73BAC7D6-516A-44B5-B4B0-C7B08CA8B392}" dt="2026-03-04T04:43:13.535" v="88" actId="14100"/>
          <ac:spMkLst>
            <pc:docMk/>
            <pc:sldMk cId="2915881254" sldId="676"/>
            <ac:spMk id="3"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2915881254" sldId="676"/>
            <ac:graphicFrameMk id="4" creationId="{00000000-0000-0000-0000-000000000000}"/>
          </ac:graphicFrameMkLst>
        </pc:graphicFrameChg>
      </pc:sldChg>
      <pc:sldChg chg="modSp mod">
        <pc:chgData name="Gerth Stølting Brodal" userId="04ef4784-6591-4f86-a140-f5c3b108582a" providerId="ADAL" clId="{73BAC7D6-516A-44B5-B4B0-C7B08CA8B392}" dt="2026-03-04T05:49:56.527" v="966"/>
        <pc:sldMkLst>
          <pc:docMk/>
          <pc:sldMk cId="2256920451" sldId="677"/>
        </pc:sldMkLst>
        <pc:spChg chg="mod">
          <ac:chgData name="Gerth Stølting Brodal" userId="04ef4784-6591-4f86-a140-f5c3b108582a" providerId="ADAL" clId="{73BAC7D6-516A-44B5-B4B0-C7B08CA8B392}" dt="2026-03-02T12:09:20.499" v="0" actId="790"/>
          <ac:spMkLst>
            <pc:docMk/>
            <pc:sldMk cId="2256920451" sldId="677"/>
            <ac:spMk id="2" creationId="{00000000-0000-0000-0000-000000000000}"/>
          </ac:spMkLst>
        </pc:spChg>
        <pc:spChg chg="mod">
          <ac:chgData name="Gerth Stølting Brodal" userId="04ef4784-6591-4f86-a140-f5c3b108582a" providerId="ADAL" clId="{73BAC7D6-516A-44B5-B4B0-C7B08CA8B392}" dt="2026-03-04T05:49:56.527" v="966"/>
          <ac:spMkLst>
            <pc:docMk/>
            <pc:sldMk cId="2256920451" sldId="677"/>
            <ac:spMk id="4"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2256920451" sldId="677"/>
            <ac:graphicFrameMk id="3" creationId="{D6D534D7-5E3E-1FE6-6F11-36B3D6F84712}"/>
          </ac:graphicFrameMkLst>
        </pc:graphicFrameChg>
        <pc:graphicFrameChg chg="modGraphic">
          <ac:chgData name="Gerth Stølting Brodal" userId="04ef4784-6591-4f86-a140-f5c3b108582a" providerId="ADAL" clId="{73BAC7D6-516A-44B5-B4B0-C7B08CA8B392}" dt="2026-03-02T12:09:20.499" v="0" actId="790"/>
          <ac:graphicFrameMkLst>
            <pc:docMk/>
            <pc:sldMk cId="2256920451" sldId="677"/>
            <ac:graphicFrameMk id="5"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2256920451" sldId="677"/>
            <ac:graphicFrameMk id="7" creationId="{FEF4743D-B782-E89B-A7DB-FDB1BE9D5A37}"/>
          </ac:graphicFrameMkLst>
        </pc:graphicFrameChg>
      </pc:sldChg>
      <pc:sldChg chg="modSp mod">
        <pc:chgData name="Gerth Stølting Brodal" userId="04ef4784-6591-4f86-a140-f5c3b108582a" providerId="ADAL" clId="{73BAC7D6-516A-44B5-B4B0-C7B08CA8B392}" dt="2026-03-02T12:09:20.499" v="0" actId="790"/>
        <pc:sldMkLst>
          <pc:docMk/>
          <pc:sldMk cId="1203910268" sldId="684"/>
        </pc:sldMkLst>
        <pc:spChg chg="mod">
          <ac:chgData name="Gerth Stølting Brodal" userId="04ef4784-6591-4f86-a140-f5c3b108582a" providerId="ADAL" clId="{73BAC7D6-516A-44B5-B4B0-C7B08CA8B392}" dt="2026-03-02T12:09:20.499" v="0" actId="790"/>
          <ac:spMkLst>
            <pc:docMk/>
            <pc:sldMk cId="1203910268" sldId="684"/>
            <ac:spMk id="2" creationId="{00000000-0000-0000-0000-000000000000}"/>
          </ac:spMkLst>
        </pc:spChg>
        <pc:spChg chg="mod">
          <ac:chgData name="Gerth Stølting Brodal" userId="04ef4784-6591-4f86-a140-f5c3b108582a" providerId="ADAL" clId="{73BAC7D6-516A-44B5-B4B0-C7B08CA8B392}" dt="2026-03-02T12:09:20.499" v="0" actId="790"/>
          <ac:spMkLst>
            <pc:docMk/>
            <pc:sldMk cId="1203910268" sldId="684"/>
            <ac:spMk id="3" creationId="{00000000-0000-0000-0000-000000000000}"/>
          </ac:spMkLst>
        </pc:spChg>
      </pc:sldChg>
      <pc:sldChg chg="modSp mod">
        <pc:chgData name="Gerth Stølting Brodal" userId="04ef4784-6591-4f86-a140-f5c3b108582a" providerId="ADAL" clId="{73BAC7D6-516A-44B5-B4B0-C7B08CA8B392}" dt="2026-03-04T05:38:03.724" v="922" actId="20577"/>
        <pc:sldMkLst>
          <pc:docMk/>
          <pc:sldMk cId="472647731" sldId="686"/>
        </pc:sldMkLst>
        <pc:spChg chg="mod">
          <ac:chgData name="Gerth Stølting Brodal" userId="04ef4784-6591-4f86-a140-f5c3b108582a" providerId="ADAL" clId="{73BAC7D6-516A-44B5-B4B0-C7B08CA8B392}" dt="2026-03-04T05:38:03.724" v="922" actId="20577"/>
          <ac:spMkLst>
            <pc:docMk/>
            <pc:sldMk cId="472647731" sldId="686"/>
            <ac:spMk id="2" creationId="{00000000-0000-0000-0000-000000000000}"/>
          </ac:spMkLst>
        </pc:spChg>
        <pc:spChg chg="mod">
          <ac:chgData name="Gerth Stølting Brodal" userId="04ef4784-6591-4f86-a140-f5c3b108582a" providerId="ADAL" clId="{73BAC7D6-516A-44B5-B4B0-C7B08CA8B392}" dt="2026-03-02T12:09:20.499" v="0" actId="790"/>
          <ac:spMkLst>
            <pc:docMk/>
            <pc:sldMk cId="472647731" sldId="686"/>
            <ac:spMk id="5" creationId="{00000000-0000-0000-0000-000000000000}"/>
          </ac:spMkLst>
        </pc:spChg>
        <pc:spChg chg="mod">
          <ac:chgData name="Gerth Stølting Brodal" userId="04ef4784-6591-4f86-a140-f5c3b108582a" providerId="ADAL" clId="{73BAC7D6-516A-44B5-B4B0-C7B08CA8B392}" dt="2026-03-02T12:09:20.499" v="0" actId="790"/>
          <ac:spMkLst>
            <pc:docMk/>
            <pc:sldMk cId="472647731" sldId="686"/>
            <ac:spMk id="15" creationId="{00000000-0000-0000-0000-000000000000}"/>
          </ac:spMkLst>
        </pc:spChg>
        <pc:spChg chg="mod">
          <ac:chgData name="Gerth Stølting Brodal" userId="04ef4784-6591-4f86-a140-f5c3b108582a" providerId="ADAL" clId="{73BAC7D6-516A-44B5-B4B0-C7B08CA8B392}" dt="2026-03-02T12:09:20.499" v="0" actId="790"/>
          <ac:spMkLst>
            <pc:docMk/>
            <pc:sldMk cId="472647731" sldId="686"/>
            <ac:spMk id="17" creationId="{00000000-0000-0000-0000-000000000000}"/>
          </ac:spMkLst>
        </pc:spChg>
        <pc:spChg chg="mod">
          <ac:chgData name="Gerth Stølting Brodal" userId="04ef4784-6591-4f86-a140-f5c3b108582a" providerId="ADAL" clId="{73BAC7D6-516A-44B5-B4B0-C7B08CA8B392}" dt="2026-03-02T12:09:20.499" v="0" actId="790"/>
          <ac:spMkLst>
            <pc:docMk/>
            <pc:sldMk cId="472647731" sldId="686"/>
            <ac:spMk id="18"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472647731" sldId="686"/>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72647731" sldId="686"/>
            <ac:graphicFrameMk id="9" creationId="{00000000-0000-0000-0000-000000000000}"/>
          </ac:graphicFrameMkLst>
        </pc:graphicFrameChg>
        <pc:graphicFrameChg chg="modGraphic">
          <ac:chgData name="Gerth Stølting Brodal" userId="04ef4784-6591-4f86-a140-f5c3b108582a" providerId="ADAL" clId="{73BAC7D6-516A-44B5-B4B0-C7B08CA8B392}" dt="2026-03-04T04:48:27.957" v="121" actId="20577"/>
          <ac:graphicFrameMkLst>
            <pc:docMk/>
            <pc:sldMk cId="472647731" sldId="686"/>
            <ac:graphicFrameMk id="10"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72647731" sldId="686"/>
            <ac:graphicFrameMk id="12"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72647731" sldId="686"/>
            <ac:graphicFrameMk id="13" creationId="{00000000-0000-0000-0000-000000000000}"/>
          </ac:graphicFrameMkLst>
        </pc:graphicFrameChg>
      </pc:sldChg>
      <pc:sldChg chg="modSp mod">
        <pc:chgData name="Gerth Stølting Brodal" userId="04ef4784-6591-4f86-a140-f5c3b108582a" providerId="ADAL" clId="{73BAC7D6-516A-44B5-B4B0-C7B08CA8B392}" dt="2026-03-04T05:38:09.714" v="924" actId="20577"/>
        <pc:sldMkLst>
          <pc:docMk/>
          <pc:sldMk cId="4198244594" sldId="687"/>
        </pc:sldMkLst>
        <pc:spChg chg="mod">
          <ac:chgData name="Gerth Stølting Brodal" userId="04ef4784-6591-4f86-a140-f5c3b108582a" providerId="ADAL" clId="{73BAC7D6-516A-44B5-B4B0-C7B08CA8B392}" dt="2026-03-04T05:38:09.714" v="924" actId="20577"/>
          <ac:spMkLst>
            <pc:docMk/>
            <pc:sldMk cId="4198244594" sldId="687"/>
            <ac:spMk id="2" creationId="{00000000-0000-0000-0000-000000000000}"/>
          </ac:spMkLst>
        </pc:spChg>
        <pc:spChg chg="mod">
          <ac:chgData name="Gerth Stølting Brodal" userId="04ef4784-6591-4f86-a140-f5c3b108582a" providerId="ADAL" clId="{73BAC7D6-516A-44B5-B4B0-C7B08CA8B392}" dt="2026-03-02T12:09:20.499" v="0" actId="790"/>
          <ac:spMkLst>
            <pc:docMk/>
            <pc:sldMk cId="4198244594" sldId="687"/>
            <ac:spMk id="3" creationId="{00000000-0000-0000-0000-000000000000}"/>
          </ac:spMkLst>
        </pc:spChg>
        <pc:spChg chg="mod">
          <ac:chgData name="Gerth Stølting Brodal" userId="04ef4784-6591-4f86-a140-f5c3b108582a" providerId="ADAL" clId="{73BAC7D6-516A-44B5-B4B0-C7B08CA8B392}" dt="2026-03-02T12:09:20.499" v="0" actId="790"/>
          <ac:spMkLst>
            <pc:docMk/>
            <pc:sldMk cId="4198244594" sldId="687"/>
            <ac:spMk id="6" creationId="{00000000-0000-0000-0000-000000000000}"/>
          </ac:spMkLst>
        </pc:spChg>
        <pc:spChg chg="mod">
          <ac:chgData name="Gerth Stølting Brodal" userId="04ef4784-6591-4f86-a140-f5c3b108582a" providerId="ADAL" clId="{73BAC7D6-516A-44B5-B4B0-C7B08CA8B392}" dt="2026-03-02T12:09:20.499" v="0" actId="790"/>
          <ac:spMkLst>
            <pc:docMk/>
            <pc:sldMk cId="4198244594" sldId="687"/>
            <ac:spMk id="16"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4198244594" sldId="687"/>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198244594" sldId="687"/>
            <ac:graphicFrameMk id="13"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198244594" sldId="687"/>
            <ac:graphicFrameMk id="18" creationId="{00000000-0000-0000-0000-000000000000}"/>
          </ac:graphicFrameMkLst>
        </pc:graphicFrameChg>
      </pc:sldChg>
      <pc:sldChg chg="modSp mod">
        <pc:chgData name="Gerth Stølting Brodal" userId="04ef4784-6591-4f86-a140-f5c3b108582a" providerId="ADAL" clId="{73BAC7D6-516A-44B5-B4B0-C7B08CA8B392}" dt="2026-03-02T12:09:20.499" v="0" actId="790"/>
        <pc:sldMkLst>
          <pc:docMk/>
          <pc:sldMk cId="3318931638" sldId="688"/>
        </pc:sldMkLst>
        <pc:spChg chg="mod">
          <ac:chgData name="Gerth Stølting Brodal" userId="04ef4784-6591-4f86-a140-f5c3b108582a" providerId="ADAL" clId="{73BAC7D6-516A-44B5-B4B0-C7B08CA8B392}" dt="2026-03-02T12:09:20.499" v="0" actId="790"/>
          <ac:spMkLst>
            <pc:docMk/>
            <pc:sldMk cId="3318931638" sldId="688"/>
            <ac:spMk id="2" creationId="{00000000-0000-0000-0000-000000000000}"/>
          </ac:spMkLst>
        </pc:spChg>
        <pc:spChg chg="mod">
          <ac:chgData name="Gerth Stølting Brodal" userId="04ef4784-6591-4f86-a140-f5c3b108582a" providerId="ADAL" clId="{73BAC7D6-516A-44B5-B4B0-C7B08CA8B392}" dt="2026-03-02T12:09:20.499" v="0" actId="790"/>
          <ac:spMkLst>
            <pc:docMk/>
            <pc:sldMk cId="3318931638" sldId="688"/>
            <ac:spMk id="3" creationId="{00000000-0000-0000-0000-000000000000}"/>
          </ac:spMkLst>
        </pc:spChg>
        <pc:spChg chg="mod">
          <ac:chgData name="Gerth Stølting Brodal" userId="04ef4784-6591-4f86-a140-f5c3b108582a" providerId="ADAL" clId="{73BAC7D6-516A-44B5-B4B0-C7B08CA8B392}" dt="2026-03-02T12:09:20.499" v="0" actId="790"/>
          <ac:spMkLst>
            <pc:docMk/>
            <pc:sldMk cId="3318931638" sldId="688"/>
            <ac:spMk id="6" creationId="{00000000-0000-0000-0000-000000000000}"/>
          </ac:spMkLst>
        </pc:spChg>
        <pc:spChg chg="mod">
          <ac:chgData name="Gerth Stølting Brodal" userId="04ef4784-6591-4f86-a140-f5c3b108582a" providerId="ADAL" clId="{73BAC7D6-516A-44B5-B4B0-C7B08CA8B392}" dt="2026-03-02T12:09:20.499" v="0" actId="790"/>
          <ac:spMkLst>
            <pc:docMk/>
            <pc:sldMk cId="3318931638" sldId="688"/>
            <ac:spMk id="8"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3318931638" sldId="688"/>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3318931638" sldId="688"/>
            <ac:graphicFrameMk id="13"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3318931638" sldId="688"/>
            <ac:graphicFrameMk id="18" creationId="{00000000-0000-0000-0000-000000000000}"/>
          </ac:graphicFrameMkLst>
        </pc:graphicFrameChg>
      </pc:sldChg>
      <pc:sldChg chg="modSp mod">
        <pc:chgData name="Gerth Stølting Brodal" userId="04ef4784-6591-4f86-a140-f5c3b108582a" providerId="ADAL" clId="{73BAC7D6-516A-44B5-B4B0-C7B08CA8B392}" dt="2026-03-02T12:09:20.499" v="0" actId="790"/>
        <pc:sldMkLst>
          <pc:docMk/>
          <pc:sldMk cId="1327406697" sldId="689"/>
        </pc:sldMkLst>
        <pc:spChg chg="mod">
          <ac:chgData name="Gerth Stølting Brodal" userId="04ef4784-6591-4f86-a140-f5c3b108582a" providerId="ADAL" clId="{73BAC7D6-516A-44B5-B4B0-C7B08CA8B392}" dt="2026-03-02T12:09:20.499" v="0" actId="790"/>
          <ac:spMkLst>
            <pc:docMk/>
            <pc:sldMk cId="1327406697" sldId="689"/>
            <ac:spMk id="2"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3"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5"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6"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14"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16"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17" creationId="{00000000-0000-0000-0000-000000000000}"/>
          </ac:spMkLst>
        </pc:spChg>
        <pc:spChg chg="mod">
          <ac:chgData name="Gerth Stølting Brodal" userId="04ef4784-6591-4f86-a140-f5c3b108582a" providerId="ADAL" clId="{73BAC7D6-516A-44B5-B4B0-C7B08CA8B392}" dt="2026-03-02T12:09:20.499" v="0" actId="790"/>
          <ac:spMkLst>
            <pc:docMk/>
            <pc:sldMk cId="1327406697" sldId="689"/>
            <ac:spMk id="19"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1327406697" sldId="689"/>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1327406697" sldId="689"/>
            <ac:graphicFrameMk id="18" creationId="{00000000-0000-0000-0000-000000000000}"/>
          </ac:graphicFrameMkLst>
        </pc:graphicFrameChg>
      </pc:sldChg>
      <pc:sldChg chg="modSp mod modNotesTx">
        <pc:chgData name="Gerth Stølting Brodal" userId="04ef4784-6591-4f86-a140-f5c3b108582a" providerId="ADAL" clId="{73BAC7D6-516A-44B5-B4B0-C7B08CA8B392}" dt="2026-03-04T05:15:32.581" v="395" actId="20577"/>
        <pc:sldMkLst>
          <pc:docMk/>
          <pc:sldMk cId="4066017642" sldId="690"/>
        </pc:sldMkLst>
        <pc:spChg chg="mod">
          <ac:chgData name="Gerth Stølting Brodal" userId="04ef4784-6591-4f86-a140-f5c3b108582a" providerId="ADAL" clId="{73BAC7D6-516A-44B5-B4B0-C7B08CA8B392}" dt="2026-03-02T12:09:20.499" v="0" actId="790"/>
          <ac:spMkLst>
            <pc:docMk/>
            <pc:sldMk cId="4066017642" sldId="690"/>
            <ac:spMk id="2" creationId="{00000000-0000-0000-0000-000000000000}"/>
          </ac:spMkLst>
        </pc:spChg>
        <pc:spChg chg="mod">
          <ac:chgData name="Gerth Stølting Brodal" userId="04ef4784-6591-4f86-a140-f5c3b108582a" providerId="ADAL" clId="{73BAC7D6-516A-44B5-B4B0-C7B08CA8B392}" dt="2026-03-02T12:09:20.499" v="0" actId="790"/>
          <ac:spMkLst>
            <pc:docMk/>
            <pc:sldMk cId="4066017642" sldId="690"/>
            <ac:spMk id="3" creationId="{00000000-0000-0000-0000-000000000000}"/>
          </ac:spMkLst>
        </pc:spChg>
        <pc:spChg chg="mod">
          <ac:chgData name="Gerth Stølting Brodal" userId="04ef4784-6591-4f86-a140-f5c3b108582a" providerId="ADAL" clId="{73BAC7D6-516A-44B5-B4B0-C7B08CA8B392}" dt="2026-03-02T12:09:20.499" v="0" actId="790"/>
          <ac:spMkLst>
            <pc:docMk/>
            <pc:sldMk cId="4066017642" sldId="690"/>
            <ac:spMk id="5" creationId="{00000000-0000-0000-0000-000000000000}"/>
          </ac:spMkLst>
        </pc:spChg>
        <pc:spChg chg="mod">
          <ac:chgData name="Gerth Stølting Brodal" userId="04ef4784-6591-4f86-a140-f5c3b108582a" providerId="ADAL" clId="{73BAC7D6-516A-44B5-B4B0-C7B08CA8B392}" dt="2026-03-02T12:09:20.499" v="0" actId="790"/>
          <ac:spMkLst>
            <pc:docMk/>
            <pc:sldMk cId="4066017642" sldId="690"/>
            <ac:spMk id="6" creationId="{00000000-0000-0000-0000-000000000000}"/>
          </ac:spMkLst>
        </pc:spChg>
        <pc:spChg chg="mod">
          <ac:chgData name="Gerth Stølting Brodal" userId="04ef4784-6591-4f86-a140-f5c3b108582a" providerId="ADAL" clId="{73BAC7D6-516A-44B5-B4B0-C7B08CA8B392}" dt="2026-03-02T12:09:20.499" v="0" actId="790"/>
          <ac:spMkLst>
            <pc:docMk/>
            <pc:sldMk cId="4066017642" sldId="690"/>
            <ac:spMk id="15" creationId="{00000000-0000-0000-0000-000000000000}"/>
          </ac:spMkLst>
        </pc:spChg>
        <pc:spChg chg="mod">
          <ac:chgData name="Gerth Stølting Brodal" userId="04ef4784-6591-4f86-a140-f5c3b108582a" providerId="ADAL" clId="{73BAC7D6-516A-44B5-B4B0-C7B08CA8B392}" dt="2026-03-02T12:09:20.499" v="0" actId="790"/>
          <ac:spMkLst>
            <pc:docMk/>
            <pc:sldMk cId="4066017642" sldId="690"/>
            <ac:spMk id="20"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4066017642" sldId="690"/>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066017642" sldId="690"/>
            <ac:graphicFrameMk id="13"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4066017642" sldId="690"/>
            <ac:graphicFrameMk id="18" creationId="{00000000-0000-0000-0000-000000000000}"/>
          </ac:graphicFrameMkLst>
        </pc:graphicFrameChg>
      </pc:sldChg>
      <pc:sldChg chg="addSp modSp mod addAnim delAnim modAnim modNotesTx">
        <pc:chgData name="Gerth Stølting Brodal" userId="04ef4784-6591-4f86-a140-f5c3b108582a" providerId="ADAL" clId="{73BAC7D6-516A-44B5-B4B0-C7B08CA8B392}" dt="2026-03-04T05:33:50.685" v="920" actId="1076"/>
        <pc:sldMkLst>
          <pc:docMk/>
          <pc:sldMk cId="1968748728" sldId="691"/>
        </pc:sldMkLst>
        <pc:spChg chg="mod">
          <ac:chgData name="Gerth Stølting Brodal" userId="04ef4784-6591-4f86-a140-f5c3b108582a" providerId="ADAL" clId="{73BAC7D6-516A-44B5-B4B0-C7B08CA8B392}" dt="2026-03-04T05:26:20.007" v="621" actId="1076"/>
          <ac:spMkLst>
            <pc:docMk/>
            <pc:sldMk cId="1968748728" sldId="691"/>
            <ac:spMk id="2" creationId="{00000000-0000-0000-0000-000000000000}"/>
          </ac:spMkLst>
        </pc:spChg>
        <pc:spChg chg="mod">
          <ac:chgData name="Gerth Stølting Brodal" userId="04ef4784-6591-4f86-a140-f5c3b108582a" providerId="ADAL" clId="{73BAC7D6-516A-44B5-B4B0-C7B08CA8B392}" dt="2026-03-04T05:24:24.448" v="608"/>
          <ac:spMkLst>
            <pc:docMk/>
            <pc:sldMk cId="1968748728" sldId="691"/>
            <ac:spMk id="8" creationId="{DA4AFD94-8B08-B55A-419D-D8C75E590CDE}"/>
          </ac:spMkLst>
        </pc:spChg>
        <pc:spChg chg="add mod">
          <ac:chgData name="Gerth Stølting Brodal" userId="04ef4784-6591-4f86-a140-f5c3b108582a" providerId="ADAL" clId="{73BAC7D6-516A-44B5-B4B0-C7B08CA8B392}" dt="2026-03-04T05:33:31.376" v="919" actId="1076"/>
          <ac:spMkLst>
            <pc:docMk/>
            <pc:sldMk cId="1968748728" sldId="691"/>
            <ac:spMk id="11" creationId="{804BC34C-4FCC-19E1-6472-038F072B226F}"/>
          </ac:spMkLst>
        </pc:spChg>
        <pc:spChg chg="mod">
          <ac:chgData name="Gerth Stølting Brodal" userId="04ef4784-6591-4f86-a140-f5c3b108582a" providerId="ADAL" clId="{73BAC7D6-516A-44B5-B4B0-C7B08CA8B392}" dt="2026-03-04T05:33:50.685" v="920" actId="1076"/>
          <ac:spMkLst>
            <pc:docMk/>
            <pc:sldMk cId="1968748728" sldId="691"/>
            <ac:spMk id="15" creationId="{00000000-0000-0000-0000-000000000000}"/>
          </ac:spMkLst>
        </pc:spChg>
        <pc:spChg chg="mod">
          <ac:chgData name="Gerth Stølting Brodal" userId="04ef4784-6591-4f86-a140-f5c3b108582a" providerId="ADAL" clId="{73BAC7D6-516A-44B5-B4B0-C7B08CA8B392}" dt="2026-03-04T05:24:23.729" v="607" actId="164"/>
          <ac:spMkLst>
            <pc:docMk/>
            <pc:sldMk cId="1968748728" sldId="691"/>
            <ac:spMk id="18" creationId="{00000000-0000-0000-0000-000000000000}"/>
          </ac:spMkLst>
        </pc:spChg>
        <pc:grpChg chg="add mod">
          <ac:chgData name="Gerth Stølting Brodal" userId="04ef4784-6591-4f86-a140-f5c3b108582a" providerId="ADAL" clId="{73BAC7D6-516A-44B5-B4B0-C7B08CA8B392}" dt="2026-03-04T05:26:02.748" v="619" actId="1076"/>
          <ac:grpSpMkLst>
            <pc:docMk/>
            <pc:sldMk cId="1968748728" sldId="691"/>
            <ac:grpSpMk id="5" creationId="{B0BED0AA-C56D-CCF2-371A-7324313BBF6B}"/>
          </ac:grpSpMkLst>
        </pc:grpChg>
        <pc:grpChg chg="add mod">
          <ac:chgData name="Gerth Stølting Brodal" userId="04ef4784-6591-4f86-a140-f5c3b108582a" providerId="ADAL" clId="{73BAC7D6-516A-44B5-B4B0-C7B08CA8B392}" dt="2026-03-04T05:27:10.268" v="624" actId="1035"/>
          <ac:grpSpMkLst>
            <pc:docMk/>
            <pc:sldMk cId="1968748728" sldId="691"/>
            <ac:grpSpMk id="6" creationId="{7208FCC4-64A7-653E-95CB-130ECB7B2479}"/>
          </ac:grpSpMkLst>
        </pc:grpChg>
        <pc:graphicFrameChg chg="add mod modGraphic">
          <ac:chgData name="Gerth Stølting Brodal" userId="04ef4784-6591-4f86-a140-f5c3b108582a" providerId="ADAL" clId="{73BAC7D6-516A-44B5-B4B0-C7B08CA8B392}" dt="2026-03-04T05:27:10.268" v="624" actId="1035"/>
          <ac:graphicFrameMkLst>
            <pc:docMk/>
            <pc:sldMk cId="1968748728" sldId="691"/>
            <ac:graphicFrameMk id="3" creationId="{9A506DDC-96F9-7D50-744A-D7293098E33E}"/>
          </ac:graphicFrameMkLst>
        </pc:graphicFrameChg>
        <pc:graphicFrameChg chg="mod modGraphic">
          <ac:chgData name="Gerth Stølting Brodal" userId="04ef4784-6591-4f86-a140-f5c3b108582a" providerId="ADAL" clId="{73BAC7D6-516A-44B5-B4B0-C7B08CA8B392}" dt="2026-03-04T05:26:02.748" v="619" actId="1076"/>
          <ac:graphicFrameMkLst>
            <pc:docMk/>
            <pc:sldMk cId="1968748728" sldId="691"/>
            <ac:graphicFrameMk id="4" creationId="{00000000-0000-0000-0000-000000000000}"/>
          </ac:graphicFrameMkLst>
        </pc:graphicFrameChg>
        <pc:graphicFrameChg chg="mod modGraphic">
          <ac:chgData name="Gerth Stølting Brodal" userId="04ef4784-6591-4f86-a140-f5c3b108582a" providerId="ADAL" clId="{73BAC7D6-516A-44B5-B4B0-C7B08CA8B392}" dt="2026-03-04T05:26:12.566" v="620" actId="1076"/>
          <ac:graphicFrameMkLst>
            <pc:docMk/>
            <pc:sldMk cId="1968748728" sldId="691"/>
            <ac:graphicFrameMk id="10" creationId="{00000000-0000-0000-0000-000000000000}"/>
          </ac:graphicFrameMkLst>
        </pc:graphicFrameChg>
        <pc:graphicFrameChg chg="mod modGraphic">
          <ac:chgData name="Gerth Stølting Brodal" userId="04ef4784-6591-4f86-a140-f5c3b108582a" providerId="ADAL" clId="{73BAC7D6-516A-44B5-B4B0-C7B08CA8B392}" dt="2026-03-04T05:26:02.748" v="619" actId="1076"/>
          <ac:graphicFrameMkLst>
            <pc:docMk/>
            <pc:sldMk cId="1968748728" sldId="691"/>
            <ac:graphicFrameMk id="13" creationId="{00000000-0000-0000-0000-000000000000}"/>
          </ac:graphicFrameMkLst>
        </pc:graphicFrameChg>
        <pc:cxnChg chg="mod">
          <ac:chgData name="Gerth Stølting Brodal" userId="04ef4784-6591-4f86-a140-f5c3b108582a" providerId="ADAL" clId="{73BAC7D6-516A-44B5-B4B0-C7B08CA8B392}" dt="2026-03-04T05:24:24.448" v="608"/>
          <ac:cxnSpMkLst>
            <pc:docMk/>
            <pc:sldMk cId="1968748728" sldId="691"/>
            <ac:cxnSpMk id="7" creationId="{4315005B-87B9-D512-BAA1-38EDCFF65119}"/>
          </ac:cxnSpMkLst>
        </pc:cxnChg>
        <pc:cxnChg chg="mod">
          <ac:chgData name="Gerth Stølting Brodal" userId="04ef4784-6591-4f86-a140-f5c3b108582a" providerId="ADAL" clId="{73BAC7D6-516A-44B5-B4B0-C7B08CA8B392}" dt="2026-03-04T05:25:53.258" v="618" actId="1076"/>
          <ac:cxnSpMkLst>
            <pc:docMk/>
            <pc:sldMk cId="1968748728" sldId="691"/>
            <ac:cxnSpMk id="14" creationId="{00000000-0000-0000-0000-000000000000}"/>
          </ac:cxnSpMkLst>
        </pc:cxnChg>
        <pc:cxnChg chg="mod">
          <ac:chgData name="Gerth Stølting Brodal" userId="04ef4784-6591-4f86-a140-f5c3b108582a" providerId="ADAL" clId="{73BAC7D6-516A-44B5-B4B0-C7B08CA8B392}" dt="2026-03-04T05:24:23.729" v="607" actId="164"/>
          <ac:cxnSpMkLst>
            <pc:docMk/>
            <pc:sldMk cId="1968748728" sldId="691"/>
            <ac:cxnSpMk id="16" creationId="{00000000-0000-0000-0000-000000000000}"/>
          </ac:cxnSpMkLst>
        </pc:cxnChg>
      </pc:sldChg>
      <pc:sldChg chg="modSp mod">
        <pc:chgData name="Gerth Stølting Brodal" userId="04ef4784-6591-4f86-a140-f5c3b108582a" providerId="ADAL" clId="{73BAC7D6-516A-44B5-B4B0-C7B08CA8B392}" dt="2026-03-04T05:41:23.819" v="938" actId="207"/>
        <pc:sldMkLst>
          <pc:docMk/>
          <pc:sldMk cId="3232688819" sldId="692"/>
        </pc:sldMkLst>
        <pc:spChg chg="mod">
          <ac:chgData name="Gerth Stølting Brodal" userId="04ef4784-6591-4f86-a140-f5c3b108582a" providerId="ADAL" clId="{73BAC7D6-516A-44B5-B4B0-C7B08CA8B392}" dt="2026-03-02T12:09:20.499" v="0" actId="790"/>
          <ac:spMkLst>
            <pc:docMk/>
            <pc:sldMk cId="3232688819" sldId="692"/>
            <ac:spMk id="2" creationId="{00000000-0000-0000-0000-000000000000}"/>
          </ac:spMkLst>
        </pc:spChg>
        <pc:spChg chg="mod">
          <ac:chgData name="Gerth Stølting Brodal" userId="04ef4784-6591-4f86-a140-f5c3b108582a" providerId="ADAL" clId="{73BAC7D6-516A-44B5-B4B0-C7B08CA8B392}" dt="2026-03-02T12:09:20.499" v="0" actId="790"/>
          <ac:spMkLst>
            <pc:docMk/>
            <pc:sldMk cId="3232688819" sldId="692"/>
            <ac:spMk id="3" creationId="{00000000-0000-0000-0000-000000000000}"/>
          </ac:spMkLst>
        </pc:spChg>
        <pc:spChg chg="mod">
          <ac:chgData name="Gerth Stølting Brodal" userId="04ef4784-6591-4f86-a140-f5c3b108582a" providerId="ADAL" clId="{73BAC7D6-516A-44B5-B4B0-C7B08CA8B392}" dt="2026-03-02T12:09:20.499" v="0" actId="790"/>
          <ac:spMkLst>
            <pc:docMk/>
            <pc:sldMk cId="3232688819" sldId="692"/>
            <ac:spMk id="5" creationId="{00000000-0000-0000-0000-000000000000}"/>
          </ac:spMkLst>
        </pc:spChg>
        <pc:graphicFrameChg chg="mod modGraphic">
          <ac:chgData name="Gerth Stølting Brodal" userId="04ef4784-6591-4f86-a140-f5c3b108582a" providerId="ADAL" clId="{73BAC7D6-516A-44B5-B4B0-C7B08CA8B392}" dt="2026-03-04T05:41:23.819" v="938" actId="207"/>
          <ac:graphicFrameMkLst>
            <pc:docMk/>
            <pc:sldMk cId="3232688819" sldId="692"/>
            <ac:graphicFrameMk id="6" creationId="{00000000-0000-0000-0000-000000000000}"/>
          </ac:graphicFrameMkLst>
        </pc:graphicFrameChg>
      </pc:sldChg>
      <pc:sldChg chg="modSp mod">
        <pc:chgData name="Gerth Stølting Brodal" userId="04ef4784-6591-4f86-a140-f5c3b108582a" providerId="ADAL" clId="{73BAC7D6-516A-44B5-B4B0-C7B08CA8B392}" dt="2026-03-04T05:51:03.893" v="982" actId="313"/>
        <pc:sldMkLst>
          <pc:docMk/>
          <pc:sldMk cId="3111229943" sldId="693"/>
        </pc:sldMkLst>
        <pc:spChg chg="mod">
          <ac:chgData name="Gerth Stølting Brodal" userId="04ef4784-6591-4f86-a140-f5c3b108582a" providerId="ADAL" clId="{73BAC7D6-516A-44B5-B4B0-C7B08CA8B392}" dt="2026-03-02T12:09:20.499" v="0" actId="790"/>
          <ac:spMkLst>
            <pc:docMk/>
            <pc:sldMk cId="3111229943" sldId="693"/>
            <ac:spMk id="2" creationId="{00000000-0000-0000-0000-000000000000}"/>
          </ac:spMkLst>
        </pc:spChg>
        <pc:spChg chg="mod">
          <ac:chgData name="Gerth Stølting Brodal" userId="04ef4784-6591-4f86-a140-f5c3b108582a" providerId="ADAL" clId="{73BAC7D6-516A-44B5-B4B0-C7B08CA8B392}" dt="2026-03-02T12:09:20.499" v="0" actId="790"/>
          <ac:spMkLst>
            <pc:docMk/>
            <pc:sldMk cId="3111229943" sldId="693"/>
            <ac:spMk id="6" creationId="{00000000-0000-0000-0000-000000000000}"/>
          </ac:spMkLst>
        </pc:spChg>
        <pc:graphicFrameChg chg="mod modGraphic">
          <ac:chgData name="Gerth Stølting Brodal" userId="04ef4784-6591-4f86-a140-f5c3b108582a" providerId="ADAL" clId="{73BAC7D6-516A-44B5-B4B0-C7B08CA8B392}" dt="2026-03-04T05:51:03.893" v="982" actId="313"/>
          <ac:graphicFrameMkLst>
            <pc:docMk/>
            <pc:sldMk cId="3111229943" sldId="693"/>
            <ac:graphicFrameMk id="4" creationId="{00000000-0000-0000-0000-000000000000}"/>
          </ac:graphicFrameMkLst>
        </pc:graphicFrameChg>
      </pc:sldChg>
      <pc:sldChg chg="modSp mod">
        <pc:chgData name="Gerth Stølting Brodal" userId="04ef4784-6591-4f86-a140-f5c3b108582a" providerId="ADAL" clId="{73BAC7D6-516A-44B5-B4B0-C7B08CA8B392}" dt="2026-03-02T12:09:20.499" v="0" actId="790"/>
        <pc:sldMkLst>
          <pc:docMk/>
          <pc:sldMk cId="3207864458" sldId="694"/>
        </pc:sldMkLst>
        <pc:spChg chg="mod">
          <ac:chgData name="Gerth Stølting Brodal" userId="04ef4784-6591-4f86-a140-f5c3b108582a" providerId="ADAL" clId="{73BAC7D6-516A-44B5-B4B0-C7B08CA8B392}" dt="2026-03-02T12:09:20.499" v="0" actId="790"/>
          <ac:spMkLst>
            <pc:docMk/>
            <pc:sldMk cId="3207864458" sldId="694"/>
            <ac:spMk id="2"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3207864458" sldId="694"/>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3207864458" sldId="694"/>
            <ac:graphicFrameMk id="11"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3207864458" sldId="694"/>
            <ac:graphicFrameMk id="12"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3207864458" sldId="694"/>
            <ac:graphicFrameMk id="13" creationId="{00000000-0000-0000-0000-000000000000}"/>
          </ac:graphicFrameMkLst>
        </pc:graphicFrameChg>
      </pc:sldChg>
      <pc:sldChg chg="modSp mod">
        <pc:chgData name="Gerth Stølting Brodal" userId="04ef4784-6591-4f86-a140-f5c3b108582a" providerId="ADAL" clId="{73BAC7D6-516A-44B5-B4B0-C7B08CA8B392}" dt="2026-03-04T05:49:56.527" v="966"/>
        <pc:sldMkLst>
          <pc:docMk/>
          <pc:sldMk cId="2881013406" sldId="695"/>
        </pc:sldMkLst>
        <pc:spChg chg="mod">
          <ac:chgData name="Gerth Stølting Brodal" userId="04ef4784-6591-4f86-a140-f5c3b108582a" providerId="ADAL" clId="{73BAC7D6-516A-44B5-B4B0-C7B08CA8B392}" dt="2026-03-02T12:09:20.499" v="0" actId="790"/>
          <ac:spMkLst>
            <pc:docMk/>
            <pc:sldMk cId="2881013406" sldId="695"/>
            <ac:spMk id="2" creationId="{00000000-0000-0000-0000-000000000000}"/>
          </ac:spMkLst>
        </pc:spChg>
        <pc:spChg chg="mod">
          <ac:chgData name="Gerth Stølting Brodal" userId="04ef4784-6591-4f86-a140-f5c3b108582a" providerId="ADAL" clId="{73BAC7D6-516A-44B5-B4B0-C7B08CA8B392}" dt="2026-03-04T05:49:56.527" v="966"/>
          <ac:spMkLst>
            <pc:docMk/>
            <pc:sldMk cId="2881013406" sldId="695"/>
            <ac:spMk id="3" creationId="{00000000-0000-0000-0000-000000000000}"/>
          </ac:spMkLst>
        </pc:spChg>
        <pc:spChg chg="mod">
          <ac:chgData name="Gerth Stølting Brodal" userId="04ef4784-6591-4f86-a140-f5c3b108582a" providerId="ADAL" clId="{73BAC7D6-516A-44B5-B4B0-C7B08CA8B392}" dt="2026-03-02T12:09:20.499" v="0" actId="790"/>
          <ac:spMkLst>
            <pc:docMk/>
            <pc:sldMk cId="2881013406" sldId="695"/>
            <ac:spMk id="5" creationId="{00000000-0000-0000-0000-000000000000}"/>
          </ac:spMkLst>
        </pc:spChg>
        <pc:spChg chg="mod">
          <ac:chgData name="Gerth Stølting Brodal" userId="04ef4784-6591-4f86-a140-f5c3b108582a" providerId="ADAL" clId="{73BAC7D6-516A-44B5-B4B0-C7B08CA8B392}" dt="2026-03-02T12:09:20.499" v="0" actId="790"/>
          <ac:spMkLst>
            <pc:docMk/>
            <pc:sldMk cId="2881013406" sldId="695"/>
            <ac:spMk id="13" creationId="{00000000-0000-0000-0000-000000000000}"/>
          </ac:spMkLst>
        </pc:spChg>
        <pc:graphicFrameChg chg="modGraphic">
          <ac:chgData name="Gerth Stølting Brodal" userId="04ef4784-6591-4f86-a140-f5c3b108582a" providerId="ADAL" clId="{73BAC7D6-516A-44B5-B4B0-C7B08CA8B392}" dt="2026-03-04T05:49:40.748" v="956" actId="313"/>
          <ac:graphicFrameMkLst>
            <pc:docMk/>
            <pc:sldMk cId="2881013406" sldId="695"/>
            <ac:graphicFrameMk id="4" creationId="{00000000-0000-0000-0000-000000000000}"/>
          </ac:graphicFrameMkLst>
        </pc:graphicFrameChg>
      </pc:sldChg>
      <pc:sldChg chg="addSp modSp mod modAnim">
        <pc:chgData name="Gerth Stølting Brodal" userId="04ef4784-6591-4f86-a140-f5c3b108582a" providerId="ADAL" clId="{73BAC7D6-516A-44B5-B4B0-C7B08CA8B392}" dt="2026-03-04T05:59:24.821" v="1010" actId="1076"/>
        <pc:sldMkLst>
          <pc:docMk/>
          <pc:sldMk cId="1983749371" sldId="696"/>
        </pc:sldMkLst>
        <pc:spChg chg="mod">
          <ac:chgData name="Gerth Stølting Brodal" userId="04ef4784-6591-4f86-a140-f5c3b108582a" providerId="ADAL" clId="{73BAC7D6-516A-44B5-B4B0-C7B08CA8B392}" dt="2026-03-04T05:59:24.821" v="1010" actId="1076"/>
          <ac:spMkLst>
            <pc:docMk/>
            <pc:sldMk cId="1983749371" sldId="696"/>
            <ac:spMk id="2" creationId="{00000000-0000-0000-0000-000000000000}"/>
          </ac:spMkLst>
        </pc:spChg>
        <pc:spChg chg="mod">
          <ac:chgData name="Gerth Stølting Brodal" userId="04ef4784-6591-4f86-a140-f5c3b108582a" providerId="ADAL" clId="{73BAC7D6-516A-44B5-B4B0-C7B08CA8B392}" dt="2026-03-02T12:09:20.499" v="0" actId="790"/>
          <ac:spMkLst>
            <pc:docMk/>
            <pc:sldMk cId="1983749371" sldId="696"/>
            <ac:spMk id="3" creationId="{00000000-0000-0000-0000-000000000000}"/>
          </ac:spMkLst>
        </pc:spChg>
        <pc:spChg chg="mod">
          <ac:chgData name="Gerth Stølting Brodal" userId="04ef4784-6591-4f86-a140-f5c3b108582a" providerId="ADAL" clId="{73BAC7D6-516A-44B5-B4B0-C7B08CA8B392}" dt="2026-03-02T12:09:20.499" v="0" actId="790"/>
          <ac:spMkLst>
            <pc:docMk/>
            <pc:sldMk cId="1983749371" sldId="696"/>
            <ac:spMk id="5" creationId="{00000000-0000-0000-0000-000000000000}"/>
          </ac:spMkLst>
        </pc:spChg>
        <pc:spChg chg="mod">
          <ac:chgData name="Gerth Stølting Brodal" userId="04ef4784-6591-4f86-a140-f5c3b108582a" providerId="ADAL" clId="{73BAC7D6-516A-44B5-B4B0-C7B08CA8B392}" dt="2026-03-04T05:58:45.259" v="1002" actId="313"/>
          <ac:spMkLst>
            <pc:docMk/>
            <pc:sldMk cId="1983749371" sldId="696"/>
            <ac:spMk id="6" creationId="{FEE6BC6B-68CC-437E-BFBA-9B24D826FAF6}"/>
          </ac:spMkLst>
        </pc:spChg>
        <pc:graphicFrameChg chg="mod modGraphic">
          <ac:chgData name="Gerth Stølting Brodal" userId="04ef4784-6591-4f86-a140-f5c3b108582a" providerId="ADAL" clId="{73BAC7D6-516A-44B5-B4B0-C7B08CA8B392}" dt="2026-03-04T05:59:17.142" v="1009" actId="1076"/>
          <ac:graphicFrameMkLst>
            <pc:docMk/>
            <pc:sldMk cId="1983749371" sldId="696"/>
            <ac:graphicFrameMk id="4" creationId="{00000000-0000-0000-0000-000000000000}"/>
          </ac:graphicFrameMkLst>
        </pc:graphicFrameChg>
        <pc:graphicFrameChg chg="add mod modGraphic">
          <ac:chgData name="Gerth Stølting Brodal" userId="04ef4784-6591-4f86-a140-f5c3b108582a" providerId="ADAL" clId="{73BAC7D6-516A-44B5-B4B0-C7B08CA8B392}" dt="2026-03-04T05:57:40.324" v="996" actId="962"/>
          <ac:graphicFrameMkLst>
            <pc:docMk/>
            <pc:sldMk cId="1983749371" sldId="696"/>
            <ac:graphicFrameMk id="7" creationId="{A7E9FD67-C47B-0470-704B-29B86941CBB0}"/>
          </ac:graphicFrameMkLst>
        </pc:graphicFrameChg>
      </pc:sldChg>
      <pc:sldChg chg="modSp mod">
        <pc:chgData name="Gerth Stølting Brodal" userId="04ef4784-6591-4f86-a140-f5c3b108582a" providerId="ADAL" clId="{73BAC7D6-516A-44B5-B4B0-C7B08CA8B392}" dt="2026-03-02T12:09:20.499" v="0" actId="790"/>
        <pc:sldMkLst>
          <pc:docMk/>
          <pc:sldMk cId="323315896" sldId="697"/>
        </pc:sldMkLst>
        <pc:spChg chg="mod">
          <ac:chgData name="Gerth Stølting Brodal" userId="04ef4784-6591-4f86-a140-f5c3b108582a" providerId="ADAL" clId="{73BAC7D6-516A-44B5-B4B0-C7B08CA8B392}" dt="2026-03-02T12:09:20.499" v="0" actId="790"/>
          <ac:spMkLst>
            <pc:docMk/>
            <pc:sldMk cId="323315896" sldId="697"/>
            <ac:spMk id="2" creationId="{00000000-0000-0000-0000-000000000000}"/>
          </ac:spMkLst>
        </pc:spChg>
        <pc:spChg chg="mod">
          <ac:chgData name="Gerth Stølting Brodal" userId="04ef4784-6591-4f86-a140-f5c3b108582a" providerId="ADAL" clId="{73BAC7D6-516A-44B5-B4B0-C7B08CA8B392}" dt="2026-03-02T12:09:20.499" v="0" actId="790"/>
          <ac:spMkLst>
            <pc:docMk/>
            <pc:sldMk cId="323315896" sldId="697"/>
            <ac:spMk id="3"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323315896" sldId="697"/>
            <ac:graphicFrameMk id="4" creationId="{00000000-0000-0000-0000-000000000000}"/>
          </ac:graphicFrameMkLst>
        </pc:graphicFrameChg>
      </pc:sldChg>
      <pc:sldChg chg="modSp mod modNotesTx">
        <pc:chgData name="Gerth Stølting Brodal" userId="04ef4784-6591-4f86-a140-f5c3b108582a" providerId="ADAL" clId="{73BAC7D6-516A-44B5-B4B0-C7B08CA8B392}" dt="2026-03-04T06:04:52.901" v="1015" actId="2711"/>
        <pc:sldMkLst>
          <pc:docMk/>
          <pc:sldMk cId="776451279" sldId="698"/>
        </pc:sldMkLst>
        <pc:spChg chg="mod">
          <ac:chgData name="Gerth Stølting Brodal" userId="04ef4784-6591-4f86-a140-f5c3b108582a" providerId="ADAL" clId="{73BAC7D6-516A-44B5-B4B0-C7B08CA8B392}" dt="2026-03-02T12:09:20.499" v="0" actId="790"/>
          <ac:spMkLst>
            <pc:docMk/>
            <pc:sldMk cId="776451279" sldId="698"/>
            <ac:spMk id="2" creationId="{00000000-0000-0000-0000-000000000000}"/>
          </ac:spMkLst>
        </pc:spChg>
        <pc:spChg chg="mod">
          <ac:chgData name="Gerth Stølting Brodal" userId="04ef4784-6591-4f86-a140-f5c3b108582a" providerId="ADAL" clId="{73BAC7D6-516A-44B5-B4B0-C7B08CA8B392}" dt="2026-03-04T06:04:52.901" v="1015" actId="2711"/>
          <ac:spMkLst>
            <pc:docMk/>
            <pc:sldMk cId="776451279" sldId="698"/>
            <ac:spMk id="3" creationId="{00000000-0000-0000-0000-000000000000}"/>
          </ac:spMkLst>
        </pc:spChg>
        <pc:graphicFrameChg chg="modGraphic">
          <ac:chgData name="Gerth Stølting Brodal" userId="04ef4784-6591-4f86-a140-f5c3b108582a" providerId="ADAL" clId="{73BAC7D6-516A-44B5-B4B0-C7B08CA8B392}" dt="2026-03-02T12:09:20.499" v="0" actId="790"/>
          <ac:graphicFrameMkLst>
            <pc:docMk/>
            <pc:sldMk cId="776451279" sldId="698"/>
            <ac:graphicFrameMk id="4" creationId="{00000000-0000-0000-0000-000000000000}"/>
          </ac:graphicFrameMkLst>
        </pc:graphicFrameChg>
        <pc:graphicFrameChg chg="mod modGraphic">
          <ac:chgData name="Gerth Stølting Brodal" userId="04ef4784-6591-4f86-a140-f5c3b108582a" providerId="ADAL" clId="{73BAC7D6-516A-44B5-B4B0-C7B08CA8B392}" dt="2026-03-04T05:51:10.342" v="983" actId="313"/>
          <ac:graphicFrameMkLst>
            <pc:docMk/>
            <pc:sldMk cId="776451279" sldId="698"/>
            <ac:graphicFrameMk id="5" creationId="{00000000-0000-0000-0000-000000000000}"/>
          </ac:graphicFrameMkLst>
        </pc:graphicFrameChg>
      </pc:sldChg>
      <pc:sldChg chg="modSp mod modNotesTx">
        <pc:chgData name="Gerth Stølting Brodal" userId="04ef4784-6591-4f86-a140-f5c3b108582a" providerId="ADAL" clId="{73BAC7D6-516A-44B5-B4B0-C7B08CA8B392}" dt="2026-03-04T06:19:44.158" v="1290" actId="313"/>
        <pc:sldMkLst>
          <pc:docMk/>
          <pc:sldMk cId="3840876851" sldId="699"/>
        </pc:sldMkLst>
        <pc:spChg chg="mod">
          <ac:chgData name="Gerth Stølting Brodal" userId="04ef4784-6591-4f86-a140-f5c3b108582a" providerId="ADAL" clId="{73BAC7D6-516A-44B5-B4B0-C7B08CA8B392}" dt="2026-03-02T12:09:20.499" v="0" actId="790"/>
          <ac:spMkLst>
            <pc:docMk/>
            <pc:sldMk cId="3840876851" sldId="699"/>
            <ac:spMk id="2" creationId="{00000000-0000-0000-0000-000000000000}"/>
          </ac:spMkLst>
        </pc:spChg>
        <pc:spChg chg="mod">
          <ac:chgData name="Gerth Stølting Brodal" userId="04ef4784-6591-4f86-a140-f5c3b108582a" providerId="ADAL" clId="{73BAC7D6-516A-44B5-B4B0-C7B08CA8B392}" dt="2026-03-02T12:09:20.499" v="0" actId="790"/>
          <ac:spMkLst>
            <pc:docMk/>
            <pc:sldMk cId="3840876851" sldId="699"/>
            <ac:spMk id="7" creationId="{00000000-0000-0000-0000-000000000000}"/>
          </ac:spMkLst>
        </pc:spChg>
        <pc:graphicFrameChg chg="mod modGraphic">
          <ac:chgData name="Gerth Stølting Brodal" userId="04ef4784-6591-4f86-a140-f5c3b108582a" providerId="ADAL" clId="{73BAC7D6-516A-44B5-B4B0-C7B08CA8B392}" dt="2026-03-04T05:49:56.527" v="966"/>
          <ac:graphicFrameMkLst>
            <pc:docMk/>
            <pc:sldMk cId="3840876851" sldId="699"/>
            <ac:graphicFrameMk id="4" creationId="{00000000-0000-0000-0000-000000000000}"/>
          </ac:graphicFrameMkLst>
        </pc:graphicFrameChg>
        <pc:graphicFrameChg chg="modGraphic">
          <ac:chgData name="Gerth Stølting Brodal" userId="04ef4784-6591-4f86-a140-f5c3b108582a" providerId="ADAL" clId="{73BAC7D6-516A-44B5-B4B0-C7B08CA8B392}" dt="2026-03-02T12:09:20.499" v="0" actId="790"/>
          <ac:graphicFrameMkLst>
            <pc:docMk/>
            <pc:sldMk cId="3840876851" sldId="699"/>
            <ac:graphicFrameMk id="5" creationId="{00000000-0000-0000-0000-000000000000}"/>
          </ac:graphicFrameMkLst>
        </pc:graphicFrameChg>
      </pc:sldChg>
      <pc:sldChg chg="modSp mod modNotes">
        <pc:chgData name="Gerth Stølting Brodal" userId="04ef4784-6591-4f86-a140-f5c3b108582a" providerId="ADAL" clId="{73BAC7D6-516A-44B5-B4B0-C7B08CA8B392}" dt="2026-03-04T05:49:56.527" v="966"/>
        <pc:sldMkLst>
          <pc:docMk/>
          <pc:sldMk cId="4082157600" sldId="700"/>
        </pc:sldMkLst>
        <pc:spChg chg="mod">
          <ac:chgData name="Gerth Stølting Brodal" userId="04ef4784-6591-4f86-a140-f5c3b108582a" providerId="ADAL" clId="{73BAC7D6-516A-44B5-B4B0-C7B08CA8B392}" dt="2026-03-02T12:09:20.499" v="0" actId="790"/>
          <ac:spMkLst>
            <pc:docMk/>
            <pc:sldMk cId="4082157600" sldId="700"/>
            <ac:spMk id="2" creationId="{00000000-0000-0000-0000-000000000000}"/>
          </ac:spMkLst>
        </pc:spChg>
        <pc:spChg chg="mod">
          <ac:chgData name="Gerth Stølting Brodal" userId="04ef4784-6591-4f86-a140-f5c3b108582a" providerId="ADAL" clId="{73BAC7D6-516A-44B5-B4B0-C7B08CA8B392}" dt="2026-03-02T12:09:20.499" v="0" actId="790"/>
          <ac:spMkLst>
            <pc:docMk/>
            <pc:sldMk cId="4082157600" sldId="700"/>
            <ac:spMk id="10" creationId="{00000000-0000-0000-0000-000000000000}"/>
          </ac:spMkLst>
        </pc:spChg>
        <pc:spChg chg="mod">
          <ac:chgData name="Gerth Stølting Brodal" userId="04ef4784-6591-4f86-a140-f5c3b108582a" providerId="ADAL" clId="{73BAC7D6-516A-44B5-B4B0-C7B08CA8B392}" dt="2026-03-02T12:09:20.499" v="0" actId="790"/>
          <ac:spMkLst>
            <pc:docMk/>
            <pc:sldMk cId="4082157600" sldId="700"/>
            <ac:spMk id="16" creationId="{00000000-0000-0000-0000-000000000000}"/>
          </ac:spMkLst>
        </pc:spChg>
        <pc:spChg chg="mod">
          <ac:chgData name="Gerth Stølting Brodal" userId="04ef4784-6591-4f86-a140-f5c3b108582a" providerId="ADAL" clId="{73BAC7D6-516A-44B5-B4B0-C7B08CA8B392}" dt="2026-03-02T12:09:20.499" v="0" actId="790"/>
          <ac:spMkLst>
            <pc:docMk/>
            <pc:sldMk cId="4082157600" sldId="700"/>
            <ac:spMk id="20" creationId="{00000000-0000-0000-0000-000000000000}"/>
          </ac:spMkLst>
        </pc:spChg>
        <pc:graphicFrameChg chg="mod modGraphic">
          <ac:chgData name="Gerth Stølting Brodal" userId="04ef4784-6591-4f86-a140-f5c3b108582a" providerId="ADAL" clId="{73BAC7D6-516A-44B5-B4B0-C7B08CA8B392}" dt="2026-03-04T05:42:36.578" v="944"/>
          <ac:graphicFrameMkLst>
            <pc:docMk/>
            <pc:sldMk cId="4082157600" sldId="700"/>
            <ac:graphicFrameMk id="7" creationId="{00000000-0000-0000-0000-000000000000}"/>
          </ac:graphicFrameMkLst>
        </pc:graphicFrameChg>
        <pc:graphicFrameChg chg="mod modGraphic">
          <ac:chgData name="Gerth Stølting Brodal" userId="04ef4784-6591-4f86-a140-f5c3b108582a" providerId="ADAL" clId="{73BAC7D6-516A-44B5-B4B0-C7B08CA8B392}" dt="2026-03-04T05:42:47.247" v="948"/>
          <ac:graphicFrameMkLst>
            <pc:docMk/>
            <pc:sldMk cId="4082157600" sldId="700"/>
            <ac:graphicFrameMk id="8" creationId="{00000000-0000-0000-0000-000000000000}"/>
          </ac:graphicFrameMkLst>
        </pc:graphicFrameChg>
      </pc:sldChg>
      <pc:sldChg chg="modSp mod addAnim delAnim modNotesTx">
        <pc:chgData name="Gerth Stølting Brodal" userId="04ef4784-6591-4f86-a140-f5c3b108582a" providerId="ADAL" clId="{73BAC7D6-516A-44B5-B4B0-C7B08CA8B392}" dt="2026-03-04T06:17:48.301" v="1177" actId="20577"/>
        <pc:sldMkLst>
          <pc:docMk/>
          <pc:sldMk cId="923762653" sldId="701"/>
        </pc:sldMkLst>
        <pc:spChg chg="mod">
          <ac:chgData name="Gerth Stølting Brodal" userId="04ef4784-6591-4f86-a140-f5c3b108582a" providerId="ADAL" clId="{73BAC7D6-516A-44B5-B4B0-C7B08CA8B392}" dt="2026-03-02T12:09:20.499" v="0" actId="790"/>
          <ac:spMkLst>
            <pc:docMk/>
            <pc:sldMk cId="923762653" sldId="701"/>
            <ac:spMk id="2" creationId="{4A5645FE-B263-6B12-9647-79B1518D104E}"/>
          </ac:spMkLst>
        </pc:spChg>
        <pc:spChg chg="mod">
          <ac:chgData name="Gerth Stølting Brodal" userId="04ef4784-6591-4f86-a140-f5c3b108582a" providerId="ADAL" clId="{73BAC7D6-516A-44B5-B4B0-C7B08CA8B392}" dt="2026-03-04T06:17:18.036" v="1176" actId="21"/>
          <ac:spMkLst>
            <pc:docMk/>
            <pc:sldMk cId="923762653" sldId="701"/>
            <ac:spMk id="9" creationId="{31B27B3B-62B7-98FC-F209-5EBE9B81FAF6}"/>
          </ac:spMkLst>
        </pc:spChg>
        <pc:graphicFrameChg chg="modGraphic">
          <ac:chgData name="Gerth Stølting Brodal" userId="04ef4784-6591-4f86-a140-f5c3b108582a" providerId="ADAL" clId="{73BAC7D6-516A-44B5-B4B0-C7B08CA8B392}" dt="2026-03-02T12:09:20.499" v="0" actId="790"/>
          <ac:graphicFrameMkLst>
            <pc:docMk/>
            <pc:sldMk cId="923762653" sldId="701"/>
            <ac:graphicFrameMk id="6" creationId="{4B2DEBA8-48BF-76BA-9C6B-7F6C2D260592}"/>
          </ac:graphicFrameMkLst>
        </pc:graphicFrameChg>
        <pc:cxnChg chg="mod">
          <ac:chgData name="Gerth Stølting Brodal" userId="04ef4784-6591-4f86-a140-f5c3b108582a" providerId="ADAL" clId="{73BAC7D6-516A-44B5-B4B0-C7B08CA8B392}" dt="2026-03-04T06:16:52.360" v="1173" actId="14100"/>
          <ac:cxnSpMkLst>
            <pc:docMk/>
            <pc:sldMk cId="923762653" sldId="701"/>
            <ac:cxnSpMk id="8" creationId="{D2A93F9E-AED5-ACA8-C8B2-7566EE841E4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1A172F-81D4-4DC4-9113-1DBD56EC3646}"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563DD8-32AB-41BE-B1C6-8EAC45222ACE}" type="slidenum">
              <a:rPr lang="en-US" smtClean="0"/>
              <a:t>‹#›</a:t>
            </a:fld>
            <a:endParaRPr lang="en-US"/>
          </a:p>
        </p:txBody>
      </p:sp>
    </p:spTree>
    <p:extLst>
      <p:ext uri="{BB962C8B-B14F-4D97-AF65-F5344CB8AC3E}">
        <p14:creationId xmlns:p14="http://schemas.microsoft.com/office/powerpoint/2010/main" val="278350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specific  - not good programming style</a:t>
            </a:r>
          </a:p>
        </p:txBody>
      </p:sp>
      <p:sp>
        <p:nvSpPr>
          <p:cNvPr id="4" name="Slide Number Placeholder 3"/>
          <p:cNvSpPr>
            <a:spLocks noGrp="1"/>
          </p:cNvSpPr>
          <p:nvPr>
            <p:ph type="sldNum" sz="quarter" idx="10"/>
          </p:nvPr>
        </p:nvSpPr>
        <p:spPr/>
        <p:txBody>
          <a:bodyPr/>
          <a:lstStyle/>
          <a:p>
            <a:fld id="{CD563DD8-32AB-41BE-B1C6-8EAC45222ACE}" type="slidenum">
              <a:rPr lang="en-US" smtClean="0"/>
              <a:t>2</a:t>
            </a:fld>
            <a:endParaRPr lang="en-US"/>
          </a:p>
        </p:txBody>
      </p:sp>
    </p:spTree>
    <p:extLst>
      <p:ext uri="{BB962C8B-B14F-4D97-AF65-F5344CB8AC3E}">
        <p14:creationId xmlns:p14="http://schemas.microsoft.com/office/powerpoint/2010/main" val="2970961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3</a:t>
            </a:fld>
            <a:endParaRPr lang="en-US"/>
          </a:p>
        </p:txBody>
      </p:sp>
    </p:spTree>
    <p:extLst>
      <p:ext uri="{BB962C8B-B14F-4D97-AF65-F5344CB8AC3E}">
        <p14:creationId xmlns:p14="http://schemas.microsoft.com/office/powerpoint/2010/main" val="2582227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4</a:t>
            </a:fld>
            <a:endParaRPr lang="en-US"/>
          </a:p>
        </p:txBody>
      </p:sp>
    </p:spTree>
    <p:extLst>
      <p:ext uri="{BB962C8B-B14F-4D97-AF65-F5344CB8AC3E}">
        <p14:creationId xmlns:p14="http://schemas.microsoft.com/office/powerpoint/2010/main" val="899235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5</a:t>
            </a:fld>
            <a:endParaRPr lang="en-US"/>
          </a:p>
        </p:txBody>
      </p:sp>
    </p:spTree>
    <p:extLst>
      <p:ext uri="{BB962C8B-B14F-4D97-AF65-F5344CB8AC3E}">
        <p14:creationId xmlns:p14="http://schemas.microsoft.com/office/powerpoint/2010/main" val="3891537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6</a:t>
            </a:fld>
            <a:endParaRPr lang="en-US"/>
          </a:p>
        </p:txBody>
      </p:sp>
    </p:spTree>
    <p:extLst>
      <p:ext uri="{BB962C8B-B14F-4D97-AF65-F5344CB8AC3E}">
        <p14:creationId xmlns:p14="http://schemas.microsoft.com/office/powerpoint/2010/main" val="3326850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super() alone returns a temporary object of the superclass that then allows you to call that superclass’s methods.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Forward pointer: If you know what the super class is, you can use either. But if the super class is not yet known you need to use super, which can happen when using multiple inheritance, where the parent class is first defined used the method resolution order (MRO)</a:t>
            </a:r>
          </a:p>
          <a:p>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7</a:t>
            </a:fld>
            <a:endParaRPr lang="en-US"/>
          </a:p>
        </p:txBody>
      </p:sp>
    </p:spTree>
    <p:extLst>
      <p:ext uri="{BB962C8B-B14F-4D97-AF65-F5344CB8AC3E}">
        <p14:creationId xmlns:p14="http://schemas.microsoft.com/office/powerpoint/2010/main" val="3723850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t>
            </a:r>
            <a:r>
              <a:rPr lang="en-US" dirty="0" err="1"/>
              <a:t>DD.set_name</a:t>
            </a:r>
            <a:r>
              <a:rPr lang="en-US" dirty="0"/>
              <a:t>(’Donald Duck’) first looks int object, then in Student class, then in Person class</a:t>
            </a:r>
          </a:p>
        </p:txBody>
      </p:sp>
      <p:sp>
        <p:nvSpPr>
          <p:cNvPr id="4" name="Slide Number Placeholder 3"/>
          <p:cNvSpPr>
            <a:spLocks noGrp="1"/>
          </p:cNvSpPr>
          <p:nvPr>
            <p:ph type="sldNum" sz="quarter" idx="10"/>
          </p:nvPr>
        </p:nvSpPr>
        <p:spPr/>
        <p:txBody>
          <a:bodyPr/>
          <a:lstStyle/>
          <a:p>
            <a:fld id="{CD563DD8-32AB-41BE-B1C6-8EAC45222ACE}" type="slidenum">
              <a:rPr lang="en-US" smtClean="0"/>
              <a:t>8</a:t>
            </a:fld>
            <a:endParaRPr lang="en-US"/>
          </a:p>
        </p:txBody>
      </p:sp>
    </p:spTree>
    <p:extLst>
      <p:ext uri="{BB962C8B-B14F-4D97-AF65-F5344CB8AC3E}">
        <p14:creationId xmlns:p14="http://schemas.microsoft.com/office/powerpoint/2010/main" val="4243967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Class </a:t>
            </a:r>
            <a:r>
              <a:rPr lang="da-DK" dirty="0" err="1"/>
              <a:t>object</a:t>
            </a:r>
            <a:r>
              <a:rPr lang="da-DK" dirty="0"/>
              <a:t> has </a:t>
            </a:r>
            <a:r>
              <a:rPr lang="da-DK" dirty="0" err="1"/>
              <a:t>some</a:t>
            </a:r>
            <a:r>
              <a:rPr lang="da-DK" dirty="0"/>
              <a:t> </a:t>
            </a:r>
            <a:r>
              <a:rPr lang="da-DK" dirty="0" err="1"/>
              <a:t>restrictions</a:t>
            </a:r>
            <a:r>
              <a:rPr lang="da-DK" dirty="0"/>
              <a:t>; </a:t>
            </a:r>
            <a:r>
              <a:rPr lang="da-DK" dirty="0" err="1"/>
              <a:t>e.g</a:t>
            </a:r>
            <a:r>
              <a:rPr lang="da-DK" dirty="0"/>
              <a:t>. </a:t>
            </a:r>
            <a:r>
              <a:rPr lang="da-DK" dirty="0" err="1"/>
              <a:t>cannot</a:t>
            </a:r>
            <a:r>
              <a:rPr lang="da-DK" dirty="0"/>
              <a:t> </a:t>
            </a:r>
            <a:r>
              <a:rPr lang="da-DK" dirty="0" err="1"/>
              <a:t>create</a:t>
            </a:r>
            <a:r>
              <a:rPr lang="da-DK" dirty="0"/>
              <a:t> </a:t>
            </a:r>
            <a:r>
              <a:rPr lang="da-DK" dirty="0" err="1"/>
              <a:t>attributes</a:t>
            </a:r>
            <a:r>
              <a:rPr lang="da-DK" dirty="0"/>
              <a:t> on </a:t>
            </a:r>
            <a:r>
              <a:rPr lang="da-DK" dirty="0" err="1"/>
              <a:t>objects</a:t>
            </a:r>
            <a:r>
              <a:rPr lang="da-DK" dirty="0"/>
              <a:t> of class </a:t>
            </a:r>
            <a:r>
              <a:rPr lang="da-DK" dirty="0" err="1"/>
              <a:t>object</a:t>
            </a:r>
            <a:r>
              <a:rPr lang="da-DK" dirty="0"/>
              <a:t>; </a:t>
            </a:r>
            <a:r>
              <a:rPr lang="da-DK" dirty="0" err="1"/>
              <a:t>you</a:t>
            </a:r>
            <a:r>
              <a:rPr lang="da-DK" dirty="0"/>
              <a:t> </a:t>
            </a:r>
            <a:r>
              <a:rPr lang="da-DK" dirty="0" err="1"/>
              <a:t>need</a:t>
            </a:r>
            <a:r>
              <a:rPr lang="da-DK" dirty="0"/>
              <a:t> to </a:t>
            </a:r>
            <a:r>
              <a:rPr lang="da-DK" dirty="0" err="1"/>
              <a:t>create</a:t>
            </a:r>
            <a:r>
              <a:rPr lang="da-DK" dirty="0"/>
              <a:t> a </a:t>
            </a:r>
            <a:r>
              <a:rPr lang="da-DK" dirty="0" err="1"/>
              <a:t>subclasss</a:t>
            </a:r>
            <a:endParaRPr lang="da-DK" dirty="0"/>
          </a:p>
          <a:p>
            <a:endParaRPr lang="da-DK" dirty="0"/>
          </a:p>
          <a:p>
            <a:r>
              <a:rPr lang="da-DK" dirty="0"/>
              <a:t>o = </a:t>
            </a:r>
            <a:r>
              <a:rPr lang="da-DK" dirty="0" err="1"/>
              <a:t>object</a:t>
            </a:r>
            <a:r>
              <a:rPr lang="da-DK" dirty="0"/>
              <a:t>()</a:t>
            </a:r>
          </a:p>
          <a:p>
            <a:r>
              <a:rPr lang="da-DK" dirty="0" err="1"/>
              <a:t>o.x</a:t>
            </a:r>
            <a:r>
              <a:rPr lang="da-DK" dirty="0"/>
              <a:t> = 7  # </a:t>
            </a:r>
            <a:r>
              <a:rPr lang="da-DK" dirty="0" err="1"/>
              <a:t>fails</a:t>
            </a:r>
            <a:endParaRPr lang="da-DK" dirty="0"/>
          </a:p>
          <a:p>
            <a:r>
              <a:rPr lang="da-DK" dirty="0"/>
              <a:t>class C(</a:t>
            </a:r>
            <a:r>
              <a:rPr lang="da-DK" dirty="0" err="1"/>
              <a:t>object</a:t>
            </a:r>
            <a:r>
              <a:rPr lang="da-DK" dirty="0"/>
              <a:t>): </a:t>
            </a:r>
            <a:r>
              <a:rPr lang="da-DK" dirty="0" err="1"/>
              <a:t>pass</a:t>
            </a:r>
            <a:endParaRPr lang="da-DK" dirty="0"/>
          </a:p>
          <a:p>
            <a:r>
              <a:rPr lang="da-DK" dirty="0"/>
              <a:t>o = C()</a:t>
            </a:r>
          </a:p>
          <a:p>
            <a:r>
              <a:rPr lang="da-DK" dirty="0" err="1"/>
              <a:t>o.x</a:t>
            </a:r>
            <a:r>
              <a:rPr lang="da-DK" dirty="0"/>
              <a:t> = 7  # </a:t>
            </a:r>
            <a:r>
              <a:rPr lang="da-DK" dirty="0" err="1"/>
              <a:t>succeeds</a:t>
            </a:r>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9</a:t>
            </a:fld>
            <a:endParaRPr lang="en-US"/>
          </a:p>
        </p:txBody>
      </p:sp>
    </p:spTree>
    <p:extLst>
      <p:ext uri="{BB962C8B-B14F-4D97-AF65-F5344CB8AC3E}">
        <p14:creationId xmlns:p14="http://schemas.microsoft.com/office/powerpoint/2010/main" val="302676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563DD8-32AB-41BE-B1C6-8EAC45222ACE}" type="slidenum">
              <a:rPr lang="en-US" smtClean="0"/>
              <a:t>10</a:t>
            </a:fld>
            <a:endParaRPr lang="en-US"/>
          </a:p>
        </p:txBody>
      </p:sp>
    </p:spTree>
    <p:extLst>
      <p:ext uri="{BB962C8B-B14F-4D97-AF65-F5344CB8AC3E}">
        <p14:creationId xmlns:p14="http://schemas.microsoft.com/office/powerpoint/2010/main" val="212713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overriding in a subclass can be used to inject functionality into a subclass</a:t>
            </a:r>
            <a:endParaRPr lang="da-DK" dirty="0"/>
          </a:p>
        </p:txBody>
      </p:sp>
      <p:sp>
        <p:nvSpPr>
          <p:cNvPr id="4" name="Slide Number Placeholder 3"/>
          <p:cNvSpPr>
            <a:spLocks noGrp="1"/>
          </p:cNvSpPr>
          <p:nvPr>
            <p:ph type="sldNum" sz="quarter" idx="5"/>
          </p:nvPr>
        </p:nvSpPr>
        <p:spPr/>
        <p:txBody>
          <a:bodyPr/>
          <a:lstStyle/>
          <a:p>
            <a:fld id="{CD563DD8-32AB-41BE-B1C6-8EAC45222ACE}" type="slidenum">
              <a:rPr lang="en-US" smtClean="0"/>
              <a:t>11</a:t>
            </a:fld>
            <a:endParaRPr lang="en-US"/>
          </a:p>
        </p:txBody>
      </p:sp>
    </p:spTree>
    <p:extLst>
      <p:ext uri="{BB962C8B-B14F-4D97-AF65-F5344CB8AC3E}">
        <p14:creationId xmlns:p14="http://schemas.microsoft.com/office/powerpoint/2010/main" val="1539779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example from previous slide)</a:t>
            </a:r>
          </a:p>
          <a:p>
            <a:r>
              <a:rPr lang="en-US" dirty="0"/>
              <a:t>Alternative:</a:t>
            </a:r>
            <a:r>
              <a:rPr lang="en-US" baseline="0" dirty="0"/>
              <a:t> In class A make an implementation of g that throws an exception “</a:t>
            </a:r>
            <a:r>
              <a:rPr lang="en-US" sz="1200" kern="1200" dirty="0">
                <a:solidFill>
                  <a:schemeClr val="tx1"/>
                </a:solidFill>
                <a:latin typeface="+mn-lt"/>
                <a:ea typeface="+mn-ea"/>
                <a:cs typeface="+mn-cs"/>
              </a:rPr>
              <a:t>raise </a:t>
            </a:r>
            <a:r>
              <a:rPr lang="en-US" sz="1200" kern="1200" dirty="0" err="1">
                <a:solidFill>
                  <a:schemeClr val="tx1"/>
                </a:solidFill>
                <a:latin typeface="+mn-lt"/>
                <a:ea typeface="+mn-ea"/>
                <a:cs typeface="+mn-cs"/>
              </a:rPr>
              <a:t>NotImplementedError</a:t>
            </a:r>
            <a:r>
              <a:rPr lang="en-US" sz="1200" kern="1200" dirty="0">
                <a:solidFill>
                  <a:schemeClr val="tx1"/>
                </a:solidFill>
                <a:latin typeface="+mn-lt"/>
                <a:ea typeface="+mn-ea"/>
                <a:cs typeface="+mn-cs"/>
              </a:rPr>
              <a:t>()”</a:t>
            </a:r>
            <a:r>
              <a:rPr lang="en-US" baseline="0" dirty="0"/>
              <a:t>, or just “pass” – then one could also create instances of A in Java</a:t>
            </a:r>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12</a:t>
            </a:fld>
            <a:endParaRPr lang="en-US"/>
          </a:p>
        </p:txBody>
      </p:sp>
    </p:spTree>
    <p:extLst>
      <p:ext uri="{BB962C8B-B14F-4D97-AF65-F5344CB8AC3E}">
        <p14:creationId xmlns:p14="http://schemas.microsoft.com/office/powerpoint/2010/main" val="15266220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a:t>
            </a:r>
            <a:r>
              <a:rPr lang="en-US" baseline="0" dirty="0"/>
              <a:t> code as previous slide, except g -&gt; __g</a:t>
            </a:r>
            <a:endParaRPr lang="en-US" dirty="0"/>
          </a:p>
        </p:txBody>
      </p:sp>
      <p:sp>
        <p:nvSpPr>
          <p:cNvPr id="4" name="Slide Number Placeholder 3"/>
          <p:cNvSpPr>
            <a:spLocks noGrp="1"/>
          </p:cNvSpPr>
          <p:nvPr>
            <p:ph type="sldNum" sz="quarter" idx="10"/>
          </p:nvPr>
        </p:nvSpPr>
        <p:spPr/>
        <p:txBody>
          <a:bodyPr/>
          <a:lstStyle/>
          <a:p>
            <a:fld id="{CD563DD8-32AB-41BE-B1C6-8EAC45222ACE}" type="slidenum">
              <a:rPr lang="en-US" smtClean="0"/>
              <a:t>13</a:t>
            </a:fld>
            <a:endParaRPr lang="en-US"/>
          </a:p>
        </p:txBody>
      </p:sp>
    </p:spTree>
    <p:extLst>
      <p:ext uri="{BB962C8B-B14F-4D97-AF65-F5344CB8AC3E}">
        <p14:creationId xmlns:p14="http://schemas.microsoft.com/office/powerpoint/2010/main" val="53700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code injection</a:t>
            </a:r>
            <a:r>
              <a:rPr lang="en-US" baseline="0" dirty="0"/>
              <a:t> using multiple inheritance, and where body of new class is empty</a:t>
            </a:r>
          </a:p>
          <a:p>
            <a:endParaRPr lang="en-US" baseline="0" dirty="0"/>
          </a:p>
        </p:txBody>
      </p:sp>
      <p:sp>
        <p:nvSpPr>
          <p:cNvPr id="4" name="Slide Number Placeholder 3"/>
          <p:cNvSpPr>
            <a:spLocks noGrp="1"/>
          </p:cNvSpPr>
          <p:nvPr>
            <p:ph type="sldNum" sz="quarter" idx="10"/>
          </p:nvPr>
        </p:nvSpPr>
        <p:spPr/>
        <p:txBody>
          <a:bodyPr/>
          <a:lstStyle/>
          <a:p>
            <a:fld id="{CD563DD8-32AB-41BE-B1C6-8EAC45222ACE}" type="slidenum">
              <a:rPr lang="en-US" smtClean="0"/>
              <a:t>16</a:t>
            </a:fld>
            <a:endParaRPr lang="en-US"/>
          </a:p>
        </p:txBody>
      </p:sp>
    </p:spTree>
    <p:extLst>
      <p:ext uri="{BB962C8B-B14F-4D97-AF65-F5344CB8AC3E}">
        <p14:creationId xmlns:p14="http://schemas.microsoft.com/office/powerpoint/2010/main" val="1801719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257 and 6 </a:t>
            </a:r>
            <a:r>
              <a:rPr lang="da-DK" dirty="0" err="1"/>
              <a:t>could</a:t>
            </a:r>
            <a:r>
              <a:rPr lang="da-DK" dirty="0"/>
              <a:t> </a:t>
            </a:r>
            <a:r>
              <a:rPr lang="da-DK" dirty="0" err="1"/>
              <a:t>change</a:t>
            </a:r>
            <a:r>
              <a:rPr lang="da-DK" dirty="0"/>
              <a:t> with the Python version (holds for Python 3.14)</a:t>
            </a:r>
            <a:endParaRPr lang="en-US" dirty="0"/>
          </a:p>
        </p:txBody>
      </p:sp>
      <p:sp>
        <p:nvSpPr>
          <p:cNvPr id="4" name="Slide Number Placeholder 3"/>
          <p:cNvSpPr>
            <a:spLocks noGrp="1"/>
          </p:cNvSpPr>
          <p:nvPr>
            <p:ph type="sldNum" sz="quarter" idx="5"/>
          </p:nvPr>
        </p:nvSpPr>
        <p:spPr/>
        <p:txBody>
          <a:bodyPr/>
          <a:lstStyle/>
          <a:p>
            <a:fld id="{CD563DD8-32AB-41BE-B1C6-8EAC45222ACE}" type="slidenum">
              <a:rPr lang="en-US" smtClean="0"/>
              <a:t>18</a:t>
            </a:fld>
            <a:endParaRPr lang="en-US"/>
          </a:p>
        </p:txBody>
      </p:sp>
    </p:spTree>
    <p:extLst>
      <p:ext uri="{BB962C8B-B14F-4D97-AF65-F5344CB8AC3E}">
        <p14:creationId xmlns:p14="http://schemas.microsoft.com/office/powerpoint/2010/main" val="40375941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All </a:t>
            </a:r>
            <a:r>
              <a:rPr lang="da-DK" dirty="0" err="1"/>
              <a:t>classes</a:t>
            </a:r>
            <a:r>
              <a:rPr lang="da-DK" dirty="0"/>
              <a:t> </a:t>
            </a:r>
            <a:r>
              <a:rPr lang="da-DK" dirty="0" err="1"/>
              <a:t>are</a:t>
            </a:r>
            <a:r>
              <a:rPr lang="da-DK" dirty="0"/>
              <a:t> </a:t>
            </a:r>
            <a:r>
              <a:rPr lang="da-DK" dirty="0" err="1"/>
              <a:t>subclasses</a:t>
            </a:r>
            <a:r>
              <a:rPr lang="da-DK" dirty="0"/>
              <a:t> of the </a:t>
            </a:r>
            <a:r>
              <a:rPr lang="da-DK" dirty="0" err="1"/>
              <a:t>object</a:t>
            </a:r>
            <a:r>
              <a:rPr lang="da-DK" dirty="0"/>
              <a:t> class</a:t>
            </a:r>
          </a:p>
          <a:p>
            <a:r>
              <a:rPr lang="da-DK" dirty="0"/>
              <a:t>The class </a:t>
            </a:r>
            <a:r>
              <a:rPr lang="da-DK" dirty="0" err="1"/>
              <a:t>decorator</a:t>
            </a:r>
            <a:r>
              <a:rPr lang="da-DK" dirty="0"/>
              <a:t> @functools.total_ordering  </a:t>
            </a:r>
            <a:r>
              <a:rPr lang="da-DK" dirty="0" err="1"/>
              <a:t>exploits</a:t>
            </a:r>
            <a:r>
              <a:rPr lang="da-DK" dirty="0"/>
              <a:t> </a:t>
            </a:r>
            <a:r>
              <a:rPr lang="da-DK" dirty="0" err="1"/>
              <a:t>this</a:t>
            </a:r>
            <a:r>
              <a:rPr lang="da-DK" dirty="0"/>
              <a:t> to </a:t>
            </a:r>
            <a:r>
              <a:rPr lang="da-DK" dirty="0" err="1"/>
              <a:t>add</a:t>
            </a:r>
            <a:r>
              <a:rPr lang="da-DK" dirty="0"/>
              <a:t> __le__ </a:t>
            </a:r>
            <a:r>
              <a:rPr lang="da-DK" dirty="0" err="1"/>
              <a:t>etc</a:t>
            </a:r>
            <a:r>
              <a:rPr lang="da-DK" dirty="0"/>
              <a:t> to a class </a:t>
            </a:r>
            <a:r>
              <a:rPr lang="da-DK" dirty="0" err="1"/>
              <a:t>if</a:t>
            </a:r>
            <a:r>
              <a:rPr lang="da-DK" dirty="0"/>
              <a:t> </a:t>
            </a:r>
            <a:r>
              <a:rPr lang="da-DK" dirty="0" err="1"/>
              <a:t>only</a:t>
            </a:r>
            <a:r>
              <a:rPr lang="da-DK" dirty="0"/>
              <a:t> __lt__ is </a:t>
            </a:r>
            <a:r>
              <a:rPr lang="da-DK" dirty="0" err="1"/>
              <a:t>defined</a:t>
            </a:r>
            <a:r>
              <a:rPr lang="da-DK" dirty="0"/>
              <a:t>.</a:t>
            </a:r>
          </a:p>
        </p:txBody>
      </p:sp>
      <p:sp>
        <p:nvSpPr>
          <p:cNvPr id="4" name="Slide Number Placeholder 3"/>
          <p:cNvSpPr>
            <a:spLocks noGrp="1"/>
          </p:cNvSpPr>
          <p:nvPr>
            <p:ph type="sldNum" sz="quarter" idx="5"/>
          </p:nvPr>
        </p:nvSpPr>
        <p:spPr/>
        <p:txBody>
          <a:bodyPr/>
          <a:lstStyle/>
          <a:p>
            <a:fld id="{CD563DD8-32AB-41BE-B1C6-8EAC45222ACE}" type="slidenum">
              <a:rPr lang="en-US" smtClean="0"/>
              <a:t>20</a:t>
            </a:fld>
            <a:endParaRPr lang="en-US"/>
          </a:p>
        </p:txBody>
      </p:sp>
    </p:spTree>
    <p:extLst>
      <p:ext uri="{BB962C8B-B14F-4D97-AF65-F5344CB8AC3E}">
        <p14:creationId xmlns:p14="http://schemas.microsoft.com/office/powerpoint/2010/main" val="721478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float, C++ would report error, Python would not print anything, since </a:t>
            </a:r>
            <a:r>
              <a:rPr lang="en-US"/>
              <a:t>no “else:”</a:t>
            </a:r>
          </a:p>
        </p:txBody>
      </p:sp>
      <p:sp>
        <p:nvSpPr>
          <p:cNvPr id="4" name="Slide Number Placeholder 3"/>
          <p:cNvSpPr>
            <a:spLocks noGrp="1"/>
          </p:cNvSpPr>
          <p:nvPr>
            <p:ph type="sldNum" sz="quarter" idx="5"/>
          </p:nvPr>
        </p:nvSpPr>
        <p:spPr/>
        <p:txBody>
          <a:bodyPr/>
          <a:lstStyle/>
          <a:p>
            <a:fld id="{CD563DD8-32AB-41BE-B1C6-8EAC45222ACE}" type="slidenum">
              <a:rPr lang="en-US" smtClean="0"/>
              <a:t>21</a:t>
            </a:fld>
            <a:endParaRPr lang="en-US"/>
          </a:p>
        </p:txBody>
      </p:sp>
    </p:spTree>
    <p:extLst>
      <p:ext uri="{BB962C8B-B14F-4D97-AF65-F5344CB8AC3E}">
        <p14:creationId xmlns:p14="http://schemas.microsoft.com/office/powerpoint/2010/main" val="1232343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60A9CD-0304-4E0B-9E82-E7E0115DE05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3771682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357188" indent="-357188">
              <a:buClr>
                <a:srgbClr val="C00000"/>
              </a:buClr>
              <a:buFont typeface="Wingdings" panose="05000000000000000000" pitchFamily="2" charset="2"/>
              <a:buChar char="§"/>
              <a:defRPr/>
            </a:lvl1pPr>
            <a:lvl2pPr>
              <a:buClr>
                <a:srgbClr val="C00000"/>
              </a:buClr>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560A9CD-0304-4E0B-9E82-E7E0115DE05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1971473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0A9CD-0304-4E0B-9E82-E7E0115DE05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1490645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60A9CD-0304-4E0B-9E82-E7E0115DE05B}"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1746052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60A9CD-0304-4E0B-9E82-E7E0115DE05B}"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2675978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60A9CD-0304-4E0B-9E82-E7E0115DE05B}"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29593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0A9CD-0304-4E0B-9E82-E7E0115DE05B}"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2819479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0A9CD-0304-4E0B-9E82-E7E0115DE05B}"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3616789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0A9CD-0304-4E0B-9E82-E7E0115DE05B}"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1406811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60A9CD-0304-4E0B-9E82-E7E0115DE05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59860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60A9CD-0304-4E0B-9E82-E7E0115DE05B}"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963A6A-E3D0-469A-8682-26234C6E37FA}" type="slidenum">
              <a:rPr lang="en-US" smtClean="0"/>
              <a:t>‹#›</a:t>
            </a:fld>
            <a:endParaRPr lang="en-US"/>
          </a:p>
        </p:txBody>
      </p:sp>
    </p:spTree>
    <p:extLst>
      <p:ext uri="{BB962C8B-B14F-4D97-AF65-F5344CB8AC3E}">
        <p14:creationId xmlns:p14="http://schemas.microsoft.com/office/powerpoint/2010/main" val="2310641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0A9CD-0304-4E0B-9E82-E7E0115DE05B}" type="datetimeFigureOut">
              <a:rPr lang="en-US" smtClean="0"/>
              <a:t>3/4/2026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963A6A-E3D0-469A-8682-26234C6E37FA}" type="slidenum">
              <a:rPr lang="en-US" smtClean="0"/>
              <a:t>‹#›</a:t>
            </a:fld>
            <a:endParaRPr lang="en-US"/>
          </a:p>
        </p:txBody>
      </p:sp>
    </p:spTree>
    <p:extLst>
      <p:ext uri="{BB962C8B-B14F-4D97-AF65-F5344CB8AC3E}">
        <p14:creationId xmlns:p14="http://schemas.microsoft.com/office/powerpoint/2010/main" val="26607961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rgbClr val="C0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control.ppt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631" y="2920558"/>
            <a:ext cx="10991197" cy="1325563"/>
          </a:xfrm>
        </p:spPr>
        <p:txBody>
          <a:bodyPr/>
          <a:lstStyle/>
          <a:p>
            <a:pPr algn="r"/>
            <a:r>
              <a:rPr lang="en-US" noProof="0" dirty="0"/>
              <a:t>Class </a:t>
            </a:r>
            <a:r>
              <a:rPr lang="en-US" noProof="0" dirty="0" err="1"/>
              <a:t>hierarcies</a:t>
            </a:r>
            <a:endParaRPr lang="en-US" noProof="0" dirty="0"/>
          </a:p>
        </p:txBody>
      </p:sp>
      <p:sp>
        <p:nvSpPr>
          <p:cNvPr id="3" name="Content Placeholder 2"/>
          <p:cNvSpPr>
            <a:spLocks noGrp="1"/>
          </p:cNvSpPr>
          <p:nvPr>
            <p:ph idx="1"/>
          </p:nvPr>
        </p:nvSpPr>
        <p:spPr>
          <a:xfrm>
            <a:off x="7936355" y="3920647"/>
            <a:ext cx="3995057" cy="2937353"/>
          </a:xfrm>
        </p:spPr>
        <p:txBody>
          <a:bodyPr>
            <a:normAutofit/>
          </a:bodyPr>
          <a:lstStyle/>
          <a:p>
            <a:r>
              <a:rPr lang="en-US" noProof="0" dirty="0"/>
              <a:t>inheritance</a:t>
            </a:r>
          </a:p>
          <a:p>
            <a:r>
              <a:rPr lang="en-US" noProof="0" dirty="0"/>
              <a:t>method overriding</a:t>
            </a:r>
          </a:p>
          <a:p>
            <a:r>
              <a:rPr lang="en-US" noProof="0" dirty="0"/>
              <a:t>super</a:t>
            </a:r>
          </a:p>
          <a:p>
            <a:r>
              <a:rPr lang="en-US" noProof="0" dirty="0"/>
              <a:t>multiple inheritance</a:t>
            </a:r>
          </a:p>
        </p:txBody>
      </p:sp>
    </p:spTree>
    <p:extLst>
      <p:ext uri="{BB962C8B-B14F-4D97-AF65-F5344CB8AC3E}">
        <p14:creationId xmlns:p14="http://schemas.microsoft.com/office/powerpoint/2010/main" val="1006511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873" y="145919"/>
            <a:ext cx="6621049" cy="1325563"/>
          </a:xfrm>
        </p:spPr>
        <p:txBody>
          <a:bodyPr/>
          <a:lstStyle/>
          <a:p>
            <a:r>
              <a:rPr lang="en-US" noProof="0" dirty="0"/>
              <a:t>Calling methods of a class</a:t>
            </a:r>
          </a:p>
        </p:txBody>
      </p:sp>
      <p:sp>
        <p:nvSpPr>
          <p:cNvPr id="3" name="Content Placeholder 2"/>
          <p:cNvSpPr>
            <a:spLocks noGrp="1"/>
          </p:cNvSpPr>
          <p:nvPr>
            <p:ph idx="1"/>
          </p:nvPr>
        </p:nvSpPr>
        <p:spPr>
          <a:xfrm>
            <a:off x="838199" y="1825624"/>
            <a:ext cx="5550243" cy="4600227"/>
          </a:xfrm>
        </p:spPr>
        <p:txBody>
          <a:bodyPr>
            <a:normAutofit/>
          </a:bodyPr>
          <a:lstStyle/>
          <a:p>
            <a:r>
              <a:rPr lang="en-US" noProof="0" dirty="0"/>
              <a:t>If an object </a:t>
            </a:r>
            <a:r>
              <a:rPr lang="en-US" i="1" noProof="0" dirty="0">
                <a:latin typeface="Courier New" panose="02070309020205020404" pitchFamily="49" charset="0"/>
                <a:cs typeface="Courier New" panose="02070309020205020404" pitchFamily="49" charset="0"/>
              </a:rPr>
              <a:t>obj</a:t>
            </a:r>
            <a:r>
              <a:rPr lang="en-US" noProof="0" dirty="0"/>
              <a:t> of class </a:t>
            </a:r>
            <a:r>
              <a:rPr lang="en-US" i="1" noProof="0" dirty="0">
                <a:latin typeface="Courier New" panose="02070309020205020404" pitchFamily="49" charset="0"/>
                <a:cs typeface="Courier New" panose="02070309020205020404" pitchFamily="49" charset="0"/>
              </a:rPr>
              <a:t>C</a:t>
            </a:r>
            <a:r>
              <a:rPr lang="en-US" noProof="0" dirty="0"/>
              <a:t> has a method </a:t>
            </a:r>
            <a:r>
              <a:rPr lang="en-US" noProof="0" dirty="0" err="1">
                <a:latin typeface="Courier New" panose="02070309020205020404" pitchFamily="49" charset="0"/>
                <a:cs typeface="Courier New" panose="02070309020205020404" pitchFamily="49" charset="0"/>
              </a:rPr>
              <a:t>method</a:t>
            </a:r>
            <a:r>
              <a:rPr lang="en-US" noProof="0" dirty="0"/>
              <a:t>, then usually you call </a:t>
            </a:r>
            <a:r>
              <a:rPr lang="en-US" i="1" noProof="0" dirty="0" err="1">
                <a:latin typeface="Courier New" panose="02070309020205020404" pitchFamily="49" charset="0"/>
                <a:cs typeface="Courier New" panose="02070309020205020404" pitchFamily="49" charset="0"/>
              </a:rPr>
              <a:t>obj</a:t>
            </a:r>
            <a:r>
              <a:rPr lang="en-US" noProof="0" dirty="0" err="1">
                <a:latin typeface="Courier New" panose="02070309020205020404" pitchFamily="49" charset="0"/>
                <a:cs typeface="Courier New" panose="02070309020205020404" pitchFamily="49" charset="0"/>
              </a:rPr>
              <a:t>.</a:t>
            </a:r>
            <a:r>
              <a:rPr lang="en-US" i="1" noProof="0" dirty="0" err="1">
                <a:latin typeface="Courier New" panose="02070309020205020404" pitchFamily="49" charset="0"/>
                <a:cs typeface="Courier New" panose="02070309020205020404" pitchFamily="49" charset="0"/>
              </a:rPr>
              <a:t>method</a:t>
            </a:r>
            <a:r>
              <a:rPr lang="en-US" noProof="0" dirty="0">
                <a:latin typeface="Courier New" panose="02070309020205020404" pitchFamily="49" charset="0"/>
                <a:cs typeface="Courier New" panose="02070309020205020404" pitchFamily="49" charset="0"/>
              </a:rPr>
              <a:t>()</a:t>
            </a:r>
          </a:p>
          <a:p>
            <a:endParaRPr lang="en-US" noProof="0" dirty="0">
              <a:latin typeface="Courier New" panose="02070309020205020404" pitchFamily="49" charset="0"/>
              <a:cs typeface="Courier New" panose="02070309020205020404" pitchFamily="49" charset="0"/>
            </a:endParaRPr>
          </a:p>
          <a:p>
            <a:r>
              <a:rPr lang="en-US" noProof="0" dirty="0"/>
              <a:t>It is possible (but rarely necessary) to call the method in the class directly using </a:t>
            </a:r>
            <a:r>
              <a:rPr lang="en-US" i="1" noProof="0" dirty="0" err="1">
                <a:latin typeface="Courier New" panose="02070309020205020404" pitchFamily="49" charset="0"/>
                <a:cs typeface="Courier New" panose="02070309020205020404" pitchFamily="49" charset="0"/>
              </a:rPr>
              <a:t>C</a:t>
            </a:r>
            <a:r>
              <a:rPr lang="en-US" noProof="0" dirty="0" err="1">
                <a:latin typeface="Courier New" panose="02070309020205020404" pitchFamily="49" charset="0"/>
                <a:cs typeface="Courier New" panose="02070309020205020404" pitchFamily="49" charset="0"/>
              </a:rPr>
              <a:t>.</a:t>
            </a:r>
            <a:r>
              <a:rPr lang="en-US" i="1" noProof="0" dirty="0" err="1">
                <a:latin typeface="Courier New" panose="02070309020205020404" pitchFamily="49" charset="0"/>
                <a:cs typeface="Courier New" panose="02070309020205020404" pitchFamily="49" charset="0"/>
              </a:rPr>
              <a:t>method</a:t>
            </a:r>
            <a:r>
              <a:rPr lang="en-US" noProof="0" dirty="0"/>
              <a:t>, where the object is the first argument</a:t>
            </a:r>
            <a:endParaRPr lang="en-US" noProof="0" dirty="0">
              <a:latin typeface="Courier New" panose="02070309020205020404" pitchFamily="49" charset="0"/>
              <a:cs typeface="Courier New" panose="02070309020205020404" pitchFamily="49" charset="0"/>
            </a:endParaRPr>
          </a:p>
          <a:p>
            <a:pPr marL="0" indent="0" algn="ctr">
              <a:buNone/>
            </a:pPr>
            <a:r>
              <a:rPr lang="en-US" i="1" noProof="0" dirty="0" err="1">
                <a:solidFill>
                  <a:srgbClr val="C00000"/>
                </a:solidFill>
                <a:latin typeface="Courier New" panose="02070309020205020404" pitchFamily="49" charset="0"/>
                <a:cs typeface="Courier New" panose="02070309020205020404" pitchFamily="49" charset="0"/>
              </a:rPr>
              <a:t>C</a:t>
            </a:r>
            <a:r>
              <a:rPr lang="en-US" noProof="0" dirty="0" err="1">
                <a:solidFill>
                  <a:srgbClr val="C00000"/>
                </a:solidFill>
                <a:latin typeface="Courier New" panose="02070309020205020404" pitchFamily="49" charset="0"/>
                <a:cs typeface="Courier New" panose="02070309020205020404" pitchFamily="49" charset="0"/>
              </a:rPr>
              <a:t>.</a:t>
            </a:r>
            <a:r>
              <a:rPr lang="en-US" i="1" noProof="0" dirty="0" err="1">
                <a:solidFill>
                  <a:srgbClr val="C00000"/>
                </a:solidFill>
                <a:latin typeface="Courier New" panose="02070309020205020404" pitchFamily="49" charset="0"/>
                <a:cs typeface="Courier New" panose="02070309020205020404" pitchFamily="49" charset="0"/>
              </a:rPr>
              <a:t>method</a:t>
            </a:r>
            <a:r>
              <a:rPr lang="en-US" noProof="0" dirty="0">
                <a:solidFill>
                  <a:srgbClr val="C00000"/>
                </a:solidFill>
                <a:latin typeface="Courier New" panose="02070309020205020404" pitchFamily="49" charset="0"/>
                <a:cs typeface="Courier New" panose="02070309020205020404" pitchFamily="49" charset="0"/>
              </a:rPr>
              <a:t>(</a:t>
            </a:r>
            <a:r>
              <a:rPr lang="en-US" i="1" noProof="0" dirty="0">
                <a:solidFill>
                  <a:srgbClr val="C00000"/>
                </a:solidFill>
                <a:latin typeface="Courier New" panose="02070309020205020404" pitchFamily="49" charset="0"/>
                <a:cs typeface="Courier New" panose="02070309020205020404" pitchFamily="49" charset="0"/>
              </a:rPr>
              <a:t>obj</a:t>
            </a:r>
            <a:r>
              <a:rPr lang="en-US" noProof="0" dirty="0">
                <a:solidFill>
                  <a:srgbClr val="C00000"/>
                </a:solidFill>
                <a:latin typeface="Courier New" panose="02070309020205020404" pitchFamily="49" charset="0"/>
                <a:cs typeface="Courier New" panose="02070309020205020404" pitchFamily="49" charset="0"/>
              </a:rPr>
              <a:t>)</a:t>
            </a:r>
          </a:p>
        </p:txBody>
      </p:sp>
      <p:graphicFrame>
        <p:nvGraphicFramePr>
          <p:cNvPr id="4" name="Table 3"/>
          <p:cNvGraphicFramePr>
            <a:graphicFrameLocks noGrp="1"/>
          </p:cNvGraphicFramePr>
          <p:nvPr>
            <p:extLst>
              <p:ext uri="{D42A27DB-BD31-4B8C-83A1-F6EECF244321}">
                <p14:modId xmlns:p14="http://schemas.microsoft.com/office/powerpoint/2010/main" val="2469923829"/>
              </p:ext>
            </p:extLst>
          </p:nvPr>
        </p:nvGraphicFramePr>
        <p:xfrm>
          <a:off x="7530811" y="640080"/>
          <a:ext cx="4005580" cy="5577840"/>
        </p:xfrm>
        <a:graphic>
          <a:graphicData uri="http://schemas.openxmlformats.org/drawingml/2006/table">
            <a:tbl>
              <a:tblPr firstRow="1" bandRow="1">
                <a:tableStyleId>{5C22544A-7EE6-4342-B048-85BDC9FD1C3A}</a:tableStyleId>
              </a:tblPr>
              <a:tblGrid>
                <a:gridCol w="4005580">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X.py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latin typeface="Courier New" panose="02070309020205020404" pitchFamily="49" charset="0"/>
                          <a:cs typeface="Courier New" panose="02070309020205020404" pitchFamily="49" charset="0"/>
                        </a:rPr>
                        <a:t> X:</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set_x</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 x):</a:t>
                      </a:r>
                    </a:p>
                    <a:p>
                      <a:r>
                        <a:rPr lang="en-US" sz="1800" b="1" noProof="0" dirty="0">
                          <a:latin typeface="Courier New" panose="02070309020205020404" pitchFamily="49" charset="0"/>
                          <a:cs typeface="Courier New" panose="02070309020205020404" pitchFamily="49" charset="0"/>
                        </a:rPr>
                        <a:t>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latin typeface="Courier New" panose="02070309020205020404" pitchFamily="49" charset="0"/>
                          <a:cs typeface="Courier New" panose="02070309020205020404" pitchFamily="49" charset="0"/>
                        </a:rPr>
                        <a:t>.x</a:t>
                      </a:r>
                      <a:r>
                        <a:rPr lang="en-US" sz="1800" b="1" noProof="0" dirty="0">
                          <a:latin typeface="Courier New" panose="02070309020205020404" pitchFamily="49" charset="0"/>
                          <a:cs typeface="Courier New" panose="02070309020205020404" pitchFamily="49" charset="0"/>
                        </a:rPr>
                        <a:t> = x</a:t>
                      </a:r>
                    </a:p>
                    <a:p>
                      <a:endParaRPr lang="en-US" sz="1800" b="1" noProof="0" dirty="0">
                        <a:latin typeface="Courier New" panose="02070309020205020404" pitchFamily="49" charset="0"/>
                        <a:cs typeface="Courier New" panose="02070309020205020404" pitchFamily="49" charset="0"/>
                      </a:endParaRP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get_x</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return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latin typeface="Courier New" panose="02070309020205020404" pitchFamily="49" charset="0"/>
                          <a:cs typeface="Courier New" panose="02070309020205020404" pitchFamily="49" charset="0"/>
                        </a:rPr>
                        <a:t>.x</a:t>
                      </a:r>
                      <a:endParaRPr lang="en-US" sz="1800" b="1" noProof="0" dirty="0">
                        <a:latin typeface="Courier New" panose="02070309020205020404" pitchFamily="49" charset="0"/>
                        <a:cs typeface="Courier New" panose="02070309020205020404" pitchFamily="49" charset="0"/>
                      </a:endParaRPr>
                    </a:p>
                    <a:p>
                      <a:endParaRPr lang="en-US" sz="1800" b="1" noProof="0" dirty="0">
                        <a:latin typeface="Courier New" panose="02070309020205020404" pitchFamily="49" charset="0"/>
                        <a:cs typeface="Courier New" panose="02070309020205020404" pitchFamily="49" charset="0"/>
                      </a:endParaRPr>
                    </a:p>
                    <a:p>
                      <a:r>
                        <a:rPr lang="en-US" sz="1800" b="1" noProof="0" dirty="0">
                          <a:latin typeface="Courier New" panose="02070309020205020404" pitchFamily="49" charset="0"/>
                          <a:cs typeface="Courier New" panose="02070309020205020404" pitchFamily="49" charset="0"/>
                        </a:rPr>
                        <a:t>obj = X()</a:t>
                      </a:r>
                    </a:p>
                    <a:p>
                      <a:endParaRPr lang="en-US" sz="1800" b="1" noProof="0" dirty="0">
                        <a:latin typeface="Courier New" panose="02070309020205020404" pitchFamily="49" charset="0"/>
                        <a:cs typeface="Courier New" panose="02070309020205020404" pitchFamily="49" charset="0"/>
                      </a:endParaRPr>
                    </a:p>
                    <a:p>
                      <a:r>
                        <a:rPr lang="en-US" sz="1800" b="1" noProof="0" dirty="0" err="1">
                          <a:latin typeface="Courier New" panose="02070309020205020404" pitchFamily="49" charset="0"/>
                          <a:cs typeface="Courier New" panose="02070309020205020404" pitchFamily="49" charset="0"/>
                        </a:rPr>
                        <a:t>obj.set_x</a:t>
                      </a:r>
                      <a:r>
                        <a:rPr lang="en-US" sz="1800" b="1" noProof="0" dirty="0">
                          <a:latin typeface="Courier New" panose="02070309020205020404" pitchFamily="49" charset="0"/>
                          <a:cs typeface="Courier New" panose="02070309020205020404" pitchFamily="49" charset="0"/>
                        </a:rPr>
                        <a:t>(42)</a:t>
                      </a:r>
                    </a:p>
                    <a:p>
                      <a:endParaRPr lang="en-US" sz="1800" b="1" noProof="0" dirty="0">
                        <a:latin typeface="Courier New" panose="02070309020205020404" pitchFamily="49" charset="0"/>
                        <a:cs typeface="Courier New" panose="02070309020205020404" pitchFamily="49" charset="0"/>
                      </a:endParaRPr>
                    </a:p>
                    <a:p>
                      <a:r>
                        <a:rPr lang="en-US" sz="1800" b="1" noProof="0" dirty="0">
                          <a:latin typeface="Courier New" panose="02070309020205020404" pitchFamily="49" charset="0"/>
                          <a:cs typeface="Courier New" panose="02070309020205020404" pitchFamily="49" charset="0"/>
                        </a:rPr>
                        <a:t>print(f'{</a:t>
                      </a:r>
                      <a:r>
                        <a:rPr lang="en-US" sz="1800" b="1" noProof="0" dirty="0" err="1">
                          <a:latin typeface="Courier New" panose="02070309020205020404" pitchFamily="49" charset="0"/>
                          <a:cs typeface="Courier New" panose="02070309020205020404" pitchFamily="49" charset="0"/>
                        </a:rPr>
                        <a:t>obj.get_x</a:t>
                      </a:r>
                      <a:r>
                        <a:rPr lang="en-US" sz="1800" b="1" noProof="0" dirty="0">
                          <a:latin typeface="Courier New" panose="02070309020205020404" pitchFamily="49" charset="0"/>
                          <a:cs typeface="Courier New" panose="02070309020205020404" pitchFamily="49" charset="0"/>
                        </a:rPr>
                        <a:t>() = }')</a:t>
                      </a:r>
                    </a:p>
                    <a:p>
                      <a:r>
                        <a:rPr lang="en-US" sz="1800" b="1" noProof="0" dirty="0">
                          <a:latin typeface="Courier New" panose="02070309020205020404" pitchFamily="49" charset="0"/>
                          <a:cs typeface="Courier New" panose="02070309020205020404" pitchFamily="49" charset="0"/>
                        </a:rPr>
                        <a:t>print(f'{</a:t>
                      </a:r>
                      <a:r>
                        <a:rPr lang="en-US" sz="1800" b="1" noProof="0" dirty="0" err="1">
                          <a:latin typeface="Courier New" panose="02070309020205020404" pitchFamily="49" charset="0"/>
                          <a:cs typeface="Courier New" panose="02070309020205020404" pitchFamily="49" charset="0"/>
                        </a:rPr>
                        <a:t>obj.x</a:t>
                      </a:r>
                      <a:r>
                        <a:rPr lang="en-US" sz="1800" b="1" noProof="0" dirty="0">
                          <a:latin typeface="Courier New" panose="02070309020205020404" pitchFamily="49" charset="0"/>
                          <a:cs typeface="Courier New" panose="02070309020205020404" pitchFamily="49" charset="0"/>
                        </a:rPr>
                        <a:t> = }')</a:t>
                      </a:r>
                    </a:p>
                    <a:p>
                      <a:r>
                        <a:rPr lang="en-US" sz="1800" b="1" noProof="0" dirty="0">
                          <a:latin typeface="Courier New" panose="02070309020205020404" pitchFamily="49" charset="0"/>
                          <a:cs typeface="Courier New" panose="02070309020205020404" pitchFamily="49" charset="0"/>
                        </a:rPr>
                        <a:t>print(f'{</a:t>
                      </a:r>
                      <a:r>
                        <a:rPr lang="en-US" sz="1800" b="1" noProof="0" dirty="0" err="1">
                          <a:solidFill>
                            <a:srgbClr val="C00000"/>
                          </a:solidFill>
                          <a:latin typeface="Courier New" panose="02070309020205020404" pitchFamily="49" charset="0"/>
                          <a:cs typeface="Courier New" panose="02070309020205020404" pitchFamily="49" charset="0"/>
                        </a:rPr>
                        <a:t>X.get_x</a:t>
                      </a:r>
                      <a:r>
                        <a:rPr lang="en-US" sz="1800" b="1" noProof="0" dirty="0">
                          <a:solidFill>
                            <a:srgbClr val="C00000"/>
                          </a:solidFill>
                          <a:latin typeface="Courier New" panose="02070309020205020404" pitchFamily="49" charset="0"/>
                          <a:cs typeface="Courier New" panose="02070309020205020404" pitchFamily="49" charset="0"/>
                        </a:rPr>
                        <a:t>(obj)</a:t>
                      </a:r>
                      <a:r>
                        <a:rPr lang="en-US" sz="1800" b="1" noProof="0" dirty="0">
                          <a:latin typeface="Courier New" panose="02070309020205020404" pitchFamily="49" charset="0"/>
                          <a:cs typeface="Courier New" panose="02070309020205020404" pitchFamily="49" charset="0"/>
                        </a:rPr>
                        <a:t> =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r h="148143">
                <a:tc>
                  <a:txBody>
                    <a:bodyPr/>
                    <a:lstStyle/>
                    <a:p>
                      <a:r>
                        <a:rPr lang="en-US" sz="1800" b="1" noProof="0" dirty="0">
                          <a:solidFill>
                            <a:schemeClr val="bg1"/>
                          </a:solidFill>
                          <a:latin typeface="Courier New" panose="02070309020205020404" pitchFamily="49" charset="0"/>
                          <a:cs typeface="Courier New" panose="02070309020205020404" pitchFamily="49" charset="0"/>
                        </a:rPr>
                        <a:t>Python shell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202042958"/>
                  </a:ext>
                </a:extLst>
              </a:tr>
              <a:tr h="481466">
                <a:tc>
                  <a:txBody>
                    <a:bodyPr/>
                    <a:lstStyle/>
                    <a:p>
                      <a:pPr marL="285750" indent="-285750">
                        <a:buClr>
                          <a:schemeClr val="accent1">
                            <a:lumMod val="50000"/>
                          </a:schemeClr>
                        </a:buClr>
                        <a:buSzPct val="100000"/>
                        <a:buFont typeface="Courier New" panose="02070309020205020404" pitchFamily="49" charset="0"/>
                        <a:buChar char="|"/>
                      </a:pPr>
                      <a:r>
                        <a:rPr lang="en-US" sz="1800" b="1" baseline="0" noProof="0" dirty="0" err="1">
                          <a:latin typeface="Courier New" panose="02070309020205020404" pitchFamily="49" charset="0"/>
                          <a:cs typeface="Courier New" panose="02070309020205020404" pitchFamily="49" charset="0"/>
                        </a:rPr>
                        <a:t>obj.get_x</a:t>
                      </a:r>
                      <a:r>
                        <a:rPr lang="en-US" sz="1800" b="1" baseline="0" noProof="0" dirty="0">
                          <a:latin typeface="Courier New" panose="02070309020205020404" pitchFamily="49" charset="0"/>
                          <a:cs typeface="Courier New" panose="02070309020205020404" pitchFamily="49" charset="0"/>
                        </a:rPr>
                        <a:t>() = 42</a:t>
                      </a:r>
                    </a:p>
                    <a:p>
                      <a:pPr marL="285750" indent="-285750">
                        <a:buClr>
                          <a:schemeClr val="accent1">
                            <a:lumMod val="50000"/>
                          </a:schemeClr>
                        </a:buClr>
                        <a:buSzPct val="100000"/>
                        <a:buFont typeface="Courier New" panose="02070309020205020404" pitchFamily="49" charset="0"/>
                        <a:buChar char="|"/>
                      </a:pPr>
                      <a:r>
                        <a:rPr lang="en-US" sz="1800" b="1" baseline="0" noProof="0" dirty="0" err="1">
                          <a:latin typeface="Courier New" panose="02070309020205020404" pitchFamily="49" charset="0"/>
                          <a:cs typeface="Courier New" panose="02070309020205020404" pitchFamily="49" charset="0"/>
                        </a:rPr>
                        <a:t>obj.x</a:t>
                      </a:r>
                      <a:r>
                        <a:rPr lang="en-US" sz="1800" b="1" baseline="0" noProof="0" dirty="0">
                          <a:latin typeface="Courier New" panose="02070309020205020404" pitchFamily="49" charset="0"/>
                          <a:cs typeface="Courier New" panose="02070309020205020404" pitchFamily="49" charset="0"/>
                        </a:rPr>
                        <a:t> = 42</a:t>
                      </a:r>
                    </a:p>
                    <a:p>
                      <a:pPr marL="285750" indent="-285750">
                        <a:buClr>
                          <a:schemeClr val="accent1">
                            <a:lumMod val="50000"/>
                          </a:schemeClr>
                        </a:buClr>
                        <a:buSzPct val="100000"/>
                        <a:buFont typeface="Courier New" panose="02070309020205020404" pitchFamily="49" charset="0"/>
                        <a:buChar char="|"/>
                      </a:pPr>
                      <a:r>
                        <a:rPr lang="en-US" sz="1800" b="1" baseline="0" noProof="0" dirty="0" err="1">
                          <a:solidFill>
                            <a:srgbClr val="C00000"/>
                          </a:solidFill>
                          <a:latin typeface="Courier New" panose="02070309020205020404" pitchFamily="49" charset="0"/>
                          <a:cs typeface="Courier New" panose="02070309020205020404" pitchFamily="49" charset="0"/>
                        </a:rPr>
                        <a:t>X.get_x</a:t>
                      </a:r>
                      <a:r>
                        <a:rPr lang="en-US" sz="1800" b="1" baseline="0" noProof="0" dirty="0">
                          <a:solidFill>
                            <a:srgbClr val="C00000"/>
                          </a:solidFill>
                          <a:latin typeface="Courier New" panose="02070309020205020404" pitchFamily="49" charset="0"/>
                          <a:cs typeface="Courier New" panose="02070309020205020404" pitchFamily="49" charset="0"/>
                        </a:rPr>
                        <a:t>(obj) = 42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355368"/>
                  </a:ext>
                </a:extLst>
              </a:tr>
            </a:tbl>
          </a:graphicData>
        </a:graphic>
      </p:graphicFrame>
    </p:spTree>
    <p:extLst>
      <p:ext uri="{BB962C8B-B14F-4D97-AF65-F5344CB8AC3E}">
        <p14:creationId xmlns:p14="http://schemas.microsoft.com/office/powerpoint/2010/main" val="2915881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Classes and objects</a:t>
            </a:r>
          </a:p>
        </p:txBody>
      </p:sp>
      <p:graphicFrame>
        <p:nvGraphicFramePr>
          <p:cNvPr id="4" name="Table 3"/>
          <p:cNvGraphicFramePr>
            <a:graphicFrameLocks noGrp="1"/>
          </p:cNvGraphicFramePr>
          <p:nvPr>
            <p:extLst>
              <p:ext uri="{D42A27DB-BD31-4B8C-83A1-F6EECF244321}">
                <p14:modId xmlns:p14="http://schemas.microsoft.com/office/powerpoint/2010/main" val="1961026993"/>
              </p:ext>
            </p:extLst>
          </p:nvPr>
        </p:nvGraphicFramePr>
        <p:xfrm>
          <a:off x="682086" y="1497005"/>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cxnSp>
        <p:nvCxnSpPr>
          <p:cNvPr id="11" name="Straight Arrow Connector 10"/>
          <p:cNvCxnSpPr/>
          <p:nvPr/>
        </p:nvCxnSpPr>
        <p:spPr>
          <a:xfrm>
            <a:off x="4511036" y="2480153"/>
            <a:ext cx="1542856"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446740" y="1965895"/>
            <a:ext cx="1514498" cy="461665"/>
          </a:xfrm>
          <a:prstGeom prst="rect">
            <a:avLst/>
          </a:prstGeom>
          <a:noFill/>
        </p:spPr>
        <p:txBody>
          <a:bodyPr wrap="square" rtlCol="0">
            <a:spAutoFit/>
          </a:bodyPr>
          <a:lstStyle/>
          <a:p>
            <a:pPr algn="ctr"/>
            <a:r>
              <a:rPr lang="en-US" sz="2400" b="1" noProof="0" dirty="0">
                <a:solidFill>
                  <a:srgbClr val="C00000"/>
                </a:solidFill>
              </a:rPr>
              <a:t>instance</a:t>
            </a:r>
            <a:endParaRPr lang="en-US" sz="2400" noProof="0" dirty="0">
              <a:solidFill>
                <a:srgbClr val="C00000"/>
              </a:solidFill>
              <a:latin typeface="Courier New" panose="02070309020205020404" pitchFamily="49" charset="0"/>
              <a:cs typeface="Courier New" panose="02070309020205020404" pitchFamily="49" charset="0"/>
            </a:endParaRPr>
          </a:p>
        </p:txBody>
      </p:sp>
      <p:graphicFrame>
        <p:nvGraphicFramePr>
          <p:cNvPr id="9" name="Table 8"/>
          <p:cNvGraphicFramePr>
            <a:graphicFrameLocks noGrp="1"/>
          </p:cNvGraphicFramePr>
          <p:nvPr>
            <p:extLst>
              <p:ext uri="{D42A27DB-BD31-4B8C-83A1-F6EECF244321}">
                <p14:modId xmlns:p14="http://schemas.microsoft.com/office/powerpoint/2010/main" val="795683821"/>
              </p:ext>
            </p:extLst>
          </p:nvPr>
        </p:nvGraphicFramePr>
        <p:xfrm>
          <a:off x="6275540" y="1965895"/>
          <a:ext cx="5370830" cy="1005840"/>
        </p:xfrm>
        <a:graphic>
          <a:graphicData uri="http://schemas.openxmlformats.org/drawingml/2006/table">
            <a:tbl>
              <a:tblPr firstRow="1" bandRow="1">
                <a:tableStyleId>{5C22544A-7EE6-4342-B048-85BDC9FD1C3A}</a:tableStyleId>
              </a:tblPr>
              <a:tblGrid>
                <a:gridCol w="5370830">
                  <a:extLst>
                    <a:ext uri="{9D8B030D-6E8A-4147-A177-3AD203B41FA5}">
                      <a16:colId xmlns:a16="http://schemas.microsoft.com/office/drawing/2014/main" val="1873682825"/>
                    </a:ext>
                  </a:extLst>
                </a:gridCol>
              </a:tblGrid>
              <a:tr h="2741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Person object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62249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a:solidFill>
                            <a:srgbClr val="C00000"/>
                          </a:solidFill>
                          <a:latin typeface="Courier New" panose="02070309020205020404" pitchFamily="49" charset="0"/>
                          <a:cs typeface="Courier New" panose="02070309020205020404" pitchFamily="49" charset="0"/>
                        </a:rPr>
                        <a:t>name</a:t>
                      </a:r>
                      <a:r>
                        <a:rPr lang="en-US" sz="1800" i="0" noProof="0" dirty="0">
                          <a:latin typeface="Courier New" panose="02070309020205020404" pitchFamily="49" charset="0"/>
                          <a:cs typeface="Courier New" panose="02070309020205020404" pitchFamily="49" charset="0"/>
                        </a:rPr>
                        <a:t> = 'Mickey Mouse'</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noProof="0" dirty="0">
                          <a:solidFill>
                            <a:srgbClr val="C00000"/>
                          </a:solidFill>
                          <a:latin typeface="Courier New" panose="02070309020205020404" pitchFamily="49" charset="0"/>
                          <a:cs typeface="Courier New" panose="02070309020205020404" pitchFamily="49" charset="0"/>
                        </a:rPr>
                        <a:t>address</a:t>
                      </a:r>
                      <a:r>
                        <a:rPr lang="en-US" sz="1800" b="0" i="0" baseline="0" noProof="0" dirty="0">
                          <a:latin typeface="Courier New" panose="02070309020205020404" pitchFamily="49" charset="0"/>
                          <a:cs typeface="Courier New" panose="02070309020205020404" pitchFamily="49" charset="0"/>
                        </a:rPr>
                        <a:t> = 'Mouse Street 42, Duckburg'</a:t>
                      </a:r>
                      <a:endParaRPr lang="en-US" sz="1800" b="0" i="0" noProof="0" dirty="0">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184480659"/>
              </p:ext>
            </p:extLst>
          </p:nvPr>
        </p:nvGraphicFramePr>
        <p:xfrm>
          <a:off x="6275540" y="3291458"/>
          <a:ext cx="5370830" cy="1554480"/>
        </p:xfrm>
        <a:graphic>
          <a:graphicData uri="http://schemas.openxmlformats.org/drawingml/2006/table">
            <a:tbl>
              <a:tblPr firstRow="1" bandRow="1">
                <a:tableStyleId>{5C22544A-7EE6-4342-B048-85BDC9FD1C3A}</a:tableStyleId>
              </a:tblPr>
              <a:tblGrid>
                <a:gridCol w="5370830">
                  <a:extLst>
                    <a:ext uri="{9D8B030D-6E8A-4147-A177-3AD203B41FA5}">
                      <a16:colId xmlns:a16="http://schemas.microsoft.com/office/drawing/2014/main" val="1873682825"/>
                    </a:ext>
                  </a:extLst>
                </a:gridCol>
              </a:tblGrid>
              <a:tr h="2741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Student object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62249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a:latin typeface="Courier New" panose="02070309020205020404" pitchFamily="49" charset="0"/>
                          <a:cs typeface="Courier New" panose="02070309020205020404" pitchFamily="49" charset="0"/>
                        </a:rPr>
                        <a:t>name = 'Donald</a:t>
                      </a:r>
                      <a:r>
                        <a:rPr lang="en-US" sz="1800" i="0" baseline="0" noProof="0" dirty="0">
                          <a:latin typeface="Courier New" panose="02070309020205020404" pitchFamily="49" charset="0"/>
                          <a:cs typeface="Courier New" panose="02070309020205020404" pitchFamily="49" charset="0"/>
                        </a:rPr>
                        <a:t> Duck</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noProof="0" dirty="0">
                          <a:latin typeface="Courier New" panose="02070309020205020404" pitchFamily="49" charset="0"/>
                          <a:cs typeface="Courier New" panose="02070309020205020404" pitchFamily="49" charset="0"/>
                        </a:rPr>
                        <a:t>address</a:t>
                      </a:r>
                      <a:r>
                        <a:rPr lang="en-US" sz="1800" b="0" i="0" baseline="0" noProof="0" dirty="0">
                          <a:latin typeface="Courier New" panose="02070309020205020404" pitchFamily="49" charset="0"/>
                          <a:cs typeface="Courier New" panose="02070309020205020404" pitchFamily="49" charset="0"/>
                        </a:rPr>
                        <a:t> = 'Duck Steet 13, Duckburg'</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baseline="0" noProof="0" dirty="0">
                          <a:solidFill>
                            <a:srgbClr val="C00000"/>
                          </a:solidFill>
                          <a:latin typeface="Courier New" panose="02070309020205020404" pitchFamily="49" charset="0"/>
                          <a:cs typeface="Courier New" panose="02070309020205020404" pitchFamily="49" charset="0"/>
                        </a:rPr>
                        <a:t>id</a:t>
                      </a:r>
                      <a:r>
                        <a:rPr lang="en-US" sz="1800" b="0" i="0" baseline="0" noProof="0" dirty="0">
                          <a:latin typeface="Courier New" panose="02070309020205020404" pitchFamily="49" charset="0"/>
                          <a:cs typeface="Courier New" panose="02070309020205020404" pitchFamily="49" charset="0"/>
                        </a:rPr>
                        <a:t> = '1094'</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baseline="0" noProof="0" dirty="0">
                          <a:solidFill>
                            <a:srgbClr val="C00000"/>
                          </a:solidFill>
                          <a:latin typeface="Courier New" panose="02070309020205020404" pitchFamily="49" charset="0"/>
                          <a:cs typeface="Courier New" panose="02070309020205020404" pitchFamily="49" charset="0"/>
                        </a:rPr>
                        <a:t>grades</a:t>
                      </a:r>
                      <a:r>
                        <a:rPr lang="en-US" sz="1800" b="0" i="0" baseline="0" noProof="0" dirty="0">
                          <a:latin typeface="Courier New" panose="02070309020205020404" pitchFamily="49" charset="0"/>
                          <a:cs typeface="Courier New" panose="02070309020205020404" pitchFamily="49" charset="0"/>
                        </a:rPr>
                        <a:t> = {'programming' : 'A'}</a:t>
                      </a:r>
                      <a:endParaRPr lang="en-US" sz="1800" b="0" i="0" noProof="0" dirty="0">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941028951"/>
              </p:ext>
            </p:extLst>
          </p:nvPr>
        </p:nvGraphicFramePr>
        <p:xfrm>
          <a:off x="6275540" y="5178748"/>
          <a:ext cx="5370830" cy="1280160"/>
        </p:xfrm>
        <a:graphic>
          <a:graphicData uri="http://schemas.openxmlformats.org/drawingml/2006/table">
            <a:tbl>
              <a:tblPr firstRow="1" bandRow="1">
                <a:tableStyleId>{5C22544A-7EE6-4342-B048-85BDC9FD1C3A}</a:tableStyleId>
              </a:tblPr>
              <a:tblGrid>
                <a:gridCol w="5370830">
                  <a:extLst>
                    <a:ext uri="{9D8B030D-6E8A-4147-A177-3AD203B41FA5}">
                      <a16:colId xmlns:a16="http://schemas.microsoft.com/office/drawing/2014/main" val="1873682825"/>
                    </a:ext>
                  </a:extLst>
                </a:gridCol>
              </a:tblGrid>
              <a:tr h="2741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Employee object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62249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a:latin typeface="Courier New" panose="02070309020205020404" pitchFamily="49" charset="0"/>
                          <a:cs typeface="Courier New" panose="02070309020205020404" pitchFamily="49" charset="0"/>
                        </a:rPr>
                        <a:t>name = 'Goofy'</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noProof="0" dirty="0">
                          <a:latin typeface="Courier New" panose="02070309020205020404" pitchFamily="49" charset="0"/>
                          <a:cs typeface="Courier New" panose="02070309020205020404" pitchFamily="49" charset="0"/>
                        </a:rPr>
                        <a:t>address</a:t>
                      </a:r>
                      <a:r>
                        <a:rPr lang="en-US" sz="1800" b="0" i="0" baseline="0" noProof="0" dirty="0">
                          <a:latin typeface="Courier New" panose="02070309020205020404" pitchFamily="49" charset="0"/>
                          <a:cs typeface="Courier New" panose="02070309020205020404" pitchFamily="49" charset="0"/>
                        </a:rPr>
                        <a:t> = 'Clumsy Road 7, Duckburg'</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baseline="0" noProof="0" dirty="0">
                          <a:solidFill>
                            <a:srgbClr val="C00000"/>
                          </a:solidFill>
                          <a:latin typeface="Courier New" panose="02070309020205020404" pitchFamily="49" charset="0"/>
                          <a:cs typeface="Courier New" panose="02070309020205020404" pitchFamily="49" charset="0"/>
                        </a:rPr>
                        <a:t>employer</a:t>
                      </a:r>
                      <a:r>
                        <a:rPr lang="en-US" sz="1800" b="0" i="0" baseline="0" noProof="0" dirty="0">
                          <a:latin typeface="Courier New" panose="02070309020205020404" pitchFamily="49" charset="0"/>
                          <a:cs typeface="Courier New" panose="02070309020205020404" pitchFamily="49" charset="0"/>
                        </a:rPr>
                        <a:t> = '</a:t>
                      </a:r>
                      <a:r>
                        <a:rPr lang="en-US" sz="1800" b="0" i="0" baseline="0" noProof="0" dirty="0" err="1">
                          <a:latin typeface="Courier New" panose="02070309020205020404" pitchFamily="49" charset="0"/>
                          <a:cs typeface="Courier New" panose="02070309020205020404" pitchFamily="49" charset="0"/>
                        </a:rPr>
                        <a:t>Yarvard</a:t>
                      </a:r>
                      <a:r>
                        <a:rPr lang="en-US" sz="1800" b="0" i="0" baseline="0" noProof="0" dirty="0">
                          <a:latin typeface="Courier New" panose="02070309020205020404" pitchFamily="49" charset="0"/>
                          <a:cs typeface="Courier New" panose="02070309020205020404" pitchFamily="49" charset="0"/>
                        </a:rPr>
                        <a:t> University'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043256914"/>
              </p:ext>
            </p:extLst>
          </p:nvPr>
        </p:nvGraphicFramePr>
        <p:xfrm>
          <a:off x="682087" y="3440627"/>
          <a:ext cx="3596005" cy="310896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cxnSp>
        <p:nvCxnSpPr>
          <p:cNvPr id="14" name="Straight Arrow Connector 13"/>
          <p:cNvCxnSpPr/>
          <p:nvPr/>
        </p:nvCxnSpPr>
        <p:spPr>
          <a:xfrm>
            <a:off x="4511036" y="4392460"/>
            <a:ext cx="1542856"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446740" y="3878202"/>
            <a:ext cx="1514498" cy="461665"/>
          </a:xfrm>
          <a:prstGeom prst="rect">
            <a:avLst/>
          </a:prstGeom>
          <a:noFill/>
        </p:spPr>
        <p:txBody>
          <a:bodyPr wrap="square" rtlCol="0">
            <a:spAutoFit/>
          </a:bodyPr>
          <a:lstStyle/>
          <a:p>
            <a:pPr algn="ctr"/>
            <a:r>
              <a:rPr lang="en-US" sz="2400" b="1" noProof="0" dirty="0">
                <a:solidFill>
                  <a:srgbClr val="C00000"/>
                </a:solidFill>
              </a:rPr>
              <a:t>instance</a:t>
            </a:r>
            <a:endParaRPr lang="en-US" sz="2400" noProof="0" dirty="0">
              <a:solidFill>
                <a:srgbClr val="C00000"/>
              </a:solidFill>
              <a:latin typeface="Courier New" panose="02070309020205020404" pitchFamily="49" charset="0"/>
              <a:cs typeface="Courier New" panose="02070309020205020404" pitchFamily="49" charset="0"/>
            </a:endParaRPr>
          </a:p>
        </p:txBody>
      </p:sp>
      <p:sp>
        <p:nvSpPr>
          <p:cNvPr id="5" name="TextBox 4"/>
          <p:cNvSpPr txBox="1"/>
          <p:nvPr/>
        </p:nvSpPr>
        <p:spPr>
          <a:xfrm>
            <a:off x="6275540" y="968493"/>
            <a:ext cx="5148197" cy="830997"/>
          </a:xfrm>
          <a:prstGeom prst="rect">
            <a:avLst/>
          </a:prstGeom>
          <a:noFill/>
        </p:spPr>
        <p:txBody>
          <a:bodyPr wrap="square" rtlCol="0">
            <a:spAutoFit/>
          </a:bodyPr>
          <a:lstStyle/>
          <a:p>
            <a:pPr algn="ctr"/>
            <a:r>
              <a:rPr lang="en-US" sz="2400" b="1" noProof="0" dirty="0"/>
              <a:t>Observation:</a:t>
            </a:r>
            <a:r>
              <a:rPr lang="en-US" sz="2400" noProof="0" dirty="0">
                <a:solidFill>
                  <a:srgbClr val="C00000"/>
                </a:solidFill>
              </a:rPr>
              <a:t> students</a:t>
            </a:r>
            <a:r>
              <a:rPr lang="en-US" sz="2400" noProof="0" dirty="0"/>
              <a:t> and </a:t>
            </a:r>
            <a:r>
              <a:rPr lang="en-US" sz="2400" noProof="0" dirty="0">
                <a:solidFill>
                  <a:srgbClr val="C00000"/>
                </a:solidFill>
              </a:rPr>
              <a:t>employees</a:t>
            </a:r>
            <a:r>
              <a:rPr lang="en-US" sz="2400" noProof="0" dirty="0"/>
              <a:t> are </a:t>
            </a:r>
            <a:r>
              <a:rPr lang="en-US" sz="2400" noProof="0" dirty="0">
                <a:solidFill>
                  <a:srgbClr val="C00000"/>
                </a:solidFill>
              </a:rPr>
              <a:t>persons</a:t>
            </a:r>
            <a:r>
              <a:rPr lang="en-US" sz="2400" noProof="0" dirty="0"/>
              <a:t> with additional attributes</a:t>
            </a:r>
          </a:p>
        </p:txBody>
      </p:sp>
      <p:sp>
        <p:nvSpPr>
          <p:cNvPr id="18" name="Rounded Rectangle 17"/>
          <p:cNvSpPr/>
          <p:nvPr/>
        </p:nvSpPr>
        <p:spPr>
          <a:xfrm>
            <a:off x="6053892" y="3138140"/>
            <a:ext cx="5757314" cy="3528748"/>
          </a:xfrm>
          <a:prstGeom prst="roundRect">
            <a:avLst>
              <a:gd name="adj" fmla="val 7530"/>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7264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
                                            <p:txEl>
                                              <p:pRg st="0" end="0"/>
                                            </p:txEl>
                                          </p:spTgt>
                                        </p:tgtEl>
                                        <p:attrNameLst>
                                          <p:attrName>style.visibility</p:attrName>
                                        </p:attrNameLst>
                                      </p:cBhvr>
                                      <p:to>
                                        <p:strVal val="visible"/>
                                      </p:to>
                                    </p:set>
                                    <p:animEffect transition="in" filter="fade">
                                      <p:cBhvr>
                                        <p:cTn id="44" dur="500"/>
                                        <p:tgtEl>
                                          <p:spTgt spid="5">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5" grpId="0"/>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Classes and objects</a:t>
            </a:r>
          </a:p>
        </p:txBody>
      </p:sp>
      <p:graphicFrame>
        <p:nvGraphicFramePr>
          <p:cNvPr id="4" name="Table 3"/>
          <p:cNvGraphicFramePr>
            <a:graphicFrameLocks noGrp="1"/>
          </p:cNvGraphicFramePr>
          <p:nvPr>
            <p:extLst>
              <p:ext uri="{D42A27DB-BD31-4B8C-83A1-F6EECF244321}">
                <p14:modId xmlns:p14="http://schemas.microsoft.com/office/powerpoint/2010/main" val="408583184"/>
              </p:ext>
            </p:extLst>
          </p:nvPr>
        </p:nvGraphicFramePr>
        <p:xfrm>
          <a:off x="682086" y="1497005"/>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3415459500"/>
              </p:ext>
            </p:extLst>
          </p:nvPr>
        </p:nvGraphicFramePr>
        <p:xfrm>
          <a:off x="682087" y="3440627"/>
          <a:ext cx="3596005" cy="310896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set_name</a:t>
                      </a:r>
                      <a:r>
                        <a:rPr lang="en-US" sz="1800" i="0" noProof="0" dirty="0">
                          <a:solidFill>
                            <a:srgbClr val="C00000"/>
                          </a:solidFill>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get_name</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set_address</a:t>
                      </a:r>
                      <a:r>
                        <a:rPr lang="en-US" sz="1800" i="0" noProof="0" dirty="0">
                          <a:solidFill>
                            <a:srgbClr val="C00000"/>
                          </a:solidFill>
                          <a:latin typeface="Courier New" panose="02070309020205020404" pitchFamily="49" charset="0"/>
                          <a:cs typeface="Courier New" panose="02070309020205020404" pitchFamily="49" charset="0"/>
                        </a:rPr>
                        <a:t>(address)</a:t>
                      </a:r>
                      <a:br>
                        <a:rPr lang="en-US" sz="1800" i="0" noProof="0" dirty="0">
                          <a:solidFill>
                            <a:srgbClr val="C00000"/>
                          </a:solidFill>
                          <a:latin typeface="Courier New" panose="02070309020205020404" pitchFamily="49" charset="0"/>
                          <a:cs typeface="Courier New" panose="02070309020205020404" pitchFamily="49" charset="0"/>
                        </a:rPr>
                      </a:br>
                      <a:r>
                        <a:rPr lang="en-US" sz="1800" i="0" noProof="0" dirty="0" err="1">
                          <a:solidFill>
                            <a:srgbClr val="C00000"/>
                          </a:solidFill>
                          <a:latin typeface="Courier New" panose="02070309020205020404" pitchFamily="49" charset="0"/>
                          <a:cs typeface="Courier New" panose="02070309020205020404" pitchFamily="49" charset="0"/>
                        </a:rPr>
                        <a:t>get_address</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pSp>
        <p:nvGrpSpPr>
          <p:cNvPr id="7" name="Group 6"/>
          <p:cNvGrpSpPr/>
          <p:nvPr/>
        </p:nvGrpSpPr>
        <p:grpSpPr>
          <a:xfrm>
            <a:off x="732772" y="3864279"/>
            <a:ext cx="3496329" cy="1315233"/>
            <a:chOff x="732773" y="3864279"/>
            <a:chExt cx="3463446" cy="1315233"/>
          </a:xfrm>
        </p:grpSpPr>
        <p:sp>
          <p:nvSpPr>
            <p:cNvPr id="3" name="Rounded Rectangle 2"/>
            <p:cNvSpPr/>
            <p:nvPr/>
          </p:nvSpPr>
          <p:spPr>
            <a:xfrm>
              <a:off x="732773" y="3864279"/>
              <a:ext cx="3463446" cy="1315233"/>
            </a:xfrm>
            <a:prstGeom prst="roundRect">
              <a:avLst>
                <a:gd name="adj" fmla="val 7530"/>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extBox 5"/>
            <p:cNvSpPr txBox="1"/>
            <p:nvPr/>
          </p:nvSpPr>
          <p:spPr>
            <a:xfrm>
              <a:off x="2826145" y="3864279"/>
              <a:ext cx="1358584" cy="461665"/>
            </a:xfrm>
            <a:prstGeom prst="rect">
              <a:avLst/>
            </a:prstGeom>
            <a:noFill/>
          </p:spPr>
          <p:txBody>
            <a:bodyPr wrap="square" rtlCol="0">
              <a:spAutoFit/>
            </a:bodyPr>
            <a:lstStyle/>
            <a:p>
              <a:pPr algn="r"/>
              <a:r>
                <a:rPr lang="en-US" sz="1200" noProof="0" dirty="0">
                  <a:solidFill>
                    <a:srgbClr val="C00000"/>
                  </a:solidFill>
                  <a:latin typeface="Courier New" panose="02070309020205020404" pitchFamily="49" charset="0"/>
                  <a:cs typeface="Courier New" panose="02070309020205020404" pitchFamily="49" charset="0"/>
                </a:rPr>
                <a:t>person</a:t>
              </a:r>
              <a:r>
                <a:rPr lang="en-US" sz="1200" noProof="0" dirty="0">
                  <a:solidFill>
                    <a:srgbClr val="C00000"/>
                  </a:solidFill>
                </a:rPr>
                <a:t> attributes</a:t>
              </a:r>
            </a:p>
          </p:txBody>
        </p:sp>
      </p:grpSp>
      <p:sp>
        <p:nvSpPr>
          <p:cNvPr id="16" name="Content Placeholder 2"/>
          <p:cNvSpPr>
            <a:spLocks noGrp="1"/>
          </p:cNvSpPr>
          <p:nvPr>
            <p:ph idx="1"/>
          </p:nvPr>
        </p:nvSpPr>
        <p:spPr>
          <a:xfrm>
            <a:off x="5142867" y="1636857"/>
            <a:ext cx="6446464" cy="810429"/>
          </a:xfrm>
        </p:spPr>
        <p:txBody>
          <a:bodyPr>
            <a:noAutofit/>
          </a:bodyPr>
          <a:lstStyle/>
          <a:p>
            <a:pPr marL="0" indent="0" algn="ctr">
              <a:buNone/>
            </a:pPr>
            <a:r>
              <a:rPr lang="en-US" sz="2400" b="1" noProof="0" dirty="0"/>
              <a:t>Goal</a:t>
            </a:r>
            <a:r>
              <a:rPr lang="en-US" sz="2400" noProof="0" dirty="0"/>
              <a:t> – avoid redefining the 4 methods  below from </a:t>
            </a:r>
            <a:r>
              <a:rPr lang="en-US" sz="2400" noProof="0" dirty="0">
                <a:latin typeface="Courier New" panose="02070309020205020404" pitchFamily="49" charset="0"/>
                <a:cs typeface="Courier New" panose="02070309020205020404" pitchFamily="49" charset="0"/>
              </a:rPr>
              <a:t>person</a:t>
            </a:r>
            <a:r>
              <a:rPr lang="en-US" sz="2400" noProof="0" dirty="0"/>
              <a:t> class again in </a:t>
            </a:r>
            <a:r>
              <a:rPr lang="en-US" sz="2400" noProof="0" dirty="0">
                <a:latin typeface="Courier New" panose="02070309020205020404" pitchFamily="49" charset="0"/>
                <a:cs typeface="Courier New" panose="02070309020205020404" pitchFamily="49" charset="0"/>
              </a:rPr>
              <a:t>student</a:t>
            </a:r>
            <a:r>
              <a:rPr lang="en-US" sz="2400" noProof="0" dirty="0"/>
              <a:t> class</a:t>
            </a:r>
          </a:p>
        </p:txBody>
      </p:sp>
      <p:graphicFrame>
        <p:nvGraphicFramePr>
          <p:cNvPr id="18" name="Table 17"/>
          <p:cNvGraphicFramePr>
            <a:graphicFrameLocks noGrp="1"/>
          </p:cNvGraphicFramePr>
          <p:nvPr>
            <p:extLst>
              <p:ext uri="{D42A27DB-BD31-4B8C-83A1-F6EECF244321}">
                <p14:modId xmlns:p14="http://schemas.microsoft.com/office/powerpoint/2010/main" val="2045913776"/>
              </p:ext>
            </p:extLst>
          </p:nvPr>
        </p:nvGraphicFramePr>
        <p:xfrm>
          <a:off x="5680684" y="3114357"/>
          <a:ext cx="5370830" cy="3154680"/>
        </p:xfrm>
        <a:graphic>
          <a:graphicData uri="http://schemas.openxmlformats.org/drawingml/2006/table">
            <a:tbl>
              <a:tblPr firstRow="1" bandRow="1">
                <a:tableStyleId>{5C22544A-7EE6-4342-B048-85BDC9FD1C3A}</a:tableStyleId>
              </a:tblPr>
              <a:tblGrid>
                <a:gridCol w="5370830">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person.py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latin typeface="Courier New" panose="02070309020205020404" pitchFamily="49" charset="0"/>
                          <a:cs typeface="Courier New" panose="02070309020205020404" pitchFamily="49" charset="0"/>
                        </a:rPr>
                        <a:t> Person:</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set_name</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 name):</a:t>
                      </a:r>
                    </a:p>
                    <a:p>
                      <a:pPr>
                        <a:spcAft>
                          <a:spcPts val="600"/>
                        </a:spcAft>
                      </a:pPr>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.name = name</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get_name</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a:t>
                      </a:r>
                    </a:p>
                    <a:p>
                      <a:pPr>
                        <a:spcAft>
                          <a:spcPts val="600"/>
                        </a:spcAft>
                      </a:pPr>
                      <a:r>
                        <a:rPr lang="en-US" sz="1800" b="1" noProof="0" dirty="0">
                          <a:latin typeface="Courier New" panose="02070309020205020404" pitchFamily="49" charset="0"/>
                          <a:cs typeface="Courier New" panose="02070309020205020404" pitchFamily="49" charset="0"/>
                        </a:rPr>
                        <a:t>        return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.name</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set_address</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 address):</a:t>
                      </a:r>
                    </a:p>
                    <a:p>
                      <a:pPr>
                        <a:spcAft>
                          <a:spcPts val="600"/>
                        </a:spcAft>
                      </a:pPr>
                      <a:r>
                        <a:rPr lang="en-US" sz="1800" b="1" noProof="0" dirty="0">
                          <a:latin typeface="Courier New" panose="02070309020205020404" pitchFamily="49" charset="0"/>
                          <a:cs typeface="Courier New" panose="02070309020205020404" pitchFamily="49" charset="0"/>
                        </a:rPr>
                        <a:t>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latin typeface="Courier New" panose="02070309020205020404" pitchFamily="49" charset="0"/>
                          <a:cs typeface="Courier New" panose="02070309020205020404" pitchFamily="49" charset="0"/>
                        </a:rPr>
                        <a:t>.address</a:t>
                      </a:r>
                      <a:r>
                        <a:rPr lang="en-US" sz="1800" b="1" noProof="0" dirty="0">
                          <a:latin typeface="Courier New" panose="02070309020205020404" pitchFamily="49" charset="0"/>
                          <a:cs typeface="Courier New" panose="02070309020205020404" pitchFamily="49" charset="0"/>
                        </a:rPr>
                        <a:t> = address</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get_address</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return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latin typeface="Courier New" panose="02070309020205020404" pitchFamily="49" charset="0"/>
                          <a:cs typeface="Courier New" panose="02070309020205020404" pitchFamily="49" charset="0"/>
                        </a:rPr>
                        <a:t>.address</a:t>
                      </a:r>
                      <a:endParaRPr lang="en-US" sz="1800" b="1" noProof="0" dirty="0">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Tree>
    <p:extLst>
      <p:ext uri="{BB962C8B-B14F-4D97-AF65-F5344CB8AC3E}">
        <p14:creationId xmlns:p14="http://schemas.microsoft.com/office/powerpoint/2010/main" val="419824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p:cNvGraphicFramePr>
            <a:graphicFrameLocks noGrp="1"/>
          </p:cNvGraphicFramePr>
          <p:nvPr>
            <p:extLst>
              <p:ext uri="{D42A27DB-BD31-4B8C-83A1-F6EECF244321}">
                <p14:modId xmlns:p14="http://schemas.microsoft.com/office/powerpoint/2010/main" val="3402818825"/>
              </p:ext>
            </p:extLst>
          </p:nvPr>
        </p:nvGraphicFramePr>
        <p:xfrm>
          <a:off x="5530665" y="3100387"/>
          <a:ext cx="5643880" cy="3154680"/>
        </p:xfrm>
        <a:graphic>
          <a:graphicData uri="http://schemas.openxmlformats.org/drawingml/2006/table">
            <a:tbl>
              <a:tblPr firstRow="1" bandRow="1">
                <a:tableStyleId>{5C22544A-7EE6-4342-B048-85BDC9FD1C3A}</a:tableStyleId>
              </a:tblPr>
              <a:tblGrid>
                <a:gridCol w="5643880">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person.py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Student</a:t>
                      </a:r>
                      <a:r>
                        <a:rPr lang="en-US" sz="1800" b="1" noProof="0" dirty="0">
                          <a:solidFill>
                            <a:srgbClr val="C00000"/>
                          </a:solidFill>
                          <a:latin typeface="Courier New" panose="02070309020205020404" pitchFamily="49" charset="0"/>
                          <a:cs typeface="Courier New" panose="02070309020205020404" pitchFamily="49" charset="0"/>
                        </a:rPr>
                        <a:t>(Person)</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set_id</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student_id</a:t>
                      </a:r>
                      <a:r>
                        <a:rPr lang="en-US" sz="1800" b="1" noProof="0" dirty="0">
                          <a:solidFill>
                            <a:schemeClr val="tx1"/>
                          </a:solidFill>
                          <a:latin typeface="Courier New" panose="02070309020205020404" pitchFamily="49" charset="0"/>
                          <a:cs typeface="Courier New" panose="02070309020205020404" pitchFamily="49" charset="0"/>
                        </a:rPr>
                        <a:t>):</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.id = </a:t>
                      </a:r>
                      <a:r>
                        <a:rPr lang="en-US" sz="1800" b="1" noProof="0" dirty="0" err="1">
                          <a:solidFill>
                            <a:schemeClr val="tx1"/>
                          </a:solidFill>
                          <a:latin typeface="Courier New" panose="02070309020205020404" pitchFamily="49" charset="0"/>
                          <a:cs typeface="Courier New" panose="02070309020205020404" pitchFamily="49" charset="0"/>
                        </a:rPr>
                        <a:t>student_id</a:t>
                      </a:r>
                      <a:endParaRPr lang="en-US" sz="1800" b="1" noProof="0" dirty="0">
                        <a:solidFill>
                          <a:schemeClr val="tx1"/>
                        </a:solidFill>
                        <a:latin typeface="Courier New" panose="02070309020205020404" pitchFamily="49" charset="0"/>
                        <a:cs typeface="Courier New" panose="02070309020205020404" pitchFamily="49" charset="0"/>
                      </a:endParaRP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get_id</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        return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.id</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set_grade</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 course, grade):</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solidFill>
                            <a:schemeClr val="tx1"/>
                          </a:solidFill>
                          <a:latin typeface="Courier New" panose="02070309020205020404" pitchFamily="49" charset="0"/>
                          <a:cs typeface="Courier New" panose="02070309020205020404" pitchFamily="49" charset="0"/>
                        </a:rPr>
                        <a:t>.grades</a:t>
                      </a:r>
                      <a:r>
                        <a:rPr lang="en-US" sz="1800" b="1" noProof="0" dirty="0">
                          <a:solidFill>
                            <a:schemeClr val="tx1"/>
                          </a:solidFill>
                          <a:latin typeface="Courier New" panose="02070309020205020404" pitchFamily="49" charset="0"/>
                          <a:cs typeface="Courier New" panose="02070309020205020404" pitchFamily="49" charset="0"/>
                        </a:rPr>
                        <a:t>[course] = grade</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get_grades</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return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solidFill>
                            <a:schemeClr val="tx1"/>
                          </a:solidFill>
                          <a:latin typeface="Courier New" panose="02070309020205020404" pitchFamily="49" charset="0"/>
                          <a:cs typeface="Courier New" panose="02070309020205020404" pitchFamily="49" charset="0"/>
                        </a:rPr>
                        <a:t>.grades</a:t>
                      </a:r>
                      <a:endParaRPr lang="en-US" sz="1800" b="1" noProof="0" dirty="0">
                        <a:solidFill>
                          <a:schemeClr val="tx1"/>
                        </a:solidFill>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
        <p:nvSpPr>
          <p:cNvPr id="2" name="Title 1"/>
          <p:cNvSpPr>
            <a:spLocks noGrp="1"/>
          </p:cNvSpPr>
          <p:nvPr>
            <p:ph type="title"/>
          </p:nvPr>
        </p:nvSpPr>
        <p:spPr/>
        <p:txBody>
          <a:bodyPr/>
          <a:lstStyle/>
          <a:p>
            <a:r>
              <a:rPr lang="en-US" noProof="0" dirty="0"/>
              <a:t>Classes inheritance</a:t>
            </a:r>
          </a:p>
        </p:txBody>
      </p:sp>
      <p:graphicFrame>
        <p:nvGraphicFramePr>
          <p:cNvPr id="4" name="Table 3"/>
          <p:cNvGraphicFramePr>
            <a:graphicFrameLocks noGrp="1"/>
          </p:cNvGraphicFramePr>
          <p:nvPr>
            <p:extLst>
              <p:ext uri="{D42A27DB-BD31-4B8C-83A1-F6EECF244321}">
                <p14:modId xmlns:p14="http://schemas.microsoft.com/office/powerpoint/2010/main" val="652266292"/>
              </p:ext>
            </p:extLst>
          </p:nvPr>
        </p:nvGraphicFramePr>
        <p:xfrm>
          <a:off x="682086" y="1497005"/>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111365971"/>
              </p:ext>
            </p:extLst>
          </p:nvPr>
        </p:nvGraphicFramePr>
        <p:xfrm>
          <a:off x="671070" y="3440627"/>
          <a:ext cx="3596005" cy="310896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set_name</a:t>
                      </a:r>
                      <a:r>
                        <a:rPr lang="en-US" sz="1800" i="0" noProof="0" dirty="0">
                          <a:solidFill>
                            <a:srgbClr val="C00000"/>
                          </a:solidFill>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get_name</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set_address</a:t>
                      </a:r>
                      <a:r>
                        <a:rPr lang="en-US" sz="1800" i="0" noProof="0" dirty="0">
                          <a:solidFill>
                            <a:srgbClr val="C00000"/>
                          </a:solidFill>
                          <a:latin typeface="Courier New" panose="02070309020205020404" pitchFamily="49" charset="0"/>
                          <a:cs typeface="Courier New" panose="02070309020205020404" pitchFamily="49" charset="0"/>
                        </a:rPr>
                        <a:t>(address)</a:t>
                      </a:r>
                      <a:br>
                        <a:rPr lang="en-US" sz="1800" i="0" noProof="0" dirty="0">
                          <a:solidFill>
                            <a:srgbClr val="C00000"/>
                          </a:solidFill>
                          <a:latin typeface="Courier New" panose="02070309020205020404" pitchFamily="49" charset="0"/>
                          <a:cs typeface="Courier New" panose="02070309020205020404" pitchFamily="49" charset="0"/>
                        </a:rPr>
                      </a:br>
                      <a:r>
                        <a:rPr lang="en-US" sz="1800" i="0" noProof="0" dirty="0" err="1">
                          <a:solidFill>
                            <a:srgbClr val="C00000"/>
                          </a:solidFill>
                          <a:latin typeface="Courier New" panose="02070309020205020404" pitchFamily="49" charset="0"/>
                          <a:cs typeface="Courier New" panose="02070309020205020404" pitchFamily="49" charset="0"/>
                        </a:rPr>
                        <a:t>get_address</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pSp>
        <p:nvGrpSpPr>
          <p:cNvPr id="7" name="Group 6"/>
          <p:cNvGrpSpPr/>
          <p:nvPr/>
        </p:nvGrpSpPr>
        <p:grpSpPr>
          <a:xfrm>
            <a:off x="732772" y="3864279"/>
            <a:ext cx="3496329" cy="1315233"/>
            <a:chOff x="732773" y="3864279"/>
            <a:chExt cx="3463446" cy="1315233"/>
          </a:xfrm>
        </p:grpSpPr>
        <p:sp>
          <p:nvSpPr>
            <p:cNvPr id="3" name="Rounded Rectangle 2"/>
            <p:cNvSpPr/>
            <p:nvPr/>
          </p:nvSpPr>
          <p:spPr>
            <a:xfrm>
              <a:off x="732773" y="3864279"/>
              <a:ext cx="3463446" cy="1315233"/>
            </a:xfrm>
            <a:prstGeom prst="roundRect">
              <a:avLst>
                <a:gd name="adj" fmla="val 7530"/>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extBox 5"/>
            <p:cNvSpPr txBox="1"/>
            <p:nvPr/>
          </p:nvSpPr>
          <p:spPr>
            <a:xfrm>
              <a:off x="2826145" y="3864279"/>
              <a:ext cx="1358584" cy="461665"/>
            </a:xfrm>
            <a:prstGeom prst="rect">
              <a:avLst/>
            </a:prstGeom>
            <a:noFill/>
          </p:spPr>
          <p:txBody>
            <a:bodyPr wrap="square" rtlCol="0">
              <a:spAutoFit/>
            </a:bodyPr>
            <a:lstStyle/>
            <a:p>
              <a:pPr algn="r"/>
              <a:r>
                <a:rPr lang="en-US" sz="1200" noProof="0" dirty="0">
                  <a:solidFill>
                    <a:srgbClr val="C00000"/>
                  </a:solidFill>
                  <a:latin typeface="Courier New" panose="02070309020205020404" pitchFamily="49" charset="0"/>
                  <a:cs typeface="Courier New" panose="02070309020205020404" pitchFamily="49" charset="0"/>
                </a:rPr>
                <a:t>person</a:t>
              </a:r>
              <a:r>
                <a:rPr lang="en-US" sz="1200" noProof="0" dirty="0">
                  <a:solidFill>
                    <a:srgbClr val="C00000"/>
                  </a:solidFill>
                </a:rPr>
                <a:t> attributes</a:t>
              </a:r>
            </a:p>
          </p:txBody>
        </p:sp>
      </p:grpSp>
      <p:sp>
        <p:nvSpPr>
          <p:cNvPr id="8" name="TextBox 7"/>
          <p:cNvSpPr txBox="1"/>
          <p:nvPr/>
        </p:nvSpPr>
        <p:spPr>
          <a:xfrm>
            <a:off x="5235879" y="1319162"/>
            <a:ext cx="6117921" cy="1200329"/>
          </a:xfrm>
          <a:prstGeom prst="rect">
            <a:avLst/>
          </a:prstGeom>
          <a:noFill/>
        </p:spPr>
        <p:txBody>
          <a:bodyPr wrap="square" rtlCol="0">
            <a:spAutoFit/>
          </a:bodyPr>
          <a:lstStyle/>
          <a:p>
            <a:pPr algn="ctr"/>
            <a:endParaRPr lang="en-US" sz="2400" noProof="0" dirty="0"/>
          </a:p>
          <a:p>
            <a:pPr algn="ctr"/>
            <a:r>
              <a:rPr lang="en-US" sz="2400" noProof="0" dirty="0"/>
              <a:t>class </a:t>
            </a:r>
            <a:r>
              <a:rPr lang="en-US" sz="2400" noProof="0" dirty="0">
                <a:latin typeface="Courier New" panose="02070309020205020404" pitchFamily="49" charset="0"/>
                <a:cs typeface="Courier New" panose="02070309020205020404" pitchFamily="49" charset="0"/>
              </a:rPr>
              <a:t>Student</a:t>
            </a:r>
            <a:r>
              <a:rPr lang="en-US" sz="2400" noProof="0" dirty="0"/>
              <a:t> </a:t>
            </a:r>
            <a:r>
              <a:rPr lang="en-US" sz="2400" noProof="0" dirty="0">
                <a:solidFill>
                  <a:srgbClr val="C00000"/>
                </a:solidFill>
              </a:rPr>
              <a:t>inherits</a:t>
            </a:r>
            <a:r>
              <a:rPr lang="en-US" sz="2400" noProof="0" dirty="0"/>
              <a:t> from class </a:t>
            </a:r>
            <a:r>
              <a:rPr lang="en-US" sz="2400" noProof="0" dirty="0">
                <a:latin typeface="Courier New" panose="02070309020205020404" pitchFamily="49" charset="0"/>
                <a:cs typeface="Courier New" panose="02070309020205020404" pitchFamily="49" charset="0"/>
              </a:rPr>
              <a:t>Person</a:t>
            </a:r>
          </a:p>
          <a:p>
            <a:pPr algn="ctr"/>
            <a:r>
              <a:rPr lang="en-US" sz="2400" noProof="0" dirty="0"/>
              <a:t>class </a:t>
            </a:r>
            <a:r>
              <a:rPr lang="en-US" sz="2400" noProof="0" dirty="0">
                <a:latin typeface="Courier New" panose="02070309020205020404" pitchFamily="49" charset="0"/>
                <a:cs typeface="Courier New" panose="02070309020205020404" pitchFamily="49" charset="0"/>
              </a:rPr>
              <a:t>Person</a:t>
            </a:r>
            <a:r>
              <a:rPr lang="en-US" sz="2400" noProof="0" dirty="0"/>
              <a:t> is the </a:t>
            </a:r>
            <a:r>
              <a:rPr lang="en-US" sz="2400" noProof="0" dirty="0">
                <a:solidFill>
                  <a:srgbClr val="C00000"/>
                </a:solidFill>
              </a:rPr>
              <a:t>base class </a:t>
            </a:r>
            <a:r>
              <a:rPr lang="en-US" sz="2400" noProof="0" dirty="0"/>
              <a:t>of </a:t>
            </a:r>
            <a:r>
              <a:rPr lang="en-US" sz="2400" noProof="0" dirty="0">
                <a:latin typeface="Courier New" panose="02070309020205020404" pitchFamily="49" charset="0"/>
                <a:cs typeface="Courier New" panose="02070309020205020404" pitchFamily="49" charset="0"/>
              </a:rPr>
              <a:t>Student</a:t>
            </a:r>
          </a:p>
        </p:txBody>
      </p:sp>
      <p:grpSp>
        <p:nvGrpSpPr>
          <p:cNvPr id="25" name="Group 24"/>
          <p:cNvGrpSpPr/>
          <p:nvPr/>
        </p:nvGrpSpPr>
        <p:grpSpPr>
          <a:xfrm>
            <a:off x="7915722" y="2519491"/>
            <a:ext cx="379118" cy="1083001"/>
            <a:chOff x="7915722" y="2112298"/>
            <a:chExt cx="379118" cy="1083001"/>
          </a:xfrm>
        </p:grpSpPr>
        <p:cxnSp>
          <p:nvCxnSpPr>
            <p:cNvPr id="15" name="Straight Arrow Connector 14"/>
            <p:cNvCxnSpPr/>
            <p:nvPr/>
          </p:nvCxnSpPr>
          <p:spPr>
            <a:xfrm flipH="1">
              <a:off x="7915722" y="2688682"/>
              <a:ext cx="181768" cy="506617"/>
            </a:xfrm>
            <a:prstGeom prst="straightConnector1">
              <a:avLst/>
            </a:prstGeom>
            <a:ln w="76200">
              <a:solidFill>
                <a:schemeClr val="accent5">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8" idx="2"/>
            </p:cNvCxnSpPr>
            <p:nvPr/>
          </p:nvCxnSpPr>
          <p:spPr>
            <a:xfrm flipH="1">
              <a:off x="7943850" y="2112298"/>
              <a:ext cx="350990" cy="99880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893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p:cNvGraphicFramePr>
            <a:graphicFrameLocks noGrp="1"/>
          </p:cNvGraphicFramePr>
          <p:nvPr>
            <p:extLst>
              <p:ext uri="{D42A27DB-BD31-4B8C-83A1-F6EECF244321}">
                <p14:modId xmlns:p14="http://schemas.microsoft.com/office/powerpoint/2010/main" val="3527726198"/>
              </p:ext>
            </p:extLst>
          </p:nvPr>
        </p:nvGraphicFramePr>
        <p:xfrm>
          <a:off x="5307316" y="1497005"/>
          <a:ext cx="4142589" cy="3749040"/>
        </p:xfrm>
        <a:graphic>
          <a:graphicData uri="http://schemas.openxmlformats.org/drawingml/2006/table">
            <a:tbl>
              <a:tblPr firstRow="1" bandRow="1">
                <a:tableStyleId>{5C22544A-7EE6-4342-B048-85BDC9FD1C3A}</a:tableStyleId>
              </a:tblPr>
              <a:tblGrid>
                <a:gridCol w="4142589">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person.py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Person:</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__</a:t>
                      </a:r>
                      <a:r>
                        <a:rPr lang="en-US" sz="1800" b="1" noProof="0" dirty="0" err="1">
                          <a:solidFill>
                            <a:schemeClr val="tx1"/>
                          </a:solidFill>
                          <a:latin typeface="Courier New" panose="02070309020205020404" pitchFamily="49" charset="0"/>
                          <a:cs typeface="Courier New" panose="02070309020205020404" pitchFamily="49" charset="0"/>
                        </a:rPr>
                        <a:t>init</a:t>
                      </a:r>
                      <a:r>
                        <a:rPr lang="en-US" sz="1800" b="1" noProof="0" dirty="0">
                          <a:solidFill>
                            <a:schemeClr val="tx1"/>
                          </a:solidFill>
                          <a:latin typeface="Courier New" panose="02070309020205020404" pitchFamily="49" charset="0"/>
                          <a:cs typeface="Courier New" panose="02070309020205020404" pitchFamily="49" charset="0"/>
                        </a:rPr>
                        <a:t>__(</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.name = None</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solidFill>
                            <a:schemeClr val="tx1"/>
                          </a:solidFill>
                          <a:latin typeface="Courier New" panose="02070309020205020404" pitchFamily="49" charset="0"/>
                          <a:cs typeface="Courier New" panose="02070309020205020404" pitchFamily="49" charset="0"/>
                        </a:rPr>
                        <a:t>.address</a:t>
                      </a:r>
                      <a:r>
                        <a:rPr lang="en-US" sz="1800" b="1" noProof="0" dirty="0">
                          <a:solidFill>
                            <a:schemeClr val="tx1"/>
                          </a:solidFill>
                          <a:latin typeface="Courier New" panose="02070309020205020404" pitchFamily="49" charset="0"/>
                          <a:cs typeface="Courier New" panose="02070309020205020404" pitchFamily="49" charset="0"/>
                        </a:rPr>
                        <a:t> = None</a:t>
                      </a:r>
                    </a:p>
                    <a:p>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    </a:t>
                      </a:r>
                      <a:r>
                        <a:rPr lang="en-US" sz="1800" b="1" noProof="0" dirty="0">
                          <a:solidFill>
                            <a:schemeClr val="bg1">
                              <a:lumMod val="50000"/>
                            </a:schemeClr>
                          </a:solidFill>
                          <a:latin typeface="Courier New" panose="02070309020205020404" pitchFamily="49" charset="0"/>
                          <a:cs typeface="Courier New" panose="02070309020205020404" pitchFamily="49" charset="0"/>
                        </a:rPr>
                        <a:t>...</a:t>
                      </a:r>
                    </a:p>
                    <a:p>
                      <a:endParaRPr lang="en-US" sz="1800" b="1" noProof="0" dirty="0">
                        <a:solidFill>
                          <a:schemeClr val="accent1">
                            <a:lumMod val="50000"/>
                          </a:schemeClr>
                        </a:solidFill>
                        <a:latin typeface="Courier New" panose="02070309020205020404" pitchFamily="49" charset="0"/>
                        <a:cs typeface="Courier New" panose="02070309020205020404" pitchFamily="49" charset="0"/>
                      </a:endParaRPr>
                    </a:p>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Student</a:t>
                      </a:r>
                      <a:r>
                        <a:rPr lang="en-US" sz="1800" b="1" noProof="0" dirty="0">
                          <a:solidFill>
                            <a:srgbClr val="C00000"/>
                          </a:solidFill>
                          <a:latin typeface="Courier New" panose="02070309020205020404" pitchFamily="49" charset="0"/>
                          <a:cs typeface="Courier New" panose="02070309020205020404" pitchFamily="49" charset="0"/>
                        </a:rPr>
                        <a:t>(Person)</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__</a:t>
                      </a:r>
                      <a:r>
                        <a:rPr lang="en-US" sz="1800" b="1" noProof="0" dirty="0" err="1">
                          <a:solidFill>
                            <a:schemeClr val="tx1"/>
                          </a:solidFill>
                          <a:latin typeface="Courier New" panose="02070309020205020404" pitchFamily="49" charset="0"/>
                          <a:cs typeface="Courier New" panose="02070309020205020404" pitchFamily="49" charset="0"/>
                        </a:rPr>
                        <a:t>init</a:t>
                      </a:r>
                      <a:r>
                        <a:rPr lang="en-US" sz="1800" b="1" noProof="0" dirty="0">
                          <a:solidFill>
                            <a:schemeClr val="tx1"/>
                          </a:solidFill>
                          <a:latin typeface="Courier New" panose="02070309020205020404" pitchFamily="49" charset="0"/>
                          <a:cs typeface="Courier New" panose="02070309020205020404" pitchFamily="49" charset="0"/>
                        </a:rPr>
                        <a:t>__(</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.id = None</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solidFill>
                            <a:schemeClr val="tx1"/>
                          </a:solidFill>
                          <a:latin typeface="Courier New" panose="02070309020205020404" pitchFamily="49" charset="0"/>
                          <a:cs typeface="Courier New" panose="02070309020205020404" pitchFamily="49" charset="0"/>
                        </a:rPr>
                        <a:t>.grades</a:t>
                      </a:r>
                      <a:r>
                        <a:rPr lang="en-US" sz="1800" b="1" noProof="0" dirty="0">
                          <a:solidFill>
                            <a:schemeClr val="tx1"/>
                          </a:solidFill>
                          <a:latin typeface="Courier New" panose="02070309020205020404" pitchFamily="49" charset="0"/>
                          <a:cs typeface="Courier New" panose="02070309020205020404" pitchFamily="49" charset="0"/>
                        </a:rPr>
                        <a:t> = {}</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Person.__</a:t>
                      </a:r>
                      <a:r>
                        <a:rPr lang="en-US" sz="1800" b="1" noProof="0" dirty="0" err="1">
                          <a:solidFill>
                            <a:srgbClr val="C00000"/>
                          </a:solidFill>
                          <a:latin typeface="Courier New" panose="02070309020205020404" pitchFamily="49" charset="0"/>
                          <a:cs typeface="Courier New" panose="02070309020205020404" pitchFamily="49" charset="0"/>
                        </a:rPr>
                        <a:t>init</a:t>
                      </a:r>
                      <a:r>
                        <a:rPr lang="en-US" sz="1800" b="1" noProof="0" dirty="0">
                          <a:solidFill>
                            <a:srgbClr val="C00000"/>
                          </a:solidFill>
                          <a:latin typeface="Courier New" panose="02070309020205020404" pitchFamily="49" charset="0"/>
                          <a:cs typeface="Courier New" panose="02070309020205020404" pitchFamily="49" charset="0"/>
                        </a:rPr>
                        <a:t>__</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    </a:t>
                      </a:r>
                      <a:r>
                        <a:rPr lang="en-US" sz="1800" b="1" noProof="0" dirty="0">
                          <a:solidFill>
                            <a:schemeClr val="bg1">
                              <a:lumMod val="50000"/>
                            </a:schemeClr>
                          </a:solidFill>
                          <a:latin typeface="Courier New" panose="02070309020205020404" pitchFamily="49" charset="0"/>
                          <a:cs typeface="Courier New" panose="02070309020205020404" pitchFamily="49" charset="0"/>
                        </a:rPr>
                        <a:t>...</a:t>
                      </a:r>
                      <a:endParaRPr lang="en-US" sz="1800" b="1" noProof="0" dirty="0">
                        <a:solidFill>
                          <a:schemeClr val="tx1"/>
                        </a:solidFill>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
        <p:nvSpPr>
          <p:cNvPr id="2" name="Title 1"/>
          <p:cNvSpPr>
            <a:spLocks noGrp="1"/>
          </p:cNvSpPr>
          <p:nvPr>
            <p:ph type="title"/>
          </p:nvPr>
        </p:nvSpPr>
        <p:spPr/>
        <p:txBody>
          <a:bodyPr/>
          <a:lstStyle/>
          <a:p>
            <a:r>
              <a:rPr lang="en-US" noProof="0" dirty="0"/>
              <a:t>Classes constructors</a:t>
            </a:r>
          </a:p>
        </p:txBody>
      </p:sp>
      <p:graphicFrame>
        <p:nvGraphicFramePr>
          <p:cNvPr id="4" name="Table 3"/>
          <p:cNvGraphicFramePr>
            <a:graphicFrameLocks noGrp="1"/>
          </p:cNvGraphicFramePr>
          <p:nvPr>
            <p:extLst>
              <p:ext uri="{D42A27DB-BD31-4B8C-83A1-F6EECF244321}">
                <p14:modId xmlns:p14="http://schemas.microsoft.com/office/powerpoint/2010/main" val="681846542"/>
              </p:ext>
            </p:extLst>
          </p:nvPr>
        </p:nvGraphicFramePr>
        <p:xfrm>
          <a:off x="679675" y="1497005"/>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813141929"/>
              </p:ext>
            </p:extLst>
          </p:nvPr>
        </p:nvGraphicFramePr>
        <p:xfrm>
          <a:off x="679676" y="3440627"/>
          <a:ext cx="3596005" cy="310896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set_name</a:t>
                      </a:r>
                      <a:r>
                        <a:rPr lang="en-US" sz="1800" i="0" noProof="0" dirty="0">
                          <a:solidFill>
                            <a:srgbClr val="C00000"/>
                          </a:solidFill>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get_name</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set_address</a:t>
                      </a:r>
                      <a:r>
                        <a:rPr lang="en-US" sz="1800" i="0" noProof="0" dirty="0">
                          <a:solidFill>
                            <a:srgbClr val="C00000"/>
                          </a:solidFill>
                          <a:latin typeface="Courier New" panose="02070309020205020404" pitchFamily="49" charset="0"/>
                          <a:cs typeface="Courier New" panose="02070309020205020404" pitchFamily="49" charset="0"/>
                        </a:rPr>
                        <a:t>(address)</a:t>
                      </a:r>
                      <a:br>
                        <a:rPr lang="en-US" sz="1800" i="0" noProof="0" dirty="0">
                          <a:solidFill>
                            <a:srgbClr val="C00000"/>
                          </a:solidFill>
                          <a:latin typeface="Courier New" panose="02070309020205020404" pitchFamily="49" charset="0"/>
                          <a:cs typeface="Courier New" panose="02070309020205020404" pitchFamily="49" charset="0"/>
                        </a:rPr>
                      </a:br>
                      <a:r>
                        <a:rPr lang="en-US" sz="1800" i="0" noProof="0" dirty="0" err="1">
                          <a:solidFill>
                            <a:srgbClr val="C00000"/>
                          </a:solidFill>
                          <a:latin typeface="Courier New" panose="02070309020205020404" pitchFamily="49" charset="0"/>
                          <a:cs typeface="Courier New" panose="02070309020205020404" pitchFamily="49" charset="0"/>
                        </a:rPr>
                        <a:t>get_address</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pSp>
        <p:nvGrpSpPr>
          <p:cNvPr id="7" name="Group 6"/>
          <p:cNvGrpSpPr/>
          <p:nvPr/>
        </p:nvGrpSpPr>
        <p:grpSpPr>
          <a:xfrm>
            <a:off x="730361" y="3864279"/>
            <a:ext cx="3496329" cy="1315233"/>
            <a:chOff x="732773" y="3864279"/>
            <a:chExt cx="3463446" cy="1315233"/>
          </a:xfrm>
        </p:grpSpPr>
        <p:sp>
          <p:nvSpPr>
            <p:cNvPr id="3" name="Rounded Rectangle 2"/>
            <p:cNvSpPr/>
            <p:nvPr/>
          </p:nvSpPr>
          <p:spPr>
            <a:xfrm>
              <a:off x="732773" y="3864279"/>
              <a:ext cx="3463446" cy="1315233"/>
            </a:xfrm>
            <a:prstGeom prst="roundRect">
              <a:avLst>
                <a:gd name="adj" fmla="val 7530"/>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extBox 5"/>
            <p:cNvSpPr txBox="1"/>
            <p:nvPr/>
          </p:nvSpPr>
          <p:spPr>
            <a:xfrm>
              <a:off x="2826145" y="3864279"/>
              <a:ext cx="1358584" cy="461665"/>
            </a:xfrm>
            <a:prstGeom prst="rect">
              <a:avLst/>
            </a:prstGeom>
            <a:noFill/>
          </p:spPr>
          <p:txBody>
            <a:bodyPr wrap="square" rtlCol="0">
              <a:spAutoFit/>
            </a:bodyPr>
            <a:lstStyle/>
            <a:p>
              <a:pPr algn="r"/>
              <a:r>
                <a:rPr lang="en-US" sz="1200" noProof="0" dirty="0">
                  <a:solidFill>
                    <a:srgbClr val="C00000"/>
                  </a:solidFill>
                  <a:latin typeface="Courier New" panose="02070309020205020404" pitchFamily="49" charset="0"/>
                  <a:cs typeface="Courier New" panose="02070309020205020404" pitchFamily="49" charset="0"/>
                </a:rPr>
                <a:t>person</a:t>
              </a:r>
              <a:r>
                <a:rPr lang="en-US" sz="1200" noProof="0" dirty="0">
                  <a:solidFill>
                    <a:srgbClr val="C00000"/>
                  </a:solidFill>
                </a:rPr>
                <a:t> attributes</a:t>
              </a:r>
            </a:p>
          </p:txBody>
        </p:sp>
      </p:grpSp>
      <p:sp>
        <p:nvSpPr>
          <p:cNvPr id="14" name="TextBox 13"/>
          <p:cNvSpPr txBox="1"/>
          <p:nvPr/>
        </p:nvSpPr>
        <p:spPr>
          <a:xfrm>
            <a:off x="9718632" y="2230326"/>
            <a:ext cx="2375736" cy="707886"/>
          </a:xfrm>
          <a:prstGeom prst="rect">
            <a:avLst/>
          </a:prstGeom>
          <a:noFill/>
        </p:spPr>
        <p:txBody>
          <a:bodyPr wrap="square" rtlCol="0">
            <a:spAutoFit/>
          </a:bodyPr>
          <a:lstStyle/>
          <a:p>
            <a:r>
              <a:rPr lang="en-US" sz="2000" noProof="0" dirty="0">
                <a:solidFill>
                  <a:srgbClr val="C00000"/>
                </a:solidFill>
              </a:rPr>
              <a:t>constructor for </a:t>
            </a:r>
            <a:r>
              <a:rPr lang="en-US" sz="2000" noProof="0" dirty="0">
                <a:solidFill>
                  <a:srgbClr val="C00000"/>
                </a:solidFill>
                <a:latin typeface="Courier New" panose="02070309020205020404" pitchFamily="49" charset="0"/>
                <a:cs typeface="Courier New" panose="02070309020205020404" pitchFamily="49" charset="0"/>
              </a:rPr>
              <a:t>Person</a:t>
            </a:r>
            <a:r>
              <a:rPr lang="en-US" sz="2000" noProof="0" dirty="0">
                <a:solidFill>
                  <a:srgbClr val="C00000"/>
                </a:solidFill>
              </a:rPr>
              <a:t> class</a:t>
            </a:r>
            <a:endParaRPr lang="en-US" sz="2000" noProof="0" dirty="0">
              <a:solidFill>
                <a:srgbClr val="C00000"/>
              </a:solidFill>
              <a:latin typeface="Courier New" panose="02070309020205020404" pitchFamily="49" charset="0"/>
              <a:cs typeface="Courier New" panose="02070309020205020404" pitchFamily="49" charset="0"/>
            </a:endParaRPr>
          </a:p>
        </p:txBody>
      </p:sp>
      <p:sp>
        <p:nvSpPr>
          <p:cNvPr id="16" name="Right Brace 15"/>
          <p:cNvSpPr/>
          <p:nvPr/>
        </p:nvSpPr>
        <p:spPr>
          <a:xfrm>
            <a:off x="9581997" y="2264840"/>
            <a:ext cx="136635" cy="646501"/>
          </a:xfrm>
          <a:prstGeom prst="rightBrace">
            <a:avLst>
              <a:gd name="adj1" fmla="val 41795"/>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7" name="Right Brace 16"/>
          <p:cNvSpPr/>
          <p:nvPr/>
        </p:nvSpPr>
        <p:spPr>
          <a:xfrm>
            <a:off x="9581997" y="3829989"/>
            <a:ext cx="136635" cy="1124393"/>
          </a:xfrm>
          <a:prstGeom prst="rightBrace">
            <a:avLst>
              <a:gd name="adj1" fmla="val 41795"/>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9" name="TextBox 18"/>
          <p:cNvSpPr txBox="1"/>
          <p:nvPr/>
        </p:nvSpPr>
        <p:spPr>
          <a:xfrm>
            <a:off x="9718632" y="4038242"/>
            <a:ext cx="2375736" cy="707886"/>
          </a:xfrm>
          <a:prstGeom prst="rect">
            <a:avLst/>
          </a:prstGeom>
          <a:noFill/>
        </p:spPr>
        <p:txBody>
          <a:bodyPr wrap="square" rtlCol="0">
            <a:spAutoFit/>
          </a:bodyPr>
          <a:lstStyle/>
          <a:p>
            <a:r>
              <a:rPr lang="en-US" sz="2000" noProof="0" dirty="0">
                <a:solidFill>
                  <a:srgbClr val="C00000"/>
                </a:solidFill>
              </a:rPr>
              <a:t>constructor for </a:t>
            </a:r>
            <a:r>
              <a:rPr lang="en-US" sz="2000" noProof="0" dirty="0">
                <a:solidFill>
                  <a:srgbClr val="C00000"/>
                </a:solidFill>
                <a:latin typeface="Courier New" panose="02070309020205020404" pitchFamily="49" charset="0"/>
                <a:cs typeface="Courier New" panose="02070309020205020404" pitchFamily="49" charset="0"/>
              </a:rPr>
              <a:t>Student</a:t>
            </a:r>
            <a:r>
              <a:rPr lang="en-US" sz="2000" noProof="0" dirty="0">
                <a:solidFill>
                  <a:srgbClr val="C00000"/>
                </a:solidFill>
              </a:rPr>
              <a:t> class</a:t>
            </a:r>
            <a:endParaRPr lang="en-US" sz="2000" noProof="0" dirty="0">
              <a:solidFill>
                <a:srgbClr val="C00000"/>
              </a:solidFill>
              <a:latin typeface="Courier New" panose="02070309020205020404" pitchFamily="49" charset="0"/>
              <a:cs typeface="Courier New" panose="02070309020205020404" pitchFamily="49" charset="0"/>
            </a:endParaRPr>
          </a:p>
        </p:txBody>
      </p:sp>
      <p:sp>
        <p:nvSpPr>
          <p:cNvPr id="5" name="TextBox 4"/>
          <p:cNvSpPr txBox="1"/>
          <p:nvPr/>
        </p:nvSpPr>
        <p:spPr>
          <a:xfrm>
            <a:off x="5257308" y="5280559"/>
            <a:ext cx="6029818" cy="1477328"/>
          </a:xfrm>
          <a:prstGeom prst="rect">
            <a:avLst/>
          </a:prstGeom>
          <a:noFill/>
        </p:spPr>
        <p:txBody>
          <a:bodyPr wrap="square" rtlCol="0">
            <a:spAutoFit/>
          </a:bodyPr>
          <a:lstStyle/>
          <a:p>
            <a:r>
              <a:rPr lang="en-US" b="1" noProof="0" dirty="0"/>
              <a:t>Notes</a:t>
            </a:r>
            <a:r>
              <a:rPr lang="en-US" noProof="0" dirty="0"/>
              <a:t>  </a:t>
            </a:r>
          </a:p>
          <a:p>
            <a:pPr marL="342900" indent="-342900">
              <a:buFont typeface="+mj-lt"/>
              <a:buAutoNum type="arabicParenR"/>
            </a:pPr>
            <a:r>
              <a:rPr lang="en-US" noProof="0" dirty="0">
                <a:solidFill>
                  <a:srgbClr val="C00000"/>
                </a:solidFill>
              </a:rPr>
              <a:t> </a:t>
            </a:r>
            <a:r>
              <a:rPr lang="en-US" noProof="0" dirty="0"/>
              <a:t>If </a:t>
            </a:r>
            <a:r>
              <a:rPr lang="en-US" noProof="0" dirty="0">
                <a:latin typeface="Courier New" panose="02070309020205020404" pitchFamily="49" charset="0"/>
                <a:cs typeface="Courier New" panose="02070309020205020404" pitchFamily="49" charset="0"/>
              </a:rPr>
              <a:t>Student.__</a:t>
            </a:r>
            <a:r>
              <a:rPr lang="en-US" noProof="0" dirty="0" err="1">
                <a:latin typeface="Courier New" panose="02070309020205020404" pitchFamily="49" charset="0"/>
                <a:cs typeface="Courier New" panose="02070309020205020404" pitchFamily="49" charset="0"/>
              </a:rPr>
              <a:t>init</a:t>
            </a:r>
            <a:r>
              <a:rPr lang="en-US" noProof="0" dirty="0">
                <a:latin typeface="Courier New" panose="02070309020205020404" pitchFamily="49" charset="0"/>
                <a:cs typeface="Courier New" panose="02070309020205020404" pitchFamily="49" charset="0"/>
              </a:rPr>
              <a:t>__</a:t>
            </a:r>
            <a:r>
              <a:rPr lang="en-US" noProof="0" dirty="0"/>
              <a:t> is not defined,  then</a:t>
            </a:r>
            <a:br>
              <a:rPr lang="en-US" noProof="0" dirty="0"/>
            </a:br>
            <a:r>
              <a:rPr lang="en-US" noProof="0" dirty="0"/>
              <a:t> </a:t>
            </a:r>
            <a:r>
              <a:rPr lang="en-US" noProof="0" dirty="0">
                <a:latin typeface="Courier New" panose="02070309020205020404" pitchFamily="49" charset="0"/>
                <a:cs typeface="Courier New" panose="02070309020205020404" pitchFamily="49" charset="0"/>
              </a:rPr>
              <a:t>Person.__</a:t>
            </a:r>
            <a:r>
              <a:rPr lang="en-US" noProof="0" dirty="0" err="1">
                <a:latin typeface="Courier New" panose="02070309020205020404" pitchFamily="49" charset="0"/>
                <a:cs typeface="Courier New" panose="02070309020205020404" pitchFamily="49" charset="0"/>
              </a:rPr>
              <a:t>init</a:t>
            </a:r>
            <a:r>
              <a:rPr lang="en-US" noProof="0" dirty="0">
                <a:latin typeface="Courier New" panose="02070309020205020404" pitchFamily="49" charset="0"/>
                <a:cs typeface="Courier New" panose="02070309020205020404" pitchFamily="49" charset="0"/>
              </a:rPr>
              <a:t>__</a:t>
            </a:r>
            <a:r>
              <a:rPr lang="en-US" noProof="0" dirty="0"/>
              <a:t> will be called</a:t>
            </a:r>
          </a:p>
          <a:p>
            <a:pPr marL="342900" indent="-342900">
              <a:buFont typeface="+mj-lt"/>
              <a:buAutoNum type="arabicParenR"/>
            </a:pPr>
            <a:r>
              <a:rPr lang="en-US" noProof="0" dirty="0">
                <a:solidFill>
                  <a:srgbClr val="C00000"/>
                </a:solidFill>
                <a:cs typeface="Courier New" panose="02070309020205020404" pitchFamily="49" charset="0"/>
              </a:rPr>
              <a:t> </a:t>
            </a:r>
            <a:r>
              <a:rPr lang="en-US" noProof="0" dirty="0">
                <a:latin typeface="Courier New" panose="02070309020205020404" pitchFamily="49" charset="0"/>
                <a:cs typeface="Courier New" panose="02070309020205020404" pitchFamily="49" charset="0"/>
              </a:rPr>
              <a:t>Student.__</a:t>
            </a:r>
            <a:r>
              <a:rPr lang="en-US" noProof="0" dirty="0" err="1">
                <a:latin typeface="Courier New" panose="02070309020205020404" pitchFamily="49" charset="0"/>
                <a:cs typeface="Courier New" panose="02070309020205020404" pitchFamily="49" charset="0"/>
              </a:rPr>
              <a:t>init</a:t>
            </a:r>
            <a:r>
              <a:rPr lang="en-US" noProof="0" dirty="0">
                <a:latin typeface="Courier New" panose="02070309020205020404" pitchFamily="49" charset="0"/>
                <a:cs typeface="Courier New" panose="02070309020205020404" pitchFamily="49" charset="0"/>
              </a:rPr>
              <a:t>__</a:t>
            </a:r>
            <a:r>
              <a:rPr lang="en-US" noProof="0" dirty="0"/>
              <a:t> must call </a:t>
            </a:r>
            <a:r>
              <a:rPr lang="en-US" noProof="0" dirty="0">
                <a:latin typeface="Courier New" panose="02070309020205020404" pitchFamily="49" charset="0"/>
                <a:cs typeface="Courier New" panose="02070309020205020404" pitchFamily="49" charset="0"/>
              </a:rPr>
              <a:t>Person.__</a:t>
            </a:r>
            <a:r>
              <a:rPr lang="en-US" noProof="0" dirty="0" err="1">
                <a:latin typeface="Courier New" panose="02070309020205020404" pitchFamily="49" charset="0"/>
                <a:cs typeface="Courier New" panose="02070309020205020404" pitchFamily="49" charset="0"/>
              </a:rPr>
              <a:t>init</a:t>
            </a:r>
            <a:r>
              <a:rPr lang="en-US" noProof="0" dirty="0">
                <a:latin typeface="Courier New" panose="02070309020205020404" pitchFamily="49" charset="0"/>
                <a:cs typeface="Courier New" panose="02070309020205020404" pitchFamily="49" charset="0"/>
              </a:rPr>
              <a:t>__</a:t>
            </a:r>
            <a:r>
              <a:rPr lang="en-US" noProof="0" dirty="0"/>
              <a:t> to</a:t>
            </a:r>
            <a:br>
              <a:rPr lang="en-US" noProof="0" dirty="0"/>
            </a:br>
            <a:r>
              <a:rPr lang="en-US" noProof="0" dirty="0"/>
              <a:t> initialize the </a:t>
            </a:r>
            <a:r>
              <a:rPr lang="en-US" noProof="0" dirty="0">
                <a:latin typeface="Courier New" panose="02070309020205020404" pitchFamily="49" charset="0"/>
                <a:cs typeface="Courier New" panose="02070309020205020404" pitchFamily="49" charset="0"/>
              </a:rPr>
              <a:t>name</a:t>
            </a:r>
            <a:r>
              <a:rPr lang="en-US" noProof="0" dirty="0"/>
              <a:t> and </a:t>
            </a:r>
            <a:r>
              <a:rPr lang="en-US" noProof="0" dirty="0">
                <a:latin typeface="Courier New" panose="02070309020205020404" pitchFamily="49" charset="0"/>
                <a:cs typeface="Courier New" panose="02070309020205020404" pitchFamily="49" charset="0"/>
              </a:rPr>
              <a:t>address</a:t>
            </a:r>
            <a:r>
              <a:rPr lang="en-US" noProof="0" dirty="0"/>
              <a:t> attributes</a:t>
            </a:r>
          </a:p>
        </p:txBody>
      </p:sp>
    </p:spTree>
    <p:extLst>
      <p:ext uri="{BB962C8B-B14F-4D97-AF65-F5344CB8AC3E}">
        <p14:creationId xmlns:p14="http://schemas.microsoft.com/office/powerpoint/2010/main" val="1327406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p:cNvGraphicFramePr>
            <a:graphicFrameLocks noGrp="1"/>
          </p:cNvGraphicFramePr>
          <p:nvPr>
            <p:extLst>
              <p:ext uri="{D42A27DB-BD31-4B8C-83A1-F6EECF244321}">
                <p14:modId xmlns:p14="http://schemas.microsoft.com/office/powerpoint/2010/main" val="766543194"/>
              </p:ext>
            </p:extLst>
          </p:nvPr>
        </p:nvGraphicFramePr>
        <p:xfrm>
          <a:off x="5307313" y="1497005"/>
          <a:ext cx="4411316" cy="4023360"/>
        </p:xfrm>
        <a:graphic>
          <a:graphicData uri="http://schemas.openxmlformats.org/drawingml/2006/table">
            <a:tbl>
              <a:tblPr firstRow="1" bandRow="1">
                <a:tableStyleId>{5C22544A-7EE6-4342-B048-85BDC9FD1C3A}</a:tableStyleId>
              </a:tblPr>
              <a:tblGrid>
                <a:gridCol w="4411316">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person.py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bg1">
                              <a:lumMod val="50000"/>
                            </a:schemeClr>
                          </a:solidFill>
                          <a:latin typeface="Courier New" panose="02070309020205020404" pitchFamily="49" charset="0"/>
                          <a:cs typeface="Courier New" panose="02070309020205020404" pitchFamily="49" charset="0"/>
                        </a:rPr>
                        <a:t>class Person:</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    def __</a:t>
                      </a:r>
                      <a:r>
                        <a:rPr lang="en-US" sz="1800" b="1" noProof="0" dirty="0" err="1">
                          <a:solidFill>
                            <a:schemeClr val="bg1">
                              <a:lumMod val="50000"/>
                            </a:schemeClr>
                          </a:solidFill>
                          <a:latin typeface="Courier New" panose="02070309020205020404" pitchFamily="49" charset="0"/>
                          <a:cs typeface="Courier New" panose="02070309020205020404" pitchFamily="49" charset="0"/>
                        </a:rPr>
                        <a:t>init</a:t>
                      </a:r>
                      <a:r>
                        <a:rPr lang="en-US" sz="1800" b="1" noProof="0" dirty="0">
                          <a:solidFill>
                            <a:schemeClr val="bg1">
                              <a:lumMod val="50000"/>
                            </a:schemeClr>
                          </a:solidFill>
                          <a:latin typeface="Courier New" panose="02070309020205020404" pitchFamily="49" charset="0"/>
                          <a:cs typeface="Courier New" panose="02070309020205020404" pitchFamily="49" charset="0"/>
                        </a:rPr>
                        <a:t>__(self):</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        self.name = None</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        </a:t>
                      </a:r>
                      <a:r>
                        <a:rPr lang="en-US" sz="1800" b="1" noProof="0" dirty="0" err="1">
                          <a:solidFill>
                            <a:schemeClr val="bg1">
                              <a:lumMod val="50000"/>
                            </a:schemeClr>
                          </a:solidFill>
                          <a:latin typeface="Courier New" panose="02070309020205020404" pitchFamily="49" charset="0"/>
                          <a:cs typeface="Courier New" panose="02070309020205020404" pitchFamily="49" charset="0"/>
                        </a:rPr>
                        <a:t>self.address</a:t>
                      </a:r>
                      <a:r>
                        <a:rPr lang="en-US" sz="1800" b="1" noProof="0" dirty="0">
                          <a:solidFill>
                            <a:schemeClr val="bg1">
                              <a:lumMod val="50000"/>
                            </a:schemeClr>
                          </a:solidFill>
                          <a:latin typeface="Courier New" panose="02070309020205020404" pitchFamily="49" charset="0"/>
                          <a:cs typeface="Courier New" panose="02070309020205020404" pitchFamily="49" charset="0"/>
                        </a:rPr>
                        <a:t> = None</a:t>
                      </a:r>
                    </a:p>
                    <a:p>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    </a:t>
                      </a:r>
                      <a:r>
                        <a:rPr lang="en-US" sz="1800" b="1" noProof="0" dirty="0">
                          <a:solidFill>
                            <a:schemeClr val="bg1">
                              <a:lumMod val="50000"/>
                            </a:schemeClr>
                          </a:solidFill>
                          <a:latin typeface="Courier New" panose="02070309020205020404" pitchFamily="49" charset="0"/>
                          <a:cs typeface="Courier New" panose="02070309020205020404" pitchFamily="49" charset="0"/>
                        </a:rPr>
                        <a:t>...</a:t>
                      </a:r>
                    </a:p>
                    <a:p>
                      <a:endParaRPr lang="en-US" sz="1800" b="1" noProof="0" dirty="0">
                        <a:solidFill>
                          <a:schemeClr val="bg1">
                            <a:lumMod val="50000"/>
                          </a:schemeClr>
                        </a:solidFill>
                        <a:latin typeface="Courier New" panose="02070309020205020404" pitchFamily="49" charset="0"/>
                        <a:cs typeface="Courier New" panose="02070309020205020404" pitchFamily="49" charset="0"/>
                      </a:endParaRPr>
                    </a:p>
                    <a:p>
                      <a:r>
                        <a:rPr lang="en-US" sz="1800" b="1" noProof="0" dirty="0">
                          <a:solidFill>
                            <a:schemeClr val="bg1">
                              <a:lumMod val="50000"/>
                            </a:schemeClr>
                          </a:solidFill>
                          <a:latin typeface="Courier New" panose="02070309020205020404" pitchFamily="49" charset="0"/>
                          <a:cs typeface="Courier New" panose="02070309020205020404" pitchFamily="49" charset="0"/>
                        </a:rPr>
                        <a:t>class Student(Person):</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    def __</a:t>
                      </a:r>
                      <a:r>
                        <a:rPr lang="en-US" sz="1800" b="1" noProof="0" dirty="0" err="1">
                          <a:solidFill>
                            <a:schemeClr val="bg1">
                              <a:lumMod val="50000"/>
                            </a:schemeClr>
                          </a:solidFill>
                          <a:latin typeface="Courier New" panose="02070309020205020404" pitchFamily="49" charset="0"/>
                          <a:cs typeface="Courier New" panose="02070309020205020404" pitchFamily="49" charset="0"/>
                        </a:rPr>
                        <a:t>init</a:t>
                      </a:r>
                      <a:r>
                        <a:rPr lang="en-US" sz="1800" b="1" noProof="0" dirty="0">
                          <a:solidFill>
                            <a:schemeClr val="bg1">
                              <a:lumMod val="50000"/>
                            </a:schemeClr>
                          </a:solidFill>
                          <a:latin typeface="Courier New" panose="02070309020205020404" pitchFamily="49" charset="0"/>
                          <a:cs typeface="Courier New" panose="02070309020205020404" pitchFamily="49" charset="0"/>
                        </a:rPr>
                        <a:t>__(self):</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        self.id = None</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        </a:t>
                      </a:r>
                      <a:r>
                        <a:rPr lang="en-US" sz="1800" b="1" noProof="0" dirty="0" err="1">
                          <a:solidFill>
                            <a:schemeClr val="bg1">
                              <a:lumMod val="50000"/>
                            </a:schemeClr>
                          </a:solidFill>
                          <a:latin typeface="Courier New" panose="02070309020205020404" pitchFamily="49" charset="0"/>
                          <a:cs typeface="Courier New" panose="02070309020205020404" pitchFamily="49" charset="0"/>
                        </a:rPr>
                        <a:t>self.grades</a:t>
                      </a:r>
                      <a:r>
                        <a:rPr lang="en-US" sz="1800" b="1" noProof="0" dirty="0">
                          <a:solidFill>
                            <a:schemeClr val="bg1">
                              <a:lumMod val="50000"/>
                            </a:schemeClr>
                          </a:solidFill>
                          <a:latin typeface="Courier New" panose="02070309020205020404" pitchFamily="49" charset="0"/>
                          <a:cs typeface="Courier New" panose="02070309020205020404" pitchFamily="49" charset="0"/>
                        </a:rPr>
                        <a:t> = {}</a:t>
                      </a:r>
                    </a:p>
                    <a:p>
                      <a:r>
                        <a:rPr lang="en-US" sz="1800" b="1" noProof="0" dirty="0">
                          <a:solidFill>
                            <a:srgbClr val="C00000"/>
                          </a:solidFill>
                          <a:latin typeface="Courier New" panose="02070309020205020404" pitchFamily="49" charset="0"/>
                          <a:cs typeface="Courier New" panose="02070309020205020404" pitchFamily="49" charset="0"/>
                        </a:rPr>
                        <a:t>       </a:t>
                      </a:r>
                      <a:r>
                        <a:rPr lang="en-US" sz="1800" b="1" strike="noStrike" noProof="0" dirty="0">
                          <a:solidFill>
                            <a:srgbClr val="C00000"/>
                          </a:solidFill>
                          <a:latin typeface="Courier New" panose="02070309020205020404" pitchFamily="49" charset="0"/>
                          <a:cs typeface="Courier New" panose="02070309020205020404" pitchFamily="49" charset="0"/>
                        </a:rPr>
                        <a:t> </a:t>
                      </a:r>
                      <a:r>
                        <a:rPr lang="en-US" sz="1800" b="1" strike="sngStrike" noProof="0" dirty="0">
                          <a:solidFill>
                            <a:srgbClr val="C00000"/>
                          </a:solidFill>
                          <a:latin typeface="Courier New" panose="02070309020205020404" pitchFamily="49" charset="0"/>
                          <a:cs typeface="Courier New" panose="02070309020205020404" pitchFamily="49" charset="0"/>
                        </a:rPr>
                        <a:t>Person.__</a:t>
                      </a:r>
                      <a:r>
                        <a:rPr lang="en-US" sz="1800" b="1" strike="sngStrike" noProof="0" dirty="0" err="1">
                          <a:solidFill>
                            <a:srgbClr val="C00000"/>
                          </a:solidFill>
                          <a:latin typeface="Courier New" panose="02070309020205020404" pitchFamily="49" charset="0"/>
                          <a:cs typeface="Courier New" panose="02070309020205020404" pitchFamily="49" charset="0"/>
                        </a:rPr>
                        <a:t>init</a:t>
                      </a:r>
                      <a:r>
                        <a:rPr lang="en-US" sz="1800" b="1" strike="sngStrike" noProof="0" dirty="0">
                          <a:solidFill>
                            <a:srgbClr val="C00000"/>
                          </a:solidFill>
                          <a:latin typeface="Courier New" panose="02070309020205020404" pitchFamily="49" charset="0"/>
                          <a:cs typeface="Courier New" panose="02070309020205020404" pitchFamily="49" charset="0"/>
                        </a:rPr>
                        <a:t>__(self)</a:t>
                      </a:r>
                      <a:endParaRPr lang="en-US" sz="1800" b="1" strike="noStrike" noProof="0" dirty="0">
                        <a:solidFill>
                          <a:srgbClr val="C00000"/>
                        </a:solidFill>
                        <a:latin typeface="Courier New" panose="02070309020205020404" pitchFamily="49" charset="0"/>
                        <a:cs typeface="Courier New" panose="02070309020205020404" pitchFamily="49" charset="0"/>
                      </a:endParaRPr>
                    </a:p>
                    <a:p>
                      <a:r>
                        <a:rPr lang="en-US" sz="1800" b="1" noProof="0" dirty="0">
                          <a:solidFill>
                            <a:srgbClr val="C00000"/>
                          </a:solidFill>
                          <a:latin typeface="Courier New" panose="02070309020205020404" pitchFamily="49" charset="0"/>
                          <a:cs typeface="Courier New" panose="02070309020205020404" pitchFamily="49" charset="0"/>
                        </a:rPr>
                        <a:t>        super().__</a:t>
                      </a:r>
                      <a:r>
                        <a:rPr lang="en-US" sz="1800" b="1" noProof="0" dirty="0" err="1">
                          <a:solidFill>
                            <a:srgbClr val="C00000"/>
                          </a:solidFill>
                          <a:latin typeface="Courier New" panose="02070309020205020404" pitchFamily="49" charset="0"/>
                          <a:cs typeface="Courier New" panose="02070309020205020404" pitchFamily="49" charset="0"/>
                        </a:rPr>
                        <a:t>init</a:t>
                      </a:r>
                      <a:r>
                        <a:rPr lang="en-US" sz="1800" b="1" noProof="0" dirty="0">
                          <a:solidFill>
                            <a:srgbClr val="C00000"/>
                          </a:solidFill>
                          <a:latin typeface="Courier New" panose="02070309020205020404" pitchFamily="49" charset="0"/>
                          <a:cs typeface="Courier New" panose="02070309020205020404" pitchFamily="49" charset="0"/>
                        </a:rPr>
                        <a:t>__()</a:t>
                      </a:r>
                    </a:p>
                    <a:p>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    </a:t>
                      </a:r>
                      <a:r>
                        <a:rPr lang="en-US" sz="1800" b="1" noProof="0" dirty="0">
                          <a:solidFill>
                            <a:schemeClr val="bg1">
                              <a:lumMod val="50000"/>
                            </a:schemeClr>
                          </a:solidFill>
                          <a:latin typeface="Courier New" panose="02070309020205020404" pitchFamily="49" charset="0"/>
                          <a:cs typeface="Courier New" panose="02070309020205020404" pitchFamily="49" charset="0"/>
                        </a:rPr>
                        <a:t>...</a:t>
                      </a:r>
                      <a:endParaRPr lang="en-US" sz="1800" b="1" noProof="0" dirty="0">
                        <a:solidFill>
                          <a:schemeClr val="tx1"/>
                        </a:solidFill>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
        <p:nvSpPr>
          <p:cNvPr id="2" name="Title 1"/>
          <p:cNvSpPr>
            <a:spLocks noGrp="1"/>
          </p:cNvSpPr>
          <p:nvPr>
            <p:ph type="title"/>
          </p:nvPr>
        </p:nvSpPr>
        <p:spPr/>
        <p:txBody>
          <a:bodyPr/>
          <a:lstStyle/>
          <a:p>
            <a:r>
              <a:rPr lang="en-US" noProof="0" dirty="0"/>
              <a:t>super()</a:t>
            </a:r>
          </a:p>
        </p:txBody>
      </p:sp>
      <p:graphicFrame>
        <p:nvGraphicFramePr>
          <p:cNvPr id="4" name="Table 3"/>
          <p:cNvGraphicFramePr>
            <a:graphicFrameLocks noGrp="1"/>
          </p:cNvGraphicFramePr>
          <p:nvPr>
            <p:extLst>
              <p:ext uri="{D42A27DB-BD31-4B8C-83A1-F6EECF244321}">
                <p14:modId xmlns:p14="http://schemas.microsoft.com/office/powerpoint/2010/main" val="1691926239"/>
              </p:ext>
            </p:extLst>
          </p:nvPr>
        </p:nvGraphicFramePr>
        <p:xfrm>
          <a:off x="679675" y="1497005"/>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728745241"/>
              </p:ext>
            </p:extLst>
          </p:nvPr>
        </p:nvGraphicFramePr>
        <p:xfrm>
          <a:off x="679676" y="3440627"/>
          <a:ext cx="3596005" cy="310896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set_name</a:t>
                      </a:r>
                      <a:r>
                        <a:rPr lang="en-US" sz="1800" i="0" noProof="0" dirty="0">
                          <a:solidFill>
                            <a:srgbClr val="C00000"/>
                          </a:solidFill>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get_name</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solidFill>
                            <a:srgbClr val="C00000"/>
                          </a:solidFill>
                          <a:latin typeface="Courier New" panose="02070309020205020404" pitchFamily="49" charset="0"/>
                          <a:cs typeface="Courier New" panose="02070309020205020404" pitchFamily="49" charset="0"/>
                        </a:rPr>
                        <a:t>set_address</a:t>
                      </a:r>
                      <a:r>
                        <a:rPr lang="en-US" sz="1800" i="0" noProof="0" dirty="0">
                          <a:solidFill>
                            <a:srgbClr val="C00000"/>
                          </a:solidFill>
                          <a:latin typeface="Courier New" panose="02070309020205020404" pitchFamily="49" charset="0"/>
                          <a:cs typeface="Courier New" panose="02070309020205020404" pitchFamily="49" charset="0"/>
                        </a:rPr>
                        <a:t>(address)</a:t>
                      </a:r>
                      <a:br>
                        <a:rPr lang="en-US" sz="1800" i="0" noProof="0" dirty="0">
                          <a:solidFill>
                            <a:srgbClr val="C00000"/>
                          </a:solidFill>
                          <a:latin typeface="Courier New" panose="02070309020205020404" pitchFamily="49" charset="0"/>
                          <a:cs typeface="Courier New" panose="02070309020205020404" pitchFamily="49" charset="0"/>
                        </a:rPr>
                      </a:br>
                      <a:r>
                        <a:rPr lang="en-US" sz="1800" i="0" noProof="0" dirty="0" err="1">
                          <a:solidFill>
                            <a:srgbClr val="C00000"/>
                          </a:solidFill>
                          <a:latin typeface="Courier New" panose="02070309020205020404" pitchFamily="49" charset="0"/>
                          <a:cs typeface="Courier New" panose="02070309020205020404" pitchFamily="49" charset="0"/>
                        </a:rPr>
                        <a:t>get_address</a:t>
                      </a:r>
                      <a:r>
                        <a:rPr lang="en-US" sz="1800" i="0" noProof="0" dirty="0">
                          <a:solidFill>
                            <a:srgbClr val="C00000"/>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pSp>
        <p:nvGrpSpPr>
          <p:cNvPr id="7" name="Group 6"/>
          <p:cNvGrpSpPr/>
          <p:nvPr/>
        </p:nvGrpSpPr>
        <p:grpSpPr>
          <a:xfrm>
            <a:off x="730361" y="3864279"/>
            <a:ext cx="3496329" cy="1315233"/>
            <a:chOff x="732773" y="3864279"/>
            <a:chExt cx="3463446" cy="1315233"/>
          </a:xfrm>
        </p:grpSpPr>
        <p:sp>
          <p:nvSpPr>
            <p:cNvPr id="3" name="Rounded Rectangle 2"/>
            <p:cNvSpPr/>
            <p:nvPr/>
          </p:nvSpPr>
          <p:spPr>
            <a:xfrm>
              <a:off x="732773" y="3864279"/>
              <a:ext cx="3463446" cy="1315233"/>
            </a:xfrm>
            <a:prstGeom prst="roundRect">
              <a:avLst>
                <a:gd name="adj" fmla="val 7530"/>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extBox 5"/>
            <p:cNvSpPr txBox="1"/>
            <p:nvPr/>
          </p:nvSpPr>
          <p:spPr>
            <a:xfrm>
              <a:off x="2826145" y="3864279"/>
              <a:ext cx="1358584" cy="461665"/>
            </a:xfrm>
            <a:prstGeom prst="rect">
              <a:avLst/>
            </a:prstGeom>
            <a:noFill/>
          </p:spPr>
          <p:txBody>
            <a:bodyPr wrap="square" rtlCol="0">
              <a:spAutoFit/>
            </a:bodyPr>
            <a:lstStyle/>
            <a:p>
              <a:pPr algn="r"/>
              <a:r>
                <a:rPr lang="en-US" sz="1200" noProof="0" dirty="0">
                  <a:solidFill>
                    <a:srgbClr val="C00000"/>
                  </a:solidFill>
                  <a:latin typeface="Courier New" panose="02070309020205020404" pitchFamily="49" charset="0"/>
                  <a:cs typeface="Courier New" panose="02070309020205020404" pitchFamily="49" charset="0"/>
                </a:rPr>
                <a:t>person</a:t>
              </a:r>
              <a:r>
                <a:rPr lang="en-US" sz="1200" noProof="0" dirty="0">
                  <a:solidFill>
                    <a:srgbClr val="C00000"/>
                  </a:solidFill>
                </a:rPr>
                <a:t> attributes</a:t>
              </a:r>
            </a:p>
          </p:txBody>
        </p:sp>
      </p:grpSp>
      <p:sp>
        <p:nvSpPr>
          <p:cNvPr id="5" name="TextBox 4"/>
          <p:cNvSpPr txBox="1"/>
          <p:nvPr/>
        </p:nvSpPr>
        <p:spPr>
          <a:xfrm>
            <a:off x="5243514" y="5586035"/>
            <a:ext cx="6943726" cy="1200329"/>
          </a:xfrm>
          <a:prstGeom prst="rect">
            <a:avLst/>
          </a:prstGeom>
          <a:noFill/>
        </p:spPr>
        <p:txBody>
          <a:bodyPr wrap="square" rtlCol="0">
            <a:spAutoFit/>
          </a:bodyPr>
          <a:lstStyle/>
          <a:p>
            <a:r>
              <a:rPr lang="en-US" b="1" noProof="0" dirty="0"/>
              <a:t>Notes</a:t>
            </a:r>
            <a:r>
              <a:rPr lang="en-US" noProof="0" dirty="0"/>
              <a:t>  </a:t>
            </a:r>
          </a:p>
          <a:p>
            <a:pPr marL="342900" indent="-342900">
              <a:buFont typeface="+mj-lt"/>
              <a:buAutoNum type="arabicParenR"/>
            </a:pPr>
            <a:r>
              <a:rPr lang="en-US" noProof="0" dirty="0">
                <a:solidFill>
                  <a:srgbClr val="C00000"/>
                </a:solidFill>
              </a:rPr>
              <a:t> </a:t>
            </a:r>
            <a:r>
              <a:rPr lang="en-US" noProof="0" dirty="0"/>
              <a:t>Function </a:t>
            </a:r>
            <a:r>
              <a:rPr lang="en-US" noProof="0" dirty="0">
                <a:latin typeface="Courier New" panose="02070309020205020404" pitchFamily="49" charset="0"/>
                <a:cs typeface="Courier New" panose="02070309020205020404" pitchFamily="49" charset="0"/>
              </a:rPr>
              <a:t>super()</a:t>
            </a:r>
            <a:r>
              <a:rPr lang="en-US" noProof="0" dirty="0"/>
              <a:t> searches for attributes in base class</a:t>
            </a:r>
          </a:p>
          <a:p>
            <a:pPr marL="342900" indent="-342900">
              <a:buFont typeface="+mj-lt"/>
              <a:buAutoNum type="arabicParenR"/>
            </a:pPr>
            <a:r>
              <a:rPr lang="en-US" noProof="0" dirty="0">
                <a:solidFill>
                  <a:srgbClr val="C00000"/>
                </a:solidFill>
                <a:cs typeface="Courier New" panose="02070309020205020404" pitchFamily="49" charset="0"/>
              </a:rPr>
              <a:t> </a:t>
            </a:r>
            <a:r>
              <a:rPr lang="en-US" noProof="0" dirty="0">
                <a:latin typeface="Courier New" panose="02070309020205020404" pitchFamily="49" charset="0"/>
                <a:cs typeface="Courier New" panose="02070309020205020404" pitchFamily="49" charset="0"/>
              </a:rPr>
              <a:t>super</a:t>
            </a:r>
            <a:r>
              <a:rPr lang="en-US" noProof="0" dirty="0">
                <a:cs typeface="Courier New" panose="02070309020205020404" pitchFamily="49" charset="0"/>
              </a:rPr>
              <a:t> is often a keyword in other OO languages, like Java and C++</a:t>
            </a:r>
          </a:p>
          <a:p>
            <a:pPr marL="342900" indent="-342900">
              <a:buFont typeface="+mj-lt"/>
              <a:buAutoNum type="arabicParenR"/>
            </a:pPr>
            <a:r>
              <a:rPr lang="en-US" noProof="0" dirty="0">
                <a:solidFill>
                  <a:srgbClr val="C00000"/>
                </a:solidFill>
                <a:cs typeface="Courier New" panose="02070309020205020404" pitchFamily="49" charset="0"/>
              </a:rPr>
              <a:t> </a:t>
            </a:r>
            <a:r>
              <a:rPr lang="en-US" noProof="0" dirty="0">
                <a:cs typeface="Courier New" panose="02070309020205020404" pitchFamily="49" charset="0"/>
              </a:rPr>
              <a:t>Note </a:t>
            </a:r>
            <a:r>
              <a:rPr lang="en-US" noProof="0" dirty="0">
                <a:latin typeface="Courier New" panose="02070309020205020404" pitchFamily="49" charset="0"/>
                <a:cs typeface="Courier New" panose="02070309020205020404" pitchFamily="49" charset="0"/>
              </a:rPr>
              <a:t>super().__</a:t>
            </a:r>
            <a:r>
              <a:rPr lang="en-US" noProof="0" dirty="0" err="1">
                <a:latin typeface="Courier New" panose="02070309020205020404" pitchFamily="49" charset="0"/>
                <a:cs typeface="Courier New" panose="02070309020205020404" pitchFamily="49" charset="0"/>
              </a:rPr>
              <a:t>init</a:t>
            </a:r>
            <a:r>
              <a:rPr lang="en-US" noProof="0" dirty="0">
                <a:latin typeface="Courier New" panose="02070309020205020404" pitchFamily="49" charset="0"/>
                <a:cs typeface="Courier New" panose="02070309020205020404" pitchFamily="49" charset="0"/>
              </a:rPr>
              <a:t>__()</a:t>
            </a:r>
            <a:r>
              <a:rPr lang="en-US" noProof="0" dirty="0">
                <a:cs typeface="Courier New" panose="02070309020205020404" pitchFamily="49" charset="0"/>
              </a:rPr>
              <a:t> does not need </a:t>
            </a:r>
            <a:r>
              <a:rPr lang="en-US" noProof="0" dirty="0">
                <a:latin typeface="Courier New" panose="02070309020205020404" pitchFamily="49" charset="0"/>
                <a:cs typeface="Courier New" panose="02070309020205020404" pitchFamily="49" charset="0"/>
              </a:rPr>
              <a:t>self</a:t>
            </a:r>
            <a:r>
              <a:rPr lang="en-US" noProof="0" dirty="0">
                <a:cs typeface="Courier New" panose="02070309020205020404" pitchFamily="49" charset="0"/>
              </a:rPr>
              <a:t> as argument</a:t>
            </a:r>
            <a:endParaRPr lang="en-US" noProof="0" dirty="0"/>
          </a:p>
        </p:txBody>
      </p:sp>
      <p:sp>
        <p:nvSpPr>
          <p:cNvPr id="15" name="TextBox 14"/>
          <p:cNvSpPr txBox="1"/>
          <p:nvPr/>
        </p:nvSpPr>
        <p:spPr>
          <a:xfrm>
            <a:off x="10011526" y="4644913"/>
            <a:ext cx="1818524" cy="707886"/>
          </a:xfrm>
          <a:prstGeom prst="rect">
            <a:avLst/>
          </a:prstGeom>
          <a:noFill/>
        </p:spPr>
        <p:txBody>
          <a:bodyPr wrap="square" rtlCol="0">
            <a:spAutoFit/>
          </a:bodyPr>
          <a:lstStyle/>
          <a:p>
            <a:r>
              <a:rPr lang="en-US" sz="2000" noProof="0" dirty="0">
                <a:solidFill>
                  <a:srgbClr val="C00000"/>
                </a:solidFill>
              </a:rPr>
              <a:t>alternative constructor</a:t>
            </a:r>
            <a:endParaRPr lang="en-US" sz="2000" noProof="0" dirty="0">
              <a:solidFill>
                <a:srgbClr val="C00000"/>
              </a:solidFill>
              <a:latin typeface="Courier New" panose="02070309020205020404" pitchFamily="49" charset="0"/>
              <a:cs typeface="Courier New" panose="02070309020205020404" pitchFamily="49" charset="0"/>
            </a:endParaRPr>
          </a:p>
        </p:txBody>
      </p:sp>
      <p:sp>
        <p:nvSpPr>
          <p:cNvPr id="20" name="Right Brace 19"/>
          <p:cNvSpPr/>
          <p:nvPr/>
        </p:nvSpPr>
        <p:spPr>
          <a:xfrm>
            <a:off x="9874891" y="4679427"/>
            <a:ext cx="136635" cy="646501"/>
          </a:xfrm>
          <a:prstGeom prst="rightBrace">
            <a:avLst>
              <a:gd name="adj1" fmla="val 41795"/>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Tree>
    <p:extLst>
      <p:ext uri="{BB962C8B-B14F-4D97-AF65-F5344CB8AC3E}">
        <p14:creationId xmlns:p14="http://schemas.microsoft.com/office/powerpoint/2010/main" val="4066017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240" y="426094"/>
            <a:ext cx="10515600" cy="1014102"/>
          </a:xfrm>
        </p:spPr>
        <p:txBody>
          <a:bodyPr/>
          <a:lstStyle/>
          <a:p>
            <a:r>
              <a:rPr lang="en-US" noProof="0" dirty="0"/>
              <a:t>Method search order</a:t>
            </a:r>
          </a:p>
        </p:txBody>
      </p:sp>
      <p:graphicFrame>
        <p:nvGraphicFramePr>
          <p:cNvPr id="4" name="Table 3"/>
          <p:cNvGraphicFramePr>
            <a:graphicFrameLocks noGrp="1"/>
          </p:cNvGraphicFramePr>
          <p:nvPr>
            <p:extLst>
              <p:ext uri="{D42A27DB-BD31-4B8C-83A1-F6EECF244321}">
                <p14:modId xmlns:p14="http://schemas.microsoft.com/office/powerpoint/2010/main" val="996299780"/>
              </p:ext>
            </p:extLst>
          </p:nvPr>
        </p:nvGraphicFramePr>
        <p:xfrm>
          <a:off x="8103783" y="2320299"/>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245785510"/>
              </p:ext>
            </p:extLst>
          </p:nvPr>
        </p:nvGraphicFramePr>
        <p:xfrm>
          <a:off x="492210" y="4801226"/>
          <a:ext cx="5370830" cy="1554480"/>
        </p:xfrm>
        <a:graphic>
          <a:graphicData uri="http://schemas.openxmlformats.org/drawingml/2006/table">
            <a:tbl>
              <a:tblPr firstRow="1" bandRow="1">
                <a:tableStyleId>{5C22544A-7EE6-4342-B048-85BDC9FD1C3A}</a:tableStyleId>
              </a:tblPr>
              <a:tblGrid>
                <a:gridCol w="5370830">
                  <a:extLst>
                    <a:ext uri="{9D8B030D-6E8A-4147-A177-3AD203B41FA5}">
                      <a16:colId xmlns:a16="http://schemas.microsoft.com/office/drawing/2014/main" val="1873682825"/>
                    </a:ext>
                  </a:extLst>
                </a:gridCol>
              </a:tblGrid>
              <a:tr h="2741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Student object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62249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a:solidFill>
                            <a:schemeClr val="tx1"/>
                          </a:solidFill>
                          <a:latin typeface="Courier New" panose="02070309020205020404" pitchFamily="49" charset="0"/>
                          <a:cs typeface="Courier New" panose="02070309020205020404" pitchFamily="49" charset="0"/>
                        </a:rPr>
                        <a:t>name = 'Donald</a:t>
                      </a:r>
                      <a:r>
                        <a:rPr lang="en-US" sz="1800" i="0" baseline="0" noProof="0" dirty="0">
                          <a:solidFill>
                            <a:schemeClr val="tx1"/>
                          </a:solidFill>
                          <a:latin typeface="Courier New" panose="02070309020205020404" pitchFamily="49" charset="0"/>
                          <a:cs typeface="Courier New" panose="02070309020205020404" pitchFamily="49" charset="0"/>
                        </a:rPr>
                        <a:t> Duck</a:t>
                      </a:r>
                      <a:r>
                        <a:rPr lang="en-US" sz="1800" i="0" noProof="0" dirty="0">
                          <a:solidFill>
                            <a:schemeClr val="tx1"/>
                          </a:solidFill>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noProof="0" dirty="0">
                          <a:solidFill>
                            <a:schemeClr val="tx1"/>
                          </a:solidFill>
                          <a:latin typeface="Courier New" panose="02070309020205020404" pitchFamily="49" charset="0"/>
                          <a:cs typeface="Courier New" panose="02070309020205020404" pitchFamily="49" charset="0"/>
                        </a:rPr>
                        <a:t>address</a:t>
                      </a:r>
                      <a:r>
                        <a:rPr lang="en-US" sz="1800" b="0" i="0" baseline="0" noProof="0" dirty="0">
                          <a:solidFill>
                            <a:schemeClr val="tx1"/>
                          </a:solidFill>
                          <a:latin typeface="Courier New" panose="02070309020205020404" pitchFamily="49" charset="0"/>
                          <a:cs typeface="Courier New" panose="02070309020205020404" pitchFamily="49" charset="0"/>
                        </a:rPr>
                        <a:t> = 'Duck Steet 13, Duckburg'</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baseline="0" noProof="0" dirty="0">
                          <a:solidFill>
                            <a:schemeClr val="tx1"/>
                          </a:solidFill>
                          <a:latin typeface="Courier New" panose="02070309020205020404" pitchFamily="49" charset="0"/>
                          <a:cs typeface="Courier New" panose="02070309020205020404" pitchFamily="49" charset="0"/>
                        </a:rPr>
                        <a:t>id = '1094'</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b="0" i="0" baseline="0" noProof="0" dirty="0">
                          <a:solidFill>
                            <a:schemeClr val="tx1"/>
                          </a:solidFill>
                          <a:latin typeface="Courier New" panose="02070309020205020404" pitchFamily="49" charset="0"/>
                          <a:cs typeface="Courier New" panose="02070309020205020404" pitchFamily="49" charset="0"/>
                        </a:rPr>
                        <a:t>grades = {'programming' : 'A' }</a:t>
                      </a:r>
                      <a:endParaRPr lang="en-US" sz="1800" b="0" i="0" noProof="0" dirty="0">
                        <a:solidFill>
                          <a:schemeClr val="tx1"/>
                        </a:solidFill>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713069319"/>
              </p:ext>
            </p:extLst>
          </p:nvPr>
        </p:nvGraphicFramePr>
        <p:xfrm>
          <a:off x="8103785" y="4725026"/>
          <a:ext cx="3596005" cy="170688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cxnSp>
        <p:nvCxnSpPr>
          <p:cNvPr id="14" name="Straight Arrow Connector 13"/>
          <p:cNvCxnSpPr>
            <a:cxnSpLocks/>
          </p:cNvCxnSpPr>
          <p:nvPr/>
        </p:nvCxnSpPr>
        <p:spPr>
          <a:xfrm>
            <a:off x="6245442" y="5792375"/>
            <a:ext cx="1564029"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214731" y="5210044"/>
            <a:ext cx="1625449" cy="461665"/>
          </a:xfrm>
          <a:prstGeom prst="rect">
            <a:avLst/>
          </a:prstGeom>
          <a:noFill/>
        </p:spPr>
        <p:txBody>
          <a:bodyPr wrap="square" rtlCol="0">
            <a:spAutoFit/>
          </a:bodyPr>
          <a:lstStyle/>
          <a:p>
            <a:pPr algn="ctr"/>
            <a:r>
              <a:rPr lang="en-US" sz="2400" b="1" noProof="0" dirty="0">
                <a:solidFill>
                  <a:srgbClr val="C00000"/>
                </a:solidFill>
              </a:rPr>
              <a:t>instance of</a:t>
            </a:r>
            <a:endParaRPr lang="en-US" sz="2400" noProof="0" dirty="0">
              <a:solidFill>
                <a:srgbClr val="C00000"/>
              </a:solidFill>
              <a:latin typeface="Courier New" panose="02070309020205020404" pitchFamily="49" charset="0"/>
              <a:cs typeface="Courier New" panose="02070309020205020404" pitchFamily="49" charset="0"/>
            </a:endParaRPr>
          </a:p>
        </p:txBody>
      </p:sp>
      <p:grpSp>
        <p:nvGrpSpPr>
          <p:cNvPr id="5" name="Group 4">
            <a:extLst>
              <a:ext uri="{FF2B5EF4-FFF2-40B4-BE49-F238E27FC236}">
                <a16:creationId xmlns:a16="http://schemas.microsoft.com/office/drawing/2014/main" id="{B0BED0AA-C56D-CCF2-371A-7324313BBF6B}"/>
              </a:ext>
            </a:extLst>
          </p:cNvPr>
          <p:cNvGrpSpPr/>
          <p:nvPr/>
        </p:nvGrpSpPr>
        <p:grpSpPr>
          <a:xfrm>
            <a:off x="9949151" y="4052273"/>
            <a:ext cx="1750638" cy="600049"/>
            <a:chOff x="2527452" y="4184078"/>
            <a:chExt cx="1750638" cy="600049"/>
          </a:xfrm>
        </p:grpSpPr>
        <p:cxnSp>
          <p:nvCxnSpPr>
            <p:cNvPr id="16" name="Straight Arrow Connector 15"/>
            <p:cNvCxnSpPr/>
            <p:nvPr/>
          </p:nvCxnSpPr>
          <p:spPr>
            <a:xfrm flipH="1" flipV="1">
              <a:off x="2527452" y="4184078"/>
              <a:ext cx="1436" cy="600049"/>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2584601" y="4299977"/>
              <a:ext cx="1693489" cy="461665"/>
            </a:xfrm>
            <a:prstGeom prst="rect">
              <a:avLst/>
            </a:prstGeom>
            <a:noFill/>
          </p:spPr>
          <p:txBody>
            <a:bodyPr wrap="square" rtlCol="0">
              <a:spAutoFit/>
            </a:bodyPr>
            <a:lstStyle/>
            <a:p>
              <a:pPr algn="ctr"/>
              <a:r>
                <a:rPr lang="en-US" sz="2400" b="1" noProof="0" dirty="0">
                  <a:solidFill>
                    <a:srgbClr val="C00000"/>
                  </a:solidFill>
                </a:rPr>
                <a:t>parent class</a:t>
              </a:r>
              <a:endParaRPr lang="en-US" sz="2400" noProof="0" dirty="0">
                <a:solidFill>
                  <a:srgbClr val="C00000"/>
                </a:solidFill>
                <a:latin typeface="Courier New" panose="02070309020205020404" pitchFamily="49" charset="0"/>
                <a:cs typeface="Courier New" panose="02070309020205020404" pitchFamily="49" charset="0"/>
              </a:endParaRPr>
            </a:p>
          </p:txBody>
        </p:sp>
      </p:grpSp>
      <p:graphicFrame>
        <p:nvGraphicFramePr>
          <p:cNvPr id="3" name="Table 2">
            <a:extLst>
              <a:ext uri="{FF2B5EF4-FFF2-40B4-BE49-F238E27FC236}">
                <a16:creationId xmlns:a16="http://schemas.microsoft.com/office/drawing/2014/main" id="{9A506DDC-96F9-7D50-744A-D7293098E33E}"/>
              </a:ext>
            </a:extLst>
          </p:cNvPr>
          <p:cNvGraphicFramePr>
            <a:graphicFrameLocks noGrp="1"/>
          </p:cNvGraphicFramePr>
          <p:nvPr>
            <p:extLst>
              <p:ext uri="{D42A27DB-BD31-4B8C-83A1-F6EECF244321}">
                <p14:modId xmlns:p14="http://schemas.microsoft.com/office/powerpoint/2010/main" val="633829366"/>
              </p:ext>
            </p:extLst>
          </p:nvPr>
        </p:nvGraphicFramePr>
        <p:xfrm>
          <a:off x="8103783" y="831164"/>
          <a:ext cx="3596006" cy="774327"/>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object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endParaRPr lang="en-US" sz="1800" i="0" noProof="0" dirty="0">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pSp>
        <p:nvGrpSpPr>
          <p:cNvPr id="6" name="Group 5">
            <a:extLst>
              <a:ext uri="{FF2B5EF4-FFF2-40B4-BE49-F238E27FC236}">
                <a16:creationId xmlns:a16="http://schemas.microsoft.com/office/drawing/2014/main" id="{7208FCC4-64A7-653E-95CB-130ECB7B2479}"/>
              </a:ext>
            </a:extLst>
          </p:cNvPr>
          <p:cNvGrpSpPr/>
          <p:nvPr/>
        </p:nvGrpSpPr>
        <p:grpSpPr>
          <a:xfrm>
            <a:off x="9949151" y="1647956"/>
            <a:ext cx="1750638" cy="600049"/>
            <a:chOff x="2527452" y="4184078"/>
            <a:chExt cx="1750638" cy="600049"/>
          </a:xfrm>
        </p:grpSpPr>
        <p:cxnSp>
          <p:nvCxnSpPr>
            <p:cNvPr id="7" name="Straight Arrow Connector 6">
              <a:extLst>
                <a:ext uri="{FF2B5EF4-FFF2-40B4-BE49-F238E27FC236}">
                  <a16:creationId xmlns:a16="http://schemas.microsoft.com/office/drawing/2014/main" id="{4315005B-87B9-D512-BAA1-38EDCFF65119}"/>
                </a:ext>
              </a:extLst>
            </p:cNvPr>
            <p:cNvCxnSpPr/>
            <p:nvPr/>
          </p:nvCxnSpPr>
          <p:spPr>
            <a:xfrm flipH="1" flipV="1">
              <a:off x="2527452" y="4184078"/>
              <a:ext cx="1436" cy="600049"/>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A4AFD94-8B08-B55A-419D-D8C75E590CDE}"/>
                </a:ext>
              </a:extLst>
            </p:cNvPr>
            <p:cNvSpPr txBox="1"/>
            <p:nvPr/>
          </p:nvSpPr>
          <p:spPr>
            <a:xfrm>
              <a:off x="2584601" y="4299977"/>
              <a:ext cx="1693489" cy="461665"/>
            </a:xfrm>
            <a:prstGeom prst="rect">
              <a:avLst/>
            </a:prstGeom>
            <a:noFill/>
          </p:spPr>
          <p:txBody>
            <a:bodyPr wrap="square" rtlCol="0">
              <a:spAutoFit/>
            </a:bodyPr>
            <a:lstStyle/>
            <a:p>
              <a:pPr algn="ctr"/>
              <a:r>
                <a:rPr lang="en-US" sz="2400" b="1" noProof="0" dirty="0">
                  <a:solidFill>
                    <a:srgbClr val="C00000"/>
                  </a:solidFill>
                </a:rPr>
                <a:t>parent class</a:t>
              </a:r>
              <a:endParaRPr lang="en-US" sz="2400" noProof="0" dirty="0">
                <a:solidFill>
                  <a:srgbClr val="C00000"/>
                </a:solidFill>
                <a:latin typeface="Courier New" panose="02070309020205020404" pitchFamily="49" charset="0"/>
                <a:cs typeface="Courier New" panose="02070309020205020404" pitchFamily="49" charset="0"/>
              </a:endParaRPr>
            </a:p>
          </p:txBody>
        </p:sp>
      </p:grpSp>
      <p:sp>
        <p:nvSpPr>
          <p:cNvPr id="11" name="Content Placeholder 2">
            <a:extLst>
              <a:ext uri="{FF2B5EF4-FFF2-40B4-BE49-F238E27FC236}">
                <a16:creationId xmlns:a16="http://schemas.microsoft.com/office/drawing/2014/main" id="{804BC34C-4FCC-19E1-6472-038F072B226F}"/>
              </a:ext>
            </a:extLst>
          </p:cNvPr>
          <p:cNvSpPr>
            <a:spLocks noGrp="1"/>
          </p:cNvSpPr>
          <p:nvPr>
            <p:ph idx="1"/>
          </p:nvPr>
        </p:nvSpPr>
        <p:spPr>
          <a:xfrm>
            <a:off x="492210" y="1647956"/>
            <a:ext cx="6859797" cy="2627091"/>
          </a:xfrm>
        </p:spPr>
        <p:txBody>
          <a:bodyPr>
            <a:normAutofit/>
          </a:bodyPr>
          <a:lstStyle/>
          <a:p>
            <a:r>
              <a:rPr lang="en-US" sz="2400" noProof="0" dirty="0"/>
              <a:t>An attribute lookup searches first </a:t>
            </a:r>
            <a:r>
              <a:rPr lang="en-US" sz="2400" dirty="0"/>
              <a:t>the attributes of the object, if not found, the lookup </a:t>
            </a:r>
            <a:r>
              <a:rPr lang="en-US" sz="2400" noProof="0" dirty="0"/>
              <a:t>recursively considers the parent classes</a:t>
            </a:r>
          </a:p>
          <a:p>
            <a:r>
              <a:rPr lang="en-US" sz="2400" dirty="0"/>
              <a:t>All classes have </a:t>
            </a:r>
            <a:r>
              <a:rPr lang="en-US" sz="2400" dirty="0">
                <a:latin typeface="Courier New" panose="02070309020205020404" pitchFamily="49" charset="0"/>
                <a:cs typeface="Courier New" panose="02070309020205020404" pitchFamily="49" charset="0"/>
              </a:rPr>
              <a:t>object</a:t>
            </a:r>
            <a:r>
              <a:rPr lang="en-US" sz="2400" dirty="0"/>
              <a:t> as the ultimate base class (e.g. defining an empty </a:t>
            </a:r>
            <a:r>
              <a:rPr lang="en-US" sz="2400" dirty="0">
                <a:latin typeface="Courier New" panose="02070309020205020404" pitchFamily="49" charset="0"/>
                <a:cs typeface="Courier New" panose="02070309020205020404" pitchFamily="49" charset="0"/>
              </a:rPr>
              <a:t>__</a:t>
            </a:r>
            <a:r>
              <a:rPr lang="en-US" sz="2400" dirty="0" err="1">
                <a:latin typeface="Courier New" panose="02070309020205020404" pitchFamily="49" charset="0"/>
                <a:cs typeface="Courier New" panose="02070309020205020404" pitchFamily="49" charset="0"/>
              </a:rPr>
              <a:t>init</a:t>
            </a:r>
            <a:r>
              <a:rPr lang="en-US" sz="2400" dirty="0">
                <a:latin typeface="Courier New" panose="02070309020205020404" pitchFamily="49" charset="0"/>
                <a:cs typeface="Courier New" panose="02070309020205020404" pitchFamily="49" charset="0"/>
              </a:rPr>
              <a:t>__</a:t>
            </a:r>
            <a:r>
              <a:rPr lang="en-US" sz="2400" dirty="0"/>
              <a:t> method)</a:t>
            </a:r>
            <a:endParaRPr lang="en-US" sz="2400" noProof="0" dirty="0"/>
          </a:p>
          <a:p>
            <a:endParaRPr lang="en-US" sz="2400" noProof="0" dirty="0"/>
          </a:p>
        </p:txBody>
      </p:sp>
    </p:spTree>
    <p:extLst>
      <p:ext uri="{BB962C8B-B14F-4D97-AF65-F5344CB8AC3E}">
        <p14:creationId xmlns:p14="http://schemas.microsoft.com/office/powerpoint/2010/main" val="196874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Class hierarchy</a:t>
            </a:r>
          </a:p>
        </p:txBody>
      </p:sp>
      <p:graphicFrame>
        <p:nvGraphicFramePr>
          <p:cNvPr id="4" name="Table 3"/>
          <p:cNvGraphicFramePr>
            <a:graphicFrameLocks noGrp="1"/>
          </p:cNvGraphicFramePr>
          <p:nvPr>
            <p:extLst>
              <p:ext uri="{D42A27DB-BD31-4B8C-83A1-F6EECF244321}">
                <p14:modId xmlns:p14="http://schemas.microsoft.com/office/powerpoint/2010/main" val="2384143385"/>
              </p:ext>
            </p:extLst>
          </p:nvPr>
        </p:nvGraphicFramePr>
        <p:xfrm>
          <a:off x="5507672" y="2234741"/>
          <a:ext cx="3596006" cy="1706880"/>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set_name</a:t>
                      </a:r>
                      <a:r>
                        <a:rPr lang="en-US" sz="1800" i="0" noProof="0" dirty="0">
                          <a:latin typeface="Courier New" panose="02070309020205020404" pitchFamily="49" charset="0"/>
                          <a:cs typeface="Courier New" panose="02070309020205020404" pitchFamily="49" charset="0"/>
                        </a:rPr>
                        <a:t>(name)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get_name</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set_address</a:t>
                      </a:r>
                      <a:r>
                        <a:rPr lang="en-US" sz="1800" i="0" noProof="0" dirty="0">
                          <a:latin typeface="Courier New" panose="02070309020205020404" pitchFamily="49" charset="0"/>
                          <a:cs typeface="Courier New" panose="02070309020205020404" pitchFamily="49" charset="0"/>
                        </a:rPr>
                        <a:t>(address)</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get_address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690581340"/>
              </p:ext>
            </p:extLst>
          </p:nvPr>
        </p:nvGraphicFramePr>
        <p:xfrm>
          <a:off x="3358611" y="4747933"/>
          <a:ext cx="3596005" cy="170688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Student(Person)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set_id</a:t>
                      </a:r>
                      <a:r>
                        <a:rPr lang="en-US" sz="1800" i="0" noProof="0" dirty="0">
                          <a:latin typeface="Courier New" panose="02070309020205020404" pitchFamily="49" charset="0"/>
                          <a:cs typeface="Courier New" panose="02070309020205020404" pitchFamily="49" charset="0"/>
                        </a:rPr>
                        <a:t>(</a:t>
                      </a:r>
                      <a:r>
                        <a:rPr lang="en-US" sz="1800" i="0" noProof="0" dirty="0" err="1">
                          <a:latin typeface="Courier New" panose="02070309020205020404" pitchFamily="49" charset="0"/>
                          <a:cs typeface="Courier New" panose="02070309020205020404" pitchFamily="49" charset="0"/>
                        </a:rPr>
                        <a:t>student_id</a:t>
                      </a:r>
                      <a:r>
                        <a:rPr lang="en-US" sz="1800" i="0" noProof="0" dirty="0">
                          <a:latin typeface="Courier New" panose="02070309020205020404" pitchFamily="49" charset="0"/>
                          <a:cs typeface="Courier New" panose="02070309020205020404" pitchFamily="49" charset="0"/>
                        </a:rPr>
                        <a:t>)</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get_id</a:t>
                      </a:r>
                      <a:r>
                        <a:rPr lang="en-US" sz="1800" i="0" noProof="0" dirty="0">
                          <a:latin typeface="Courier New" panose="02070309020205020404" pitchFamily="49" charset="0"/>
                          <a:cs typeface="Courier New" panose="02070309020205020404" pitchFamily="49" charset="0"/>
                        </a:rPr>
                        <a:t>()</a:t>
                      </a:r>
                    </a:p>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set_grade</a:t>
                      </a:r>
                      <a:r>
                        <a:rPr lang="en-US" sz="1800" i="0" noProof="0" dirty="0">
                          <a:latin typeface="Courier New" panose="02070309020205020404" pitchFamily="49" charset="0"/>
                          <a:cs typeface="Courier New" panose="02070309020205020404" pitchFamily="49" charset="0"/>
                        </a:rPr>
                        <a:t>(course, grade)</a:t>
                      </a:r>
                    </a:p>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get_grades</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cxnSp>
        <p:nvCxnSpPr>
          <p:cNvPr id="16" name="Straight Arrow Connector 15"/>
          <p:cNvCxnSpPr/>
          <p:nvPr/>
        </p:nvCxnSpPr>
        <p:spPr>
          <a:xfrm flipV="1">
            <a:off x="7315200" y="1590355"/>
            <a:ext cx="0" cy="491986"/>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Table 10"/>
          <p:cNvGraphicFramePr>
            <a:graphicFrameLocks noGrp="1"/>
          </p:cNvGraphicFramePr>
          <p:nvPr>
            <p:extLst>
              <p:ext uri="{D42A27DB-BD31-4B8C-83A1-F6EECF244321}">
                <p14:modId xmlns:p14="http://schemas.microsoft.com/office/powerpoint/2010/main" val="91299546"/>
              </p:ext>
            </p:extLst>
          </p:nvPr>
        </p:nvGraphicFramePr>
        <p:xfrm>
          <a:off x="5517197" y="640742"/>
          <a:ext cx="3596006" cy="774327"/>
        </p:xfrm>
        <a:graphic>
          <a:graphicData uri="http://schemas.openxmlformats.org/drawingml/2006/table">
            <a:tbl>
              <a:tblPr firstRow="1" bandRow="1">
                <a:tableStyleId>{5C22544A-7EE6-4342-B048-85BDC9FD1C3A}</a:tableStyleId>
              </a:tblPr>
              <a:tblGrid>
                <a:gridCol w="3596006">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object</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endParaRPr lang="en-US" sz="1800" i="0" noProof="0" dirty="0">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34769143"/>
              </p:ext>
            </p:extLst>
          </p:nvPr>
        </p:nvGraphicFramePr>
        <p:xfrm>
          <a:off x="7757795" y="4742891"/>
          <a:ext cx="3596005" cy="1005840"/>
        </p:xfrm>
        <a:graphic>
          <a:graphicData uri="http://schemas.openxmlformats.org/drawingml/2006/table">
            <a:tbl>
              <a:tblPr firstRow="1" bandRow="1">
                <a:tableStyleId>{5C22544A-7EE6-4342-B048-85BDC9FD1C3A}</a:tableStyleId>
              </a:tblPr>
              <a:tblGrid>
                <a:gridCol w="3596005">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Employee(Person)</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1200"/>
                        </a:spcAft>
                        <a:buClr>
                          <a:schemeClr val="accent1">
                            <a:lumMod val="50000"/>
                          </a:schemeClr>
                        </a:buClr>
                        <a:buSzTx/>
                        <a:buFont typeface="Wingdings" panose="05000000000000000000" pitchFamily="2" charset="2"/>
                        <a:buNone/>
                        <a:tabLst/>
                        <a:defRPr/>
                      </a:pPr>
                      <a:r>
                        <a:rPr lang="en-US" sz="1800" i="0" noProof="0" dirty="0" err="1">
                          <a:latin typeface="Courier New" panose="02070309020205020404" pitchFamily="49" charset="0"/>
                          <a:cs typeface="Courier New" panose="02070309020205020404" pitchFamily="49" charset="0"/>
                        </a:rPr>
                        <a:t>set_employer</a:t>
                      </a:r>
                      <a:r>
                        <a:rPr lang="en-US" sz="1800" i="0" noProof="0" dirty="0">
                          <a:latin typeface="Courier New" panose="02070309020205020404" pitchFamily="49" charset="0"/>
                          <a:cs typeface="Courier New" panose="02070309020205020404" pitchFamily="49" charset="0"/>
                        </a:rPr>
                        <a:t>(employer)</a:t>
                      </a:r>
                      <a:br>
                        <a:rPr lang="en-US" sz="1800" i="0" noProof="0" dirty="0">
                          <a:latin typeface="Courier New" panose="02070309020205020404" pitchFamily="49" charset="0"/>
                          <a:cs typeface="Courier New" panose="02070309020205020404" pitchFamily="49" charset="0"/>
                        </a:rPr>
                      </a:br>
                      <a:r>
                        <a:rPr lang="en-US" sz="1800" i="0" noProof="0" dirty="0" err="1">
                          <a:latin typeface="Courier New" panose="02070309020205020404" pitchFamily="49" charset="0"/>
                          <a:cs typeface="Courier New" panose="02070309020205020404" pitchFamily="49" charset="0"/>
                        </a:rPr>
                        <a:t>get_employer</a:t>
                      </a:r>
                      <a:r>
                        <a:rPr lang="en-US" sz="1800" i="0"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cxnSp>
        <p:nvCxnSpPr>
          <p:cNvPr id="17" name="Straight Arrow Connector 16"/>
          <p:cNvCxnSpPr/>
          <p:nvPr/>
        </p:nvCxnSpPr>
        <p:spPr>
          <a:xfrm flipH="1" flipV="1">
            <a:off x="8037736" y="4008590"/>
            <a:ext cx="1287239" cy="630085"/>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5419725" y="4002964"/>
            <a:ext cx="1274898" cy="63571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7864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Method overriding</a:t>
            </a:r>
          </a:p>
        </p:txBody>
      </p:sp>
      <p:sp>
        <p:nvSpPr>
          <p:cNvPr id="4" name="Rectangle 3"/>
          <p:cNvSpPr/>
          <p:nvPr/>
        </p:nvSpPr>
        <p:spPr>
          <a:xfrm>
            <a:off x="5829300" y="5761464"/>
            <a:ext cx="6275802" cy="830997"/>
          </a:xfrm>
          <a:prstGeom prst="rect">
            <a:avLst/>
          </a:prstGeom>
        </p:spPr>
        <p:txBody>
          <a:bodyPr wrap="square">
            <a:spAutoFit/>
          </a:bodyPr>
          <a:lstStyle/>
          <a:p>
            <a:r>
              <a:rPr lang="en-US" sz="2400" noProof="0" dirty="0"/>
              <a:t>In Java one can use the keyword ”</a:t>
            </a:r>
            <a:r>
              <a:rPr lang="en-US" sz="2400" noProof="0" dirty="0">
                <a:latin typeface="Courier New" panose="02070309020205020404" pitchFamily="49" charset="0"/>
                <a:cs typeface="Courier New" panose="02070309020205020404" pitchFamily="49" charset="0"/>
              </a:rPr>
              <a:t>finally</a:t>
            </a:r>
            <a:r>
              <a:rPr lang="en-US" sz="2400" noProof="0" dirty="0"/>
              <a:t>” to prevent any subclass to override a method</a:t>
            </a:r>
          </a:p>
        </p:txBody>
      </p:sp>
      <p:graphicFrame>
        <p:nvGraphicFramePr>
          <p:cNvPr id="5" name="Table 4"/>
          <p:cNvGraphicFramePr>
            <a:graphicFrameLocks noGrp="1"/>
          </p:cNvGraphicFramePr>
          <p:nvPr>
            <p:extLst>
              <p:ext uri="{D42A27DB-BD31-4B8C-83A1-F6EECF244321}">
                <p14:modId xmlns:p14="http://schemas.microsoft.com/office/powerpoint/2010/main" val="2406497533"/>
              </p:ext>
            </p:extLst>
          </p:nvPr>
        </p:nvGraphicFramePr>
        <p:xfrm>
          <a:off x="3547110" y="1690688"/>
          <a:ext cx="5097780" cy="3931920"/>
        </p:xfrm>
        <a:graphic>
          <a:graphicData uri="http://schemas.openxmlformats.org/drawingml/2006/table">
            <a:tbl>
              <a:tblPr firstRow="1" bandRow="1">
                <a:tableStyleId>{5C22544A-7EE6-4342-B048-85BDC9FD1C3A}</a:tableStyleId>
              </a:tblPr>
              <a:tblGrid>
                <a:gridCol w="5097780">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overloading.py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A</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say(</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print('A says hello')</a:t>
                      </a:r>
                    </a:p>
                    <a:p>
                      <a:endParaRPr lang="en-US" sz="1800" b="1" noProof="0" dirty="0">
                        <a:solidFill>
                          <a:schemeClr val="tx1"/>
                        </a:solidFill>
                        <a:latin typeface="Courier New" panose="02070309020205020404" pitchFamily="49" charset="0"/>
                        <a:cs typeface="Courier New" panose="02070309020205020404" pitchFamily="49" charset="0"/>
                      </a:endParaRPr>
                    </a:p>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B</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a:solidFill>
                            <a:srgbClr val="C00000"/>
                          </a:solidFill>
                          <a:latin typeface="Courier New" panose="02070309020205020404" pitchFamily="49" charset="0"/>
                          <a:cs typeface="Courier New" panose="02070309020205020404" pitchFamily="49" charset="0"/>
                        </a:rPr>
                        <a:t>A</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bg1">
                              <a:lumMod val="50000"/>
                            </a:schemeClr>
                          </a:solidFill>
                          <a:latin typeface="Courier New" panose="02070309020205020404" pitchFamily="49" charset="0"/>
                          <a:cs typeface="Courier New" panose="02070309020205020404" pitchFamily="49" charset="0"/>
                        </a:rPr>
                        <a:t> #</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 B is a subclass of A</a:t>
                      </a:r>
                      <a:endParaRPr lang="en-US" sz="1800" b="1" noProof="0" dirty="0">
                        <a:solidFill>
                          <a:schemeClr val="bg1">
                            <a:lumMod val="50000"/>
                          </a:schemeClr>
                        </a:solidFill>
                        <a:latin typeface="Courier New" panose="02070309020205020404" pitchFamily="49" charset="0"/>
                        <a:cs typeface="Courier New" panose="02070309020205020404" pitchFamily="49" charset="0"/>
                      </a:endParaRP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say(</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print('B says hello')</a:t>
                      </a:r>
                    </a:p>
                    <a:p>
                      <a:r>
                        <a:rPr lang="en-US" sz="1800" b="1" noProof="0" dirty="0">
                          <a:solidFill>
                            <a:schemeClr val="tx1"/>
                          </a:solidFill>
                          <a:latin typeface="Courier New" panose="02070309020205020404" pitchFamily="49" charset="0"/>
                          <a:cs typeface="Courier New" panose="02070309020205020404" pitchFamily="49" charset="0"/>
                        </a:rPr>
                        <a:t>        super().say()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r h="148143">
                <a:tc>
                  <a:txBody>
                    <a:bodyPr/>
                    <a:lstStyle/>
                    <a:p>
                      <a:r>
                        <a:rPr lang="en-US" sz="1800" b="1" noProof="0" dirty="0">
                          <a:solidFill>
                            <a:schemeClr val="bg1"/>
                          </a:solidFill>
                          <a:latin typeface="Courier New" panose="02070309020205020404" pitchFamily="49" charset="0"/>
                          <a:cs typeface="Courier New" panose="02070309020205020404" pitchFamily="49" charset="0"/>
                        </a:rPr>
                        <a:t>Python shell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202042958"/>
                  </a:ext>
                </a:extLst>
              </a:tr>
              <a:tr h="481466">
                <a:tc>
                  <a:txBody>
                    <a:bodyPr/>
                    <a:lstStyle/>
                    <a:p>
                      <a:pPr marL="266700" marR="0" lvl="0" indent="-266700" algn="l" defTabSz="914400" rtl="0" eaLnBrk="1" fontAlgn="auto" latinLnBrk="0" hangingPunct="1">
                        <a:lnSpc>
                          <a:spcPct val="100000"/>
                        </a:lnSpc>
                        <a:spcBef>
                          <a:spcPts val="0"/>
                        </a:spcBef>
                        <a:spcAft>
                          <a:spcPts val="0"/>
                        </a:spcAft>
                        <a:buClr>
                          <a:srgbClr val="C00000"/>
                        </a:buClr>
                        <a:buSzPct val="100000"/>
                        <a:buFont typeface="Courier New" panose="02070309020205020404" pitchFamily="49" charset="0"/>
                        <a:buChar char="&gt;"/>
                        <a:tabLst/>
                        <a:defRPr/>
                      </a:pPr>
                      <a:r>
                        <a:rPr lang="en-US" sz="1800" b="1" noProof="0" dirty="0">
                          <a:solidFill>
                            <a:schemeClr val="tx1"/>
                          </a:solidFill>
                          <a:latin typeface="Courier New" panose="02070309020205020404" pitchFamily="49" charset="0"/>
                          <a:cs typeface="Courier New" panose="02070309020205020404" pitchFamily="49" charset="0"/>
                        </a:rPr>
                        <a:t>B().say()</a:t>
                      </a:r>
                      <a:endParaRPr lang="en-US" sz="1800" b="1" noProof="0" dirty="0">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a:latin typeface="Courier New" panose="02070309020205020404" pitchFamily="49" charset="0"/>
                          <a:cs typeface="Courier New" panose="02070309020205020404" pitchFamily="49" charset="0"/>
                        </a:rPr>
                        <a:t>B says hello</a:t>
                      </a:r>
                    </a:p>
                    <a:p>
                      <a:pPr marL="266700" indent="-266700">
                        <a:buClr>
                          <a:schemeClr val="accent1">
                            <a:lumMod val="50000"/>
                          </a:schemeClr>
                        </a:buClr>
                        <a:buSzPct val="120000"/>
                        <a:buFont typeface="Courier New" panose="02070309020205020404" pitchFamily="49" charset="0"/>
                        <a:buChar char="|"/>
                      </a:pPr>
                      <a:r>
                        <a:rPr lang="en-US" sz="1800" b="1" baseline="0" noProof="0" dirty="0">
                          <a:latin typeface="Courier New" panose="02070309020205020404" pitchFamily="49" charset="0"/>
                          <a:cs typeface="Courier New" panose="02070309020205020404" pitchFamily="49" charset="0"/>
                        </a:rPr>
                        <a:t>A says hello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355368"/>
                  </a:ext>
                </a:extLst>
              </a:tr>
            </a:tbl>
          </a:graphicData>
        </a:graphic>
      </p:graphicFrame>
      <p:graphicFrame>
        <p:nvGraphicFramePr>
          <p:cNvPr id="3" name="Table 2">
            <a:extLst>
              <a:ext uri="{FF2B5EF4-FFF2-40B4-BE49-F238E27FC236}">
                <a16:creationId xmlns:a16="http://schemas.microsoft.com/office/drawing/2014/main" id="{D6D534D7-5E3E-1FE6-6F11-36B3D6F84712}"/>
              </a:ext>
            </a:extLst>
          </p:cNvPr>
          <p:cNvGraphicFramePr>
            <a:graphicFrameLocks noGrp="1"/>
          </p:cNvGraphicFramePr>
          <p:nvPr>
            <p:extLst>
              <p:ext uri="{D42A27DB-BD31-4B8C-83A1-F6EECF244321}">
                <p14:modId xmlns:p14="http://schemas.microsoft.com/office/powerpoint/2010/main" val="123032331"/>
              </p:ext>
            </p:extLst>
          </p:nvPr>
        </p:nvGraphicFramePr>
        <p:xfrm>
          <a:off x="9808527" y="3895901"/>
          <a:ext cx="1307148" cy="774327"/>
        </p:xfrm>
        <a:graphic>
          <a:graphicData uri="http://schemas.openxmlformats.org/drawingml/2006/table">
            <a:tbl>
              <a:tblPr firstRow="1" bandRow="1">
                <a:tableStyleId>{5C22544A-7EE6-4342-B048-85BDC9FD1C3A}</a:tableStyleId>
              </a:tblPr>
              <a:tblGrid>
                <a:gridCol w="1307148">
                  <a:extLst>
                    <a:ext uri="{9D8B030D-6E8A-4147-A177-3AD203B41FA5}">
                      <a16:colId xmlns:a16="http://schemas.microsoft.com/office/drawing/2014/main" val="1873682825"/>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B</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a:latin typeface="Courier New" panose="02070309020205020404" pitchFamily="49" charset="0"/>
                          <a:cs typeface="Courier New" panose="02070309020205020404" pitchFamily="49" charset="0"/>
                        </a:rPr>
                        <a:t>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cxnSp>
        <p:nvCxnSpPr>
          <p:cNvPr id="6" name="Straight Arrow Connector 5">
            <a:extLst>
              <a:ext uri="{FF2B5EF4-FFF2-40B4-BE49-F238E27FC236}">
                <a16:creationId xmlns:a16="http://schemas.microsoft.com/office/drawing/2014/main" id="{167B8B5A-7DC7-557B-2819-8DE46A448F3C}"/>
              </a:ext>
            </a:extLst>
          </p:cNvPr>
          <p:cNvCxnSpPr/>
          <p:nvPr/>
        </p:nvCxnSpPr>
        <p:spPr>
          <a:xfrm flipV="1">
            <a:off x="10427335" y="3281995"/>
            <a:ext cx="0" cy="491986"/>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FEF4743D-B782-E89B-A7DB-FDB1BE9D5A37}"/>
              </a:ext>
            </a:extLst>
          </p:cNvPr>
          <p:cNvGraphicFramePr>
            <a:graphicFrameLocks noGrp="1"/>
          </p:cNvGraphicFramePr>
          <p:nvPr>
            <p:extLst>
              <p:ext uri="{D42A27DB-BD31-4B8C-83A1-F6EECF244321}">
                <p14:modId xmlns:p14="http://schemas.microsoft.com/office/powerpoint/2010/main" val="3021398605"/>
              </p:ext>
            </p:extLst>
          </p:nvPr>
        </p:nvGraphicFramePr>
        <p:xfrm>
          <a:off x="9818052" y="2301902"/>
          <a:ext cx="1275080" cy="774327"/>
        </p:xfrm>
        <a:graphic>
          <a:graphicData uri="http://schemas.openxmlformats.org/drawingml/2006/table">
            <a:tbl>
              <a:tblPr firstRow="1" bandRow="1">
                <a:tableStyleId>{5C22544A-7EE6-4342-B048-85BDC9FD1C3A}</a:tableStyleId>
              </a:tblPr>
              <a:tblGrid>
                <a:gridCol w="1275080">
                  <a:extLst>
                    <a:ext uri="{9D8B030D-6E8A-4147-A177-3AD203B41FA5}">
                      <a16:colId xmlns:a16="http://schemas.microsoft.com/office/drawing/2014/main" val="1873682825"/>
                    </a:ext>
                  </a:extLst>
                </a:gridCol>
              </a:tblGrid>
              <a:tr h="182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noProof="0" dirty="0">
                          <a:latin typeface="Courier New" panose="02070309020205020404" pitchFamily="49" charset="0"/>
                          <a:cs typeface="Courier New" panose="02070309020205020404" pitchFamily="49" charset="0"/>
                        </a:rPr>
                        <a:t>class A</a:t>
                      </a:r>
                      <a:endParaRPr lang="en-US" sz="1800" b="0" i="1" noProof="0" dirty="0">
                        <a:latin typeface="Courier New" panose="02070309020205020404" pitchFamily="49" charset="0"/>
                        <a:cs typeface="Courier New" panose="02070309020205020404" pitchFamily="49"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330819881"/>
                  </a:ext>
                </a:extLst>
              </a:tr>
              <a:tr h="408567">
                <a:tc>
                  <a:txBody>
                    <a:bodyPr/>
                    <a:lstStyle/>
                    <a:p>
                      <a:pPr marL="0" marR="0" lvl="0" indent="0" algn="l" defTabSz="914400" rtl="0" eaLnBrk="1" fontAlgn="auto" latinLnBrk="0" hangingPunct="1">
                        <a:lnSpc>
                          <a:spcPct val="100000"/>
                        </a:lnSpc>
                        <a:spcBef>
                          <a:spcPts val="0"/>
                        </a:spcBef>
                        <a:spcAft>
                          <a:spcPts val="0"/>
                        </a:spcAft>
                        <a:buClr>
                          <a:schemeClr val="accent1">
                            <a:lumMod val="50000"/>
                          </a:schemeClr>
                        </a:buClr>
                        <a:buSzTx/>
                        <a:buFont typeface="Wingdings" panose="05000000000000000000" pitchFamily="2" charset="2"/>
                        <a:buNone/>
                        <a:tabLst/>
                        <a:defRPr/>
                      </a:pPr>
                      <a:r>
                        <a:rPr lang="en-US" sz="1800" i="0" noProof="0" dirty="0">
                          <a:latin typeface="Courier New" panose="02070309020205020404" pitchFamily="49" charset="0"/>
                          <a:cs typeface="Courier New" panose="02070309020205020404" pitchFamily="49" charset="0"/>
                        </a:rPr>
                        <a:t>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Tree>
    <p:extLst>
      <p:ext uri="{BB962C8B-B14F-4D97-AF65-F5344CB8AC3E}">
        <p14:creationId xmlns:p14="http://schemas.microsoft.com/office/powerpoint/2010/main" val="225692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Question – What does </a:t>
            </a:r>
            <a:r>
              <a:rPr lang="en-US" noProof="0" dirty="0" err="1">
                <a:latin typeface="Courier New" panose="02070309020205020404" pitchFamily="49" charset="0"/>
                <a:cs typeface="Courier New" panose="02070309020205020404" pitchFamily="49" charset="0"/>
              </a:rPr>
              <a:t>b.f</a:t>
            </a:r>
            <a:r>
              <a:rPr lang="en-US" noProof="0" dirty="0">
                <a:latin typeface="Courier New" panose="02070309020205020404" pitchFamily="49" charset="0"/>
                <a:cs typeface="Courier New" panose="02070309020205020404" pitchFamily="49" charset="0"/>
              </a:rPr>
              <a:t>()</a:t>
            </a:r>
            <a:r>
              <a:rPr lang="en-US" noProof="0" dirty="0"/>
              <a:t> print ? </a:t>
            </a:r>
          </a:p>
        </p:txBody>
      </p:sp>
      <p:sp>
        <p:nvSpPr>
          <p:cNvPr id="3" name="Content Placeholder 2"/>
          <p:cNvSpPr>
            <a:spLocks noGrp="1"/>
          </p:cNvSpPr>
          <p:nvPr>
            <p:ph idx="1"/>
          </p:nvPr>
        </p:nvSpPr>
        <p:spPr>
          <a:xfrm>
            <a:off x="6800849" y="3111500"/>
            <a:ext cx="4429125" cy="2432050"/>
          </a:xfrm>
        </p:spPr>
        <p:txBody>
          <a:bodyPr>
            <a:normAutofit/>
          </a:bodyPr>
          <a:lstStyle/>
          <a:p>
            <a:pPr marL="514350" indent="-514350">
              <a:buFont typeface="+mj-lt"/>
              <a:buAutoNum type="alphaLcParenR"/>
            </a:pPr>
            <a:r>
              <a:rPr lang="en-US" noProof="0" dirty="0"/>
              <a:t> </a:t>
            </a:r>
            <a:r>
              <a:rPr lang="en-US" noProof="0" dirty="0" err="1">
                <a:latin typeface="Courier New" panose="02070309020205020404" pitchFamily="49" charset="0"/>
                <a:cs typeface="Courier New" panose="02070309020205020404" pitchFamily="49" charset="0"/>
              </a:rPr>
              <a:t>AttributeError</a:t>
            </a:r>
            <a:endParaRPr lang="en-US" noProof="0" dirty="0">
              <a:latin typeface="Courier New" panose="02070309020205020404" pitchFamily="49" charset="0"/>
              <a:cs typeface="Courier New" panose="02070309020205020404" pitchFamily="49" charset="0"/>
            </a:endParaRPr>
          </a:p>
          <a:p>
            <a:pPr marL="514350" indent="-514350">
              <a:buFont typeface="+mj-lt"/>
              <a:buAutoNum type="alphaLcParenR"/>
            </a:pPr>
            <a:r>
              <a:rPr lang="en-US" noProof="0" dirty="0"/>
              <a:t> </a:t>
            </a:r>
            <a:r>
              <a:rPr lang="en-US" noProof="0" dirty="0" err="1">
                <a:latin typeface="Courier New" panose="02070309020205020404" pitchFamily="49" charset="0"/>
                <a:cs typeface="Courier New" panose="02070309020205020404" pitchFamily="49" charset="0"/>
              </a:rPr>
              <a:t>Af</a:t>
            </a:r>
            <a:r>
              <a:rPr lang="en-US" noProof="0" dirty="0">
                <a:latin typeface="Courier New" panose="02070309020205020404" pitchFamily="49" charset="0"/>
                <a:cs typeface="Courier New" panose="02070309020205020404" pitchFamily="49" charset="0"/>
              </a:rPr>
              <a:t> Ag</a:t>
            </a:r>
          </a:p>
          <a:p>
            <a:pPr marL="514350" indent="-514350">
              <a:buFont typeface="+mj-lt"/>
              <a:buAutoNum type="alphaLcParenR"/>
            </a:pPr>
            <a:r>
              <a:rPr lang="en-US" noProof="0" dirty="0"/>
              <a:t> </a:t>
            </a:r>
            <a:r>
              <a:rPr lang="en-US" noProof="0" dirty="0" err="1">
                <a:latin typeface="Courier New" panose="02070309020205020404" pitchFamily="49" charset="0"/>
                <a:cs typeface="Courier New" panose="02070309020205020404" pitchFamily="49" charset="0"/>
              </a:rPr>
              <a:t>Af</a:t>
            </a:r>
            <a:r>
              <a:rPr lang="en-US" noProof="0" dirty="0">
                <a:latin typeface="Courier New" panose="02070309020205020404" pitchFamily="49" charset="0"/>
                <a:cs typeface="Courier New" panose="02070309020205020404" pitchFamily="49" charset="0"/>
              </a:rPr>
              <a:t> </a:t>
            </a:r>
            <a:r>
              <a:rPr lang="en-US" noProof="0" dirty="0" err="1">
                <a:latin typeface="Courier New" panose="02070309020205020404" pitchFamily="49" charset="0"/>
                <a:cs typeface="Courier New" panose="02070309020205020404" pitchFamily="49" charset="0"/>
              </a:rPr>
              <a:t>Bg</a:t>
            </a:r>
            <a:endParaRPr lang="en-US" noProof="0" dirty="0">
              <a:latin typeface="Courier New" panose="02070309020205020404" pitchFamily="49" charset="0"/>
              <a:cs typeface="Courier New" panose="02070309020205020404" pitchFamily="49" charset="0"/>
            </a:endParaRPr>
          </a:p>
          <a:p>
            <a:pPr marL="514350" indent="-514350">
              <a:buFont typeface="+mj-lt"/>
              <a:buAutoNum type="alphaLcParenR"/>
            </a:pPr>
            <a:r>
              <a:rPr lang="en-US" noProof="0" dirty="0"/>
              <a:t> Don’t know</a:t>
            </a:r>
          </a:p>
        </p:txBody>
      </p:sp>
      <p:sp>
        <p:nvSpPr>
          <p:cNvPr id="5" name="Smiley Face 4" descr="QuizAnswer"/>
          <p:cNvSpPr/>
          <p:nvPr/>
        </p:nvSpPr>
        <p:spPr>
          <a:xfrm>
            <a:off x="6323715" y="4178243"/>
            <a:ext cx="374567" cy="363338"/>
          </a:xfrm>
          <a:prstGeom prst="smileyFace">
            <a:avLst>
              <a:gd name="adj" fmla="val 4653"/>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aphicFrame>
        <p:nvGraphicFramePr>
          <p:cNvPr id="6" name="Table 5"/>
          <p:cNvGraphicFramePr>
            <a:graphicFrameLocks noGrp="1"/>
          </p:cNvGraphicFramePr>
          <p:nvPr>
            <p:extLst>
              <p:ext uri="{D42A27DB-BD31-4B8C-83A1-F6EECF244321}">
                <p14:modId xmlns:p14="http://schemas.microsoft.com/office/powerpoint/2010/main" val="738369812"/>
              </p:ext>
            </p:extLst>
          </p:nvPr>
        </p:nvGraphicFramePr>
        <p:xfrm>
          <a:off x="1969921" y="2131478"/>
          <a:ext cx="3186430" cy="4093530"/>
        </p:xfrm>
        <a:graphic>
          <a:graphicData uri="http://schemas.openxmlformats.org/drawingml/2006/table">
            <a:tbl>
              <a:tblPr firstRow="1" bandRow="1">
                <a:tableStyleId>{5C22544A-7EE6-4342-B048-85BDC9FD1C3A}</a:tableStyleId>
              </a:tblPr>
              <a:tblGrid>
                <a:gridCol w="3186430">
                  <a:extLst>
                    <a:ext uri="{9D8B030D-6E8A-4147-A177-3AD203B41FA5}">
                      <a16:colId xmlns:a16="http://schemas.microsoft.com/office/drawing/2014/main" val="1873682825"/>
                    </a:ext>
                  </a:extLst>
                </a:gridCol>
              </a:tblGrid>
              <a:tr h="405450">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buClr>
                          <a:srgbClr val="C00000"/>
                        </a:buClr>
                        <a:buSzPct val="100000"/>
                        <a:buFont typeface="Courier New" panose="02070309020205020404" pitchFamily="49" charset="0"/>
                        <a:buChar char="&gt;"/>
                      </a:pP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baseline="0" noProof="0" dirty="0">
                          <a:latin typeface="Courier New" panose="02070309020205020404" pitchFamily="49" charset="0"/>
                          <a:cs typeface="Courier New" panose="02070309020205020404" pitchFamily="49" charset="0"/>
                        </a:rPr>
                        <a:t> 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f(self):</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latin typeface="Courier New" panose="02070309020205020404" pitchFamily="49" charset="0"/>
                          <a:cs typeface="Courier New" panose="02070309020205020404" pitchFamily="49" charset="0"/>
                        </a:rPr>
                        <a:t>Af</a:t>
                      </a:r>
                      <a:r>
                        <a:rPr lang="en-US" sz="1800" b="1" baseline="0" noProof="0" dirty="0">
                          <a:latin typeface="Courier New" panose="02070309020205020404" pitchFamily="49" charset="0"/>
                          <a:cs typeface="Courier New" panose="02070309020205020404" pitchFamily="49" charset="0"/>
                        </a:rPr>
                        <a:t>')</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err="1">
                          <a:latin typeface="Courier New" panose="02070309020205020404" pitchFamily="49" charset="0"/>
                          <a:cs typeface="Courier New" panose="02070309020205020404" pitchFamily="49" charset="0"/>
                        </a:rPr>
                        <a:t>self.g</a:t>
                      </a:r>
                      <a:r>
                        <a:rPr lang="en-US" sz="1800" b="1" baseline="0" noProof="0" dirty="0">
                          <a:latin typeface="Courier New" panose="02070309020205020404" pitchFamily="49" charset="0"/>
                          <a:cs typeface="Courier New" panose="02070309020205020404" pitchFamily="49" charset="0"/>
                        </a:rPr>
                        <a:t>()</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g(self):</a:t>
                      </a:r>
                    </a:p>
                    <a:p>
                      <a:pPr marL="0" indent="0">
                        <a:spcAft>
                          <a:spcPts val="12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print('Ag')</a:t>
                      </a:r>
                    </a:p>
                    <a:p>
                      <a:pPr marL="266700" indent="-266700">
                        <a:buClr>
                          <a:srgbClr val="C00000"/>
                        </a:buClr>
                        <a:buSzPct val="100000"/>
                        <a:buFont typeface="Courier New" panose="02070309020205020404" pitchFamily="49" charset="0"/>
                        <a:buChar char="&gt;"/>
                      </a:pP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baseline="0" noProof="0" dirty="0">
                          <a:latin typeface="Courier New" panose="02070309020205020404" pitchFamily="49" charset="0"/>
                          <a:cs typeface="Courier New" panose="02070309020205020404" pitchFamily="49" charset="0"/>
                        </a:rPr>
                        <a:t> B(A):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g(self):</a:t>
                      </a:r>
                    </a:p>
                    <a:p>
                      <a:pPr marL="0" indent="0">
                        <a:spcAft>
                          <a:spcPts val="12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latin typeface="Courier New" panose="02070309020205020404" pitchFamily="49" charset="0"/>
                          <a:cs typeface="Courier New" panose="02070309020205020404" pitchFamily="49" charset="0"/>
                        </a:rPr>
                        <a:t>Bg</a:t>
                      </a:r>
                      <a:r>
                        <a:rPr lang="en-US" sz="1800" b="1" baseline="0" noProof="0" dirty="0">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b = B()</a:t>
                      </a:r>
                    </a:p>
                    <a:p>
                      <a:pPr marL="266700" indent="-266700">
                        <a:buClr>
                          <a:srgbClr val="C00000"/>
                        </a:buClr>
                        <a:buSzPct val="100000"/>
                        <a:buFont typeface="Courier New" panose="02070309020205020404" pitchFamily="49" charset="0"/>
                        <a:buChar char="&gt;"/>
                      </a:pPr>
                      <a:r>
                        <a:rPr lang="en-US" sz="1800" b="1" baseline="0" noProof="0" dirty="0" err="1">
                          <a:latin typeface="Courier New" panose="02070309020205020404" pitchFamily="49" charset="0"/>
                          <a:cs typeface="Courier New" panose="02070309020205020404" pitchFamily="49" charset="0"/>
                        </a:rPr>
                        <a:t>b.f</a:t>
                      </a:r>
                      <a:r>
                        <a:rPr lang="en-US" sz="18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Tree>
    <p:extLst>
      <p:ext uri="{BB962C8B-B14F-4D97-AF65-F5344CB8AC3E}">
        <p14:creationId xmlns:p14="http://schemas.microsoft.com/office/powerpoint/2010/main" val="323268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2097"/>
            <a:ext cx="10515600" cy="1325563"/>
          </a:xfrm>
        </p:spPr>
        <p:txBody>
          <a:bodyPr/>
          <a:lstStyle/>
          <a:p>
            <a:r>
              <a:rPr lang="en-US" noProof="0" dirty="0" err="1"/>
              <a:t>Undefind</a:t>
            </a:r>
            <a:r>
              <a:rPr lang="en-US" noProof="0" dirty="0"/>
              <a:t> methods in superclass ?</a:t>
            </a:r>
          </a:p>
        </p:txBody>
      </p:sp>
      <p:graphicFrame>
        <p:nvGraphicFramePr>
          <p:cNvPr id="7" name="Table 6"/>
          <p:cNvGraphicFramePr>
            <a:graphicFrameLocks noGrp="1"/>
          </p:cNvGraphicFramePr>
          <p:nvPr>
            <p:extLst>
              <p:ext uri="{D42A27DB-BD31-4B8C-83A1-F6EECF244321}">
                <p14:modId xmlns:p14="http://schemas.microsoft.com/office/powerpoint/2010/main" val="1561540582"/>
              </p:ext>
            </p:extLst>
          </p:nvPr>
        </p:nvGraphicFramePr>
        <p:xfrm>
          <a:off x="932766" y="1160023"/>
          <a:ext cx="3186430" cy="5388930"/>
        </p:xfrm>
        <a:graphic>
          <a:graphicData uri="http://schemas.openxmlformats.org/drawingml/2006/table">
            <a:tbl>
              <a:tblPr firstRow="1" bandRow="1">
                <a:tableStyleId>{5C22544A-7EE6-4342-B048-85BDC9FD1C3A}</a:tableStyleId>
              </a:tblPr>
              <a:tblGrid>
                <a:gridCol w="3186430">
                  <a:extLst>
                    <a:ext uri="{9D8B030D-6E8A-4147-A177-3AD203B41FA5}">
                      <a16:colId xmlns:a16="http://schemas.microsoft.com/office/drawing/2014/main" val="1873682825"/>
                    </a:ext>
                  </a:extLst>
                </a:gridCol>
              </a:tblGrid>
              <a:tr h="405450">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buClr>
                          <a:srgbClr val="C00000"/>
                        </a:buClr>
                        <a:buSzPct val="100000"/>
                        <a:buFont typeface="Courier New" panose="02070309020205020404" pitchFamily="49" charset="0"/>
                        <a:buChar char="&gt;"/>
                      </a:pP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class </a:t>
                      </a:r>
                      <a:r>
                        <a:rPr lang="en-US" sz="1800" b="1" baseline="0" noProof="0" dirty="0">
                          <a:latin typeface="Courier New" panose="02070309020205020404" pitchFamily="49" charset="0"/>
                          <a:cs typeface="Courier New" panose="02070309020205020404" pitchFamily="49" charset="0"/>
                        </a:rPr>
                        <a:t>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f(self):</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latin typeface="Courier New" panose="02070309020205020404" pitchFamily="49" charset="0"/>
                          <a:cs typeface="Courier New" panose="02070309020205020404" pitchFamily="49" charset="0"/>
                        </a:rPr>
                        <a:t>Af</a:t>
                      </a:r>
                      <a:r>
                        <a:rPr lang="en-US" sz="1800" b="1" baseline="0" noProof="0" dirty="0">
                          <a:latin typeface="Courier New" panose="02070309020205020404" pitchFamily="49" charset="0"/>
                          <a:cs typeface="Courier New" panose="02070309020205020404" pitchFamily="49" charset="0"/>
                        </a:rPr>
                        <a:t>')</a:t>
                      </a:r>
                    </a:p>
                    <a:p>
                      <a:pPr marL="0" indent="0">
                        <a:spcAft>
                          <a:spcPts val="6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err="1">
                          <a:latin typeface="Courier New" panose="02070309020205020404" pitchFamily="49" charset="0"/>
                          <a:cs typeface="Courier New" panose="02070309020205020404" pitchFamily="49" charset="0"/>
                        </a:rPr>
                        <a:t>self.</a:t>
                      </a:r>
                      <a:r>
                        <a:rPr lang="en-US" sz="1800" b="1" baseline="0" noProof="0" dirty="0" err="1">
                          <a:solidFill>
                            <a:srgbClr val="C00000"/>
                          </a:solidFill>
                          <a:latin typeface="Courier New" panose="02070309020205020404" pitchFamily="49" charset="0"/>
                          <a:cs typeface="Courier New" panose="02070309020205020404" pitchFamily="49" charset="0"/>
                        </a:rPr>
                        <a:t>g</a:t>
                      </a:r>
                      <a:r>
                        <a:rPr lang="en-US" sz="1800" b="1" baseline="0" noProof="0" dirty="0">
                          <a:latin typeface="Courier New" panose="02070309020205020404" pitchFamily="49" charset="0"/>
                          <a:cs typeface="Courier New" panose="02070309020205020404" pitchFamily="49" charset="0"/>
                        </a:rPr>
                        <a:t>()</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rgbClr val="C00000"/>
                          </a:solidFill>
                          <a:latin typeface="Courier New" panose="02070309020205020404" pitchFamily="49" charset="0"/>
                          <a:cs typeface="Courier New" panose="02070309020205020404" pitchFamily="49" charset="0"/>
                        </a:rPr>
                        <a:t>g</a:t>
                      </a:r>
                      <a:r>
                        <a:rPr lang="en-US" sz="1800" b="1" baseline="0" noProof="0" dirty="0">
                          <a:latin typeface="Courier New" panose="02070309020205020404" pitchFamily="49" charset="0"/>
                          <a:cs typeface="Courier New" panose="02070309020205020404" pitchFamily="49" charset="0"/>
                        </a:rPr>
                        <a:t>(self):</a:t>
                      </a:r>
                    </a:p>
                    <a:p>
                      <a:pPr marL="0" indent="0">
                        <a:spcAft>
                          <a:spcPts val="6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a:solidFill>
                            <a:srgbClr val="C00000"/>
                          </a:solidFill>
                          <a:latin typeface="Courier New" panose="02070309020205020404" pitchFamily="49" charset="0"/>
                          <a:cs typeface="Courier New" panose="02070309020205020404" pitchFamily="49" charset="0"/>
                        </a:rPr>
                        <a:t>Ag</a:t>
                      </a:r>
                      <a:r>
                        <a:rPr lang="en-US" sz="1800" b="1" baseline="0" noProof="0" dirty="0">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baseline="0" noProof="0" dirty="0">
                          <a:latin typeface="Courier New" panose="02070309020205020404" pitchFamily="49" charset="0"/>
                          <a:cs typeface="Courier New" panose="02070309020205020404" pitchFamily="49" charset="0"/>
                        </a:rPr>
                        <a:t> B(A):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rgbClr val="C00000"/>
                          </a:solidFill>
                          <a:latin typeface="Courier New" panose="02070309020205020404" pitchFamily="49" charset="0"/>
                          <a:cs typeface="Courier New" panose="02070309020205020404" pitchFamily="49" charset="0"/>
                        </a:rPr>
                        <a:t>g</a:t>
                      </a:r>
                      <a:r>
                        <a:rPr lang="en-US" sz="1800" b="1" baseline="0" noProof="0" dirty="0">
                          <a:latin typeface="Courier New" panose="02070309020205020404" pitchFamily="49" charset="0"/>
                          <a:cs typeface="Courier New" panose="02070309020205020404" pitchFamily="49" charset="0"/>
                        </a:rPr>
                        <a:t>(self):</a:t>
                      </a:r>
                    </a:p>
                    <a:p>
                      <a:pPr marL="0" indent="0">
                        <a:spcAft>
                          <a:spcPts val="6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solidFill>
                            <a:srgbClr val="C00000"/>
                          </a:solidFill>
                          <a:latin typeface="Courier New" panose="02070309020205020404" pitchFamily="49" charset="0"/>
                          <a:cs typeface="Courier New" panose="02070309020205020404" pitchFamily="49" charset="0"/>
                        </a:rPr>
                        <a:t>Bg</a:t>
                      </a:r>
                      <a:r>
                        <a:rPr lang="en-US" sz="1800" b="1" baseline="0" noProof="0" dirty="0">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b = B()</a:t>
                      </a:r>
                    </a:p>
                    <a:p>
                      <a:pPr marL="266700" indent="-266700">
                        <a:buClr>
                          <a:srgbClr val="C00000"/>
                        </a:buClr>
                        <a:buSzPct val="100000"/>
                        <a:buFont typeface="Courier New" panose="02070309020205020404" pitchFamily="49" charset="0"/>
                        <a:buChar char="&gt;"/>
                      </a:pPr>
                      <a:r>
                        <a:rPr lang="en-US" sz="1800" b="1" baseline="0" noProof="0" dirty="0" err="1">
                          <a:latin typeface="Courier New" panose="02070309020205020404" pitchFamily="49" charset="0"/>
                          <a:cs typeface="Courier New" panose="02070309020205020404" pitchFamily="49" charset="0"/>
                        </a:rPr>
                        <a:t>b.f</a:t>
                      </a:r>
                      <a:r>
                        <a:rPr lang="en-US" sz="18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chemeClr val="tx1"/>
                          </a:solidFill>
                          <a:latin typeface="Courier New" panose="02070309020205020404" pitchFamily="49" charset="0"/>
                          <a:cs typeface="Courier New" panose="02070309020205020404" pitchFamily="49" charset="0"/>
                        </a:rPr>
                        <a:t>Af</a:t>
                      </a:r>
                      <a:endParaRPr lang="en-US" sz="1800" b="1" baseline="0" noProof="0" dirty="0">
                        <a:solidFill>
                          <a:schemeClr val="tx1"/>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rgbClr val="C00000"/>
                          </a:solidFill>
                          <a:latin typeface="Courier New" panose="02070309020205020404" pitchFamily="49" charset="0"/>
                          <a:cs typeface="Courier New" panose="02070309020205020404" pitchFamily="49" charset="0"/>
                        </a:rPr>
                        <a:t>Bg</a:t>
                      </a:r>
                      <a:endParaRPr lang="en-US" sz="1800" b="1" baseline="0" noProof="0" dirty="0">
                        <a:solidFill>
                          <a:srgbClr val="C00000"/>
                        </a:solidFill>
                        <a:latin typeface="Courier New" panose="02070309020205020404" pitchFamily="49" charset="0"/>
                        <a:cs typeface="Courier New" panose="02070309020205020404" pitchFamily="49" charset="0"/>
                      </a:endParaRP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a = A()</a:t>
                      </a:r>
                    </a:p>
                    <a:p>
                      <a:pPr marL="266700" indent="-266700">
                        <a:buClr>
                          <a:srgbClr val="C00000"/>
                        </a:buClr>
                        <a:buSzPct val="100000"/>
                        <a:buFont typeface="Courier New" panose="02070309020205020404" pitchFamily="49" charset="0"/>
                        <a:buChar char="&gt;"/>
                      </a:pPr>
                      <a:r>
                        <a:rPr lang="en-US" sz="1800" b="1" baseline="0" noProof="0" dirty="0" err="1">
                          <a:latin typeface="Courier New" panose="02070309020205020404" pitchFamily="49" charset="0"/>
                          <a:cs typeface="Courier New" panose="02070309020205020404" pitchFamily="49" charset="0"/>
                        </a:rPr>
                        <a:t>a.f</a:t>
                      </a:r>
                      <a:r>
                        <a:rPr lang="en-US" sz="18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chemeClr val="tx1"/>
                          </a:solidFill>
                          <a:latin typeface="Courier New" panose="02070309020205020404" pitchFamily="49" charset="0"/>
                          <a:cs typeface="Courier New" panose="02070309020205020404" pitchFamily="49" charset="0"/>
                        </a:rPr>
                        <a:t>Af</a:t>
                      </a:r>
                      <a:endParaRPr lang="en-US" sz="1800" b="1" baseline="0" noProof="0" dirty="0">
                        <a:solidFill>
                          <a:schemeClr val="tx1"/>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Ag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961035541"/>
              </p:ext>
            </p:extLst>
          </p:nvPr>
        </p:nvGraphicFramePr>
        <p:xfrm>
          <a:off x="4329248" y="1160023"/>
          <a:ext cx="7002780" cy="5388930"/>
        </p:xfrm>
        <a:graphic>
          <a:graphicData uri="http://schemas.openxmlformats.org/drawingml/2006/table">
            <a:tbl>
              <a:tblPr firstRow="1" bandRow="1">
                <a:tableStyleId>{5C22544A-7EE6-4342-B048-85BDC9FD1C3A}</a:tableStyleId>
              </a:tblPr>
              <a:tblGrid>
                <a:gridCol w="7002780">
                  <a:extLst>
                    <a:ext uri="{9D8B030D-6E8A-4147-A177-3AD203B41FA5}">
                      <a16:colId xmlns:a16="http://schemas.microsoft.com/office/drawing/2014/main" val="1873682825"/>
                    </a:ext>
                  </a:extLst>
                </a:gridCol>
              </a:tblGrid>
              <a:tr h="458627">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4930303">
                <a:tc>
                  <a:txBody>
                    <a:bodyPr/>
                    <a:lstStyle/>
                    <a:p>
                      <a:pPr marL="266700" indent="-266700">
                        <a:buClr>
                          <a:srgbClr val="C00000"/>
                        </a:buClr>
                        <a:buSzPct val="100000"/>
                        <a:buFont typeface="Courier New" panose="02070309020205020404" pitchFamily="49" charset="0"/>
                        <a:buChar char="&gt;"/>
                      </a:pP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class </a:t>
                      </a:r>
                      <a:r>
                        <a:rPr lang="en-US" sz="1800" b="1" baseline="0" noProof="0" dirty="0">
                          <a:latin typeface="Courier New" panose="02070309020205020404" pitchFamily="49" charset="0"/>
                          <a:cs typeface="Courier New" panose="02070309020205020404" pitchFamily="49" charset="0"/>
                        </a:rPr>
                        <a:t>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f(self):</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latin typeface="Courier New" panose="02070309020205020404" pitchFamily="49" charset="0"/>
                          <a:cs typeface="Courier New" panose="02070309020205020404" pitchFamily="49" charset="0"/>
                        </a:rPr>
                        <a:t>Af</a:t>
                      </a:r>
                      <a:r>
                        <a:rPr lang="en-US" sz="1800" b="1" baseline="0" noProof="0" dirty="0">
                          <a:latin typeface="Courier New" panose="02070309020205020404" pitchFamily="49" charset="0"/>
                          <a:cs typeface="Courier New" panose="02070309020205020404" pitchFamily="49" charset="0"/>
                        </a:rPr>
                        <a:t>')</a:t>
                      </a:r>
                    </a:p>
                    <a:p>
                      <a:pPr marL="0" indent="0">
                        <a:spcAft>
                          <a:spcPts val="6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err="1">
                          <a:latin typeface="Courier New" panose="02070309020205020404" pitchFamily="49" charset="0"/>
                          <a:cs typeface="Courier New" panose="02070309020205020404" pitchFamily="49" charset="0"/>
                        </a:rPr>
                        <a:t>self.</a:t>
                      </a:r>
                      <a:r>
                        <a:rPr lang="en-US" sz="1800" b="1" baseline="0" noProof="0" dirty="0" err="1">
                          <a:solidFill>
                            <a:srgbClr val="C00000"/>
                          </a:solidFill>
                          <a:latin typeface="Courier New" panose="02070309020205020404" pitchFamily="49" charset="0"/>
                          <a:cs typeface="Courier New" panose="02070309020205020404" pitchFamily="49" charset="0"/>
                        </a:rPr>
                        <a:t>g</a:t>
                      </a:r>
                      <a:r>
                        <a:rPr lang="en-US" sz="1800" b="1" baseline="0" noProof="0" dirty="0">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baseline="0" noProof="0" dirty="0">
                          <a:latin typeface="Courier New" panose="02070309020205020404" pitchFamily="49" charset="0"/>
                          <a:cs typeface="Courier New" panose="02070309020205020404" pitchFamily="49" charset="0"/>
                        </a:rPr>
                        <a:t> B(A):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baseline="0" noProof="0" dirty="0">
                          <a:latin typeface="Courier New" panose="02070309020205020404" pitchFamily="49" charset="0"/>
                          <a:cs typeface="Courier New" panose="02070309020205020404" pitchFamily="49" charset="0"/>
                        </a:rPr>
                        <a:t> </a:t>
                      </a:r>
                      <a:r>
                        <a:rPr lang="en-US" sz="1800" b="1" baseline="0" noProof="0" dirty="0">
                          <a:solidFill>
                            <a:srgbClr val="C00000"/>
                          </a:solidFill>
                          <a:latin typeface="Courier New" panose="02070309020205020404" pitchFamily="49" charset="0"/>
                          <a:cs typeface="Courier New" panose="02070309020205020404" pitchFamily="49" charset="0"/>
                        </a:rPr>
                        <a:t>g</a:t>
                      </a:r>
                      <a:r>
                        <a:rPr lang="en-US" sz="1800" b="1" baseline="0" noProof="0" dirty="0">
                          <a:latin typeface="Courier New" panose="02070309020205020404" pitchFamily="49" charset="0"/>
                          <a:cs typeface="Courier New" panose="02070309020205020404" pitchFamily="49" charset="0"/>
                        </a:rPr>
                        <a:t>(self):</a:t>
                      </a:r>
                    </a:p>
                    <a:p>
                      <a:pPr marL="0" indent="0">
                        <a:spcAft>
                          <a:spcPts val="600"/>
                        </a:spcAft>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solidFill>
                            <a:srgbClr val="C00000"/>
                          </a:solidFill>
                          <a:latin typeface="Courier New" panose="02070309020205020404" pitchFamily="49" charset="0"/>
                          <a:cs typeface="Courier New" panose="02070309020205020404" pitchFamily="49" charset="0"/>
                        </a:rPr>
                        <a:t>Bg</a:t>
                      </a:r>
                      <a:r>
                        <a:rPr lang="en-US" sz="1800" b="1" baseline="0" noProof="0" dirty="0">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b = B()</a:t>
                      </a:r>
                    </a:p>
                    <a:p>
                      <a:pPr marL="266700" indent="-266700">
                        <a:buClr>
                          <a:srgbClr val="C00000"/>
                        </a:buClr>
                        <a:buSzPct val="100000"/>
                        <a:buFont typeface="Courier New" panose="02070309020205020404" pitchFamily="49" charset="0"/>
                        <a:buChar char="&gt;"/>
                      </a:pPr>
                      <a:r>
                        <a:rPr lang="en-US" sz="1800" b="1" baseline="0" noProof="0" dirty="0" err="1">
                          <a:latin typeface="Courier New" panose="02070309020205020404" pitchFamily="49" charset="0"/>
                          <a:cs typeface="Courier New" panose="02070309020205020404" pitchFamily="49" charset="0"/>
                        </a:rPr>
                        <a:t>b.f</a:t>
                      </a:r>
                      <a:r>
                        <a:rPr lang="en-US" sz="18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chemeClr val="tx1"/>
                          </a:solidFill>
                          <a:latin typeface="Courier New" panose="02070309020205020404" pitchFamily="49" charset="0"/>
                          <a:cs typeface="Courier New" panose="02070309020205020404" pitchFamily="49" charset="0"/>
                        </a:rPr>
                        <a:t>Af</a:t>
                      </a:r>
                      <a:endParaRPr lang="en-US" sz="1800" b="1" baseline="0" noProof="0" dirty="0">
                        <a:solidFill>
                          <a:schemeClr val="tx1"/>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rgbClr val="C00000"/>
                          </a:solidFill>
                          <a:latin typeface="Courier New" panose="02070309020205020404" pitchFamily="49" charset="0"/>
                          <a:cs typeface="Courier New" panose="02070309020205020404" pitchFamily="49" charset="0"/>
                        </a:rPr>
                        <a:t>Bg</a:t>
                      </a:r>
                      <a:endParaRPr lang="en-US" sz="1800" b="1" baseline="0" noProof="0" dirty="0">
                        <a:solidFill>
                          <a:srgbClr val="C00000"/>
                        </a:solidFill>
                        <a:latin typeface="Courier New" panose="02070309020205020404" pitchFamily="49" charset="0"/>
                        <a:cs typeface="Courier New" panose="02070309020205020404" pitchFamily="49" charset="0"/>
                      </a:endParaRP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a = A()</a:t>
                      </a:r>
                    </a:p>
                    <a:p>
                      <a:pPr marL="266700" indent="-266700">
                        <a:buClr>
                          <a:srgbClr val="C00000"/>
                        </a:buClr>
                        <a:buSzPct val="100000"/>
                        <a:buFont typeface="Courier New" panose="02070309020205020404" pitchFamily="49" charset="0"/>
                        <a:buChar char="&gt;"/>
                      </a:pPr>
                      <a:r>
                        <a:rPr lang="en-US" sz="1800" b="1" baseline="0" noProof="0" dirty="0" err="1">
                          <a:latin typeface="Courier New" panose="02070309020205020404" pitchFamily="49" charset="0"/>
                          <a:cs typeface="Courier New" panose="02070309020205020404" pitchFamily="49" charset="0"/>
                        </a:rPr>
                        <a:t>a.f</a:t>
                      </a:r>
                      <a:r>
                        <a:rPr lang="en-US" sz="18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chemeClr val="tx1"/>
                          </a:solidFill>
                          <a:latin typeface="Courier New" panose="02070309020205020404" pitchFamily="49" charset="0"/>
                          <a:cs typeface="Courier New" panose="02070309020205020404" pitchFamily="49" charset="0"/>
                        </a:rPr>
                        <a:t>Af</a:t>
                      </a:r>
                      <a:endParaRPr lang="en-US" sz="1800" b="1" baseline="0" noProof="0" dirty="0">
                        <a:solidFill>
                          <a:schemeClr val="tx1"/>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rgbClr val="C00000"/>
                          </a:solidFill>
                          <a:latin typeface="Courier New" panose="02070309020205020404" pitchFamily="49" charset="0"/>
                          <a:cs typeface="Courier New" panose="02070309020205020404" pitchFamily="49" charset="0"/>
                        </a:rPr>
                        <a:t>AttributeError</a:t>
                      </a:r>
                      <a:r>
                        <a:rPr lang="en-US" sz="1800" b="1" baseline="0" noProof="0" dirty="0">
                          <a:solidFill>
                            <a:srgbClr val="C00000"/>
                          </a:solidFill>
                          <a:latin typeface="Courier New" panose="02070309020205020404" pitchFamily="49" charset="0"/>
                          <a:cs typeface="Courier New" panose="02070309020205020404" pitchFamily="49" charset="0"/>
                        </a:rPr>
                        <a:t>: 'A' object has no attribute 'g'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pSp>
        <p:nvGrpSpPr>
          <p:cNvPr id="26" name="Group 25"/>
          <p:cNvGrpSpPr/>
          <p:nvPr/>
        </p:nvGrpSpPr>
        <p:grpSpPr>
          <a:xfrm>
            <a:off x="5685345" y="4422486"/>
            <a:ext cx="3615559" cy="550059"/>
            <a:chOff x="5685345" y="4422486"/>
            <a:chExt cx="3615559" cy="550059"/>
          </a:xfrm>
        </p:grpSpPr>
        <p:cxnSp>
          <p:nvCxnSpPr>
            <p:cNvPr id="9" name="Straight Arrow Connector 8"/>
            <p:cNvCxnSpPr/>
            <p:nvPr/>
          </p:nvCxnSpPr>
          <p:spPr>
            <a:xfrm flipH="1">
              <a:off x="5685345" y="4664098"/>
              <a:ext cx="1100427" cy="308447"/>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785772" y="4422486"/>
              <a:ext cx="2515132" cy="369332"/>
            </a:xfrm>
            <a:prstGeom prst="rect">
              <a:avLst/>
            </a:prstGeom>
            <a:noFill/>
          </p:spPr>
          <p:txBody>
            <a:bodyPr wrap="square" rtlCol="0">
              <a:spAutoFit/>
            </a:bodyPr>
            <a:lstStyle/>
            <a:p>
              <a:r>
                <a:rPr lang="en-US" noProof="0" dirty="0">
                  <a:solidFill>
                    <a:srgbClr val="C00000"/>
                  </a:solidFill>
                </a:rPr>
                <a:t>can create instance of </a:t>
              </a:r>
              <a:r>
                <a:rPr lang="en-US" noProof="0" dirty="0">
                  <a:solidFill>
                    <a:srgbClr val="C00000"/>
                  </a:solidFill>
                  <a:latin typeface="Courier New" panose="02070309020205020404" pitchFamily="49" charset="0"/>
                  <a:cs typeface="Courier New" panose="02070309020205020404" pitchFamily="49" charset="0"/>
                </a:rPr>
                <a:t>A</a:t>
              </a:r>
            </a:p>
          </p:txBody>
        </p:sp>
      </p:grpSp>
      <p:grpSp>
        <p:nvGrpSpPr>
          <p:cNvPr id="25" name="Group 24"/>
          <p:cNvGrpSpPr/>
          <p:nvPr/>
        </p:nvGrpSpPr>
        <p:grpSpPr>
          <a:xfrm>
            <a:off x="6901543" y="1839255"/>
            <a:ext cx="4355378" cy="1831271"/>
            <a:chOff x="6901543" y="1839255"/>
            <a:chExt cx="4355378" cy="1831271"/>
          </a:xfrm>
        </p:grpSpPr>
        <p:sp>
          <p:nvSpPr>
            <p:cNvPr id="16" name="TextBox 15"/>
            <p:cNvSpPr txBox="1"/>
            <p:nvPr/>
          </p:nvSpPr>
          <p:spPr>
            <a:xfrm>
              <a:off x="8100064" y="1839255"/>
              <a:ext cx="3156857" cy="1831271"/>
            </a:xfrm>
            <a:prstGeom prst="rect">
              <a:avLst/>
            </a:prstGeom>
            <a:noFill/>
          </p:spPr>
          <p:txBody>
            <a:bodyPr wrap="square" rtlCol="0">
              <a:spAutoFit/>
            </a:bodyPr>
            <a:lstStyle/>
            <a:p>
              <a:pPr>
                <a:spcAft>
                  <a:spcPts val="600"/>
                </a:spcAft>
              </a:pPr>
              <a:r>
                <a:rPr lang="en-US" noProof="0" dirty="0">
                  <a:solidFill>
                    <a:srgbClr val="C00000"/>
                  </a:solidFill>
                </a:rPr>
                <a:t>method </a:t>
              </a:r>
              <a:r>
                <a:rPr lang="en-US" noProof="0" dirty="0">
                  <a:solidFill>
                    <a:srgbClr val="C00000"/>
                  </a:solidFill>
                  <a:latin typeface="Courier New" panose="02070309020205020404" pitchFamily="49" charset="0"/>
                  <a:cs typeface="Courier New" panose="02070309020205020404" pitchFamily="49" charset="0"/>
                </a:rPr>
                <a:t>g</a:t>
              </a:r>
              <a:r>
                <a:rPr lang="en-US" noProof="0" dirty="0">
                  <a:solidFill>
                    <a:srgbClr val="C00000"/>
                  </a:solidFill>
                </a:rPr>
                <a:t> undefined in class </a:t>
              </a:r>
              <a:r>
                <a:rPr lang="en-US" noProof="0" dirty="0">
                  <a:solidFill>
                    <a:srgbClr val="C00000"/>
                  </a:solidFill>
                  <a:latin typeface="Courier New" panose="02070309020205020404" pitchFamily="49" charset="0"/>
                  <a:cs typeface="Courier New" panose="02070309020205020404" pitchFamily="49" charset="0"/>
                </a:rPr>
                <a:t>A</a:t>
              </a:r>
              <a:r>
                <a:rPr lang="en-US" noProof="0" dirty="0">
                  <a:solidFill>
                    <a:srgbClr val="C00000"/>
                  </a:solidFill>
                </a:rPr>
                <a:t>;  subclasses must implement </a:t>
              </a:r>
              <a:r>
                <a:rPr lang="en-US" noProof="0" dirty="0">
                  <a:solidFill>
                    <a:srgbClr val="C00000"/>
                  </a:solidFill>
                  <a:latin typeface="Courier New" panose="02070309020205020404" pitchFamily="49" charset="0"/>
                  <a:cs typeface="Courier New" panose="02070309020205020404" pitchFamily="49" charset="0"/>
                </a:rPr>
                <a:t>g</a:t>
              </a:r>
              <a:r>
                <a:rPr lang="en-US" noProof="0" dirty="0">
                  <a:solidFill>
                    <a:srgbClr val="C00000"/>
                  </a:solidFill>
                </a:rPr>
                <a:t> to be able to call </a:t>
              </a:r>
              <a:r>
                <a:rPr lang="en-US" noProof="0" dirty="0">
                  <a:solidFill>
                    <a:srgbClr val="C00000"/>
                  </a:solidFill>
                  <a:latin typeface="Courier New" panose="02070309020205020404" pitchFamily="49" charset="0"/>
                  <a:cs typeface="Courier New" panose="02070309020205020404" pitchFamily="49" charset="0"/>
                </a:rPr>
                <a:t>f</a:t>
              </a:r>
              <a:endParaRPr lang="en-US" noProof="0" dirty="0">
                <a:solidFill>
                  <a:srgbClr val="C00000"/>
                </a:solidFill>
              </a:endParaRPr>
            </a:p>
            <a:p>
              <a:r>
                <a:rPr lang="en-US" noProof="0" dirty="0">
                  <a:solidFill>
                    <a:srgbClr val="C00000"/>
                  </a:solidFill>
                </a:rPr>
                <a:t>in Java, </a:t>
              </a:r>
              <a:r>
                <a:rPr lang="en-US" noProof="0" dirty="0">
                  <a:solidFill>
                    <a:srgbClr val="C00000"/>
                  </a:solidFill>
                  <a:latin typeface="Courier New" panose="02070309020205020404" pitchFamily="49" charset="0"/>
                  <a:cs typeface="Courier New" panose="02070309020205020404" pitchFamily="49" charset="0"/>
                </a:rPr>
                <a:t>A</a:t>
              </a:r>
              <a:r>
                <a:rPr lang="en-US" noProof="0" dirty="0">
                  <a:solidFill>
                    <a:srgbClr val="C00000"/>
                  </a:solidFill>
                </a:rPr>
                <a:t> would have been required to be declared an </a:t>
              </a:r>
              <a:r>
                <a:rPr lang="en-US" i="1" noProof="0" dirty="0">
                  <a:solidFill>
                    <a:srgbClr val="C00000"/>
                  </a:solidFill>
                </a:rPr>
                <a:t>abstract class</a:t>
              </a:r>
              <a:endParaRPr lang="en-US" noProof="0" dirty="0">
                <a:solidFill>
                  <a:srgbClr val="C00000"/>
                </a:solidFill>
                <a:latin typeface="Courier New" panose="02070309020205020404" pitchFamily="49" charset="0"/>
                <a:cs typeface="Courier New" panose="02070309020205020404" pitchFamily="49" charset="0"/>
              </a:endParaRPr>
            </a:p>
          </p:txBody>
        </p:sp>
        <p:cxnSp>
          <p:nvCxnSpPr>
            <p:cNvPr id="18" name="Straight Arrow Connector 17"/>
            <p:cNvCxnSpPr/>
            <p:nvPr/>
          </p:nvCxnSpPr>
          <p:spPr>
            <a:xfrm flipH="1" flipV="1">
              <a:off x="6901543" y="2634343"/>
              <a:ext cx="1198522" cy="6531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5436909" y="4805070"/>
            <a:ext cx="5251360" cy="646331"/>
            <a:chOff x="5436909" y="4805070"/>
            <a:chExt cx="5251360" cy="646331"/>
          </a:xfrm>
        </p:grpSpPr>
        <p:cxnSp>
          <p:nvCxnSpPr>
            <p:cNvPr id="14" name="Straight Arrow Connector 13"/>
            <p:cNvCxnSpPr/>
            <p:nvPr/>
          </p:nvCxnSpPr>
          <p:spPr>
            <a:xfrm flipH="1">
              <a:off x="5436909" y="5112226"/>
              <a:ext cx="1348864" cy="13379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785772" y="4805070"/>
              <a:ext cx="3902497" cy="646331"/>
            </a:xfrm>
            <a:prstGeom prst="rect">
              <a:avLst/>
            </a:prstGeom>
            <a:noFill/>
          </p:spPr>
          <p:txBody>
            <a:bodyPr wrap="square" rtlCol="0">
              <a:spAutoFit/>
            </a:bodyPr>
            <a:lstStyle/>
            <a:p>
              <a:r>
                <a:rPr lang="en-US" noProof="0" dirty="0">
                  <a:solidFill>
                    <a:srgbClr val="C00000"/>
                  </a:solidFill>
                </a:rPr>
                <a:t>fails since </a:t>
              </a:r>
              <a:r>
                <a:rPr lang="en-US" noProof="0" dirty="0">
                  <a:solidFill>
                    <a:srgbClr val="C00000"/>
                  </a:solidFill>
                  <a:latin typeface="Courier New" panose="02070309020205020404" pitchFamily="49" charset="0"/>
                  <a:cs typeface="Courier New" panose="02070309020205020404" pitchFamily="49" charset="0"/>
                </a:rPr>
                <a:t>g</a:t>
              </a:r>
              <a:r>
                <a:rPr lang="en-US" noProof="0" dirty="0">
                  <a:solidFill>
                    <a:srgbClr val="C00000"/>
                  </a:solidFill>
                </a:rPr>
                <a:t> is not </a:t>
              </a:r>
              <a:br>
                <a:rPr lang="en-US" noProof="0" dirty="0">
                  <a:solidFill>
                    <a:srgbClr val="C00000"/>
                  </a:solidFill>
                </a:rPr>
              </a:br>
              <a:r>
                <a:rPr lang="en-US" noProof="0" dirty="0">
                  <a:solidFill>
                    <a:srgbClr val="C00000"/>
                  </a:solidFill>
                </a:rPr>
                <a:t>defined in class </a:t>
              </a:r>
              <a:r>
                <a:rPr lang="en-US" noProof="0" dirty="0">
                  <a:solidFill>
                    <a:srgbClr val="C00000"/>
                  </a:solidFill>
                  <a:latin typeface="Courier New" panose="02070309020205020404" pitchFamily="49" charset="0"/>
                  <a:cs typeface="Courier New" panose="02070309020205020404" pitchFamily="49" charset="0"/>
                </a:rPr>
                <a:t>A</a:t>
              </a:r>
            </a:p>
          </p:txBody>
        </p:sp>
      </p:grpSp>
    </p:spTree>
    <p:extLst>
      <p:ext uri="{BB962C8B-B14F-4D97-AF65-F5344CB8AC3E}">
        <p14:creationId xmlns:p14="http://schemas.microsoft.com/office/powerpoint/2010/main" val="408215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Name mangling and inheritance</a:t>
            </a:r>
          </a:p>
        </p:txBody>
      </p:sp>
      <p:graphicFrame>
        <p:nvGraphicFramePr>
          <p:cNvPr id="4" name="Table 3"/>
          <p:cNvGraphicFramePr>
            <a:graphicFrameLocks noGrp="1"/>
          </p:cNvGraphicFramePr>
          <p:nvPr>
            <p:extLst>
              <p:ext uri="{D42A27DB-BD31-4B8C-83A1-F6EECF244321}">
                <p14:modId xmlns:p14="http://schemas.microsoft.com/office/powerpoint/2010/main" val="2403946224"/>
              </p:ext>
            </p:extLst>
          </p:nvPr>
        </p:nvGraphicFramePr>
        <p:xfrm>
          <a:off x="1833244" y="1825625"/>
          <a:ext cx="3186430" cy="4063050"/>
        </p:xfrm>
        <a:graphic>
          <a:graphicData uri="http://schemas.openxmlformats.org/drawingml/2006/table">
            <a:tbl>
              <a:tblPr firstRow="1" bandRow="1">
                <a:tableStyleId>{5C22544A-7EE6-4342-B048-85BDC9FD1C3A}</a:tableStyleId>
              </a:tblPr>
              <a:tblGrid>
                <a:gridCol w="3186430">
                  <a:extLst>
                    <a:ext uri="{9D8B030D-6E8A-4147-A177-3AD203B41FA5}">
                      <a16:colId xmlns:a16="http://schemas.microsoft.com/office/drawing/2014/main" val="1873682825"/>
                    </a:ext>
                  </a:extLst>
                </a:gridCol>
              </a:tblGrid>
              <a:tr h="405450">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class 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def f(self):</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latin typeface="Courier New" panose="02070309020205020404" pitchFamily="49" charset="0"/>
                          <a:cs typeface="Courier New" panose="02070309020205020404" pitchFamily="49" charset="0"/>
                        </a:rPr>
                        <a:t>Af</a:t>
                      </a:r>
                      <a:r>
                        <a:rPr lang="en-US" sz="1800" b="1" baseline="0" noProof="0" dirty="0">
                          <a:latin typeface="Courier New" panose="02070309020205020404" pitchFamily="49" charset="0"/>
                          <a:cs typeface="Courier New" panose="02070309020205020404" pitchFamily="49" charset="0"/>
                        </a:rPr>
                        <a:t>')</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a:t>
                      </a:r>
                      <a:r>
                        <a:rPr lang="en-US" sz="1800" b="1" baseline="0" noProof="0" dirty="0" err="1">
                          <a:latin typeface="Courier New" panose="02070309020205020404" pitchFamily="49" charset="0"/>
                          <a:cs typeface="Courier New" panose="02070309020205020404" pitchFamily="49" charset="0"/>
                        </a:rPr>
                        <a:t>self.</a:t>
                      </a:r>
                      <a:r>
                        <a:rPr lang="en-US" sz="1800" b="1" baseline="0" noProof="0" dirty="0" err="1">
                          <a:solidFill>
                            <a:srgbClr val="C00000"/>
                          </a:solidFill>
                          <a:latin typeface="Courier New" panose="02070309020205020404" pitchFamily="49" charset="0"/>
                          <a:cs typeface="Courier New" panose="02070309020205020404" pitchFamily="49" charset="0"/>
                        </a:rPr>
                        <a:t>__g</a:t>
                      </a:r>
                      <a:r>
                        <a:rPr lang="en-US" sz="1800" b="1" baseline="0" noProof="0" dirty="0">
                          <a:latin typeface="Courier New" panose="02070309020205020404" pitchFamily="49" charset="0"/>
                          <a:cs typeface="Courier New" panose="02070309020205020404" pitchFamily="49" charset="0"/>
                        </a:rPr>
                        <a:t>()</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def </a:t>
                      </a:r>
                      <a:r>
                        <a:rPr lang="en-US" sz="1800" b="1" baseline="0" noProof="0" dirty="0">
                          <a:solidFill>
                            <a:srgbClr val="C00000"/>
                          </a:solidFill>
                          <a:latin typeface="Courier New" panose="02070309020205020404" pitchFamily="49" charset="0"/>
                          <a:cs typeface="Courier New" panose="02070309020205020404" pitchFamily="49" charset="0"/>
                        </a:rPr>
                        <a:t>__g</a:t>
                      </a:r>
                      <a:r>
                        <a:rPr lang="en-US" sz="1800" b="1" baseline="0" noProof="0" dirty="0">
                          <a:latin typeface="Courier New" panose="02070309020205020404" pitchFamily="49" charset="0"/>
                          <a:cs typeface="Courier New" panose="02070309020205020404" pitchFamily="49" charset="0"/>
                        </a:rPr>
                        <a:t>(self):</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print('Ag')</a:t>
                      </a: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class B(A):</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def </a:t>
                      </a:r>
                      <a:r>
                        <a:rPr lang="en-US" sz="1800" b="1" baseline="0" noProof="0" dirty="0">
                          <a:solidFill>
                            <a:srgbClr val="C00000"/>
                          </a:solidFill>
                          <a:latin typeface="Courier New" panose="02070309020205020404" pitchFamily="49" charset="0"/>
                          <a:cs typeface="Courier New" panose="02070309020205020404" pitchFamily="49" charset="0"/>
                        </a:rPr>
                        <a:t>__g</a:t>
                      </a:r>
                      <a:r>
                        <a:rPr lang="en-US" sz="1800" b="1" baseline="0" noProof="0" dirty="0">
                          <a:latin typeface="Courier New" panose="02070309020205020404" pitchFamily="49" charset="0"/>
                          <a:cs typeface="Courier New" panose="02070309020205020404" pitchFamily="49" charset="0"/>
                        </a:rPr>
                        <a:t>(self):</a:t>
                      </a:r>
                    </a:p>
                    <a:p>
                      <a:pPr marL="0" indent="0">
                        <a:buClr>
                          <a:srgbClr val="C00000"/>
                        </a:buClr>
                        <a:buSzPct val="100000"/>
                        <a:buFont typeface="Courier New" panose="02070309020205020404" pitchFamily="49" charset="0"/>
                        <a:buNone/>
                      </a:pPr>
                      <a:r>
                        <a:rPr lang="en-US" sz="1800" b="1" baseline="0" noProof="0" dirty="0">
                          <a:latin typeface="Courier New" panose="02070309020205020404" pitchFamily="49" charset="0"/>
                          <a:cs typeface="Courier New" panose="02070309020205020404" pitchFamily="49" charset="0"/>
                        </a:rPr>
                        <a:t>          print('</a:t>
                      </a:r>
                      <a:r>
                        <a:rPr lang="en-US" sz="1800" b="1" baseline="0" noProof="0" dirty="0" err="1">
                          <a:latin typeface="Courier New" panose="02070309020205020404" pitchFamily="49" charset="0"/>
                          <a:cs typeface="Courier New" panose="02070309020205020404" pitchFamily="49" charset="0"/>
                        </a:rPr>
                        <a:t>Bg</a:t>
                      </a:r>
                      <a:r>
                        <a:rPr lang="en-US" sz="1800" b="1" baseline="0" noProof="0" dirty="0">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latin typeface="Courier New" panose="02070309020205020404" pitchFamily="49" charset="0"/>
                          <a:cs typeface="Courier New" panose="02070309020205020404" pitchFamily="49" charset="0"/>
                        </a:rPr>
                        <a:t>b = B()</a:t>
                      </a:r>
                    </a:p>
                    <a:p>
                      <a:pPr marL="266700" indent="-266700">
                        <a:buClr>
                          <a:srgbClr val="C00000"/>
                        </a:buClr>
                        <a:buSzPct val="100000"/>
                        <a:buFont typeface="Courier New" panose="02070309020205020404" pitchFamily="49" charset="0"/>
                        <a:buChar char="&gt;"/>
                      </a:pPr>
                      <a:r>
                        <a:rPr lang="en-US" sz="1800" b="1" baseline="0" noProof="0" dirty="0" err="1">
                          <a:latin typeface="Courier New" panose="02070309020205020404" pitchFamily="49" charset="0"/>
                          <a:cs typeface="Courier New" panose="02070309020205020404" pitchFamily="49" charset="0"/>
                        </a:rPr>
                        <a:t>b.f</a:t>
                      </a:r>
                      <a:r>
                        <a:rPr lang="en-US" sz="18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err="1">
                          <a:solidFill>
                            <a:srgbClr val="C00000"/>
                          </a:solidFill>
                          <a:latin typeface="Courier New" panose="02070309020205020404" pitchFamily="49" charset="0"/>
                          <a:cs typeface="Courier New" panose="02070309020205020404" pitchFamily="49" charset="0"/>
                        </a:rPr>
                        <a:t>Af</a:t>
                      </a:r>
                      <a:endParaRPr lang="en-US" sz="1800" b="1" baseline="0" noProof="0" dirty="0">
                        <a:solidFill>
                          <a:srgbClr val="C00000"/>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Ag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
        <p:nvSpPr>
          <p:cNvPr id="6" name="Content Placeholder 5"/>
          <p:cNvSpPr>
            <a:spLocks noGrp="1"/>
          </p:cNvSpPr>
          <p:nvPr>
            <p:ph idx="1"/>
          </p:nvPr>
        </p:nvSpPr>
        <p:spPr>
          <a:xfrm>
            <a:off x="6096000" y="2825750"/>
            <a:ext cx="5772150" cy="2879725"/>
          </a:xfrm>
        </p:spPr>
        <p:txBody>
          <a:bodyPr/>
          <a:lstStyle/>
          <a:p>
            <a:r>
              <a:rPr lang="en-US" noProof="0" dirty="0"/>
              <a:t>The call to </a:t>
            </a:r>
            <a:r>
              <a:rPr lang="en-US" noProof="0" dirty="0" err="1">
                <a:latin typeface="Courier New" panose="02070309020205020404" pitchFamily="49" charset="0"/>
                <a:cs typeface="Courier New" panose="02070309020205020404" pitchFamily="49" charset="0"/>
              </a:rPr>
              <a:t>A.__g</a:t>
            </a:r>
            <a:r>
              <a:rPr lang="en-US" noProof="0" dirty="0"/>
              <a:t> in </a:t>
            </a:r>
            <a:r>
              <a:rPr lang="en-US" noProof="0" dirty="0" err="1">
                <a:latin typeface="Courier New" panose="02070309020205020404" pitchFamily="49" charset="0"/>
                <a:cs typeface="Courier New" panose="02070309020205020404" pitchFamily="49" charset="0"/>
              </a:rPr>
              <a:t>A.f</a:t>
            </a:r>
            <a:r>
              <a:rPr lang="en-US" noProof="0" dirty="0"/>
              <a:t> forces a call </a:t>
            </a:r>
            <a:r>
              <a:rPr lang="en-US" noProof="0" dirty="0">
                <a:cs typeface="Courier New" panose="02070309020205020404" pitchFamily="49" charset="0"/>
              </a:rPr>
              <a:t>to </a:t>
            </a:r>
            <a:r>
              <a:rPr lang="en-US" noProof="0" dirty="0">
                <a:latin typeface="Courier New" panose="02070309020205020404" pitchFamily="49" charset="0"/>
                <a:cs typeface="Courier New" panose="02070309020205020404" pitchFamily="49" charset="0"/>
              </a:rPr>
              <a:t>__g</a:t>
            </a:r>
            <a:r>
              <a:rPr lang="en-US" noProof="0" dirty="0"/>
              <a:t> to stay within </a:t>
            </a:r>
            <a:r>
              <a:rPr lang="en-US" noProof="0" dirty="0">
                <a:latin typeface="Courier New" panose="02070309020205020404" pitchFamily="49" charset="0"/>
                <a:cs typeface="Courier New" panose="02070309020205020404" pitchFamily="49" charset="0"/>
              </a:rPr>
              <a:t>A</a:t>
            </a:r>
          </a:p>
          <a:p>
            <a:endParaRPr lang="en-US" noProof="0" dirty="0">
              <a:cs typeface="Courier New" panose="02070309020205020404" pitchFamily="49" charset="0"/>
            </a:endParaRPr>
          </a:p>
          <a:p>
            <a:r>
              <a:rPr lang="en-US" noProof="0" dirty="0">
                <a:cs typeface="Courier New" panose="02070309020205020404" pitchFamily="49" charset="0"/>
              </a:rPr>
              <a:t>Recall that due to name mangling, </a:t>
            </a:r>
            <a:r>
              <a:rPr lang="en-US" noProof="0" dirty="0">
                <a:latin typeface="Courier New" panose="02070309020205020404" pitchFamily="49" charset="0"/>
                <a:cs typeface="Courier New" panose="02070309020205020404" pitchFamily="49" charset="0"/>
              </a:rPr>
              <a:t>__g</a:t>
            </a:r>
            <a:r>
              <a:rPr lang="en-US" noProof="0" dirty="0">
                <a:cs typeface="Courier New" panose="02070309020205020404" pitchFamily="49" charset="0"/>
              </a:rPr>
              <a:t> is accessible as </a:t>
            </a:r>
            <a:r>
              <a:rPr lang="en-US" noProof="0" dirty="0" err="1">
                <a:latin typeface="Courier New" panose="02070309020205020404" pitchFamily="49" charset="0"/>
                <a:cs typeface="Courier New" panose="02070309020205020404" pitchFamily="49" charset="0"/>
              </a:rPr>
              <a:t>A._A__g</a:t>
            </a:r>
            <a:endParaRPr lang="en-US" noProof="0" dirty="0">
              <a:latin typeface="Courier New" panose="02070309020205020404" pitchFamily="49" charset="0"/>
              <a:cs typeface="Courier New" panose="02070309020205020404" pitchFamily="49"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6445" y="824954"/>
            <a:ext cx="487666" cy="405904"/>
          </a:xfrm>
          <a:prstGeom prst="rect">
            <a:avLst/>
          </a:prstGeom>
        </p:spPr>
      </p:pic>
    </p:spTree>
    <p:extLst>
      <p:ext uri="{BB962C8B-B14F-4D97-AF65-F5344CB8AC3E}">
        <p14:creationId xmlns:p14="http://schemas.microsoft.com/office/powerpoint/2010/main" val="311122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897" y="433661"/>
            <a:ext cx="5114925" cy="1325563"/>
          </a:xfrm>
        </p:spPr>
        <p:txBody>
          <a:bodyPr/>
          <a:lstStyle/>
          <a:p>
            <a:r>
              <a:rPr lang="en-US" noProof="0" dirty="0"/>
              <a:t>Multiple inheritance</a:t>
            </a:r>
          </a:p>
        </p:txBody>
      </p:sp>
      <p:sp>
        <p:nvSpPr>
          <p:cNvPr id="3" name="Content Placeholder 2"/>
          <p:cNvSpPr>
            <a:spLocks noGrp="1"/>
          </p:cNvSpPr>
          <p:nvPr>
            <p:ph idx="1"/>
          </p:nvPr>
        </p:nvSpPr>
        <p:spPr>
          <a:xfrm>
            <a:off x="177134" y="1759224"/>
            <a:ext cx="5318791" cy="4351338"/>
          </a:xfrm>
        </p:spPr>
        <p:txBody>
          <a:bodyPr>
            <a:normAutofit/>
          </a:bodyPr>
          <a:lstStyle/>
          <a:p>
            <a:r>
              <a:rPr lang="en-US" sz="2400" noProof="0" dirty="0"/>
              <a:t>A class can inherit attributes from multiple classes (in example two)</a:t>
            </a:r>
          </a:p>
          <a:p>
            <a:r>
              <a:rPr lang="en-US" sz="2400" noProof="0" dirty="0"/>
              <a:t>When calling a method defined in several ancestor classes, Python executes only one of the these </a:t>
            </a:r>
            <a:br>
              <a:rPr lang="en-US" sz="2400" noProof="0" dirty="0"/>
            </a:br>
            <a:r>
              <a:rPr lang="en-US" sz="2400" noProof="0" dirty="0"/>
              <a:t>(in the example </a:t>
            </a:r>
            <a:r>
              <a:rPr lang="en-US" sz="2400" noProof="0" dirty="0" err="1">
                <a:latin typeface="Courier New" panose="02070309020205020404" pitchFamily="49" charset="0"/>
                <a:cs typeface="Courier New" panose="02070309020205020404" pitchFamily="49" charset="0"/>
              </a:rPr>
              <a:t>say_hello</a:t>
            </a:r>
            <a:r>
              <a:rPr lang="en-US" sz="2400" noProof="0" dirty="0"/>
              <a:t>)</a:t>
            </a:r>
          </a:p>
          <a:p>
            <a:r>
              <a:rPr lang="en-US" sz="2400" noProof="0" dirty="0"/>
              <a:t>Which one is determined by the so called ”C3 Method Resolution Order” (originating from the Dylan language)</a:t>
            </a:r>
          </a:p>
        </p:txBody>
      </p:sp>
      <p:graphicFrame>
        <p:nvGraphicFramePr>
          <p:cNvPr id="4" name="Table 3"/>
          <p:cNvGraphicFramePr>
            <a:graphicFrameLocks noGrp="1"/>
          </p:cNvGraphicFramePr>
          <p:nvPr>
            <p:extLst>
              <p:ext uri="{D42A27DB-BD31-4B8C-83A1-F6EECF244321}">
                <p14:modId xmlns:p14="http://schemas.microsoft.com/office/powerpoint/2010/main" val="3320590651"/>
              </p:ext>
            </p:extLst>
          </p:nvPr>
        </p:nvGraphicFramePr>
        <p:xfrm>
          <a:off x="6297471" y="167213"/>
          <a:ext cx="5928043" cy="6461760"/>
        </p:xfrm>
        <a:graphic>
          <a:graphicData uri="http://schemas.openxmlformats.org/drawingml/2006/table">
            <a:tbl>
              <a:tblPr firstRow="1" bandRow="1">
                <a:tableStyleId>{5C22544A-7EE6-4342-B048-85BDC9FD1C3A}</a:tableStyleId>
              </a:tblPr>
              <a:tblGrid>
                <a:gridCol w="5928043">
                  <a:extLst>
                    <a:ext uri="{9D8B030D-6E8A-4147-A177-3AD203B41FA5}">
                      <a16:colId xmlns:a16="http://schemas.microsoft.com/office/drawing/2014/main" val="1873682825"/>
                    </a:ext>
                  </a:extLst>
                </a:gridCol>
              </a:tblGrid>
              <a:tr h="148143">
                <a:tc>
                  <a:txBody>
                    <a:bodyPr/>
                    <a:lstStyle/>
                    <a:p>
                      <a:r>
                        <a:rPr lang="en-US" sz="1600" b="1" noProof="0" dirty="0">
                          <a:latin typeface="Courier New" panose="02070309020205020404" pitchFamily="49" charset="0"/>
                          <a:cs typeface="Courier New" panose="02070309020205020404" pitchFamily="49" charset="0"/>
                        </a:rPr>
                        <a:t>multiple_inheritance.py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6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600" b="1" noProof="0" dirty="0">
                          <a:latin typeface="Courier New" panose="02070309020205020404" pitchFamily="49" charset="0"/>
                          <a:cs typeface="Courier New" panose="02070309020205020404" pitchFamily="49" charset="0"/>
                        </a:rPr>
                        <a:t> </a:t>
                      </a:r>
                      <a:r>
                        <a:rPr lang="en-US" sz="1600" b="1" noProof="0" dirty="0">
                          <a:solidFill>
                            <a:srgbClr val="C00000"/>
                          </a:solidFill>
                          <a:latin typeface="Courier New" panose="02070309020205020404" pitchFamily="49" charset="0"/>
                          <a:cs typeface="Courier New" panose="02070309020205020404" pitchFamily="49" charset="0"/>
                        </a:rPr>
                        <a:t>Alice</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a:t>
                      </a:r>
                      <a:r>
                        <a:rPr lang="en-US" sz="16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600" b="1" noProof="0" dirty="0">
                          <a:latin typeface="Courier New" panose="02070309020205020404" pitchFamily="49" charset="0"/>
                          <a:cs typeface="Courier New" panose="02070309020205020404" pitchFamily="49" charset="0"/>
                        </a:rPr>
                        <a:t> </a:t>
                      </a:r>
                      <a:r>
                        <a:rPr lang="en-US" sz="1600" b="1" noProof="0" dirty="0" err="1">
                          <a:solidFill>
                            <a:schemeClr val="accent6"/>
                          </a:solidFill>
                          <a:latin typeface="Courier New" panose="02070309020205020404" pitchFamily="49" charset="0"/>
                          <a:cs typeface="Courier New" panose="02070309020205020404" pitchFamily="49" charset="0"/>
                        </a:rPr>
                        <a:t>say_hello</a:t>
                      </a:r>
                      <a:r>
                        <a:rPr lang="en-US" sz="1600" b="1" noProof="0" dirty="0">
                          <a:latin typeface="Courier New" panose="02070309020205020404" pitchFamily="49" charset="0"/>
                          <a:cs typeface="Courier New" panose="02070309020205020404" pitchFamily="49" charset="0"/>
                        </a:rPr>
                        <a:t>(</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print('Alice says hello')</a:t>
                      </a:r>
                    </a:p>
                    <a:p>
                      <a:r>
                        <a:rPr lang="en-US" sz="1600" b="1" noProof="0" dirty="0">
                          <a:latin typeface="Courier New" panose="02070309020205020404" pitchFamily="49" charset="0"/>
                          <a:cs typeface="Courier New" panose="02070309020205020404" pitchFamily="49" charset="0"/>
                        </a:rPr>
                        <a:t>    </a:t>
                      </a:r>
                      <a:r>
                        <a:rPr lang="en-US" sz="16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say_good_night</a:t>
                      </a:r>
                      <a:r>
                        <a:rPr lang="en-US" sz="1600" b="1" noProof="0" dirty="0">
                          <a:latin typeface="Courier New" panose="02070309020205020404" pitchFamily="49" charset="0"/>
                          <a:cs typeface="Courier New" panose="02070309020205020404" pitchFamily="49" charset="0"/>
                        </a:rPr>
                        <a:t>(</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print('Alice says good night')</a:t>
                      </a:r>
                    </a:p>
                    <a:p>
                      <a:r>
                        <a:rPr lang="en-US" sz="16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600" b="1" noProof="0" dirty="0">
                          <a:latin typeface="Courier New" panose="02070309020205020404" pitchFamily="49" charset="0"/>
                          <a:cs typeface="Courier New" panose="02070309020205020404" pitchFamily="49" charset="0"/>
                        </a:rPr>
                        <a:t> </a:t>
                      </a:r>
                      <a:r>
                        <a:rPr lang="en-US" sz="1600" b="1" noProof="0" dirty="0">
                          <a:solidFill>
                            <a:srgbClr val="C00000"/>
                          </a:solidFill>
                          <a:latin typeface="Courier New" panose="02070309020205020404" pitchFamily="49" charset="0"/>
                          <a:cs typeface="Courier New" panose="02070309020205020404" pitchFamily="49" charset="0"/>
                        </a:rPr>
                        <a:t>Bob</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a:t>
                      </a:r>
                      <a:r>
                        <a:rPr lang="en-US" sz="16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600" b="1" noProof="0" dirty="0">
                          <a:latin typeface="Courier New" panose="02070309020205020404" pitchFamily="49" charset="0"/>
                          <a:cs typeface="Courier New" panose="02070309020205020404" pitchFamily="49" charset="0"/>
                        </a:rPr>
                        <a:t> </a:t>
                      </a:r>
                      <a:r>
                        <a:rPr lang="en-US" sz="1600" b="1" noProof="0" dirty="0" err="1">
                          <a:solidFill>
                            <a:schemeClr val="accent6"/>
                          </a:solidFill>
                          <a:latin typeface="Courier New" panose="02070309020205020404" pitchFamily="49" charset="0"/>
                          <a:cs typeface="Courier New" panose="02070309020205020404" pitchFamily="49" charset="0"/>
                        </a:rPr>
                        <a:t>say_hello</a:t>
                      </a:r>
                      <a:r>
                        <a:rPr lang="en-US" sz="1600" b="1" noProof="0" dirty="0">
                          <a:latin typeface="Courier New" panose="02070309020205020404" pitchFamily="49" charset="0"/>
                          <a:cs typeface="Courier New" panose="02070309020205020404" pitchFamily="49" charset="0"/>
                        </a:rPr>
                        <a:t>(</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print('Bob says hello')</a:t>
                      </a:r>
                    </a:p>
                    <a:p>
                      <a:r>
                        <a:rPr lang="en-US" sz="1600" b="1" noProof="0" dirty="0">
                          <a:latin typeface="Courier New" panose="02070309020205020404" pitchFamily="49" charset="0"/>
                          <a:cs typeface="Courier New" panose="02070309020205020404" pitchFamily="49" charset="0"/>
                        </a:rPr>
                        <a:t>    </a:t>
                      </a:r>
                      <a:r>
                        <a:rPr lang="en-US" sz="16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say_good_morning</a:t>
                      </a:r>
                      <a:r>
                        <a:rPr lang="en-US" sz="1600" b="1" noProof="0" dirty="0">
                          <a:latin typeface="Courier New" panose="02070309020205020404" pitchFamily="49" charset="0"/>
                          <a:cs typeface="Courier New" panose="02070309020205020404" pitchFamily="49" charset="0"/>
                        </a:rPr>
                        <a:t>(</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print('Bob says good morning')</a:t>
                      </a:r>
                    </a:p>
                    <a:p>
                      <a:r>
                        <a:rPr lang="en-US" sz="16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600" b="1" noProof="0" dirty="0">
                          <a:latin typeface="Courier New" panose="02070309020205020404" pitchFamily="49" charset="0"/>
                          <a:cs typeface="Courier New" panose="02070309020205020404" pitchFamily="49" charset="0"/>
                        </a:rPr>
                        <a:t> X(</a:t>
                      </a:r>
                      <a:r>
                        <a:rPr lang="en-US" sz="1600" b="1" noProof="0" dirty="0">
                          <a:solidFill>
                            <a:srgbClr val="C00000"/>
                          </a:solidFill>
                          <a:latin typeface="Courier New" panose="02070309020205020404" pitchFamily="49" charset="0"/>
                          <a:cs typeface="Courier New" panose="02070309020205020404" pitchFamily="49" charset="0"/>
                        </a:rPr>
                        <a:t>Alice</a:t>
                      </a:r>
                      <a:r>
                        <a:rPr lang="en-US" sz="1600" b="1" noProof="0" dirty="0">
                          <a:latin typeface="Courier New" panose="02070309020205020404" pitchFamily="49" charset="0"/>
                          <a:cs typeface="Courier New" panose="02070309020205020404" pitchFamily="49" charset="0"/>
                        </a:rPr>
                        <a:t>, </a:t>
                      </a:r>
                      <a:r>
                        <a:rPr lang="en-US" sz="1600" b="1" noProof="0" dirty="0">
                          <a:solidFill>
                            <a:srgbClr val="C00000"/>
                          </a:solidFill>
                          <a:latin typeface="Courier New" panose="02070309020205020404" pitchFamily="49" charset="0"/>
                          <a:cs typeface="Courier New" panose="02070309020205020404" pitchFamily="49" charset="0"/>
                        </a:rPr>
                        <a:t>Bob</a:t>
                      </a:r>
                      <a:r>
                        <a:rPr lang="en-US" sz="1600" b="1" noProof="0" dirty="0">
                          <a:latin typeface="Courier New" panose="02070309020205020404" pitchFamily="49" charset="0"/>
                          <a:cs typeface="Courier New" panose="02070309020205020404" pitchFamily="49" charset="0"/>
                        </a:rPr>
                        <a:t>):  </a:t>
                      </a:r>
                      <a:r>
                        <a:rPr lang="en-US" sz="1600" b="1" noProof="0" dirty="0">
                          <a:solidFill>
                            <a:schemeClr val="bg1">
                              <a:lumMod val="50000"/>
                            </a:schemeClr>
                          </a:solidFill>
                          <a:latin typeface="Courier New" panose="02070309020205020404" pitchFamily="49" charset="0"/>
                          <a:cs typeface="Courier New" panose="02070309020205020404" pitchFamily="49" charset="0"/>
                        </a:rPr>
                        <a:t># Multiple inheritance</a:t>
                      </a:r>
                    </a:p>
                    <a:p>
                      <a:r>
                        <a:rPr lang="en-US" sz="1600" b="1" noProof="0" dirty="0">
                          <a:latin typeface="Courier New" panose="02070309020205020404" pitchFamily="49" charset="0"/>
                          <a:cs typeface="Courier New" panose="02070309020205020404" pitchFamily="49" charset="0"/>
                        </a:rPr>
                        <a:t>    </a:t>
                      </a:r>
                      <a:r>
                        <a:rPr lang="en-US" sz="16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600" b="1" noProof="0" dirty="0">
                          <a:latin typeface="Courier New" panose="02070309020205020404" pitchFamily="49" charset="0"/>
                          <a:cs typeface="Courier New" panose="02070309020205020404" pitchFamily="49" charset="0"/>
                        </a:rPr>
                        <a:t> say(</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self.say_good_morning</a:t>
                      </a:r>
                      <a:r>
                        <a:rPr lang="en-US" sz="1600" b="1" noProof="0" dirty="0">
                          <a:latin typeface="Courier New" panose="02070309020205020404" pitchFamily="49" charset="0"/>
                          <a:cs typeface="Courier New" panose="02070309020205020404" pitchFamily="49" charset="0"/>
                        </a:rPr>
                        <a:t>()</a:t>
                      </a:r>
                    </a:p>
                    <a:p>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self.</a:t>
                      </a:r>
                      <a:r>
                        <a:rPr lang="en-US" sz="1600" b="1" noProof="0" dirty="0" err="1">
                          <a:solidFill>
                            <a:schemeClr val="accent6"/>
                          </a:solidFill>
                          <a:latin typeface="Courier New" panose="02070309020205020404" pitchFamily="49" charset="0"/>
                          <a:cs typeface="Courier New" panose="02070309020205020404" pitchFamily="49" charset="0"/>
                        </a:rPr>
                        <a:t>say_hello</a:t>
                      </a:r>
                      <a:r>
                        <a:rPr lang="en-US" sz="1600" b="1" noProof="0" dirty="0">
                          <a:latin typeface="Courier New" panose="02070309020205020404" pitchFamily="49" charset="0"/>
                          <a:cs typeface="Courier New" panose="02070309020205020404" pitchFamily="49" charset="0"/>
                        </a:rPr>
                        <a:t>()       </a:t>
                      </a:r>
                      <a:r>
                        <a:rPr lang="en-US" sz="1600" b="1" noProof="0" dirty="0">
                          <a:solidFill>
                            <a:schemeClr val="bg1">
                              <a:lumMod val="50000"/>
                            </a:schemeClr>
                          </a:solidFill>
                          <a:latin typeface="Courier New" panose="02070309020205020404" pitchFamily="49" charset="0"/>
                          <a:cs typeface="Courier New" panose="02070309020205020404" pitchFamily="49" charset="0"/>
                        </a:rPr>
                        <a:t># C3</a:t>
                      </a:r>
                      <a:r>
                        <a:rPr lang="en-US" sz="1600" b="1" baseline="0" noProof="0" dirty="0">
                          <a:solidFill>
                            <a:schemeClr val="bg1">
                              <a:lumMod val="50000"/>
                            </a:schemeClr>
                          </a:solidFill>
                          <a:latin typeface="Courier New" panose="02070309020205020404" pitchFamily="49" charset="0"/>
                          <a:cs typeface="Courier New" panose="02070309020205020404" pitchFamily="49" charset="0"/>
                        </a:rPr>
                        <a:t> resolution</a:t>
                      </a:r>
                      <a:endParaRPr lang="en-US" sz="1600" b="1" noProof="0" dirty="0">
                        <a:solidFill>
                          <a:schemeClr val="bg1">
                            <a:lumMod val="50000"/>
                          </a:schemeClr>
                        </a:solidFill>
                        <a:latin typeface="Courier New" panose="02070309020205020404" pitchFamily="49" charset="0"/>
                        <a:cs typeface="Courier New" panose="02070309020205020404" pitchFamily="49" charset="0"/>
                      </a:endParaRPr>
                    </a:p>
                    <a:p>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Alice.</a:t>
                      </a:r>
                      <a:r>
                        <a:rPr lang="en-US" sz="1600" b="1" noProof="0" dirty="0" err="1">
                          <a:solidFill>
                            <a:schemeClr val="accent6"/>
                          </a:solidFill>
                          <a:latin typeface="Courier New" panose="02070309020205020404" pitchFamily="49" charset="0"/>
                          <a:cs typeface="Courier New" panose="02070309020205020404" pitchFamily="49" charset="0"/>
                        </a:rPr>
                        <a:t>say_hello</a:t>
                      </a:r>
                      <a:r>
                        <a:rPr lang="en-US" sz="1600" b="1" noProof="0" dirty="0">
                          <a:latin typeface="Courier New" panose="02070309020205020404" pitchFamily="49" charset="0"/>
                          <a:cs typeface="Courier New" panose="02070309020205020404" pitchFamily="49" charset="0"/>
                        </a:rPr>
                        <a:t>(</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  </a:t>
                      </a:r>
                      <a:r>
                        <a:rPr lang="en-US" sz="1600" b="1" noProof="0" dirty="0">
                          <a:solidFill>
                            <a:schemeClr val="bg1">
                              <a:lumMod val="50000"/>
                            </a:schemeClr>
                          </a:solidFill>
                          <a:latin typeface="Courier New" panose="02070309020205020404" pitchFamily="49" charset="0"/>
                          <a:cs typeface="Courier New" panose="02070309020205020404" pitchFamily="49" charset="0"/>
                        </a:rPr>
                        <a:t># from</a:t>
                      </a:r>
                      <a:r>
                        <a:rPr lang="en-US" sz="1600" b="1" baseline="0" noProof="0" dirty="0">
                          <a:solidFill>
                            <a:schemeClr val="bg1">
                              <a:lumMod val="50000"/>
                            </a:schemeClr>
                          </a:solidFill>
                          <a:latin typeface="Courier New" panose="02070309020205020404" pitchFamily="49" charset="0"/>
                          <a:cs typeface="Courier New" panose="02070309020205020404" pitchFamily="49" charset="0"/>
                        </a:rPr>
                        <a:t> Alice</a:t>
                      </a:r>
                      <a:endParaRPr lang="en-US" sz="1600" b="1" noProof="0" dirty="0">
                        <a:latin typeface="Courier New" panose="02070309020205020404" pitchFamily="49" charset="0"/>
                        <a:cs typeface="Courier New" panose="02070309020205020404" pitchFamily="49" charset="0"/>
                      </a:endParaRPr>
                    </a:p>
                    <a:p>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Bob.</a:t>
                      </a:r>
                      <a:r>
                        <a:rPr lang="en-US" sz="1600" b="1" noProof="0" dirty="0" err="1">
                          <a:solidFill>
                            <a:schemeClr val="accent6"/>
                          </a:solidFill>
                          <a:latin typeface="Courier New" panose="02070309020205020404" pitchFamily="49" charset="0"/>
                          <a:cs typeface="Courier New" panose="02070309020205020404" pitchFamily="49" charset="0"/>
                        </a:rPr>
                        <a:t>say_hello</a:t>
                      </a:r>
                      <a:r>
                        <a:rPr lang="en-US" sz="1600" b="1" noProof="0" dirty="0">
                          <a:latin typeface="Courier New" panose="02070309020205020404" pitchFamily="49" charset="0"/>
                          <a:cs typeface="Courier New" panose="02070309020205020404" pitchFamily="49" charset="0"/>
                        </a:rPr>
                        <a:t>(</a:t>
                      </a:r>
                      <a:r>
                        <a:rPr lang="en-US" sz="16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600" b="1" noProof="0" dirty="0">
                          <a:latin typeface="Courier New" panose="02070309020205020404" pitchFamily="49" charset="0"/>
                          <a:cs typeface="Courier New" panose="02070309020205020404" pitchFamily="49" charset="0"/>
                        </a:rPr>
                        <a:t>)    </a:t>
                      </a:r>
                      <a:r>
                        <a:rPr lang="en-US" sz="1600" b="1" noProof="0" dirty="0">
                          <a:solidFill>
                            <a:schemeClr val="bg1">
                              <a:lumMod val="50000"/>
                            </a:schemeClr>
                          </a:solidFill>
                          <a:latin typeface="Courier New" panose="02070309020205020404" pitchFamily="49" charset="0"/>
                          <a:cs typeface="Courier New" panose="02070309020205020404" pitchFamily="49" charset="0"/>
                        </a:rPr>
                        <a:t># from</a:t>
                      </a:r>
                      <a:r>
                        <a:rPr lang="en-US" sz="1600" b="1" baseline="0" noProof="0" dirty="0">
                          <a:solidFill>
                            <a:schemeClr val="bg1">
                              <a:lumMod val="50000"/>
                            </a:schemeClr>
                          </a:solidFill>
                          <a:latin typeface="Courier New" panose="02070309020205020404" pitchFamily="49" charset="0"/>
                          <a:cs typeface="Courier New" panose="02070309020205020404" pitchFamily="49" charset="0"/>
                        </a:rPr>
                        <a:t> Bob</a:t>
                      </a:r>
                      <a:endParaRPr lang="en-US" sz="1600" b="1" noProof="0" dirty="0">
                        <a:latin typeface="Courier New" panose="02070309020205020404" pitchFamily="49" charset="0"/>
                        <a:cs typeface="Courier New" panose="02070309020205020404" pitchFamily="49" charset="0"/>
                      </a:endParaRPr>
                    </a:p>
                    <a:p>
                      <a:r>
                        <a:rPr lang="en-US" sz="1600" b="1" noProof="0" dirty="0">
                          <a:latin typeface="Courier New" panose="02070309020205020404" pitchFamily="49" charset="0"/>
                          <a:cs typeface="Courier New" panose="02070309020205020404" pitchFamily="49" charset="0"/>
                        </a:rPr>
                        <a:t>        </a:t>
                      </a:r>
                      <a:r>
                        <a:rPr lang="en-US" sz="1600" b="1" noProof="0" dirty="0" err="1">
                          <a:latin typeface="Courier New" panose="02070309020205020404" pitchFamily="49" charset="0"/>
                          <a:cs typeface="Courier New" panose="02070309020205020404" pitchFamily="49" charset="0"/>
                        </a:rPr>
                        <a:t>self.say_good_night</a:t>
                      </a:r>
                      <a:r>
                        <a:rPr lang="en-US" sz="1600" b="1"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r h="148143">
                <a:tc>
                  <a:txBody>
                    <a:bodyPr/>
                    <a:lstStyle/>
                    <a:p>
                      <a:r>
                        <a:rPr lang="en-US" sz="1600" b="1" noProof="0" dirty="0">
                          <a:solidFill>
                            <a:schemeClr val="bg1"/>
                          </a:solidFill>
                          <a:latin typeface="Courier New" panose="02070309020205020404" pitchFamily="49" charset="0"/>
                          <a:cs typeface="Courier New" panose="02070309020205020404" pitchFamily="49" charset="0"/>
                        </a:rPr>
                        <a:t>Python shell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202042958"/>
                  </a:ext>
                </a:extLst>
              </a:tr>
              <a:tr h="481466">
                <a:tc>
                  <a:txBody>
                    <a:bodyPr/>
                    <a:lstStyle/>
                    <a:p>
                      <a:pPr marL="266700" indent="-266700">
                        <a:buClr>
                          <a:srgbClr val="C00000"/>
                        </a:buClr>
                        <a:buSzPct val="100000"/>
                        <a:buFont typeface="Courier New" panose="02070309020205020404" pitchFamily="49" charset="0"/>
                        <a:buChar char="&gt;"/>
                      </a:pPr>
                      <a:r>
                        <a:rPr lang="en-US" sz="1600" b="1" baseline="0" noProof="0" dirty="0">
                          <a:latin typeface="Courier New" panose="02070309020205020404" pitchFamily="49" charset="0"/>
                          <a:cs typeface="Courier New" panose="02070309020205020404" pitchFamily="49" charset="0"/>
                        </a:rPr>
                        <a:t>X().say()</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Bob says good morning</a:t>
                      </a:r>
                    </a:p>
                    <a:p>
                      <a:pPr marL="266700" indent="-266700">
                        <a:buClr>
                          <a:schemeClr val="accent1">
                            <a:lumMod val="50000"/>
                          </a:schemeClr>
                        </a:buClr>
                        <a:buSzPct val="120000"/>
                        <a:buFont typeface="Courier New" panose="02070309020205020404" pitchFamily="49" charset="0"/>
                        <a:buChar char="|"/>
                      </a:pPr>
                      <a:r>
                        <a:rPr lang="en-US" sz="1600" b="1" baseline="0" noProof="0" dirty="0">
                          <a:solidFill>
                            <a:schemeClr val="accent6"/>
                          </a:solidFill>
                          <a:latin typeface="Courier New" panose="02070309020205020404" pitchFamily="49" charset="0"/>
                          <a:cs typeface="Courier New" panose="02070309020205020404" pitchFamily="49" charset="0"/>
                        </a:rPr>
                        <a:t>Alice says hello</a:t>
                      </a:r>
                    </a:p>
                    <a:p>
                      <a:pPr marL="266700" indent="-266700">
                        <a:buClr>
                          <a:schemeClr val="accent1">
                            <a:lumMod val="50000"/>
                          </a:schemeClr>
                        </a:buClr>
                        <a:buSzPct val="120000"/>
                        <a:buFont typeface="Courier New" panose="02070309020205020404" pitchFamily="49" charset="0"/>
                        <a:buChar char="|"/>
                      </a:pPr>
                      <a:r>
                        <a:rPr lang="en-US" sz="1600" b="1" baseline="0" noProof="0" dirty="0">
                          <a:solidFill>
                            <a:schemeClr val="accent6"/>
                          </a:solidFill>
                          <a:latin typeface="Courier New" panose="02070309020205020404" pitchFamily="49" charset="0"/>
                          <a:cs typeface="Courier New" panose="02070309020205020404" pitchFamily="49" charset="0"/>
                        </a:rPr>
                        <a:t>Alice says hello</a:t>
                      </a:r>
                    </a:p>
                    <a:p>
                      <a:pPr marL="266700" indent="-266700">
                        <a:buClr>
                          <a:schemeClr val="accent1">
                            <a:lumMod val="50000"/>
                          </a:schemeClr>
                        </a:buClr>
                        <a:buSzPct val="120000"/>
                        <a:buFont typeface="Courier New" panose="02070309020205020404" pitchFamily="49" charset="0"/>
                        <a:buChar char="|"/>
                      </a:pPr>
                      <a:r>
                        <a:rPr lang="en-US" sz="1600" b="1" baseline="0" noProof="0" dirty="0">
                          <a:solidFill>
                            <a:schemeClr val="accent6"/>
                          </a:solidFill>
                          <a:latin typeface="Courier New" panose="02070309020205020404" pitchFamily="49" charset="0"/>
                          <a:cs typeface="Courier New" panose="02070309020205020404" pitchFamily="49" charset="0"/>
                        </a:rPr>
                        <a:t>Bob says hello</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Alice says good night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355368"/>
                  </a:ext>
                </a:extLst>
              </a:tr>
            </a:tbl>
          </a:graphicData>
        </a:graphic>
      </p:graphicFrame>
      <p:sp>
        <p:nvSpPr>
          <p:cNvPr id="5" name="Rectangle 4"/>
          <p:cNvSpPr/>
          <p:nvPr/>
        </p:nvSpPr>
        <p:spPr>
          <a:xfrm>
            <a:off x="177134" y="6068110"/>
            <a:ext cx="4386262" cy="646331"/>
          </a:xfrm>
          <a:prstGeom prst="rect">
            <a:avLst/>
          </a:prstGeom>
        </p:spPr>
        <p:txBody>
          <a:bodyPr wrap="square">
            <a:spAutoFit/>
          </a:bodyPr>
          <a:lstStyle/>
          <a:p>
            <a:r>
              <a:rPr lang="en-US" noProof="0" dirty="0">
                <a:hlinkClick r:id="rId2" action="ppaction://hlinkpres?slideindex=1&amp;slidetitle="/>
              </a:rPr>
              <a:t>Raymond Hettinger, </a:t>
            </a:r>
            <a:r>
              <a:rPr lang="en-US" i="1" noProof="0" dirty="0">
                <a:hlinkClick r:id="rId2" action="ppaction://hlinkpres?slideindex=1&amp;slidetitle="/>
              </a:rPr>
              <a:t>Super considered super!</a:t>
            </a:r>
            <a:r>
              <a:rPr lang="en-US" noProof="0" dirty="0">
                <a:hlinkClick r:id="rId2" action="ppaction://hlinkpres?slideindex=1&amp;slidetitle="/>
              </a:rPr>
              <a:t> </a:t>
            </a:r>
          </a:p>
          <a:p>
            <a:r>
              <a:rPr lang="en-US" noProof="0" dirty="0">
                <a:hlinkClick r:id="rId2" action="ppaction://hlinkpres?slideindex=1&amp;slidetitle="/>
              </a:rPr>
              <a:t>Conference talk at </a:t>
            </a:r>
            <a:r>
              <a:rPr lang="en-US" noProof="0" dirty="0" err="1">
                <a:hlinkClick r:id="rId2" action="ppaction://hlinkpres?slideindex=1&amp;slidetitle="/>
              </a:rPr>
              <a:t>PyCon</a:t>
            </a:r>
            <a:r>
              <a:rPr lang="en-US" noProof="0" dirty="0">
                <a:hlinkClick r:id="rId2" action="ppaction://hlinkpres?slideindex=1&amp;slidetitle="/>
              </a:rPr>
              <a:t> 2015</a:t>
            </a:r>
            <a:endParaRPr lang="en-US" noProof="0" dirty="0"/>
          </a:p>
        </p:txBody>
      </p:sp>
      <p:cxnSp>
        <p:nvCxnSpPr>
          <p:cNvPr id="7" name="Straight Arrow Connector 6"/>
          <p:cNvCxnSpPr/>
          <p:nvPr/>
        </p:nvCxnSpPr>
        <p:spPr>
          <a:xfrm flipH="1" flipV="1">
            <a:off x="8644345" y="5746616"/>
            <a:ext cx="591802" cy="170250"/>
          </a:xfrm>
          <a:prstGeom prst="straightConnector1">
            <a:avLst/>
          </a:prstGeom>
          <a:ln w="76200">
            <a:solidFill>
              <a:schemeClr val="accent5">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8644345" y="5746616"/>
            <a:ext cx="1011502" cy="11523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655847" y="5600239"/>
            <a:ext cx="2025461" cy="523220"/>
          </a:xfrm>
          <a:prstGeom prst="rect">
            <a:avLst/>
          </a:prstGeom>
          <a:noFill/>
        </p:spPr>
        <p:txBody>
          <a:bodyPr wrap="square" rtlCol="0">
            <a:spAutoFit/>
          </a:bodyPr>
          <a:lstStyle/>
          <a:p>
            <a:r>
              <a:rPr lang="en-US" sz="1400" noProof="0" dirty="0"/>
              <a:t>since </a:t>
            </a:r>
            <a:r>
              <a:rPr lang="en-US" sz="1400" noProof="0" dirty="0">
                <a:latin typeface="Courier New" panose="02070309020205020404" pitchFamily="49" charset="0"/>
                <a:cs typeface="Courier New" panose="02070309020205020404" pitchFamily="49" charset="0"/>
              </a:rPr>
              <a:t>Alice</a:t>
            </a:r>
            <a:r>
              <a:rPr lang="en-US" sz="1400" noProof="0" dirty="0"/>
              <a:t> before </a:t>
            </a:r>
            <a:r>
              <a:rPr lang="en-US" sz="1400" noProof="0" dirty="0">
                <a:latin typeface="Courier New" panose="02070309020205020404" pitchFamily="49" charset="0"/>
                <a:cs typeface="Courier New" panose="02070309020205020404" pitchFamily="49" charset="0"/>
              </a:rPr>
              <a:t>Bob</a:t>
            </a:r>
            <a:r>
              <a:rPr lang="en-US" sz="1400" noProof="0" dirty="0"/>
              <a:t> in list of super classes</a:t>
            </a:r>
          </a:p>
        </p:txBody>
      </p:sp>
    </p:spTree>
    <p:extLst>
      <p:ext uri="{BB962C8B-B14F-4D97-AF65-F5344CB8AC3E}">
        <p14:creationId xmlns:p14="http://schemas.microsoft.com/office/powerpoint/2010/main" val="288101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582" y="442060"/>
            <a:ext cx="10515600" cy="1550241"/>
          </a:xfrm>
        </p:spPr>
        <p:txBody>
          <a:bodyPr>
            <a:normAutofit/>
          </a:bodyPr>
          <a:lstStyle/>
          <a:p>
            <a:r>
              <a:rPr lang="en-US" noProof="0" dirty="0"/>
              <a:t>C3 Method </a:t>
            </a:r>
            <a:br>
              <a:rPr lang="en-US" noProof="0" dirty="0"/>
            </a:br>
            <a:r>
              <a:rPr lang="en-US" noProof="0" dirty="0"/>
              <a:t>resolution order</a:t>
            </a:r>
          </a:p>
        </p:txBody>
      </p:sp>
      <p:sp>
        <p:nvSpPr>
          <p:cNvPr id="3" name="Content Placeholder 2"/>
          <p:cNvSpPr>
            <a:spLocks noGrp="1"/>
          </p:cNvSpPr>
          <p:nvPr>
            <p:ph idx="1"/>
          </p:nvPr>
        </p:nvSpPr>
        <p:spPr>
          <a:xfrm>
            <a:off x="480919" y="2225942"/>
            <a:ext cx="4514850" cy="3430015"/>
          </a:xfrm>
        </p:spPr>
        <p:txBody>
          <a:bodyPr>
            <a:normAutofit/>
          </a:bodyPr>
          <a:lstStyle/>
          <a:p>
            <a:pPr>
              <a:spcAft>
                <a:spcPts val="1200"/>
              </a:spcAft>
            </a:pPr>
            <a:r>
              <a:rPr lang="en-US" noProof="0" dirty="0"/>
              <a:t>Use </a:t>
            </a:r>
            <a:r>
              <a:rPr lang="en-US" noProof="0" dirty="0">
                <a:latin typeface="Courier New" panose="02070309020205020404" pitchFamily="49" charset="0"/>
                <a:cs typeface="Courier New" panose="02070309020205020404" pitchFamily="49" charset="0"/>
              </a:rPr>
              <a:t>help(</a:t>
            </a:r>
            <a:r>
              <a:rPr lang="en-US" i="1" noProof="0" dirty="0">
                <a:latin typeface="Courier New" panose="02070309020205020404" pitchFamily="49" charset="0"/>
                <a:cs typeface="Courier New" panose="02070309020205020404" pitchFamily="49" charset="0"/>
              </a:rPr>
              <a:t>class</a:t>
            </a:r>
            <a:r>
              <a:rPr lang="en-US" noProof="0" dirty="0">
                <a:latin typeface="Courier New" panose="02070309020205020404" pitchFamily="49" charset="0"/>
                <a:cs typeface="Courier New" panose="02070309020205020404" pitchFamily="49" charset="0"/>
              </a:rPr>
              <a:t>)</a:t>
            </a:r>
            <a:r>
              <a:rPr lang="en-US" noProof="0" dirty="0"/>
              <a:t> to determine the resolution order for the class</a:t>
            </a:r>
          </a:p>
          <a:p>
            <a:r>
              <a:rPr lang="en-US" noProof="0" dirty="0"/>
              <a:t>or access the </a:t>
            </a:r>
            <a:r>
              <a:rPr lang="en-US" noProof="0" dirty="0">
                <a:latin typeface="Courier New" panose="02070309020205020404" pitchFamily="49" charset="0"/>
                <a:cs typeface="Courier New" panose="02070309020205020404" pitchFamily="49" charset="0"/>
              </a:rPr>
              <a:t>__</a:t>
            </a:r>
            <a:r>
              <a:rPr lang="en-US" noProof="0" dirty="0" err="1">
                <a:latin typeface="Courier New" panose="02070309020205020404" pitchFamily="49" charset="0"/>
                <a:cs typeface="Courier New" panose="02070309020205020404" pitchFamily="49" charset="0"/>
              </a:rPr>
              <a:t>mro</a:t>
            </a:r>
            <a:r>
              <a:rPr lang="en-US" noProof="0" dirty="0">
                <a:latin typeface="Courier New" panose="02070309020205020404" pitchFamily="49" charset="0"/>
                <a:cs typeface="Courier New" panose="02070309020205020404" pitchFamily="49" charset="0"/>
              </a:rPr>
              <a:t>__</a:t>
            </a:r>
            <a:r>
              <a:rPr lang="en-US" noProof="0" dirty="0"/>
              <a:t> attribute of the class</a:t>
            </a:r>
          </a:p>
        </p:txBody>
      </p:sp>
      <p:graphicFrame>
        <p:nvGraphicFramePr>
          <p:cNvPr id="4" name="Table 3"/>
          <p:cNvGraphicFramePr>
            <a:graphicFrameLocks noGrp="1"/>
          </p:cNvGraphicFramePr>
          <p:nvPr>
            <p:extLst>
              <p:ext uri="{D42A27DB-BD31-4B8C-83A1-F6EECF244321}">
                <p14:modId xmlns:p14="http://schemas.microsoft.com/office/powerpoint/2010/main" val="191849658"/>
              </p:ext>
            </p:extLst>
          </p:nvPr>
        </p:nvGraphicFramePr>
        <p:xfrm>
          <a:off x="5262213" y="589527"/>
          <a:ext cx="6558373" cy="5861370"/>
        </p:xfrm>
        <a:graphic>
          <a:graphicData uri="http://schemas.openxmlformats.org/drawingml/2006/table">
            <a:tbl>
              <a:tblPr firstRow="1" bandRow="1">
                <a:tableStyleId>{5C22544A-7EE6-4342-B048-85BDC9FD1C3A}</a:tableStyleId>
              </a:tblPr>
              <a:tblGrid>
                <a:gridCol w="6558373">
                  <a:extLst>
                    <a:ext uri="{9D8B030D-6E8A-4147-A177-3AD203B41FA5}">
                      <a16:colId xmlns:a16="http://schemas.microsoft.com/office/drawing/2014/main" val="1873682825"/>
                    </a:ext>
                  </a:extLst>
                </a:gridCol>
              </a:tblGrid>
              <a:tr h="405450">
                <a:tc>
                  <a:txBody>
                    <a:bodyPr/>
                    <a:lstStyle/>
                    <a:p>
                      <a:r>
                        <a:rPr lang="en-US" sz="16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buClr>
                          <a:srgbClr val="C00000"/>
                        </a:buClr>
                        <a:buSzPct val="100000"/>
                        <a:buFont typeface="Courier New" panose="02070309020205020404" pitchFamily="49" charset="0"/>
                        <a:buChar char="&gt;"/>
                      </a:pPr>
                      <a:r>
                        <a:rPr lang="en-US" sz="1600" b="1" baseline="0" noProof="0" dirty="0">
                          <a:latin typeface="Courier New" panose="02070309020205020404" pitchFamily="49" charset="0"/>
                          <a:cs typeface="Courier New" panose="02070309020205020404" pitchFamily="49" charset="0"/>
                        </a:rPr>
                        <a:t>X.__</a:t>
                      </a:r>
                      <a:r>
                        <a:rPr lang="en-US" sz="1600" b="1" baseline="0" noProof="0" dirty="0" err="1">
                          <a:latin typeface="Courier New" panose="02070309020205020404" pitchFamily="49" charset="0"/>
                          <a:cs typeface="Courier New" panose="02070309020205020404" pitchFamily="49" charset="0"/>
                        </a:rPr>
                        <a:t>mro</a:t>
                      </a:r>
                      <a:r>
                        <a:rPr lang="en-US" sz="1600" b="1" baseline="0" noProof="0" dirty="0">
                          <a:latin typeface="Courier New" panose="02070309020205020404" pitchFamily="49" charset="0"/>
                          <a:cs typeface="Courier New" panose="02070309020205020404" pitchFamily="49" charset="0"/>
                        </a:rPr>
                        <a:t>__</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(&lt;class '__</a:t>
                      </a:r>
                      <a:r>
                        <a:rPr lang="en-US" sz="1600" b="1" baseline="0" noProof="0" dirty="0" err="1">
                          <a:latin typeface="Courier New" panose="02070309020205020404" pitchFamily="49" charset="0"/>
                          <a:cs typeface="Courier New" panose="02070309020205020404" pitchFamily="49" charset="0"/>
                        </a:rPr>
                        <a:t>main__.X</a:t>
                      </a:r>
                      <a:r>
                        <a:rPr lang="en-US" sz="1600" b="1" baseline="0" noProof="0" dirty="0">
                          <a:latin typeface="Courier New" panose="02070309020205020404" pitchFamily="49" charset="0"/>
                          <a:cs typeface="Courier New" panose="02070309020205020404" pitchFamily="49" charset="0"/>
                        </a:rPr>
                        <a:t>'&gt;, &lt;class '__</a:t>
                      </a:r>
                      <a:r>
                        <a:rPr lang="en-US" sz="1600" b="1" baseline="0" noProof="0" dirty="0" err="1">
                          <a:latin typeface="Courier New" panose="02070309020205020404" pitchFamily="49" charset="0"/>
                          <a:cs typeface="Courier New" panose="02070309020205020404" pitchFamily="49" charset="0"/>
                        </a:rPr>
                        <a:t>main__.Alice</a:t>
                      </a:r>
                      <a:r>
                        <a:rPr lang="en-US" sz="1600" b="1" baseline="0" noProof="0" dirty="0">
                          <a:latin typeface="Courier New" panose="02070309020205020404" pitchFamily="49" charset="0"/>
                          <a:cs typeface="Courier New" panose="02070309020205020404" pitchFamily="49" charset="0"/>
                        </a:rPr>
                        <a:t>'&gt;, &lt;class '__</a:t>
                      </a:r>
                      <a:r>
                        <a:rPr lang="en-US" sz="1600" b="1" baseline="0" noProof="0" dirty="0" err="1">
                          <a:latin typeface="Courier New" panose="02070309020205020404" pitchFamily="49" charset="0"/>
                          <a:cs typeface="Courier New" panose="02070309020205020404" pitchFamily="49" charset="0"/>
                        </a:rPr>
                        <a:t>main__.Bob</a:t>
                      </a:r>
                      <a:r>
                        <a:rPr lang="en-US" sz="1600" b="1" baseline="0" noProof="0" dirty="0">
                          <a:latin typeface="Courier New" panose="02070309020205020404" pitchFamily="49" charset="0"/>
                          <a:cs typeface="Courier New" panose="02070309020205020404" pitchFamily="49" charset="0"/>
                        </a:rPr>
                        <a:t>'&gt;, &lt;class 'object'&gt;)</a:t>
                      </a:r>
                    </a:p>
                    <a:p>
                      <a:pPr marL="266700" indent="-266700">
                        <a:buClr>
                          <a:srgbClr val="C00000"/>
                        </a:buClr>
                        <a:buSzPct val="100000"/>
                        <a:buFont typeface="Courier New" panose="02070309020205020404" pitchFamily="49" charset="0"/>
                        <a:buChar char="&gt;"/>
                      </a:pPr>
                      <a:r>
                        <a:rPr lang="en-US" sz="1600" b="1" baseline="0" noProof="0" dirty="0">
                          <a:latin typeface="Courier New" panose="02070309020205020404" pitchFamily="49" charset="0"/>
                          <a:cs typeface="Courier New" panose="02070309020205020404" pitchFamily="49" charset="0"/>
                        </a:rPr>
                        <a:t>help(X)</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Help on class X in module __main__:</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class X(Alice, Bob)</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a:solidFill>
                            <a:srgbClr val="C00000"/>
                          </a:solidFill>
                          <a:latin typeface="Courier New" panose="02070309020205020404" pitchFamily="49" charset="0"/>
                          <a:cs typeface="Courier New" panose="02070309020205020404" pitchFamily="49" charset="0"/>
                        </a:rPr>
                        <a:t>Method resolution order</a:t>
                      </a:r>
                      <a:r>
                        <a:rPr lang="en-US" sz="16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a:solidFill>
                            <a:srgbClr val="C00000"/>
                          </a:solidFill>
                          <a:latin typeface="Courier New" panose="02070309020205020404" pitchFamily="49" charset="0"/>
                          <a:cs typeface="Courier New" panose="02070309020205020404" pitchFamily="49" charset="0"/>
                        </a:rPr>
                        <a:t>X</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a:solidFill>
                            <a:srgbClr val="C00000"/>
                          </a:solidFill>
                          <a:latin typeface="Courier New" panose="02070309020205020404" pitchFamily="49" charset="0"/>
                          <a:cs typeface="Courier New" panose="02070309020205020404" pitchFamily="49" charset="0"/>
                        </a:rPr>
                        <a:t>Alice</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a:solidFill>
                            <a:srgbClr val="C00000"/>
                          </a:solidFill>
                          <a:latin typeface="Courier New" panose="02070309020205020404" pitchFamily="49" charset="0"/>
                          <a:cs typeface="Courier New" panose="02070309020205020404" pitchFamily="49" charset="0"/>
                        </a:rPr>
                        <a:t>Bob</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err="1">
                          <a:solidFill>
                            <a:srgbClr val="C00000"/>
                          </a:solidFill>
                          <a:latin typeface="Courier New" panose="02070309020205020404" pitchFamily="49" charset="0"/>
                          <a:cs typeface="Courier New" panose="02070309020205020404" pitchFamily="49" charset="0"/>
                        </a:rPr>
                        <a:t>builtins.object</a:t>
                      </a:r>
                      <a:endParaRPr lang="en-US" sz="1600" b="1" baseline="0" noProof="0" dirty="0">
                        <a:solidFill>
                          <a:srgbClr val="C00000"/>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a:solidFill>
                            <a:schemeClr val="accent1">
                              <a:lumMod val="50000"/>
                            </a:schemeClr>
                          </a:solidFill>
                          <a:latin typeface="Courier New" panose="02070309020205020404" pitchFamily="49" charset="0"/>
                          <a:cs typeface="Courier New" panose="02070309020205020404" pitchFamily="49" charset="0"/>
                        </a:rPr>
                        <a:t>Methods defined here</a:t>
                      </a:r>
                      <a:r>
                        <a:rPr lang="en-US" sz="1600" b="1" baseline="0" noProof="0" dirty="0">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say(self)</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Methods inherited from Alice:</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err="1">
                          <a:latin typeface="Courier New" panose="02070309020205020404" pitchFamily="49" charset="0"/>
                          <a:cs typeface="Courier New" panose="02070309020205020404" pitchFamily="49" charset="0"/>
                        </a:rPr>
                        <a:t>say_good_night</a:t>
                      </a:r>
                      <a:r>
                        <a:rPr lang="en-US" sz="1600" b="1" baseline="0" noProof="0" dirty="0">
                          <a:latin typeface="Courier New" panose="02070309020205020404" pitchFamily="49" charset="0"/>
                          <a:cs typeface="Courier New" panose="02070309020205020404" pitchFamily="49" charset="0"/>
                        </a:rPr>
                        <a:t>(self)</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err="1">
                          <a:latin typeface="Courier New" panose="02070309020205020404" pitchFamily="49" charset="0"/>
                          <a:cs typeface="Courier New" panose="02070309020205020404" pitchFamily="49" charset="0"/>
                        </a:rPr>
                        <a:t>say_hello</a:t>
                      </a:r>
                      <a:r>
                        <a:rPr lang="en-US" sz="1600" b="1" baseline="0" noProof="0" dirty="0">
                          <a:latin typeface="Courier New" panose="02070309020205020404" pitchFamily="49" charset="0"/>
                          <a:cs typeface="Courier New" panose="02070309020205020404" pitchFamily="49" charset="0"/>
                        </a:rPr>
                        <a:t>(self)</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Methods inherited from Bob:</a:t>
                      </a:r>
                    </a:p>
                    <a:p>
                      <a:pPr marL="266700" indent="-266700">
                        <a:buClr>
                          <a:schemeClr val="accent1">
                            <a:lumMod val="50000"/>
                          </a:schemeClr>
                        </a:buClr>
                        <a:buSzPct val="120000"/>
                        <a:buFont typeface="Courier New" panose="02070309020205020404" pitchFamily="49" charset="0"/>
                        <a:buChar char="|"/>
                      </a:pPr>
                      <a:r>
                        <a:rPr lang="en-US" sz="1600" b="1" baseline="0" noProof="0" dirty="0">
                          <a:latin typeface="Courier New" panose="02070309020205020404" pitchFamily="49" charset="0"/>
                          <a:cs typeface="Courier New" panose="02070309020205020404" pitchFamily="49" charset="0"/>
                        </a:rPr>
                        <a:t> |  </a:t>
                      </a:r>
                      <a:r>
                        <a:rPr lang="en-US" sz="1600" b="1" baseline="0" noProof="0" dirty="0" err="1">
                          <a:latin typeface="Courier New" panose="02070309020205020404" pitchFamily="49" charset="0"/>
                          <a:cs typeface="Courier New" panose="02070309020205020404" pitchFamily="49" charset="0"/>
                        </a:rPr>
                        <a:t>say_good_morning</a:t>
                      </a:r>
                      <a:r>
                        <a:rPr lang="en-US" sz="1600" b="1" baseline="0" noProof="0" dirty="0">
                          <a:latin typeface="Courier New" panose="02070309020205020404" pitchFamily="49" charset="0"/>
                          <a:cs typeface="Courier New" panose="02070309020205020404" pitchFamily="49" charset="0"/>
                        </a:rPr>
                        <a:t>(self)</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Tree>
    <p:extLst>
      <p:ext uri="{BB962C8B-B14F-4D97-AF65-F5344CB8AC3E}">
        <p14:creationId xmlns:p14="http://schemas.microsoft.com/office/powerpoint/2010/main" val="323315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8149" y="142228"/>
            <a:ext cx="11763374" cy="1325563"/>
          </a:xfrm>
        </p:spPr>
        <p:txBody>
          <a:bodyPr/>
          <a:lstStyle/>
          <a:p>
            <a:r>
              <a:rPr lang="en-US" noProof="0" dirty="0"/>
              <a:t>Question – Who says hello ? Bob says good morning</a:t>
            </a:r>
          </a:p>
        </p:txBody>
      </p:sp>
      <p:sp>
        <p:nvSpPr>
          <p:cNvPr id="3" name="Content Placeholder 2"/>
          <p:cNvSpPr>
            <a:spLocks noGrp="1"/>
          </p:cNvSpPr>
          <p:nvPr>
            <p:ph idx="1"/>
          </p:nvPr>
        </p:nvSpPr>
        <p:spPr>
          <a:xfrm>
            <a:off x="8562974" y="3429000"/>
            <a:ext cx="2790825" cy="1666876"/>
          </a:xfrm>
        </p:spPr>
        <p:txBody>
          <a:bodyPr/>
          <a:lstStyle/>
          <a:p>
            <a:pPr marL="514350" indent="-514350">
              <a:buFont typeface="+mj-lt"/>
              <a:buAutoNum type="alphaLcParenR"/>
            </a:pPr>
            <a:r>
              <a:rPr lang="en-US" noProof="0" dirty="0"/>
              <a:t>Alice</a:t>
            </a:r>
          </a:p>
          <a:p>
            <a:pPr marL="514350" indent="-514350">
              <a:buFont typeface="+mj-lt"/>
              <a:buAutoNum type="alphaLcParenR"/>
            </a:pPr>
            <a:r>
              <a:rPr lang="en-US" noProof="0" dirty="0"/>
              <a:t>Bob</a:t>
            </a:r>
          </a:p>
          <a:p>
            <a:pPr marL="514350" indent="-514350">
              <a:buFont typeface="+mj-lt"/>
              <a:buAutoNum type="alphaLcParenR"/>
            </a:pPr>
            <a:r>
              <a:rPr lang="en-US" noProof="0" dirty="0" err="1"/>
              <a:t>Dont</a:t>
            </a:r>
            <a:r>
              <a:rPr lang="en-US" noProof="0" dirty="0"/>
              <a:t>’ know</a:t>
            </a:r>
          </a:p>
        </p:txBody>
      </p:sp>
      <p:graphicFrame>
        <p:nvGraphicFramePr>
          <p:cNvPr id="4" name="Table 3"/>
          <p:cNvGraphicFramePr>
            <a:graphicFrameLocks noGrp="1"/>
          </p:cNvGraphicFramePr>
          <p:nvPr>
            <p:extLst>
              <p:ext uri="{D42A27DB-BD31-4B8C-83A1-F6EECF244321}">
                <p14:modId xmlns:p14="http://schemas.microsoft.com/office/powerpoint/2010/main" val="1972300952"/>
              </p:ext>
            </p:extLst>
          </p:nvPr>
        </p:nvGraphicFramePr>
        <p:xfrm>
          <a:off x="1284955" y="1573213"/>
          <a:ext cx="6326505" cy="4572000"/>
        </p:xfrm>
        <a:graphic>
          <a:graphicData uri="http://schemas.openxmlformats.org/drawingml/2006/table">
            <a:tbl>
              <a:tblPr firstRow="1" bandRow="1">
                <a:tableStyleId>{5C22544A-7EE6-4342-B048-85BDC9FD1C3A}</a:tableStyleId>
              </a:tblPr>
              <a:tblGrid>
                <a:gridCol w="6326505">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inheritance.py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Alice</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say_hello</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print('Alice says hello’)</a:t>
                      </a:r>
                      <a:br>
                        <a:rPr lang="en-US" sz="1800" b="1" noProof="0" dirty="0">
                          <a:latin typeface="Courier New" panose="02070309020205020404" pitchFamily="49" charset="0"/>
                          <a:cs typeface="Courier New" panose="02070309020205020404" pitchFamily="49" charset="0"/>
                        </a:rPr>
                      </a:br>
                      <a:endParaRPr lang="en-US" sz="1800" b="1" noProof="0" dirty="0">
                        <a:latin typeface="Courier New" panose="02070309020205020404" pitchFamily="49" charset="0"/>
                        <a:cs typeface="Courier New" panose="02070309020205020404" pitchFamily="49" charset="0"/>
                      </a:endParaRPr>
                    </a:p>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Bob</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say_hello</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print('Bob says hello')</a:t>
                      </a:r>
                    </a:p>
                    <a:p>
                      <a:r>
                        <a:rPr lang="en-US" sz="1800" b="1" noProof="0" dirty="0">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latin typeface="Courier New" panose="02070309020205020404" pitchFamily="49" charset="0"/>
                          <a:cs typeface="Courier New" panose="02070309020205020404" pitchFamily="49" charset="0"/>
                        </a:rPr>
                        <a:t> </a:t>
                      </a:r>
                      <a:r>
                        <a:rPr lang="en-US" sz="1800" b="1" noProof="0" dirty="0" err="1">
                          <a:latin typeface="Courier New" panose="02070309020205020404" pitchFamily="49" charset="0"/>
                          <a:cs typeface="Courier New" panose="02070309020205020404" pitchFamily="49" charset="0"/>
                        </a:rPr>
                        <a:t>say_good_morning</a:t>
                      </a:r>
                      <a:r>
                        <a:rPr lang="en-US" sz="1800" b="1" noProof="0" dirty="0">
                          <a:latin typeface="Courier New" panose="02070309020205020404" pitchFamily="49" charset="0"/>
                          <a:cs typeface="Courier New" panose="02070309020205020404" pitchFamily="49" charset="0"/>
                        </a:rPr>
                        <a:t>(</a:t>
                      </a:r>
                      <a:r>
                        <a:rPr lang="en-US" sz="1800" b="1" noProof="0" dirty="0">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a:t>
                      </a:r>
                      <a:r>
                        <a:rPr lang="en-US" sz="1800" b="1" noProof="0" dirty="0" err="1">
                          <a:solidFill>
                            <a:schemeClr val="accent1">
                              <a:lumMod val="50000"/>
                            </a:schemeClr>
                          </a:solidFill>
                          <a:latin typeface="Courier New" panose="02070309020205020404" pitchFamily="49" charset="0"/>
                          <a:cs typeface="Courier New" panose="02070309020205020404" pitchFamily="49" charset="0"/>
                        </a:rPr>
                        <a:t>self</a:t>
                      </a:r>
                      <a:r>
                        <a:rPr lang="en-US" sz="1800" b="1" noProof="0" dirty="0" err="1">
                          <a:latin typeface="Courier New" panose="02070309020205020404" pitchFamily="49" charset="0"/>
                          <a:cs typeface="Courier New" panose="02070309020205020404" pitchFamily="49" charset="0"/>
                        </a:rPr>
                        <a:t>.say_hello</a:t>
                      </a:r>
                      <a:r>
                        <a:rPr lang="en-US" sz="1800" b="1" noProof="0" dirty="0">
                          <a:latin typeface="Courier New" panose="02070309020205020404" pitchFamily="49" charset="0"/>
                          <a:cs typeface="Courier New" panose="02070309020205020404" pitchFamily="49" charset="0"/>
                        </a:rPr>
                        <a:t>()</a:t>
                      </a:r>
                    </a:p>
                    <a:p>
                      <a:r>
                        <a:rPr lang="en-US" sz="1800" b="1" noProof="0" dirty="0">
                          <a:latin typeface="Courier New" panose="02070309020205020404" pitchFamily="49" charset="0"/>
                          <a:cs typeface="Courier New" panose="02070309020205020404" pitchFamily="49" charset="0"/>
                        </a:rPr>
                        <a:t>        print('Bob says good morning’)</a:t>
                      </a:r>
                      <a:br>
                        <a:rPr lang="en-US" sz="1800" b="1" noProof="0" dirty="0">
                          <a:latin typeface="Courier New" panose="02070309020205020404" pitchFamily="49" charset="0"/>
                          <a:cs typeface="Courier New" panose="02070309020205020404" pitchFamily="49" charset="0"/>
                        </a:rPr>
                      </a:br>
                      <a:endParaRPr lang="en-US" sz="1800" b="1" noProof="0" dirty="0">
                        <a:latin typeface="Courier New" panose="02070309020205020404" pitchFamily="49" charset="0"/>
                        <a:cs typeface="Courier New" panose="02070309020205020404" pitchFamily="49" charset="0"/>
                      </a:endParaRPr>
                    </a:p>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latin typeface="Courier New" panose="02070309020205020404" pitchFamily="49" charset="0"/>
                          <a:cs typeface="Courier New" panose="02070309020205020404" pitchFamily="49" charset="0"/>
                        </a:rPr>
                        <a:t> X(</a:t>
                      </a:r>
                      <a:r>
                        <a:rPr lang="en-US" sz="1800" b="1" noProof="0" dirty="0">
                          <a:solidFill>
                            <a:srgbClr val="C00000"/>
                          </a:solidFill>
                          <a:latin typeface="Courier New" panose="02070309020205020404" pitchFamily="49" charset="0"/>
                          <a:cs typeface="Courier New" panose="02070309020205020404" pitchFamily="49" charset="0"/>
                        </a:rPr>
                        <a:t>Alice</a:t>
                      </a:r>
                      <a:r>
                        <a:rPr lang="en-US" sz="1800" b="1" noProof="0" dirty="0">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Bob</a:t>
                      </a:r>
                      <a:r>
                        <a:rPr lang="en-US" sz="1800" b="1" noProof="0" dirty="0">
                          <a:latin typeface="Courier New" panose="02070309020205020404" pitchFamily="49" charset="0"/>
                          <a:cs typeface="Courier New" panose="02070309020205020404" pitchFamily="49" charset="0"/>
                        </a:rPr>
                        <a:t>):  </a:t>
                      </a:r>
                      <a:r>
                        <a:rPr lang="en-US" sz="1800" b="1" noProof="0" dirty="0">
                          <a:solidFill>
                            <a:schemeClr val="bg1">
                              <a:lumMod val="50000"/>
                            </a:schemeClr>
                          </a:solidFill>
                          <a:latin typeface="Courier New" panose="02070309020205020404" pitchFamily="49" charset="0"/>
                          <a:cs typeface="Courier New" panose="02070309020205020404" pitchFamily="49" charset="0"/>
                        </a:rPr>
                        <a:t># Multiple inheritance</a:t>
                      </a:r>
                    </a:p>
                    <a:p>
                      <a:r>
                        <a:rPr lang="en-US" sz="1800" b="1" noProof="0" dirty="0">
                          <a:latin typeface="Courier New" panose="02070309020205020404" pitchFamily="49" charset="0"/>
                          <a:cs typeface="Courier New" panose="02070309020205020404" pitchFamily="49" charset="0"/>
                        </a:rPr>
                        <a:t>    pass</a:t>
                      </a:r>
                    </a:p>
                    <a:p>
                      <a:endParaRPr lang="en-US" sz="1800" b="1" noProof="0" dirty="0">
                        <a:latin typeface="Courier New" panose="02070309020205020404" pitchFamily="49" charset="0"/>
                        <a:cs typeface="Courier New" panose="02070309020205020404" pitchFamily="49" charset="0"/>
                      </a:endParaRPr>
                    </a:p>
                    <a:p>
                      <a:r>
                        <a:rPr lang="en-US" sz="1800" b="1" noProof="0" dirty="0">
                          <a:latin typeface="Courier New" panose="02070309020205020404" pitchFamily="49" charset="0"/>
                          <a:cs typeface="Courier New" panose="02070309020205020404" pitchFamily="49" charset="0"/>
                        </a:rPr>
                        <a:t>X().</a:t>
                      </a:r>
                      <a:r>
                        <a:rPr lang="en-US" sz="1800" b="1" noProof="0" dirty="0" err="1">
                          <a:latin typeface="Courier New" panose="02070309020205020404" pitchFamily="49" charset="0"/>
                          <a:cs typeface="Courier New" panose="02070309020205020404" pitchFamily="49" charset="0"/>
                        </a:rPr>
                        <a:t>say_good_morning</a:t>
                      </a:r>
                      <a:r>
                        <a:rPr lang="en-US" sz="1800" b="1" noProof="0" dirty="0">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
        <p:nvSpPr>
          <p:cNvPr id="5" name="Smiley Face 4" descr="QuizAnswer"/>
          <p:cNvSpPr/>
          <p:nvPr/>
        </p:nvSpPr>
        <p:spPr>
          <a:xfrm>
            <a:off x="8066790" y="3467101"/>
            <a:ext cx="374567" cy="363338"/>
          </a:xfrm>
          <a:prstGeom prst="smileyFace">
            <a:avLst>
              <a:gd name="adj" fmla="val 4653"/>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FEE6BC6B-68CC-437E-BFBA-9B24D826FAF6}"/>
              </a:ext>
            </a:extLst>
          </p:cNvPr>
          <p:cNvSpPr/>
          <p:nvPr/>
        </p:nvSpPr>
        <p:spPr>
          <a:xfrm>
            <a:off x="227615" y="6356056"/>
            <a:ext cx="11964385" cy="461665"/>
          </a:xfrm>
          <a:prstGeom prst="rect">
            <a:avLst/>
          </a:prstGeom>
        </p:spPr>
        <p:txBody>
          <a:bodyPr wrap="square">
            <a:spAutoFit/>
          </a:bodyPr>
          <a:lstStyle/>
          <a:p>
            <a:pPr algn="r"/>
            <a:r>
              <a:rPr lang="en-US" sz="2400" noProof="0" dirty="0"/>
              <a:t>…example of “code injection” using multiple inheritance and where body of new class is empty</a:t>
            </a:r>
          </a:p>
        </p:txBody>
      </p:sp>
      <p:graphicFrame>
        <p:nvGraphicFramePr>
          <p:cNvPr id="7" name="Table 6" descr="QuizAnswer">
            <a:extLst>
              <a:ext uri="{FF2B5EF4-FFF2-40B4-BE49-F238E27FC236}">
                <a16:creationId xmlns:a16="http://schemas.microsoft.com/office/drawing/2014/main" id="{A7E9FD67-C47B-0470-704B-29B86941CBB0}"/>
              </a:ext>
            </a:extLst>
          </p:cNvPr>
          <p:cNvGraphicFramePr>
            <a:graphicFrameLocks noGrp="1"/>
          </p:cNvGraphicFramePr>
          <p:nvPr>
            <p:extLst>
              <p:ext uri="{D42A27DB-BD31-4B8C-83A1-F6EECF244321}">
                <p14:modId xmlns:p14="http://schemas.microsoft.com/office/powerpoint/2010/main" val="3760284018"/>
              </p:ext>
            </p:extLst>
          </p:nvPr>
        </p:nvGraphicFramePr>
        <p:xfrm>
          <a:off x="8127280" y="5139373"/>
          <a:ext cx="3453130" cy="1005840"/>
        </p:xfrm>
        <a:graphic>
          <a:graphicData uri="http://schemas.openxmlformats.org/drawingml/2006/table">
            <a:tbl>
              <a:tblPr firstRow="1" bandRow="1">
                <a:tableStyleId>{5C22544A-7EE6-4342-B048-85BDC9FD1C3A}</a:tableStyleId>
              </a:tblPr>
              <a:tblGrid>
                <a:gridCol w="3453130">
                  <a:extLst>
                    <a:ext uri="{9D8B030D-6E8A-4147-A177-3AD203B41FA5}">
                      <a16:colId xmlns:a16="http://schemas.microsoft.com/office/drawing/2014/main" val="1873682825"/>
                    </a:ext>
                  </a:extLst>
                </a:gridCol>
              </a:tblGrid>
              <a:tr h="242643">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604202">
                <a:tc>
                  <a:txBody>
                    <a:bodyPr/>
                    <a:lstStyle/>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Alice says hello</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Bob says good morning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Tree>
    <p:extLst>
      <p:ext uri="{BB962C8B-B14F-4D97-AF65-F5344CB8AC3E}">
        <p14:creationId xmlns:p14="http://schemas.microsoft.com/office/powerpoint/2010/main" val="198374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Comparing objects and classes</a:t>
            </a:r>
          </a:p>
        </p:txBody>
      </p:sp>
      <p:sp>
        <p:nvSpPr>
          <p:cNvPr id="3" name="Content Placeholder 2"/>
          <p:cNvSpPr>
            <a:spLocks noGrp="1"/>
          </p:cNvSpPr>
          <p:nvPr>
            <p:ph idx="1"/>
          </p:nvPr>
        </p:nvSpPr>
        <p:spPr>
          <a:xfrm>
            <a:off x="838200" y="2244725"/>
            <a:ext cx="11122571" cy="4248150"/>
          </a:xfrm>
        </p:spPr>
        <p:txBody>
          <a:bodyPr>
            <a:normAutofit/>
          </a:bodyPr>
          <a:lstStyle/>
          <a:p>
            <a:r>
              <a:rPr lang="en-US" sz="2400" noProof="0" dirty="0">
                <a:solidFill>
                  <a:srgbClr val="C00000"/>
                </a:solidFill>
                <a:latin typeface="Courier New" panose="02070309020205020404" pitchFamily="49" charset="0"/>
                <a:cs typeface="Courier New" panose="02070309020205020404" pitchFamily="49" charset="0"/>
              </a:rPr>
              <a:t>id(</a:t>
            </a:r>
            <a:r>
              <a:rPr lang="en-US" sz="2400" noProof="0" dirty="0">
                <a:latin typeface="Courier New" panose="02070309020205020404" pitchFamily="49" charset="0"/>
                <a:cs typeface="Courier New" panose="02070309020205020404" pitchFamily="49" charset="0"/>
              </a:rPr>
              <a:t>obj</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t> returns a unique </a:t>
            </a:r>
            <a:r>
              <a:rPr lang="en-US" sz="2400" noProof="0" dirty="0" err="1"/>
              <a:t>identifyer</a:t>
            </a:r>
            <a:r>
              <a:rPr lang="en-US" sz="2400" noProof="0" dirty="0"/>
              <a:t> for an object (in </a:t>
            </a:r>
            <a:r>
              <a:rPr lang="en-US" sz="2400" noProof="0" dirty="0" err="1"/>
              <a:t>CPython</a:t>
            </a:r>
            <a:r>
              <a:rPr lang="en-US" sz="2400" noProof="0" dirty="0"/>
              <a:t> the memory address)</a:t>
            </a:r>
          </a:p>
          <a:p>
            <a:r>
              <a:rPr lang="en-US" sz="2400" noProof="0" dirty="0">
                <a:latin typeface="Courier New" panose="02070309020205020404" pitchFamily="49" charset="0"/>
                <a:cs typeface="Courier New" panose="02070309020205020404" pitchFamily="49" charset="0"/>
              </a:rPr>
              <a:t>obj1 </a:t>
            </a:r>
            <a:r>
              <a:rPr lang="en-US" sz="2400" noProof="0" dirty="0">
                <a:solidFill>
                  <a:srgbClr val="C00000"/>
                </a:solidFill>
                <a:latin typeface="Courier New" panose="02070309020205020404" pitchFamily="49" charset="0"/>
                <a:cs typeface="Courier New" panose="02070309020205020404" pitchFamily="49" charset="0"/>
              </a:rPr>
              <a:t>is</a:t>
            </a:r>
            <a:r>
              <a:rPr lang="en-US" sz="2400" noProof="0" dirty="0">
                <a:latin typeface="Courier New" panose="02070309020205020404" pitchFamily="49" charset="0"/>
                <a:cs typeface="Courier New" panose="02070309020205020404" pitchFamily="49" charset="0"/>
              </a:rPr>
              <a:t> obj2 </a:t>
            </a:r>
            <a:r>
              <a:rPr lang="en-US" sz="2400" noProof="0" dirty="0"/>
              <a:t>tests if</a:t>
            </a:r>
            <a:r>
              <a:rPr lang="en-US" sz="2400" noProof="0" dirty="0">
                <a:latin typeface="Courier New" panose="02070309020205020404" pitchFamily="49" charset="0"/>
                <a:cs typeface="Courier New" panose="02070309020205020404" pitchFamily="49" charset="0"/>
              </a:rPr>
              <a:t> id(obj1) == id(obj2)</a:t>
            </a:r>
          </a:p>
          <a:p>
            <a:r>
              <a:rPr lang="en-US" sz="2400" noProof="0" dirty="0">
                <a:solidFill>
                  <a:srgbClr val="C00000"/>
                </a:solidFill>
                <a:latin typeface="Courier New" panose="02070309020205020404" pitchFamily="49" charset="0"/>
                <a:cs typeface="Courier New" panose="02070309020205020404" pitchFamily="49" charset="0"/>
              </a:rPr>
              <a:t>type(</a:t>
            </a:r>
            <a:r>
              <a:rPr lang="en-US" sz="2400" noProof="0" dirty="0">
                <a:latin typeface="Courier New" panose="02070309020205020404" pitchFamily="49" charset="0"/>
                <a:cs typeface="Courier New" panose="02070309020205020404" pitchFamily="49" charset="0"/>
              </a:rPr>
              <a:t>obj</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t> and </a:t>
            </a:r>
            <a:r>
              <a:rPr lang="en-US" sz="2400" noProof="0" dirty="0" err="1">
                <a:latin typeface="Courier New" panose="02070309020205020404" pitchFamily="49" charset="0"/>
                <a:cs typeface="Courier New" panose="02070309020205020404" pitchFamily="49" charset="0"/>
              </a:rPr>
              <a:t>obj</a:t>
            </a:r>
            <a:r>
              <a:rPr lang="en-US" sz="2400" noProof="0" dirty="0" err="1">
                <a:solidFill>
                  <a:srgbClr val="C00000"/>
                </a:solidFill>
                <a:latin typeface="Courier New" panose="02070309020205020404" pitchFamily="49" charset="0"/>
                <a:cs typeface="Courier New" panose="02070309020205020404" pitchFamily="49" charset="0"/>
              </a:rPr>
              <a:t>.__class</a:t>
            </a:r>
            <a:r>
              <a:rPr lang="en-US" sz="2400" noProof="0" dirty="0">
                <a:solidFill>
                  <a:srgbClr val="C00000"/>
                </a:solidFill>
                <a:latin typeface="Courier New" panose="02070309020205020404" pitchFamily="49" charset="0"/>
                <a:cs typeface="Courier New" panose="02070309020205020404" pitchFamily="49" charset="0"/>
              </a:rPr>
              <a:t>__ </a:t>
            </a:r>
            <a:r>
              <a:rPr lang="en-US" sz="2400" noProof="0" dirty="0"/>
              <a:t>return the class of an object</a:t>
            </a:r>
          </a:p>
          <a:p>
            <a:r>
              <a:rPr lang="en-US" sz="2400" noProof="0" dirty="0" err="1">
                <a:solidFill>
                  <a:srgbClr val="C00000"/>
                </a:solidFill>
                <a:latin typeface="Courier New" panose="02070309020205020404" pitchFamily="49" charset="0"/>
                <a:cs typeface="Courier New" panose="02070309020205020404" pitchFamily="49" charset="0"/>
              </a:rPr>
              <a:t>isinstance</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latin typeface="Courier New" panose="02070309020205020404" pitchFamily="49" charset="0"/>
                <a:cs typeface="Courier New" panose="02070309020205020404" pitchFamily="49" charset="0"/>
              </a:rPr>
              <a:t>object, class</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latin typeface="Courier New" panose="02070309020205020404" pitchFamily="49" charset="0"/>
                <a:cs typeface="Courier New" panose="02070309020205020404" pitchFamily="49" charset="0"/>
              </a:rPr>
              <a:t> </a:t>
            </a:r>
            <a:r>
              <a:rPr lang="en-US" sz="2400" noProof="0" dirty="0"/>
              <a:t>checks if an object is of a particular class, </a:t>
            </a:r>
            <a:r>
              <a:rPr lang="en-US" sz="2400" i="1" noProof="0" dirty="0"/>
              <a:t>or a derived subclass</a:t>
            </a:r>
          </a:p>
          <a:p>
            <a:r>
              <a:rPr lang="en-US" sz="2400" noProof="0" dirty="0" err="1">
                <a:solidFill>
                  <a:srgbClr val="C00000"/>
                </a:solidFill>
                <a:latin typeface="Courier New" panose="02070309020205020404" pitchFamily="49" charset="0"/>
                <a:cs typeface="Courier New" panose="02070309020205020404" pitchFamily="49" charset="0"/>
              </a:rPr>
              <a:t>issubclass</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latin typeface="Courier New" panose="02070309020205020404" pitchFamily="49" charset="0"/>
                <a:cs typeface="Courier New" panose="02070309020205020404" pitchFamily="49" charset="0"/>
              </a:rPr>
              <a:t>class1</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latin typeface="Courier New" panose="02070309020205020404" pitchFamily="49" charset="0"/>
                <a:cs typeface="Courier New" panose="02070309020205020404" pitchFamily="49" charset="0"/>
              </a:rPr>
              <a:t> class2</a:t>
            </a:r>
            <a:r>
              <a:rPr lang="en-US" sz="2400" noProof="0" dirty="0">
                <a:solidFill>
                  <a:srgbClr val="C00000"/>
                </a:solidFill>
                <a:latin typeface="Courier New" panose="02070309020205020404" pitchFamily="49" charset="0"/>
                <a:cs typeface="Courier New" panose="02070309020205020404" pitchFamily="49" charset="0"/>
              </a:rPr>
              <a:t>)</a:t>
            </a:r>
            <a:r>
              <a:rPr lang="en-US" sz="2400" noProof="0" dirty="0"/>
              <a:t> checks if </a:t>
            </a:r>
            <a:r>
              <a:rPr lang="en-US" sz="2400" noProof="0" dirty="0">
                <a:latin typeface="Courier New" panose="02070309020205020404" pitchFamily="49" charset="0"/>
                <a:cs typeface="Courier New" panose="02070309020205020404" pitchFamily="49" charset="0"/>
              </a:rPr>
              <a:t>class1</a:t>
            </a:r>
            <a:r>
              <a:rPr lang="en-US" sz="2400" noProof="0" dirty="0"/>
              <a:t> is a subclass of </a:t>
            </a:r>
            <a:r>
              <a:rPr lang="en-US" sz="2400" noProof="0" dirty="0">
                <a:latin typeface="Courier New" panose="02070309020205020404" pitchFamily="49" charset="0"/>
                <a:cs typeface="Courier New" panose="02070309020205020404" pitchFamily="49" charset="0"/>
              </a:rPr>
              <a:t>class2</a:t>
            </a:r>
          </a:p>
          <a:p>
            <a:endParaRPr lang="en-US" sz="2400" noProof="0" dirty="0">
              <a:latin typeface="Courier New" panose="02070309020205020404" pitchFamily="49" charset="0"/>
              <a:cs typeface="Courier New" panose="02070309020205020404" pitchFamily="49" charset="0"/>
            </a:endParaRPr>
          </a:p>
          <a:p>
            <a:endParaRPr lang="en-US" sz="2400" noProof="0" dirty="0">
              <a:latin typeface="Courier New" panose="02070309020205020404" pitchFamily="49" charset="0"/>
              <a:cs typeface="Courier New" panose="02070309020205020404" pitchFamily="49" charset="0"/>
            </a:endParaRPr>
          </a:p>
          <a:p>
            <a:pPr marL="0" indent="0">
              <a:buNone/>
            </a:pPr>
            <a:r>
              <a:rPr lang="en-US" sz="2400" noProof="0" dirty="0">
                <a:latin typeface="Calibri body"/>
                <a:cs typeface="Courier New" panose="02070309020205020404" pitchFamily="49" charset="0"/>
              </a:rPr>
              <a:t>Note: PEP8 recommends to use </a:t>
            </a:r>
            <a:r>
              <a:rPr lang="en-US" sz="2400" noProof="0" dirty="0" err="1">
                <a:latin typeface="Courier New" panose="02070309020205020404" pitchFamily="49" charset="0"/>
                <a:cs typeface="Courier New" panose="02070309020205020404" pitchFamily="49" charset="0"/>
              </a:rPr>
              <a:t>isinstance</a:t>
            </a:r>
            <a:r>
              <a:rPr lang="en-US" sz="2400" noProof="0" dirty="0">
                <a:latin typeface="Courier New" panose="02070309020205020404" pitchFamily="49" charset="0"/>
                <a:cs typeface="Courier New" panose="02070309020205020404" pitchFamily="49" charset="0"/>
              </a:rPr>
              <a:t>(x, int)</a:t>
            </a:r>
            <a:r>
              <a:rPr lang="en-US" sz="2400" noProof="0" dirty="0">
                <a:cs typeface="Courier New" panose="02070309020205020404" pitchFamily="49" charset="0"/>
              </a:rPr>
              <a:t> over </a:t>
            </a:r>
            <a:r>
              <a:rPr lang="en-US" sz="2400" noProof="0" dirty="0">
                <a:latin typeface="Courier New" panose="02070309020205020404" pitchFamily="49" charset="0"/>
                <a:cs typeface="Courier New" panose="02070309020205020404" pitchFamily="49" charset="0"/>
              </a:rPr>
              <a:t>type(x) is int</a:t>
            </a:r>
          </a:p>
          <a:p>
            <a:pPr marL="0" indent="0">
              <a:buNone/>
            </a:pPr>
            <a:endParaRPr lang="en-US" sz="2400"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03910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169869" cy="1325563"/>
          </a:xfrm>
        </p:spPr>
        <p:txBody>
          <a:bodyPr/>
          <a:lstStyle/>
          <a:p>
            <a:r>
              <a:rPr lang="en-US" noProof="0" dirty="0">
                <a:latin typeface="Courier New" panose="02070309020205020404" pitchFamily="49" charset="0"/>
                <a:cs typeface="Courier New" panose="02070309020205020404" pitchFamily="49" charset="0"/>
              </a:rPr>
              <a:t>is</a:t>
            </a:r>
            <a:r>
              <a:rPr lang="en-US" noProof="0" dirty="0"/>
              <a:t> </a:t>
            </a:r>
            <a:r>
              <a:rPr lang="en-US" noProof="0" dirty="0" err="1"/>
              <a:t>is</a:t>
            </a:r>
            <a:r>
              <a:rPr lang="en-US" noProof="0" dirty="0"/>
              <a:t> not for integers, strings, ... and </a:t>
            </a:r>
            <a:r>
              <a:rPr lang="en-US" noProof="0" dirty="0">
                <a:latin typeface="Courier New" panose="02070309020205020404" pitchFamily="49" charset="0"/>
                <a:cs typeface="Courier New" panose="02070309020205020404" pitchFamily="49" charset="0"/>
              </a:rPr>
              <a:t>is</a:t>
            </a:r>
            <a:r>
              <a:rPr lang="en-US" noProof="0" dirty="0"/>
              <a:t> </a:t>
            </a:r>
            <a:r>
              <a:rPr lang="en-US" noProof="0" dirty="0" err="1"/>
              <a:t>is</a:t>
            </a:r>
            <a:r>
              <a:rPr lang="en-US" noProof="0" dirty="0"/>
              <a:t> not ==</a:t>
            </a:r>
          </a:p>
        </p:txBody>
      </p:sp>
      <p:sp>
        <p:nvSpPr>
          <p:cNvPr id="3" name="Content Placeholder 2"/>
          <p:cNvSpPr>
            <a:spLocks noGrp="1"/>
          </p:cNvSpPr>
          <p:nvPr>
            <p:ph idx="1"/>
          </p:nvPr>
        </p:nvSpPr>
        <p:spPr>
          <a:xfrm>
            <a:off x="6424689" y="5323378"/>
            <a:ext cx="5767311" cy="1496748"/>
          </a:xfrm>
        </p:spPr>
        <p:txBody>
          <a:bodyPr>
            <a:normAutofit fontScale="77500" lnSpcReduction="20000"/>
          </a:bodyPr>
          <a:lstStyle/>
          <a:p>
            <a:r>
              <a:rPr lang="en-US" noProof="0" dirty="0"/>
              <a:t>Only use </a:t>
            </a:r>
            <a:r>
              <a:rPr lang="en-US" noProof="0" dirty="0">
                <a:solidFill>
                  <a:srgbClr val="C00000"/>
                </a:solidFill>
                <a:latin typeface="Courier New" panose="02070309020205020404" pitchFamily="49" charset="0"/>
                <a:cs typeface="Courier New" panose="02070309020205020404" pitchFamily="49" charset="0"/>
              </a:rPr>
              <a:t>is</a:t>
            </a:r>
            <a:r>
              <a:rPr lang="en-US" noProof="0" dirty="0"/>
              <a:t> on objects !</a:t>
            </a:r>
          </a:p>
          <a:p>
            <a:pPr>
              <a:lnSpc>
                <a:spcPct val="120000"/>
              </a:lnSpc>
            </a:pPr>
            <a:r>
              <a:rPr lang="en-US" noProof="0" dirty="0"/>
              <a:t>Even though </a:t>
            </a:r>
            <a:r>
              <a:rPr lang="en-US" noProof="0" dirty="0" err="1">
                <a:latin typeface="Courier New" panose="02070309020205020404" pitchFamily="49" charset="0"/>
                <a:cs typeface="Courier New" panose="02070309020205020404" pitchFamily="49" charset="0"/>
              </a:rPr>
              <a:t>isinstance</a:t>
            </a:r>
            <a:r>
              <a:rPr lang="en-US" noProof="0" dirty="0">
                <a:latin typeface="Courier New" panose="02070309020205020404" pitchFamily="49" charset="0"/>
                <a:cs typeface="Courier New" panose="02070309020205020404" pitchFamily="49" charset="0"/>
              </a:rPr>
              <a:t>(42, object)</a:t>
            </a:r>
            <a:r>
              <a:rPr lang="en-US" noProof="0" dirty="0"/>
              <a:t> and </a:t>
            </a:r>
            <a:r>
              <a:rPr lang="en-US" noProof="0" dirty="0" err="1">
                <a:latin typeface="Courier New" panose="02070309020205020404" pitchFamily="49" charset="0"/>
                <a:cs typeface="Courier New" panose="02070309020205020404" pitchFamily="49" charset="0"/>
              </a:rPr>
              <a:t>isinstance</a:t>
            </a:r>
            <a:r>
              <a:rPr lang="en-US" noProof="0" dirty="0">
                <a:latin typeface="Courier New" panose="02070309020205020404" pitchFamily="49" charset="0"/>
                <a:cs typeface="Courier New" panose="02070309020205020404" pitchFamily="49" charset="0"/>
              </a:rPr>
              <a:t>('</a:t>
            </a:r>
            <a:r>
              <a:rPr lang="en-US" noProof="0" dirty="0" err="1">
                <a:latin typeface="Courier New" panose="02070309020205020404" pitchFamily="49" charset="0"/>
                <a:cs typeface="Courier New" panose="02070309020205020404" pitchFamily="49" charset="0"/>
              </a:rPr>
              <a:t>abc</a:t>
            </a:r>
            <a:r>
              <a:rPr lang="en-US" noProof="0" dirty="0">
                <a:latin typeface="Courier New" panose="02070309020205020404" pitchFamily="49" charset="0"/>
                <a:cs typeface="Courier New" panose="02070309020205020404" pitchFamily="49" charset="0"/>
              </a:rPr>
              <a:t>', object)</a:t>
            </a:r>
            <a:r>
              <a:rPr lang="en-US" noProof="0" dirty="0"/>
              <a:t> are </a:t>
            </a:r>
            <a:r>
              <a:rPr lang="en-US" noProof="0" dirty="0">
                <a:latin typeface="Courier New" panose="02070309020205020404" pitchFamily="49" charset="0"/>
                <a:cs typeface="Courier New" panose="02070309020205020404" pitchFamily="49" charset="0"/>
              </a:rPr>
              <a:t>True</a:t>
            </a:r>
            <a:r>
              <a:rPr lang="en-US" noProof="0" dirty="0"/>
              <a:t>, do not use </a:t>
            </a:r>
            <a:r>
              <a:rPr lang="en-US" noProof="0" dirty="0">
                <a:solidFill>
                  <a:srgbClr val="C00000"/>
                </a:solidFill>
                <a:latin typeface="Courier New" panose="02070309020205020404" pitchFamily="49" charset="0"/>
                <a:cs typeface="Courier New" panose="02070309020205020404" pitchFamily="49" charset="0"/>
              </a:rPr>
              <a:t>is</a:t>
            </a:r>
            <a:r>
              <a:rPr lang="en-US" noProof="0" dirty="0"/>
              <a:t> on integers and strings !</a:t>
            </a:r>
            <a:endParaRPr lang="en-US" noProof="0" dirty="0">
              <a:latin typeface="Courier New" panose="02070309020205020404" pitchFamily="49" charset="0"/>
              <a:cs typeface="Courier New" panose="02070309020205020404" pitchFamily="49"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8227338"/>
              </p:ext>
            </p:extLst>
          </p:nvPr>
        </p:nvGraphicFramePr>
        <p:xfrm>
          <a:off x="1049912" y="1503281"/>
          <a:ext cx="5001660" cy="5160330"/>
        </p:xfrm>
        <a:graphic>
          <a:graphicData uri="http://schemas.openxmlformats.org/drawingml/2006/table">
            <a:tbl>
              <a:tblPr firstRow="1" bandRow="1">
                <a:tableStyleId>{5C22544A-7EE6-4342-B048-85BDC9FD1C3A}</a:tableStyleId>
              </a:tblPr>
              <a:tblGrid>
                <a:gridCol w="5001660">
                  <a:extLst>
                    <a:ext uri="{9D8B030D-6E8A-4147-A177-3AD203B41FA5}">
                      <a16:colId xmlns:a16="http://schemas.microsoft.com/office/drawing/2014/main" val="1873682825"/>
                    </a:ext>
                  </a:extLst>
                </a:gridCol>
              </a:tblGrid>
              <a:tr h="405450">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500 + 500 </a:t>
                      </a:r>
                      <a:r>
                        <a:rPr lang="en-US" sz="1800" b="1" baseline="0" noProof="0" dirty="0">
                          <a:solidFill>
                            <a:srgbClr val="C00000"/>
                          </a:solidFill>
                          <a:latin typeface="Courier New" panose="02070309020205020404" pitchFamily="49" charset="0"/>
                          <a:cs typeface="Courier New" panose="02070309020205020404" pitchFamily="49" charset="0"/>
                        </a:rPr>
                        <a:t>is</a:t>
                      </a:r>
                      <a:r>
                        <a:rPr lang="en-US" sz="1800" b="1" baseline="0" noProof="0" dirty="0">
                          <a:solidFill>
                            <a:schemeClr val="tx1"/>
                          </a:solidFill>
                          <a:latin typeface="Courier New" panose="02070309020205020404" pitchFamily="49" charset="0"/>
                          <a:cs typeface="Courier New" panose="02070309020205020404" pitchFamily="49" charset="0"/>
                        </a:rPr>
                        <a:t> 1000</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True</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 500</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 x </a:t>
                      </a:r>
                      <a:r>
                        <a:rPr lang="en-US" sz="1800" b="1" baseline="0" noProof="0" dirty="0">
                          <a:solidFill>
                            <a:srgbClr val="C00000"/>
                          </a:solidFill>
                          <a:latin typeface="Courier New" panose="02070309020205020404" pitchFamily="49" charset="0"/>
                          <a:cs typeface="Courier New" panose="02070309020205020404" pitchFamily="49" charset="0"/>
                        </a:rPr>
                        <a:t>is</a:t>
                      </a:r>
                      <a:r>
                        <a:rPr lang="en-US" sz="1800" b="1" baseline="0" noProof="0" dirty="0">
                          <a:solidFill>
                            <a:schemeClr val="tx1"/>
                          </a:solidFill>
                          <a:latin typeface="Courier New" panose="02070309020205020404" pitchFamily="49" charset="0"/>
                          <a:cs typeface="Courier New" panose="02070309020205020404" pitchFamily="49" charset="0"/>
                        </a:rPr>
                        <a:t> 1000</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False</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 x == 1000  </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 </a:t>
                      </a:r>
                      <a:r>
                        <a:rPr lang="en-US" sz="1800" b="1" baseline="0" noProof="0" dirty="0" err="1">
                          <a:solidFill>
                            <a:schemeClr val="bg1">
                              <a:lumMod val="50000"/>
                            </a:schemeClr>
                          </a:solidFill>
                          <a:latin typeface="Courier New" panose="02070309020205020404" pitchFamily="49" charset="0"/>
                          <a:cs typeface="Courier New" panose="02070309020205020404" pitchFamily="49" charset="0"/>
                        </a:rPr>
                        <a:t>int.__eq</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__(...)</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True</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for x in range(0, 1000):</a:t>
                      </a:r>
                    </a:p>
                    <a:p>
                      <a:pPr marL="0" indent="0">
                        <a:buClr>
                          <a:srgbClr val="C00000"/>
                        </a:buClr>
                        <a:buSzPct val="100000"/>
                        <a:buFont typeface="Courier New" panose="02070309020205020404" pitchFamily="49" charset="0"/>
                        <a:buNone/>
                      </a:pPr>
                      <a:r>
                        <a:rPr lang="en-US" sz="1800" b="1" baseline="0" noProof="0" dirty="0">
                          <a:solidFill>
                            <a:schemeClr val="tx1"/>
                          </a:solidFill>
                          <a:latin typeface="Courier New" panose="02070309020205020404" pitchFamily="49" charset="0"/>
                          <a:cs typeface="Courier New" panose="02070309020205020404" pitchFamily="49" charset="0"/>
                        </a:rPr>
                        <a:t>      if x - 1 + 1 </a:t>
                      </a:r>
                      <a:r>
                        <a:rPr lang="en-US" sz="1800" b="1" baseline="0" noProof="0" dirty="0">
                          <a:solidFill>
                            <a:srgbClr val="C00000"/>
                          </a:solidFill>
                          <a:latin typeface="Courier New" panose="02070309020205020404" pitchFamily="49" charset="0"/>
                          <a:cs typeface="Courier New" panose="02070309020205020404" pitchFamily="49" charset="0"/>
                        </a:rPr>
                        <a:t>is not </a:t>
                      </a:r>
                      <a:r>
                        <a:rPr lang="en-US" sz="1800" b="1" baseline="0" noProof="0" dirty="0">
                          <a:solidFill>
                            <a:schemeClr val="tx1"/>
                          </a:solidFill>
                          <a:latin typeface="Courier New" panose="02070309020205020404" pitchFamily="49" charset="0"/>
                          <a:cs typeface="Courier New" panose="02070309020205020404" pitchFamily="49" charset="0"/>
                        </a:rPr>
                        <a:t>x:</a:t>
                      </a:r>
                    </a:p>
                    <a:p>
                      <a:pPr marL="0" indent="0">
                        <a:buClr>
                          <a:srgbClr val="C00000"/>
                        </a:buClr>
                        <a:buSzPct val="100000"/>
                        <a:buFont typeface="Courier New" panose="02070309020205020404" pitchFamily="49" charset="0"/>
                        <a:buNone/>
                      </a:pPr>
                      <a:r>
                        <a:rPr lang="en-US" sz="1800" b="1" baseline="0" noProof="0" dirty="0">
                          <a:solidFill>
                            <a:schemeClr val="tx1"/>
                          </a:solidFill>
                          <a:latin typeface="Courier New" panose="02070309020205020404" pitchFamily="49" charset="0"/>
                          <a:cs typeface="Courier New" panose="02070309020205020404" pitchFamily="49" charset="0"/>
                        </a:rPr>
                        <a:t>          print(x)</a:t>
                      </a:r>
                    </a:p>
                    <a:p>
                      <a:pPr marL="0" indent="0">
                        <a:buClr>
                          <a:srgbClr val="C00000"/>
                        </a:buClr>
                        <a:buSzPct val="100000"/>
                        <a:buFont typeface="Courier New" panose="02070309020205020404" pitchFamily="49" charset="0"/>
                        <a:buNone/>
                      </a:pPr>
                      <a:r>
                        <a:rPr lang="en-US" sz="1800" b="1" baseline="0" noProof="0" dirty="0">
                          <a:solidFill>
                            <a:schemeClr val="tx1"/>
                          </a:solidFill>
                          <a:latin typeface="Courier New" panose="02070309020205020404" pitchFamily="49" charset="0"/>
                          <a:cs typeface="Courier New" panose="02070309020205020404" pitchFamily="49" charset="0"/>
                        </a:rPr>
                        <a:t>          break</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257</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for x in range(0, -1000, -1):</a:t>
                      </a:r>
                    </a:p>
                    <a:p>
                      <a:pPr marL="0" indent="0">
                        <a:buClr>
                          <a:srgbClr val="C00000"/>
                        </a:buClr>
                        <a:buSzPct val="100000"/>
                        <a:buFont typeface="Courier New" panose="02070309020205020404" pitchFamily="49" charset="0"/>
                        <a:buNone/>
                      </a:pPr>
                      <a:r>
                        <a:rPr lang="en-US" sz="1800" b="1" baseline="0" noProof="0" dirty="0">
                          <a:solidFill>
                            <a:schemeClr val="tx1"/>
                          </a:solidFill>
                          <a:latin typeface="Courier New" panose="02070309020205020404" pitchFamily="49" charset="0"/>
                          <a:cs typeface="Courier New" panose="02070309020205020404" pitchFamily="49" charset="0"/>
                        </a:rPr>
                        <a:t>      if x + 1 - 1 </a:t>
                      </a:r>
                      <a:r>
                        <a:rPr lang="en-US" sz="1800" b="1" baseline="0" noProof="0" dirty="0">
                          <a:solidFill>
                            <a:srgbClr val="C00000"/>
                          </a:solidFill>
                          <a:latin typeface="Courier New" panose="02070309020205020404" pitchFamily="49" charset="0"/>
                          <a:cs typeface="Courier New" panose="02070309020205020404" pitchFamily="49" charset="0"/>
                        </a:rPr>
                        <a:t>is not </a:t>
                      </a:r>
                      <a:r>
                        <a:rPr lang="en-US" sz="1800" b="1" baseline="0" noProof="0" dirty="0">
                          <a:solidFill>
                            <a:schemeClr val="tx1"/>
                          </a:solidFill>
                          <a:latin typeface="Courier New" panose="02070309020205020404" pitchFamily="49" charset="0"/>
                          <a:cs typeface="Courier New" panose="02070309020205020404" pitchFamily="49" charset="0"/>
                        </a:rPr>
                        <a:t>x:</a:t>
                      </a:r>
                    </a:p>
                    <a:p>
                      <a:pPr marL="0" indent="0">
                        <a:buClr>
                          <a:srgbClr val="C00000"/>
                        </a:buClr>
                        <a:buSzPct val="100000"/>
                        <a:buFont typeface="Courier New" panose="02070309020205020404" pitchFamily="49" charset="0"/>
                        <a:buNone/>
                      </a:pPr>
                      <a:r>
                        <a:rPr lang="en-US" sz="1800" b="1" baseline="0" noProof="0" dirty="0">
                          <a:solidFill>
                            <a:schemeClr val="tx1"/>
                          </a:solidFill>
                          <a:latin typeface="Courier New" panose="02070309020205020404" pitchFamily="49" charset="0"/>
                          <a:cs typeface="Courier New" panose="02070309020205020404" pitchFamily="49" charset="0"/>
                        </a:rPr>
                        <a:t>          print(x)</a:t>
                      </a:r>
                    </a:p>
                    <a:p>
                      <a:pPr marL="0" indent="0">
                        <a:buClr>
                          <a:srgbClr val="C00000"/>
                        </a:buClr>
                        <a:buSzPct val="100000"/>
                        <a:buFont typeface="Courier New" panose="02070309020205020404" pitchFamily="49" charset="0"/>
                        <a:buNone/>
                      </a:pPr>
                      <a:r>
                        <a:rPr lang="en-US" sz="1800" b="1" baseline="0" noProof="0" dirty="0">
                          <a:solidFill>
                            <a:schemeClr val="tx1"/>
                          </a:solidFill>
                          <a:latin typeface="Courier New" panose="02070309020205020404" pitchFamily="49" charset="0"/>
                          <a:cs typeface="Courier New" panose="02070309020205020404" pitchFamily="49" charset="0"/>
                        </a:rPr>
                        <a:t>          break</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-6</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597984297"/>
              </p:ext>
            </p:extLst>
          </p:nvPr>
        </p:nvGraphicFramePr>
        <p:xfrm>
          <a:off x="7019682" y="1503281"/>
          <a:ext cx="4545330" cy="3514410"/>
        </p:xfrm>
        <a:graphic>
          <a:graphicData uri="http://schemas.openxmlformats.org/drawingml/2006/table">
            <a:tbl>
              <a:tblPr firstRow="1" bandRow="1">
                <a:tableStyleId>{5C22544A-7EE6-4342-B048-85BDC9FD1C3A}</a:tableStyleId>
              </a:tblPr>
              <a:tblGrid>
                <a:gridCol w="4545330">
                  <a:extLst>
                    <a:ext uri="{9D8B030D-6E8A-4147-A177-3AD203B41FA5}">
                      <a16:colId xmlns:a16="http://schemas.microsoft.com/office/drawing/2014/main" val="1873682825"/>
                    </a:ext>
                  </a:extLst>
                </a:gridCol>
              </a:tblGrid>
              <a:tr h="405450">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a:t>
                      </a:r>
                      <a:r>
                        <a:rPr lang="en-US" sz="1800" b="1" baseline="0" noProof="0" dirty="0" err="1">
                          <a:solidFill>
                            <a:schemeClr val="tx1"/>
                          </a:solidFill>
                          <a:latin typeface="Courier New" panose="02070309020205020404" pitchFamily="49" charset="0"/>
                          <a:cs typeface="Courier New" panose="02070309020205020404" pitchFamily="49" charset="0"/>
                        </a:rPr>
                        <a:t>abc</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a:solidFill>
                            <a:srgbClr val="C00000"/>
                          </a:solidFill>
                          <a:latin typeface="Courier New" panose="02070309020205020404" pitchFamily="49" charset="0"/>
                          <a:cs typeface="Courier New" panose="02070309020205020404" pitchFamily="49" charset="0"/>
                        </a:rPr>
                        <a:t>is</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abc</a:t>
                      </a:r>
                      <a:r>
                        <a:rPr lang="en-US" sz="1800" b="1" baseline="0" noProof="0" dirty="0">
                          <a:solidFill>
                            <a:schemeClr val="tx1"/>
                          </a:solidFill>
                          <a:latin typeface="Courier New" panose="02070309020205020404" pitchFamily="49" charset="0"/>
                          <a:cs typeface="Courier New" panose="02070309020205020404" pitchFamily="49" charset="0"/>
                        </a:rPr>
                        <a:t>'</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True</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a:t>
                      </a:r>
                      <a:r>
                        <a:rPr lang="en-US" sz="1800" b="1" baseline="0" noProof="0" dirty="0" err="1">
                          <a:solidFill>
                            <a:schemeClr val="tx1"/>
                          </a:solidFill>
                          <a:latin typeface="Courier New" panose="02070309020205020404" pitchFamily="49" charset="0"/>
                          <a:cs typeface="Courier New" panose="02070309020205020404" pitchFamily="49" charset="0"/>
                        </a:rPr>
                        <a:t>abc</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a:solidFill>
                            <a:srgbClr val="C00000"/>
                          </a:solidFill>
                          <a:latin typeface="Courier New" panose="02070309020205020404" pitchFamily="49" charset="0"/>
                          <a:cs typeface="Courier New" panose="02070309020205020404" pitchFamily="49" charset="0"/>
                        </a:rPr>
                        <a:t>is</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xabc</a:t>
                      </a:r>
                      <a:r>
                        <a:rPr lang="en-US" sz="1800" b="1" baseline="0" noProof="0" dirty="0">
                          <a:solidFill>
                            <a:schemeClr val="tx1"/>
                          </a:solidFill>
                          <a:latin typeface="Courier New" panose="02070309020205020404" pitchFamily="49" charset="0"/>
                          <a:cs typeface="Courier New" panose="02070309020205020404" pitchFamily="49" charset="0"/>
                        </a:rPr>
                        <a:t>'[1:]</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False</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y = '</a:t>
                      </a:r>
                      <a:r>
                        <a:rPr lang="en-US" sz="1800" b="1" baseline="0" noProof="0" dirty="0" err="1">
                          <a:solidFill>
                            <a:schemeClr val="tx1"/>
                          </a:solidFill>
                          <a:latin typeface="Courier New" panose="02070309020205020404" pitchFamily="49" charset="0"/>
                          <a:cs typeface="Courier New" panose="02070309020205020404" pitchFamily="49" charset="0"/>
                        </a:rPr>
                        <a:t>abc</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xabc</a:t>
                      </a:r>
                      <a:r>
                        <a:rPr lang="en-US" sz="1800" b="1" baseline="0" noProof="0" dirty="0">
                          <a:solidFill>
                            <a:schemeClr val="tx1"/>
                          </a:solidFill>
                          <a:latin typeface="Courier New" panose="02070309020205020404" pitchFamily="49" charset="0"/>
                          <a:cs typeface="Courier New" panose="02070309020205020404" pitchFamily="49" charset="0"/>
                        </a:rPr>
                        <a:t>'[1:]</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y</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a:t>
                      </a:r>
                      <a:r>
                        <a:rPr lang="en-US" sz="1800" b="1" baseline="0" noProof="0" dirty="0" err="1">
                          <a:solidFill>
                            <a:schemeClr val="tx1"/>
                          </a:solidFill>
                          <a:latin typeface="Courier New" panose="02070309020205020404" pitchFamily="49" charset="0"/>
                          <a:cs typeface="Courier New" panose="02070309020205020404" pitchFamily="49" charset="0"/>
                        </a:rPr>
                        <a:t>abc</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abc</a:t>
                      </a:r>
                      <a:r>
                        <a:rPr lang="en-US" sz="1800" b="1" baseline="0" noProof="0" dirty="0">
                          <a:solidFill>
                            <a:schemeClr val="tx1"/>
                          </a:solidFill>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a:t>
                      </a:r>
                      <a:r>
                        <a:rPr lang="en-US" sz="1800" b="1" baseline="0" noProof="0" dirty="0">
                          <a:solidFill>
                            <a:srgbClr val="C00000"/>
                          </a:solidFill>
                          <a:latin typeface="Courier New" panose="02070309020205020404" pitchFamily="49" charset="0"/>
                          <a:cs typeface="Courier New" panose="02070309020205020404" pitchFamily="49" charset="0"/>
                        </a:rPr>
                        <a:t>is</a:t>
                      </a:r>
                      <a:r>
                        <a:rPr lang="en-US" sz="1800" b="1" baseline="0" noProof="0" dirty="0">
                          <a:solidFill>
                            <a:schemeClr val="tx1"/>
                          </a:solidFill>
                          <a:latin typeface="Courier New" panose="02070309020205020404" pitchFamily="49" charset="0"/>
                          <a:cs typeface="Courier New" panose="02070309020205020404" pitchFamily="49" charset="0"/>
                        </a:rPr>
                        <a:t> y</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rgbClr val="C00000"/>
                          </a:solidFill>
                          <a:latin typeface="Courier New" panose="02070309020205020404" pitchFamily="49" charset="0"/>
                          <a:cs typeface="Courier New" panose="02070309020205020404" pitchFamily="49" charset="0"/>
                        </a:rPr>
                        <a:t>False</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x == y  </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 </a:t>
                      </a:r>
                      <a:r>
                        <a:rPr lang="en-US" sz="1800" b="1" baseline="0" noProof="0" dirty="0" err="1">
                          <a:solidFill>
                            <a:schemeClr val="bg1">
                              <a:lumMod val="50000"/>
                            </a:schemeClr>
                          </a:solidFill>
                          <a:latin typeface="Courier New" panose="02070309020205020404" pitchFamily="49" charset="0"/>
                          <a:cs typeface="Courier New" panose="02070309020205020404" pitchFamily="49" charset="0"/>
                        </a:rPr>
                        <a:t>x.__eq</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__(y)</a:t>
                      </a:r>
                      <a:endParaRPr lang="en-US" sz="1800" b="1" baseline="0" noProof="0" dirty="0">
                        <a:solidFill>
                          <a:schemeClr val="tx1"/>
                        </a:solidFill>
                        <a:latin typeface="Courier New" panose="02070309020205020404" pitchFamily="49" charset="0"/>
                        <a:cs typeface="Courier New" panose="02070309020205020404" pitchFamily="49" charset="0"/>
                      </a:endParaRP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True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390" y="2959762"/>
            <a:ext cx="487666" cy="405904"/>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390" y="4859802"/>
            <a:ext cx="487666" cy="405904"/>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6390" y="6207955"/>
            <a:ext cx="487666" cy="405904"/>
          </a:xfrm>
          <a:prstGeom prst="rect">
            <a:avLst/>
          </a:prstGeom>
        </p:spPr>
      </p:pic>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4689" y="2666389"/>
            <a:ext cx="487666" cy="405904"/>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24689" y="3994883"/>
            <a:ext cx="487666" cy="405904"/>
          </a:xfrm>
          <a:prstGeom prst="rect">
            <a:avLst/>
          </a:prstGeom>
        </p:spPr>
      </p:pic>
    </p:spTree>
    <p:extLst>
      <p:ext uri="{BB962C8B-B14F-4D97-AF65-F5344CB8AC3E}">
        <p14:creationId xmlns:p14="http://schemas.microsoft.com/office/powerpoint/2010/main" val="776451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Comparison of OO in Python, Java and C++</a:t>
            </a:r>
          </a:p>
        </p:txBody>
      </p:sp>
      <p:sp>
        <p:nvSpPr>
          <p:cNvPr id="3" name="Content Placeholder 2"/>
          <p:cNvSpPr>
            <a:spLocks noGrp="1"/>
          </p:cNvSpPr>
          <p:nvPr>
            <p:ph idx="1"/>
          </p:nvPr>
        </p:nvSpPr>
        <p:spPr>
          <a:xfrm>
            <a:off x="838200" y="1825625"/>
            <a:ext cx="10213181" cy="4946650"/>
          </a:xfrm>
        </p:spPr>
        <p:txBody>
          <a:bodyPr>
            <a:normAutofit fontScale="92500"/>
          </a:bodyPr>
          <a:lstStyle/>
          <a:p>
            <a:r>
              <a:rPr lang="en-US" noProof="0" dirty="0"/>
              <a:t>private, public, .... – in Python everything in an object is public</a:t>
            </a:r>
          </a:p>
          <a:p>
            <a:r>
              <a:rPr lang="en-US" noProof="0" dirty="0"/>
              <a:t>class inheritance – core concept in OO programming</a:t>
            </a:r>
          </a:p>
          <a:p>
            <a:pPr lvl="1"/>
            <a:r>
              <a:rPr lang="en-US" noProof="0" dirty="0"/>
              <a:t>Python and C++ support multiple inheritance</a:t>
            </a:r>
          </a:p>
          <a:p>
            <a:pPr lvl="1"/>
            <a:r>
              <a:rPr lang="en-US" noProof="0" dirty="0"/>
              <a:t>Java only allows single inheritance, but Java ”interfaces” allow for something like multiple inheritance</a:t>
            </a:r>
          </a:p>
          <a:p>
            <a:r>
              <a:rPr lang="en-US" noProof="0" dirty="0"/>
              <a:t>Python and C++ allow overloading standard operators (+, *, ...). </a:t>
            </a:r>
            <a:br>
              <a:rPr lang="en-US" noProof="0" dirty="0"/>
            </a:br>
            <a:r>
              <a:rPr lang="en-US" noProof="0" dirty="0"/>
              <a:t>In Java it is not possible</a:t>
            </a:r>
          </a:p>
          <a:p>
            <a:r>
              <a:rPr lang="en-US" noProof="0" dirty="0"/>
              <a:t>Overloading methods </a:t>
            </a:r>
          </a:p>
          <a:p>
            <a:pPr lvl="1"/>
            <a:r>
              <a:rPr lang="en-US" noProof="0" dirty="0"/>
              <a:t>Python extremely dynamic (hard to say anything about the </a:t>
            </a:r>
            <a:r>
              <a:rPr lang="en-US" noProof="0" dirty="0" err="1"/>
              <a:t>behaviour</a:t>
            </a:r>
            <a:r>
              <a:rPr lang="en-US" noProof="0" dirty="0"/>
              <a:t> of a program in general)</a:t>
            </a:r>
          </a:p>
          <a:p>
            <a:pPr lvl="1"/>
            <a:r>
              <a:rPr lang="en-US" noProof="0" dirty="0"/>
              <a:t>Java and C++’s type systems allow several methods with same name in a class, where they are distinguished by the type of the arguments, whereas Python allows only one method that can have * and ** arguments (use </a:t>
            </a:r>
            <a:r>
              <a:rPr lang="en-US" noProof="0" dirty="0" err="1">
                <a:latin typeface="Courier New" panose="02070309020205020404" pitchFamily="49" charset="0"/>
                <a:cs typeface="Courier New" panose="02070309020205020404" pitchFamily="49" charset="0"/>
              </a:rPr>
              <a:t>isinstance</a:t>
            </a:r>
            <a:r>
              <a:rPr lang="en-US" noProof="0" dirty="0"/>
              <a:t>)</a:t>
            </a:r>
          </a:p>
          <a:p>
            <a:endParaRPr lang="en-US" noProof="0" dirty="0"/>
          </a:p>
        </p:txBody>
      </p:sp>
    </p:spTree>
    <p:extLst>
      <p:ext uri="{BB962C8B-B14F-4D97-AF65-F5344CB8AC3E}">
        <p14:creationId xmlns:p14="http://schemas.microsoft.com/office/powerpoint/2010/main" val="3312054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B2DEBA8-48BF-76BA-9C6B-7F6C2D260592}"/>
              </a:ext>
            </a:extLst>
          </p:cNvPr>
          <p:cNvGraphicFramePr>
            <a:graphicFrameLocks noGrp="1"/>
          </p:cNvGraphicFramePr>
          <p:nvPr>
            <p:extLst>
              <p:ext uri="{D42A27DB-BD31-4B8C-83A1-F6EECF244321}">
                <p14:modId xmlns:p14="http://schemas.microsoft.com/office/powerpoint/2010/main" val="4233024161"/>
              </p:ext>
            </p:extLst>
          </p:nvPr>
        </p:nvGraphicFramePr>
        <p:xfrm>
          <a:off x="1056554" y="2211790"/>
          <a:ext cx="10078892" cy="3697290"/>
        </p:xfrm>
        <a:graphic>
          <a:graphicData uri="http://schemas.openxmlformats.org/drawingml/2006/table">
            <a:tbl>
              <a:tblPr firstRow="1" bandRow="1">
                <a:tableStyleId>{5C22544A-7EE6-4342-B048-85BDC9FD1C3A}</a:tableStyleId>
              </a:tblPr>
              <a:tblGrid>
                <a:gridCol w="10078892">
                  <a:extLst>
                    <a:ext uri="{9D8B030D-6E8A-4147-A177-3AD203B41FA5}">
                      <a16:colId xmlns:a16="http://schemas.microsoft.com/office/drawing/2014/main" val="1873682825"/>
                    </a:ext>
                  </a:extLst>
                </a:gridCol>
              </a:tblGrid>
              <a:tr h="405450">
                <a:tc>
                  <a:txBody>
                    <a:bodyPr/>
                    <a:lstStyle/>
                    <a:p>
                      <a:r>
                        <a:rPr lang="en-US" sz="1800" b="1" noProof="0" dirty="0">
                          <a:latin typeface="Courier New" panose="02070309020205020404" pitchFamily="49" charset="0"/>
                          <a:cs typeface="Courier New" panose="02070309020205020404" pitchFamily="49" charset="0"/>
                        </a:rPr>
                        <a:t>Python shell</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229972">
                <a:tc>
                  <a:txBody>
                    <a:bodyPr/>
                    <a:lstStyle/>
                    <a:p>
                      <a:pPr marL="266700" indent="-266700">
                        <a:spcAft>
                          <a:spcPts val="1200"/>
                        </a:spcAft>
                        <a:buClr>
                          <a:srgbClr val="C00000"/>
                        </a:buClr>
                        <a:buSzPct val="100000"/>
                        <a:buFont typeface="Courier New" panose="02070309020205020404" pitchFamily="49" charset="0"/>
                        <a:buChar char="&gt;"/>
                      </a:pPr>
                      <a:r>
                        <a:rPr lang="en-US" sz="1800" b="1" baseline="0" noProof="0" dirty="0">
                          <a:solidFill>
                            <a:schemeClr val="accent1">
                              <a:lumMod val="75000"/>
                            </a:schemeClr>
                          </a:solidFill>
                          <a:latin typeface="Courier New" panose="02070309020205020404" pitchFamily="49" charset="0"/>
                          <a:cs typeface="Courier New" panose="02070309020205020404" pitchFamily="49" charset="0"/>
                        </a:rPr>
                        <a:t>class</a:t>
                      </a:r>
                      <a:r>
                        <a:rPr lang="en-US" sz="1800" b="1" baseline="0" noProof="0" dirty="0">
                          <a:solidFill>
                            <a:schemeClr val="tx1"/>
                          </a:solidFill>
                          <a:latin typeface="Courier New" panose="02070309020205020404" pitchFamily="49" charset="0"/>
                          <a:cs typeface="Courier New" panose="02070309020205020404" pitchFamily="49" charset="0"/>
                        </a:rPr>
                        <a:t> Pair:</a:t>
                      </a:r>
                      <a:br>
                        <a:rPr lang="en-US" sz="1800" b="1" baseline="0" noProof="0" dirty="0">
                          <a:solidFill>
                            <a:schemeClr val="tx1"/>
                          </a:solidFill>
                          <a:latin typeface="Courier New" panose="02070309020205020404" pitchFamily="49" charset="0"/>
                          <a:cs typeface="Courier New" panose="02070309020205020404" pitchFamily="49" charset="0"/>
                        </a:rPr>
                      </a:b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a:solidFill>
                            <a:schemeClr val="accent1">
                              <a:lumMod val="75000"/>
                            </a:schemeClr>
                          </a:solidFill>
                          <a:latin typeface="Courier New" panose="02070309020205020404" pitchFamily="49" charset="0"/>
                          <a:cs typeface="Courier New" panose="02070309020205020404" pitchFamily="49" charset="0"/>
                        </a:rPr>
                        <a:t>def</a:t>
                      </a:r>
                      <a:r>
                        <a:rPr lang="en-US" sz="1800" b="1" baseline="0" noProof="0" dirty="0">
                          <a:solidFill>
                            <a:schemeClr val="tx1"/>
                          </a:solidFill>
                          <a:latin typeface="Courier New" panose="02070309020205020404" pitchFamily="49" charset="0"/>
                          <a:cs typeface="Courier New" panose="02070309020205020404" pitchFamily="49" charset="0"/>
                        </a:rPr>
                        <a:t> __</a:t>
                      </a:r>
                      <a:r>
                        <a:rPr lang="en-US" sz="1800" b="1" baseline="0" noProof="0" dirty="0" err="1">
                          <a:solidFill>
                            <a:schemeClr val="tx1"/>
                          </a:solidFill>
                          <a:latin typeface="Courier New" panose="02070309020205020404" pitchFamily="49" charset="0"/>
                          <a:cs typeface="Courier New" panose="02070309020205020404" pitchFamily="49" charset="0"/>
                        </a:rPr>
                        <a:t>init</a:t>
                      </a:r>
                      <a:r>
                        <a:rPr lang="en-US" sz="1800" b="1" baseline="0" noProof="0" dirty="0">
                          <a:solidFill>
                            <a:schemeClr val="tx1"/>
                          </a:solidFill>
                          <a:latin typeface="Courier New" panose="02070309020205020404" pitchFamily="49" charset="0"/>
                          <a:cs typeface="Courier New" panose="02070309020205020404" pitchFamily="49" charset="0"/>
                        </a:rPr>
                        <a:t>__(self, x, y):</a:t>
                      </a:r>
                      <a:br>
                        <a:rPr lang="en-US" sz="1800" b="1" baseline="0" noProof="0" dirty="0">
                          <a:solidFill>
                            <a:schemeClr val="tx1"/>
                          </a:solidFill>
                          <a:latin typeface="Courier New" panose="02070309020205020404" pitchFamily="49" charset="0"/>
                          <a:cs typeface="Courier New" panose="02070309020205020404" pitchFamily="49" charset="0"/>
                        </a:rPr>
                      </a:b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self._x</a:t>
                      </a:r>
                      <a:r>
                        <a:rPr lang="en-US" sz="1800" b="1" baseline="0" noProof="0" dirty="0">
                          <a:solidFill>
                            <a:schemeClr val="tx1"/>
                          </a:solidFill>
                          <a:latin typeface="Courier New" panose="02070309020205020404" pitchFamily="49" charset="0"/>
                          <a:cs typeface="Courier New" panose="02070309020205020404" pitchFamily="49" charset="0"/>
                        </a:rPr>
                        <a:t> = x</a:t>
                      </a:r>
                      <a:br>
                        <a:rPr lang="en-US" sz="1800" b="1" baseline="0" noProof="0" dirty="0">
                          <a:solidFill>
                            <a:schemeClr val="tx1"/>
                          </a:solidFill>
                          <a:latin typeface="Courier New" panose="02070309020205020404" pitchFamily="49" charset="0"/>
                          <a:cs typeface="Courier New" panose="02070309020205020404" pitchFamily="49" charset="0"/>
                        </a:rPr>
                      </a:b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self._y</a:t>
                      </a:r>
                      <a:r>
                        <a:rPr lang="en-US" sz="1800" b="1" baseline="0" noProof="0" dirty="0">
                          <a:solidFill>
                            <a:schemeClr val="tx1"/>
                          </a:solidFill>
                          <a:latin typeface="Courier New" panose="02070309020205020404" pitchFamily="49" charset="0"/>
                          <a:cs typeface="Courier New" panose="02070309020205020404" pitchFamily="49" charset="0"/>
                        </a:rPr>
                        <a:t> = y</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point = Pair(3, 5)</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print(point)  </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 class Pair has no __str__ method, uses </a:t>
                      </a:r>
                      <a:r>
                        <a:rPr lang="en-US" sz="1800" b="1" baseline="0" noProof="0" dirty="0" err="1">
                          <a:solidFill>
                            <a:schemeClr val="bg1">
                              <a:lumMod val="50000"/>
                            </a:schemeClr>
                          </a:solidFill>
                          <a:latin typeface="Courier New" panose="02070309020205020404" pitchFamily="49" charset="0"/>
                          <a:cs typeface="Courier New" panose="02070309020205020404" pitchFamily="49" charset="0"/>
                        </a:rPr>
                        <a:t>object.__str</a:t>
                      </a:r>
                      <a:r>
                        <a:rPr lang="en-US" sz="1800" b="1" baseline="0" noProof="0" dirty="0">
                          <a:solidFill>
                            <a:schemeClr val="bg1">
                              <a:lumMod val="50000"/>
                            </a:schemeClr>
                          </a:solidFill>
                          <a:latin typeface="Courier New" panose="02070309020205020404" pitchFamily="49" charset="0"/>
                          <a:cs typeface="Courier New" panose="02070309020205020404" pitchFamily="49" charset="0"/>
                        </a:rPr>
                        <a:t>__</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&lt;__</a:t>
                      </a:r>
                      <a:r>
                        <a:rPr lang="en-US" sz="1800" b="1" baseline="0" noProof="0" dirty="0" err="1">
                          <a:solidFill>
                            <a:schemeClr val="tx1"/>
                          </a:solidFill>
                          <a:latin typeface="Courier New" panose="02070309020205020404" pitchFamily="49" charset="0"/>
                          <a:cs typeface="Courier New" panose="02070309020205020404" pitchFamily="49" charset="0"/>
                        </a:rPr>
                        <a:t>main__.Pair</a:t>
                      </a:r>
                      <a:r>
                        <a:rPr lang="en-US" sz="1800" b="1" baseline="0" noProof="0" dirty="0">
                          <a:solidFill>
                            <a:schemeClr val="tx1"/>
                          </a:solidFill>
                          <a:latin typeface="Courier New" panose="02070309020205020404" pitchFamily="49" charset="0"/>
                          <a:cs typeface="Courier New" panose="02070309020205020404" pitchFamily="49" charset="0"/>
                        </a:rPr>
                        <a:t> object at 0x0000027571904B50&gt;</a:t>
                      </a:r>
                    </a:p>
                    <a:p>
                      <a:pPr marL="266700" indent="-266700">
                        <a:spcBef>
                          <a:spcPts val="1200"/>
                        </a:spcBef>
                        <a:spcAft>
                          <a:spcPts val="1200"/>
                        </a:spcAft>
                        <a:buClr>
                          <a:srgbClr val="C00000"/>
                        </a:buClr>
                        <a:buSzPct val="100000"/>
                        <a:buFont typeface="Courier New" panose="02070309020205020404" pitchFamily="49" charset="0"/>
                        <a:buChar char="&gt;"/>
                      </a:pPr>
                      <a:r>
                        <a:rPr lang="en-US" sz="1800" b="1" baseline="0" noProof="0" dirty="0" err="1">
                          <a:solidFill>
                            <a:srgbClr val="C00000"/>
                          </a:solidFill>
                          <a:latin typeface="Courier New" panose="02070309020205020404" pitchFamily="49" charset="0"/>
                          <a:cs typeface="Courier New" panose="02070309020205020404" pitchFamily="49" charset="0"/>
                        </a:rPr>
                        <a:t>Pair.__str</a:t>
                      </a:r>
                      <a:r>
                        <a:rPr lang="en-US" sz="1800" b="1" baseline="0" noProof="0" dirty="0">
                          <a:solidFill>
                            <a:srgbClr val="C00000"/>
                          </a:solidFill>
                          <a:latin typeface="Courier New" panose="02070309020205020404" pitchFamily="49" charset="0"/>
                          <a:cs typeface="Courier New" panose="02070309020205020404" pitchFamily="49" charset="0"/>
                        </a:rPr>
                        <a:t>__</a:t>
                      </a:r>
                      <a:r>
                        <a:rPr lang="en-US" sz="1800" b="1" baseline="0" noProof="0" dirty="0">
                          <a:solidFill>
                            <a:schemeClr val="tx1"/>
                          </a:solidFill>
                          <a:latin typeface="Courier New" panose="02070309020205020404" pitchFamily="49" charset="0"/>
                          <a:cs typeface="Courier New" panose="02070309020205020404" pitchFamily="49" charset="0"/>
                        </a:rPr>
                        <a:t> = lambda self: </a:t>
                      </a:r>
                      <a:r>
                        <a:rPr lang="en-US" sz="1800" b="1" baseline="0" noProof="0" dirty="0" err="1">
                          <a:solidFill>
                            <a:schemeClr val="tx1"/>
                          </a:solidFill>
                          <a:latin typeface="Courier New" panose="02070309020205020404" pitchFamily="49" charset="0"/>
                          <a:cs typeface="Courier New" panose="02070309020205020404" pitchFamily="49" charset="0"/>
                        </a:rPr>
                        <a:t>f'Pair</a:t>
                      </a:r>
                      <a:r>
                        <a:rPr lang="en-US" sz="1800" b="1" baseline="0" noProof="0" dirty="0">
                          <a:solidFill>
                            <a:schemeClr val="tx1"/>
                          </a:solidFill>
                          <a:latin typeface="Courier New" panose="02070309020205020404" pitchFamily="49" charset="0"/>
                          <a:cs typeface="Courier New" panose="02070309020205020404" pitchFamily="49" charset="0"/>
                        </a:rPr>
                        <a:t>({</a:t>
                      </a:r>
                      <a:r>
                        <a:rPr lang="en-US" sz="1800" b="1" baseline="0" noProof="0" dirty="0" err="1">
                          <a:solidFill>
                            <a:schemeClr val="tx1"/>
                          </a:solidFill>
                          <a:latin typeface="Courier New" panose="02070309020205020404" pitchFamily="49" charset="0"/>
                          <a:cs typeface="Courier New" panose="02070309020205020404" pitchFamily="49" charset="0"/>
                        </a:rPr>
                        <a:t>self._x</a:t>
                      </a:r>
                      <a:r>
                        <a:rPr lang="en-US" sz="1800" b="1" baseline="0" noProof="0" dirty="0">
                          <a:solidFill>
                            <a:schemeClr val="tx1"/>
                          </a:solidFill>
                          <a:latin typeface="Courier New" panose="02070309020205020404" pitchFamily="49" charset="0"/>
                          <a:cs typeface="Courier New" panose="02070309020205020404" pitchFamily="49" charset="0"/>
                        </a:rPr>
                        <a:t>}, {</a:t>
                      </a:r>
                      <a:r>
                        <a:rPr lang="en-US" sz="1800" b="1" baseline="0" noProof="0" dirty="0" err="1">
                          <a:solidFill>
                            <a:schemeClr val="tx1"/>
                          </a:solidFill>
                          <a:latin typeface="Courier New" panose="02070309020205020404" pitchFamily="49" charset="0"/>
                          <a:cs typeface="Courier New" panose="02070309020205020404" pitchFamily="49" charset="0"/>
                        </a:rPr>
                        <a:t>self._y</a:t>
                      </a:r>
                      <a:r>
                        <a:rPr lang="en-US" sz="1800" b="1" baseline="0" noProof="0" dirty="0">
                          <a:solidFill>
                            <a:schemeClr val="tx1"/>
                          </a:solidFill>
                          <a:latin typeface="Courier New" panose="02070309020205020404" pitchFamily="49" charset="0"/>
                          <a:cs typeface="Courier New" panose="02070309020205020404" pitchFamily="49" charset="0"/>
                        </a:rPr>
                        <a:t>})'</a:t>
                      </a:r>
                    </a:p>
                    <a:p>
                      <a:pPr marL="266700" indent="-266700">
                        <a:buClr>
                          <a:srgbClr val="C00000"/>
                        </a:buClr>
                        <a:buSzPct val="100000"/>
                        <a:buFont typeface="Courier New" panose="02070309020205020404" pitchFamily="49" charset="0"/>
                        <a:buChar char="&gt;"/>
                      </a:pPr>
                      <a:r>
                        <a:rPr lang="en-US" sz="1800" b="1" baseline="0" noProof="0" dirty="0">
                          <a:solidFill>
                            <a:schemeClr val="tx1"/>
                          </a:solidFill>
                          <a:latin typeface="Courier New" panose="02070309020205020404" pitchFamily="49" charset="0"/>
                          <a:cs typeface="Courier New" panose="02070309020205020404" pitchFamily="49" charset="0"/>
                        </a:rPr>
                        <a:t>print(point)</a:t>
                      </a:r>
                    </a:p>
                    <a:p>
                      <a:pPr marL="266700" indent="-266700">
                        <a:buClr>
                          <a:schemeClr val="accent1">
                            <a:lumMod val="50000"/>
                          </a:schemeClr>
                        </a:buClr>
                        <a:buSzPct val="120000"/>
                        <a:buFont typeface="Courier New" panose="02070309020205020404" pitchFamily="49" charset="0"/>
                        <a:buChar char="|"/>
                      </a:pPr>
                      <a:r>
                        <a:rPr lang="en-US" sz="1800" b="1" baseline="0" noProof="0" dirty="0">
                          <a:solidFill>
                            <a:schemeClr val="tx1"/>
                          </a:solidFill>
                          <a:latin typeface="Courier New" panose="02070309020205020404" pitchFamily="49" charset="0"/>
                          <a:cs typeface="Courier New" panose="02070309020205020404" pitchFamily="49" charset="0"/>
                        </a:rPr>
                        <a:t>Pair(3, 5)</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
        <p:nvSpPr>
          <p:cNvPr id="2" name="Title 1">
            <a:extLst>
              <a:ext uri="{FF2B5EF4-FFF2-40B4-BE49-F238E27FC236}">
                <a16:creationId xmlns:a16="http://schemas.microsoft.com/office/drawing/2014/main" id="{4A5645FE-B263-6B12-9647-79B1518D104E}"/>
              </a:ext>
            </a:extLst>
          </p:cNvPr>
          <p:cNvSpPr>
            <a:spLocks noGrp="1"/>
          </p:cNvSpPr>
          <p:nvPr>
            <p:ph type="title"/>
          </p:nvPr>
        </p:nvSpPr>
        <p:spPr/>
        <p:txBody>
          <a:bodyPr/>
          <a:lstStyle/>
          <a:p>
            <a:r>
              <a:rPr lang="en-US" noProof="0" dirty="0"/>
              <a:t>Python is really dynamic…</a:t>
            </a:r>
            <a:br>
              <a:rPr lang="en-US" noProof="0" dirty="0"/>
            </a:br>
            <a:r>
              <a:rPr lang="en-US" noProof="0" dirty="0"/>
              <a:t>(this is ugly – likely don’t do this at home)</a:t>
            </a:r>
          </a:p>
        </p:txBody>
      </p:sp>
      <p:pic>
        <p:nvPicPr>
          <p:cNvPr id="7" name="Picture 6">
            <a:extLst>
              <a:ext uri="{FF2B5EF4-FFF2-40B4-BE49-F238E27FC236}">
                <a16:creationId xmlns:a16="http://schemas.microsoft.com/office/drawing/2014/main" id="{29D07E36-6B6C-6001-70A2-41F4505A4C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86" y="4789917"/>
            <a:ext cx="487666" cy="405904"/>
          </a:xfrm>
          <a:prstGeom prst="rect">
            <a:avLst/>
          </a:prstGeom>
        </p:spPr>
      </p:pic>
      <p:cxnSp>
        <p:nvCxnSpPr>
          <p:cNvPr id="8" name="Straight Arrow Connector 7">
            <a:extLst>
              <a:ext uri="{FF2B5EF4-FFF2-40B4-BE49-F238E27FC236}">
                <a16:creationId xmlns:a16="http://schemas.microsoft.com/office/drawing/2014/main" id="{D2A93F9E-AED5-ACA8-C8B2-7566EE841E45}"/>
              </a:ext>
            </a:extLst>
          </p:cNvPr>
          <p:cNvCxnSpPr>
            <a:cxnSpLocks/>
          </p:cNvCxnSpPr>
          <p:nvPr/>
        </p:nvCxnSpPr>
        <p:spPr>
          <a:xfrm flipH="1" flipV="1">
            <a:off x="3119718" y="5195821"/>
            <a:ext cx="745051" cy="928013"/>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1B27B3B-62B7-98FC-F209-5EBE9B81FAF6}"/>
              </a:ext>
            </a:extLst>
          </p:cNvPr>
          <p:cNvSpPr txBox="1"/>
          <p:nvPr/>
        </p:nvSpPr>
        <p:spPr>
          <a:xfrm>
            <a:off x="3793331" y="6123834"/>
            <a:ext cx="8398669" cy="646331"/>
          </a:xfrm>
          <a:prstGeom prst="rect">
            <a:avLst/>
          </a:prstGeom>
          <a:noFill/>
        </p:spPr>
        <p:txBody>
          <a:bodyPr wrap="square" rtlCol="0">
            <a:spAutoFit/>
          </a:bodyPr>
          <a:lstStyle/>
          <a:p>
            <a:r>
              <a:rPr lang="en-US" noProof="0" dirty="0"/>
              <a:t>dynamically add a method to an existing class (and all existing instances and subclasses),</a:t>
            </a:r>
          </a:p>
          <a:p>
            <a:r>
              <a:rPr lang="en-US" noProof="0" dirty="0"/>
              <a:t>e.g. technique used by the class decorator </a:t>
            </a:r>
            <a:r>
              <a:rPr lang="en-US" noProof="0" dirty="0">
                <a:latin typeface="Courier New" panose="02070309020205020404" pitchFamily="49" charset="0"/>
                <a:cs typeface="Courier New" panose="02070309020205020404" pitchFamily="49" charset="0"/>
              </a:rPr>
              <a:t>@functools.total_ordering</a:t>
            </a:r>
          </a:p>
        </p:txBody>
      </p:sp>
    </p:spTree>
    <p:extLst>
      <p:ext uri="{BB962C8B-B14F-4D97-AF65-F5344CB8AC3E}">
        <p14:creationId xmlns:p14="http://schemas.microsoft.com/office/powerpoint/2010/main" val="92376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283" y="654380"/>
            <a:ext cx="5114925" cy="738242"/>
          </a:xfrm>
        </p:spPr>
        <p:txBody>
          <a:bodyPr>
            <a:normAutofit/>
          </a:bodyPr>
          <a:lstStyle/>
          <a:p>
            <a:r>
              <a:rPr lang="en-US" noProof="0" dirty="0"/>
              <a:t>C++ example</a:t>
            </a:r>
          </a:p>
        </p:txBody>
      </p:sp>
      <p:graphicFrame>
        <p:nvGraphicFramePr>
          <p:cNvPr id="4" name="Table 3"/>
          <p:cNvGraphicFramePr>
            <a:graphicFrameLocks noGrp="1"/>
          </p:cNvGraphicFramePr>
          <p:nvPr>
            <p:extLst>
              <p:ext uri="{D42A27DB-BD31-4B8C-83A1-F6EECF244321}">
                <p14:modId xmlns:p14="http://schemas.microsoft.com/office/powerpoint/2010/main" val="486829590"/>
              </p:ext>
            </p:extLst>
          </p:nvPr>
        </p:nvGraphicFramePr>
        <p:xfrm>
          <a:off x="6194108" y="381109"/>
          <a:ext cx="5643880" cy="6156960"/>
        </p:xfrm>
        <a:graphic>
          <a:graphicData uri="http://schemas.openxmlformats.org/drawingml/2006/table">
            <a:tbl>
              <a:tblPr firstRow="1" bandRow="1">
                <a:tableStyleId>{5C22544A-7EE6-4342-B048-85BDC9FD1C3A}</a:tableStyleId>
              </a:tblPr>
              <a:tblGrid>
                <a:gridCol w="5643880">
                  <a:extLst>
                    <a:ext uri="{9D8B030D-6E8A-4147-A177-3AD203B41FA5}">
                      <a16:colId xmlns:a16="http://schemas.microsoft.com/office/drawing/2014/main" val="1873682825"/>
                    </a:ext>
                  </a:extLst>
                </a:gridCol>
              </a:tblGrid>
              <a:tr h="148143">
                <a:tc>
                  <a:txBody>
                    <a:bodyPr/>
                    <a:lstStyle/>
                    <a:p>
                      <a:r>
                        <a:rPr lang="en-US" sz="1800" b="1" noProof="0" dirty="0">
                          <a:latin typeface="Courier New" panose="02070309020205020404" pitchFamily="49" charset="0"/>
                          <a:cs typeface="Courier New" panose="02070309020205020404" pitchFamily="49" charset="0"/>
                        </a:rPr>
                        <a:t>printing.cpp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297347">
                <a:tc>
                  <a:txBody>
                    <a:bodyPr/>
                    <a:lstStyle/>
                    <a:p>
                      <a:r>
                        <a:rPr lang="en-US" sz="1800" b="1" noProof="0" dirty="0">
                          <a:solidFill>
                            <a:schemeClr val="bg1">
                              <a:lumMod val="50000"/>
                            </a:schemeClr>
                          </a:solidFill>
                          <a:latin typeface="Courier New" panose="02070309020205020404" pitchFamily="49" charset="0"/>
                          <a:cs typeface="Courier New" panose="02070309020205020404" pitchFamily="49" charset="0"/>
                        </a:rPr>
                        <a:t>#include &lt;iostream&gt;</a:t>
                      </a:r>
                    </a:p>
                    <a:p>
                      <a:pPr>
                        <a:spcBef>
                          <a:spcPts val="0"/>
                        </a:spcBef>
                        <a:spcAft>
                          <a:spcPts val="600"/>
                        </a:spcAft>
                      </a:pPr>
                      <a:r>
                        <a:rPr lang="en-US" sz="1800" b="1" noProof="0" dirty="0">
                          <a:solidFill>
                            <a:schemeClr val="bg1">
                              <a:lumMod val="50000"/>
                            </a:schemeClr>
                          </a:solidFill>
                          <a:latin typeface="Courier New" panose="02070309020205020404" pitchFamily="49" charset="0"/>
                          <a:cs typeface="Courier New" panose="02070309020205020404" pitchFamily="49" charset="0"/>
                        </a:rPr>
                        <a:t>using namespace std;</a:t>
                      </a:r>
                    </a:p>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MyClass</a:t>
                      </a:r>
                      <a:r>
                        <a:rPr lang="en-US" sz="1800" b="1" noProof="0" dirty="0">
                          <a:solidFill>
                            <a:schemeClr val="tx1"/>
                          </a:solidFill>
                          <a:latin typeface="Courier New" panose="02070309020205020404" pitchFamily="49" charset="0"/>
                          <a:cs typeface="Courier New" panose="02070309020205020404" pitchFamily="49" charset="0"/>
                        </a:rPr>
                        <a:t> {</a:t>
                      </a:r>
                    </a:p>
                    <a:p>
                      <a:r>
                        <a:rPr lang="en-US" sz="1800" b="1" noProof="0" dirty="0">
                          <a:solidFill>
                            <a:schemeClr val="accent1">
                              <a:lumMod val="50000"/>
                            </a:schemeClr>
                          </a:solidFill>
                          <a:latin typeface="Courier New" panose="02070309020205020404" pitchFamily="49" charset="0"/>
                          <a:cs typeface="Courier New" panose="02070309020205020404" pitchFamily="49" charset="0"/>
                        </a:rPr>
                        <a:t>public</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void </a:t>
                      </a:r>
                      <a:r>
                        <a:rPr lang="en-US" sz="1800" b="1" noProof="0" dirty="0">
                          <a:solidFill>
                            <a:srgbClr val="C00000"/>
                          </a:solidFill>
                          <a:latin typeface="Courier New" panose="02070309020205020404" pitchFamily="49" charset="0"/>
                          <a:cs typeface="Courier New" panose="02070309020205020404" pitchFamily="49" charset="0"/>
                        </a:rPr>
                        <a:t>print</a:t>
                      </a:r>
                      <a:r>
                        <a:rPr lang="en-US" sz="1800" b="1" noProof="0" dirty="0">
                          <a:solidFill>
                            <a:schemeClr val="tx1"/>
                          </a:solidFill>
                          <a:latin typeface="Courier New" panose="02070309020205020404" pitchFamily="49" charset="0"/>
                          <a:cs typeface="Courier New" panose="02070309020205020404" pitchFamily="49" charset="0"/>
                        </a:rPr>
                        <a:t>(int x) {</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cout</a:t>
                      </a:r>
                      <a:r>
                        <a:rPr lang="en-US" sz="1800" b="1" noProof="0" dirty="0">
                          <a:solidFill>
                            <a:schemeClr val="tx1"/>
                          </a:solidFill>
                          <a:latin typeface="Courier New" panose="02070309020205020404" pitchFamily="49" charset="0"/>
                          <a:cs typeface="Courier New" panose="02070309020205020404" pitchFamily="49" charset="0"/>
                        </a:rPr>
                        <a:t> &lt;&lt; "An integer " &lt;&lt; x &lt;&lt; </a:t>
                      </a:r>
                      <a:r>
                        <a:rPr lang="en-US" sz="1800" b="1" noProof="0" dirty="0" err="1">
                          <a:solidFill>
                            <a:schemeClr val="tx1"/>
                          </a:solidFill>
                          <a:latin typeface="Courier New" panose="02070309020205020404" pitchFamily="49" charset="0"/>
                          <a:cs typeface="Courier New" panose="02070309020205020404" pitchFamily="49" charset="0"/>
                        </a:rPr>
                        <a:t>endl</a:t>
                      </a:r>
                      <a:r>
                        <a:rPr lang="en-US" sz="1800" b="1" noProof="0" dirty="0">
                          <a:solidFill>
                            <a:schemeClr val="tx1"/>
                          </a:solidFill>
                          <a:latin typeface="Courier New" panose="02070309020205020404" pitchFamily="49" charset="0"/>
                          <a:cs typeface="Courier New" panose="02070309020205020404" pitchFamily="49" charset="0"/>
                        </a:rPr>
                        <a:t>;</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  };</a:t>
                      </a:r>
                    </a:p>
                    <a:p>
                      <a:r>
                        <a:rPr lang="en-US" sz="1800" b="1" noProof="0" dirty="0">
                          <a:solidFill>
                            <a:schemeClr val="tx1"/>
                          </a:solidFill>
                          <a:latin typeface="Courier New" panose="02070309020205020404" pitchFamily="49" charset="0"/>
                          <a:cs typeface="Courier New" panose="02070309020205020404" pitchFamily="49" charset="0"/>
                        </a:rPr>
                        <a:t>  void </a:t>
                      </a:r>
                      <a:r>
                        <a:rPr lang="en-US" sz="1800" b="1" noProof="0" dirty="0">
                          <a:solidFill>
                            <a:srgbClr val="C00000"/>
                          </a:solidFill>
                          <a:latin typeface="Courier New" panose="02070309020205020404" pitchFamily="49" charset="0"/>
                          <a:cs typeface="Courier New" panose="02070309020205020404" pitchFamily="49" charset="0"/>
                        </a:rPr>
                        <a:t>print</a:t>
                      </a:r>
                      <a:r>
                        <a:rPr lang="en-US" sz="1800" b="1" noProof="0" dirty="0">
                          <a:solidFill>
                            <a:schemeClr val="tx1"/>
                          </a:solidFill>
                          <a:latin typeface="Courier New" panose="02070309020205020404" pitchFamily="49" charset="0"/>
                          <a:cs typeface="Courier New" panose="02070309020205020404" pitchFamily="49" charset="0"/>
                        </a:rPr>
                        <a:t>(string s) {</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cout</a:t>
                      </a:r>
                      <a:r>
                        <a:rPr lang="en-US" sz="1800" b="1" noProof="0" dirty="0">
                          <a:solidFill>
                            <a:schemeClr val="tx1"/>
                          </a:solidFill>
                          <a:latin typeface="Courier New" panose="02070309020205020404" pitchFamily="49" charset="0"/>
                          <a:cs typeface="Courier New" panose="02070309020205020404" pitchFamily="49" charset="0"/>
                        </a:rPr>
                        <a:t> &lt;&lt; "A string " &lt;&lt; s &lt;&lt; </a:t>
                      </a:r>
                      <a:r>
                        <a:rPr lang="en-US" sz="1800" b="1" noProof="0" dirty="0" err="1">
                          <a:solidFill>
                            <a:schemeClr val="tx1"/>
                          </a:solidFill>
                          <a:latin typeface="Courier New" panose="02070309020205020404" pitchFamily="49" charset="0"/>
                          <a:cs typeface="Courier New" panose="02070309020205020404" pitchFamily="49" charset="0"/>
                        </a:rPr>
                        <a:t>endl</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main() {</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MyClass</a:t>
                      </a:r>
                      <a:r>
                        <a:rPr lang="en-US" sz="1800" b="1" noProof="0" dirty="0">
                          <a:solidFill>
                            <a:schemeClr val="tx1"/>
                          </a:solidFill>
                          <a:latin typeface="Courier New" panose="02070309020205020404" pitchFamily="49" charset="0"/>
                          <a:cs typeface="Courier New" panose="02070309020205020404" pitchFamily="49" charset="0"/>
                        </a:rPr>
                        <a:t> C;</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C.</a:t>
                      </a:r>
                      <a:r>
                        <a:rPr lang="en-US" sz="1800" b="1" noProof="0" dirty="0" err="1">
                          <a:solidFill>
                            <a:srgbClr val="C00000"/>
                          </a:solidFill>
                          <a:latin typeface="Courier New" panose="02070309020205020404" pitchFamily="49" charset="0"/>
                          <a:cs typeface="Courier New" panose="02070309020205020404" pitchFamily="49" charset="0"/>
                        </a:rPr>
                        <a:t>print</a:t>
                      </a:r>
                      <a:r>
                        <a:rPr lang="en-US" sz="1800" b="1" noProof="0" dirty="0">
                          <a:solidFill>
                            <a:schemeClr val="tx1"/>
                          </a:solidFill>
                          <a:latin typeface="Courier New" panose="02070309020205020404" pitchFamily="49" charset="0"/>
                          <a:cs typeface="Courier New" panose="02070309020205020404" pitchFamily="49" charset="0"/>
                        </a:rPr>
                        <a:t>(42);</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C.</a:t>
                      </a:r>
                      <a:r>
                        <a:rPr lang="en-US" sz="1800" b="1" noProof="0" dirty="0" err="1">
                          <a:solidFill>
                            <a:srgbClr val="C00000"/>
                          </a:solidFill>
                          <a:latin typeface="Courier New" panose="02070309020205020404" pitchFamily="49" charset="0"/>
                          <a:cs typeface="Courier New" panose="02070309020205020404" pitchFamily="49" charset="0"/>
                        </a:rPr>
                        <a:t>print</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err="1">
                          <a:solidFill>
                            <a:schemeClr val="tx1"/>
                          </a:solidFill>
                          <a:latin typeface="Courier New" panose="02070309020205020404" pitchFamily="49" charset="0"/>
                          <a:cs typeface="Courier New" panose="02070309020205020404" pitchFamily="49" charset="0"/>
                        </a:rPr>
                        <a:t>abc</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bg1">
                              <a:lumMod val="50000"/>
                            </a:schemeClr>
                          </a:solidFill>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r h="148143">
                <a:tc>
                  <a:txBody>
                    <a:bodyPr/>
                    <a:lstStyle/>
                    <a:p>
                      <a:r>
                        <a:rPr lang="en-US" sz="1800" b="1" noProof="0" dirty="0">
                          <a:solidFill>
                            <a:schemeClr val="bg1"/>
                          </a:solidFill>
                          <a:latin typeface="Courier New" panose="02070309020205020404" pitchFamily="49" charset="0"/>
                          <a:cs typeface="Courier New" panose="02070309020205020404" pitchFamily="49" charset="0"/>
                        </a:rPr>
                        <a:t>Shell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2202042958"/>
                  </a:ext>
                </a:extLst>
              </a:tr>
              <a:tr h="481466">
                <a:tc>
                  <a:txBody>
                    <a:bodyPr/>
                    <a:lstStyle/>
                    <a:p>
                      <a:pPr marL="266700" indent="-266700">
                        <a:buClr>
                          <a:schemeClr val="accent1">
                            <a:lumMod val="50000"/>
                          </a:schemeClr>
                        </a:buClr>
                        <a:buSzPct val="120000"/>
                        <a:buFont typeface="Courier New" panose="02070309020205020404" pitchFamily="49" charset="0"/>
                        <a:buChar char="|"/>
                      </a:pPr>
                      <a:r>
                        <a:rPr lang="en-US" sz="1800" b="1" baseline="0" noProof="0" dirty="0">
                          <a:latin typeface="Courier New" panose="02070309020205020404" pitchFamily="49" charset="0"/>
                          <a:cs typeface="Courier New" panose="02070309020205020404" pitchFamily="49" charset="0"/>
                        </a:rPr>
                        <a:t>An integer 42</a:t>
                      </a:r>
                    </a:p>
                    <a:p>
                      <a:pPr marL="266700" indent="-266700">
                        <a:buClr>
                          <a:schemeClr val="accent1">
                            <a:lumMod val="50000"/>
                          </a:schemeClr>
                        </a:buClr>
                        <a:buSzPct val="120000"/>
                        <a:buFont typeface="Courier New" panose="02070309020205020404" pitchFamily="49" charset="0"/>
                        <a:buChar char="|"/>
                      </a:pPr>
                      <a:r>
                        <a:rPr lang="en-US" sz="1800" b="1" baseline="0" noProof="0" dirty="0">
                          <a:latin typeface="Courier New" panose="02070309020205020404" pitchFamily="49" charset="0"/>
                          <a:cs typeface="Courier New" panose="02070309020205020404" pitchFamily="49" charset="0"/>
                        </a:rPr>
                        <a:t>A string </a:t>
                      </a:r>
                      <a:r>
                        <a:rPr lang="en-US" sz="1800" b="1" baseline="0" noProof="0" dirty="0" err="1">
                          <a:latin typeface="Courier New" panose="02070309020205020404" pitchFamily="49" charset="0"/>
                          <a:cs typeface="Courier New" panose="02070309020205020404" pitchFamily="49" charset="0"/>
                        </a:rPr>
                        <a:t>abc</a:t>
                      </a:r>
                      <a:endParaRPr lang="en-US" sz="1800" b="1" baseline="0" noProof="0" dirty="0">
                        <a:latin typeface="Courier New" panose="02070309020205020404" pitchFamily="49" charset="0"/>
                        <a:cs typeface="Courier New" panose="02070309020205020404" pitchFamily="49"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5355368"/>
                  </a:ext>
                </a:extLst>
              </a:tr>
            </a:tbl>
          </a:graphicData>
        </a:graphic>
      </p:graphicFrame>
      <p:sp>
        <p:nvSpPr>
          <p:cNvPr id="7" name="Content Placeholder 2"/>
          <p:cNvSpPr>
            <a:spLocks noGrp="1"/>
          </p:cNvSpPr>
          <p:nvPr>
            <p:ph idx="1"/>
          </p:nvPr>
        </p:nvSpPr>
        <p:spPr>
          <a:xfrm>
            <a:off x="917128" y="1650122"/>
            <a:ext cx="4937234" cy="4575613"/>
          </a:xfrm>
        </p:spPr>
        <p:txBody>
          <a:bodyPr>
            <a:normAutofit/>
          </a:bodyPr>
          <a:lstStyle/>
          <a:p>
            <a:r>
              <a:rPr lang="en-US" noProof="0" dirty="0"/>
              <a:t>Multiple methods with identical name (</a:t>
            </a:r>
            <a:r>
              <a:rPr lang="en-US" noProof="0" dirty="0">
                <a:latin typeface="Courier New" panose="02070309020205020404" pitchFamily="49" charset="0"/>
                <a:cs typeface="Courier New" panose="02070309020205020404" pitchFamily="49" charset="0"/>
              </a:rPr>
              <a:t>print</a:t>
            </a:r>
            <a:r>
              <a:rPr lang="en-US" noProof="0" dirty="0"/>
              <a:t>)</a:t>
            </a:r>
          </a:p>
          <a:p>
            <a:r>
              <a:rPr lang="en-US" noProof="0" dirty="0"/>
              <a:t>The types distinguish the different methods</a:t>
            </a:r>
          </a:p>
        </p:txBody>
      </p:sp>
      <p:graphicFrame>
        <p:nvGraphicFramePr>
          <p:cNvPr id="5" name="Table 4"/>
          <p:cNvGraphicFramePr>
            <a:graphicFrameLocks noGrp="1"/>
          </p:cNvGraphicFramePr>
          <p:nvPr>
            <p:extLst>
              <p:ext uri="{D42A27DB-BD31-4B8C-83A1-F6EECF244321}">
                <p14:modId xmlns:p14="http://schemas.microsoft.com/office/powerpoint/2010/main" val="3824315417"/>
              </p:ext>
            </p:extLst>
          </p:nvPr>
        </p:nvGraphicFramePr>
        <p:xfrm>
          <a:off x="140149" y="3731172"/>
          <a:ext cx="5507355" cy="3002280"/>
        </p:xfrm>
        <a:graphic>
          <a:graphicData uri="http://schemas.openxmlformats.org/drawingml/2006/table">
            <a:tbl>
              <a:tblPr firstRow="1" bandRow="1">
                <a:tableStyleId>{5C22544A-7EE6-4342-B048-85BDC9FD1C3A}</a:tableStyleId>
              </a:tblPr>
              <a:tblGrid>
                <a:gridCol w="5507355">
                  <a:extLst>
                    <a:ext uri="{9D8B030D-6E8A-4147-A177-3AD203B41FA5}">
                      <a16:colId xmlns:a16="http://schemas.microsoft.com/office/drawing/2014/main" val="1873682825"/>
                    </a:ext>
                  </a:extLst>
                </a:gridCol>
              </a:tblGrid>
              <a:tr h="250379">
                <a:tc>
                  <a:txBody>
                    <a:bodyPr/>
                    <a:lstStyle/>
                    <a:p>
                      <a:r>
                        <a:rPr lang="en-US" sz="1800" b="1" noProof="0" dirty="0">
                          <a:latin typeface="Courier New" panose="02070309020205020404" pitchFamily="49" charset="0"/>
                          <a:cs typeface="Courier New" panose="02070309020205020404" pitchFamily="49" charset="0"/>
                        </a:rPr>
                        <a:t>printing.py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3330819881"/>
                  </a:ext>
                </a:extLst>
              </a:tr>
              <a:tr h="1940437">
                <a:tc>
                  <a:txBody>
                    <a:bodyPr/>
                    <a:lstStyle/>
                    <a:p>
                      <a:r>
                        <a:rPr lang="en-US" sz="1800" b="1" noProof="0" dirty="0">
                          <a:solidFill>
                            <a:schemeClr val="accent1">
                              <a:lumMod val="50000"/>
                            </a:schemeClr>
                          </a:solidFill>
                          <a:latin typeface="Courier New" panose="02070309020205020404" pitchFamily="49" charset="0"/>
                          <a:cs typeface="Courier New" panose="02070309020205020404" pitchFamily="49" charset="0"/>
                        </a:rPr>
                        <a:t>class</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rgbClr val="C00000"/>
                          </a:solidFill>
                          <a:latin typeface="Courier New" panose="02070309020205020404" pitchFamily="49" charset="0"/>
                          <a:cs typeface="Courier New" panose="02070309020205020404" pitchFamily="49" charset="0"/>
                        </a:rPr>
                        <a:t>MyClass</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chemeClr val="accent1">
                              <a:lumMod val="50000"/>
                            </a:schemeClr>
                          </a:solidFill>
                          <a:latin typeface="Courier New" panose="02070309020205020404" pitchFamily="49" charset="0"/>
                          <a:cs typeface="Courier New" panose="02070309020205020404" pitchFamily="49" charset="0"/>
                        </a:rPr>
                        <a:t>def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a:solidFill>
                            <a:srgbClr val="C00000"/>
                          </a:solidFill>
                          <a:latin typeface="Courier New" panose="02070309020205020404" pitchFamily="49" charset="0"/>
                          <a:cs typeface="Courier New" panose="02070309020205020404" pitchFamily="49" charset="0"/>
                        </a:rPr>
                        <a:t>print</a:t>
                      </a:r>
                      <a:r>
                        <a:rPr lang="en-US" sz="1800" b="1" noProof="0" dirty="0">
                          <a:solidFill>
                            <a:schemeClr val="tx1"/>
                          </a:solidFill>
                          <a:latin typeface="Courier New" panose="02070309020205020404" pitchFamily="49" charset="0"/>
                          <a:cs typeface="Courier New" panose="02070309020205020404" pitchFamily="49" charset="0"/>
                        </a:rPr>
                        <a:t>(self, value):</a:t>
                      </a:r>
                    </a:p>
                    <a:p>
                      <a:r>
                        <a:rPr lang="en-US" sz="1800" b="1" noProof="0" dirty="0">
                          <a:solidFill>
                            <a:schemeClr val="tx1"/>
                          </a:solidFill>
                          <a:latin typeface="Courier New" panose="02070309020205020404" pitchFamily="49" charset="0"/>
                          <a:cs typeface="Courier New" panose="02070309020205020404" pitchFamily="49" charset="0"/>
                        </a:rPr>
                        <a:t>        if </a:t>
                      </a:r>
                      <a:r>
                        <a:rPr lang="en-US" sz="1800" b="1" noProof="0" dirty="0" err="1">
                          <a:solidFill>
                            <a:srgbClr val="C00000"/>
                          </a:solidFill>
                          <a:latin typeface="Courier New" panose="02070309020205020404" pitchFamily="49" charset="0"/>
                          <a:cs typeface="Courier New" panose="02070309020205020404" pitchFamily="49" charset="0"/>
                        </a:rPr>
                        <a:t>isinstance</a:t>
                      </a:r>
                      <a:r>
                        <a:rPr lang="en-US" sz="1800" b="1" noProof="0" dirty="0">
                          <a:solidFill>
                            <a:schemeClr val="tx1"/>
                          </a:solidFill>
                          <a:latin typeface="Courier New" panose="02070309020205020404" pitchFamily="49" charset="0"/>
                          <a:cs typeface="Courier New" panose="02070309020205020404" pitchFamily="49" charset="0"/>
                        </a:rPr>
                        <a:t>(value, int):</a:t>
                      </a:r>
                    </a:p>
                    <a:p>
                      <a:r>
                        <a:rPr lang="en-US" sz="1800" b="1" noProof="0" dirty="0">
                          <a:solidFill>
                            <a:schemeClr val="tx1"/>
                          </a:solidFill>
                          <a:latin typeface="Courier New" panose="02070309020205020404" pitchFamily="49" charset="0"/>
                          <a:cs typeface="Courier New" panose="02070309020205020404" pitchFamily="49" charset="0"/>
                        </a:rPr>
                        <a:t>            print('An integer', value)</a:t>
                      </a:r>
                    </a:p>
                    <a:p>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chemeClr val="tx1"/>
                          </a:solidFill>
                          <a:latin typeface="Courier New" panose="02070309020205020404" pitchFamily="49" charset="0"/>
                          <a:cs typeface="Courier New" panose="02070309020205020404" pitchFamily="49" charset="0"/>
                        </a:rPr>
                        <a:t>elif</a:t>
                      </a:r>
                      <a:r>
                        <a:rPr lang="en-US" sz="1800" b="1" noProof="0" dirty="0">
                          <a:solidFill>
                            <a:schemeClr val="tx1"/>
                          </a:solidFill>
                          <a:latin typeface="Courier New" panose="02070309020205020404" pitchFamily="49" charset="0"/>
                          <a:cs typeface="Courier New" panose="02070309020205020404" pitchFamily="49" charset="0"/>
                        </a:rPr>
                        <a:t> </a:t>
                      </a:r>
                      <a:r>
                        <a:rPr lang="en-US" sz="1800" b="1" noProof="0" dirty="0" err="1">
                          <a:solidFill>
                            <a:srgbClr val="C00000"/>
                          </a:solidFill>
                          <a:latin typeface="Courier New" panose="02070309020205020404" pitchFamily="49" charset="0"/>
                          <a:cs typeface="Courier New" panose="02070309020205020404" pitchFamily="49" charset="0"/>
                        </a:rPr>
                        <a:t>isinstance</a:t>
                      </a:r>
                      <a:r>
                        <a:rPr lang="en-US" sz="1800" b="1" noProof="0" dirty="0">
                          <a:solidFill>
                            <a:schemeClr val="tx1"/>
                          </a:solidFill>
                          <a:latin typeface="Courier New" panose="02070309020205020404" pitchFamily="49" charset="0"/>
                          <a:cs typeface="Courier New" panose="02070309020205020404" pitchFamily="49" charset="0"/>
                        </a:rPr>
                        <a:t>(value, str):</a:t>
                      </a:r>
                    </a:p>
                    <a:p>
                      <a:pPr>
                        <a:spcAft>
                          <a:spcPts val="600"/>
                        </a:spcAft>
                      </a:pPr>
                      <a:r>
                        <a:rPr lang="en-US" sz="1800" b="1" noProof="0" dirty="0">
                          <a:solidFill>
                            <a:schemeClr val="tx1"/>
                          </a:solidFill>
                          <a:latin typeface="Courier New" panose="02070309020205020404" pitchFamily="49" charset="0"/>
                          <a:cs typeface="Courier New" panose="02070309020205020404" pitchFamily="49" charset="0"/>
                        </a:rPr>
                        <a:t>            print('A string', value)</a:t>
                      </a:r>
                    </a:p>
                    <a:p>
                      <a:r>
                        <a:rPr lang="en-US" sz="1800" b="1" noProof="0" dirty="0">
                          <a:solidFill>
                            <a:schemeClr val="tx1"/>
                          </a:solidFill>
                          <a:latin typeface="Courier New" panose="02070309020205020404" pitchFamily="49" charset="0"/>
                          <a:cs typeface="Courier New" panose="02070309020205020404" pitchFamily="49" charset="0"/>
                        </a:rPr>
                        <a:t>C = </a:t>
                      </a:r>
                      <a:r>
                        <a:rPr lang="en-US" sz="1800" b="1" noProof="0" dirty="0" err="1">
                          <a:solidFill>
                            <a:srgbClr val="C00000"/>
                          </a:solidFill>
                          <a:latin typeface="Courier New" panose="02070309020205020404" pitchFamily="49" charset="0"/>
                          <a:cs typeface="Courier New" panose="02070309020205020404" pitchFamily="49" charset="0"/>
                        </a:rPr>
                        <a:t>MyClass</a:t>
                      </a:r>
                      <a:r>
                        <a:rPr lang="en-US" sz="1800" b="1" noProof="0" dirty="0">
                          <a:solidFill>
                            <a:schemeClr val="tx1"/>
                          </a:solidFill>
                          <a:latin typeface="Courier New" panose="02070309020205020404" pitchFamily="49" charset="0"/>
                          <a:cs typeface="Courier New" panose="02070309020205020404" pitchFamily="49" charset="0"/>
                        </a:rPr>
                        <a:t>()</a:t>
                      </a:r>
                    </a:p>
                    <a:p>
                      <a:r>
                        <a:rPr lang="en-US" sz="1800" b="1" noProof="0" dirty="0" err="1">
                          <a:solidFill>
                            <a:schemeClr val="tx1"/>
                          </a:solidFill>
                          <a:latin typeface="Courier New" panose="02070309020205020404" pitchFamily="49" charset="0"/>
                          <a:cs typeface="Courier New" panose="02070309020205020404" pitchFamily="49" charset="0"/>
                        </a:rPr>
                        <a:t>C.print</a:t>
                      </a:r>
                      <a:r>
                        <a:rPr lang="en-US" sz="1800" b="1" noProof="0" dirty="0">
                          <a:solidFill>
                            <a:schemeClr val="tx1"/>
                          </a:solidFill>
                          <a:latin typeface="Courier New" panose="02070309020205020404" pitchFamily="49" charset="0"/>
                          <a:cs typeface="Courier New" panose="02070309020205020404" pitchFamily="49" charset="0"/>
                        </a:rPr>
                        <a:t>(42)</a:t>
                      </a:r>
                    </a:p>
                    <a:p>
                      <a:r>
                        <a:rPr lang="en-US" sz="1800" b="1" noProof="0" dirty="0" err="1">
                          <a:solidFill>
                            <a:schemeClr val="tx1"/>
                          </a:solidFill>
                          <a:latin typeface="Courier New" panose="02070309020205020404" pitchFamily="49" charset="0"/>
                          <a:cs typeface="Courier New" panose="02070309020205020404" pitchFamily="49" charset="0"/>
                        </a:rPr>
                        <a:t>C.print</a:t>
                      </a:r>
                      <a:r>
                        <a:rPr lang="en-US" sz="1800" b="1" noProof="0" dirty="0">
                          <a:solidFill>
                            <a:schemeClr val="tx1"/>
                          </a:solidFill>
                          <a:latin typeface="Courier New" panose="02070309020205020404" pitchFamily="49" charset="0"/>
                          <a:cs typeface="Courier New" panose="02070309020205020404" pitchFamily="49" charset="0"/>
                        </a:rPr>
                        <a:t>('</a:t>
                      </a:r>
                      <a:r>
                        <a:rPr lang="en-US" sz="1800" b="1" noProof="0" dirty="0" err="1">
                          <a:solidFill>
                            <a:schemeClr val="tx1"/>
                          </a:solidFill>
                          <a:latin typeface="Courier New" panose="02070309020205020404" pitchFamily="49" charset="0"/>
                          <a:cs typeface="Courier New" panose="02070309020205020404" pitchFamily="49" charset="0"/>
                        </a:rPr>
                        <a:t>abc</a:t>
                      </a:r>
                      <a:r>
                        <a:rPr lang="en-US" sz="1800" b="1" noProof="0" dirty="0">
                          <a:solidFill>
                            <a:schemeClr val="tx1"/>
                          </a:solidFill>
                          <a:latin typeface="Courier New" panose="02070309020205020404" pitchFamily="49" charset="0"/>
                          <a:cs typeface="Courier New" panose="02070309020205020404" pitchFamily="49" charset="0"/>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12970457"/>
                  </a:ext>
                </a:extLst>
              </a:tr>
            </a:tbl>
          </a:graphicData>
        </a:graphic>
      </p:graphicFrame>
    </p:spTree>
    <p:extLst>
      <p:ext uri="{BB962C8B-B14F-4D97-AF65-F5344CB8AC3E}">
        <p14:creationId xmlns:p14="http://schemas.microsoft.com/office/powerpoint/2010/main" val="3840876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7F7F7F"/>
      </a:hlink>
      <a:folHlink>
        <a:srgbClr val="7F7F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41386</TotalTime>
  <Words>3282</Words>
  <Application>Microsoft Office PowerPoint</Application>
  <PresentationFormat>Widescreen</PresentationFormat>
  <Paragraphs>506</Paragraphs>
  <Slides>21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body</vt:lpstr>
      <vt:lpstr>Calibri Light</vt:lpstr>
      <vt:lpstr>Courier New</vt:lpstr>
      <vt:lpstr>Wingdings</vt:lpstr>
      <vt:lpstr>Office Theme</vt:lpstr>
      <vt:lpstr>Class hierarcies</vt:lpstr>
      <vt:lpstr>Calling methods of a class</vt:lpstr>
      <vt:lpstr>Classes and objects</vt:lpstr>
      <vt:lpstr>Classes and objects</vt:lpstr>
      <vt:lpstr>Classes inheritance</vt:lpstr>
      <vt:lpstr>Classes constructors</vt:lpstr>
      <vt:lpstr>super()</vt:lpstr>
      <vt:lpstr>Method search order</vt:lpstr>
      <vt:lpstr>Class hierarchy</vt:lpstr>
      <vt:lpstr>Method overriding</vt:lpstr>
      <vt:lpstr>Question – What does b.f() print ? </vt:lpstr>
      <vt:lpstr>Undefind methods in superclass ?</vt:lpstr>
      <vt:lpstr>Name mangling and inheritance</vt:lpstr>
      <vt:lpstr>Multiple inheritance</vt:lpstr>
      <vt:lpstr>C3 Method  resolution order</vt:lpstr>
      <vt:lpstr>Question – Who says hello ? Bob says good morning</vt:lpstr>
      <vt:lpstr>Comparing objects and classes</vt:lpstr>
      <vt:lpstr>is is not for integers, strings, ... and is is not ==</vt:lpstr>
      <vt:lpstr>Comparison of OO in Python, Java and C++</vt:lpstr>
      <vt:lpstr>Python is really dynamic… (this is ugly – likely don’t do this at home)</vt:lpstr>
      <vt:lpstr>C++ example</vt:lpstr>
    </vt:vector>
  </TitlesOfParts>
  <Company>Aarhus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Gerth Stølting Brodal</dc:creator>
  <cp:lastModifiedBy>Gerth Stølting Brodal</cp:lastModifiedBy>
  <cp:revision>1252</cp:revision>
  <dcterms:created xsi:type="dcterms:W3CDTF">2017-10-19T06:54:16Z</dcterms:created>
  <dcterms:modified xsi:type="dcterms:W3CDTF">2026-03-04T06:19:47Z</dcterms:modified>
</cp:coreProperties>
</file>