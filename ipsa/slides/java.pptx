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517" r:id="rId2"/>
    <p:sldId id="702" r:id="rId3"/>
    <p:sldId id="704" r:id="rId4"/>
    <p:sldId id="707" r:id="rId5"/>
    <p:sldId id="708" r:id="rId6"/>
    <p:sldId id="709" r:id="rId7"/>
    <p:sldId id="705" r:id="rId8"/>
    <p:sldId id="718" r:id="rId9"/>
    <p:sldId id="720" r:id="rId10"/>
    <p:sldId id="711" r:id="rId11"/>
    <p:sldId id="712" r:id="rId12"/>
    <p:sldId id="701" r:id="rId13"/>
    <p:sldId id="710" r:id="rId14"/>
    <p:sldId id="719" r:id="rId15"/>
    <p:sldId id="703" r:id="rId16"/>
    <p:sldId id="617" r:id="rId17"/>
    <p:sldId id="717" r:id="rId18"/>
    <p:sldId id="716" r:id="rId19"/>
    <p:sldId id="714" r:id="rId20"/>
    <p:sldId id="722" r:id="rId21"/>
    <p:sldId id="723" r:id="rId22"/>
    <p:sldId id="724" r:id="rId23"/>
    <p:sldId id="721" r:id="rId24"/>
    <p:sldId id="715" r:id="rId2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0C13D5-A537-4117-84DA-F01CF4147667}" v="1" dt="2026-05-05T21:32:04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3400" autoAdjust="0"/>
  </p:normalViewPr>
  <p:slideViewPr>
    <p:cSldViewPr snapToGrid="0">
      <p:cViewPr>
        <p:scale>
          <a:sx n="125" d="100"/>
          <a:sy n="125" d="100"/>
        </p:scale>
        <p:origin x="2645" y="581"/>
      </p:cViewPr>
      <p:guideLst/>
    </p:cSldViewPr>
  </p:slideViewPr>
  <p:outlineViewPr>
    <p:cViewPr>
      <p:scale>
        <a:sx n="33" d="100"/>
        <a:sy n="33" d="100"/>
      </p:scale>
      <p:origin x="0" y="-42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custSel modSld">
      <pc:chgData name="Gerth Stølting Brodal" userId="04ef4784-6591-4f86-a140-f5c3b108582a" providerId="ADAL" clId="{73BAC7D6-516A-44B5-B4B0-C7B08CA8B392}" dt="2026-05-06T07:01:27.285" v="248" actId="1036"/>
      <pc:docMkLst>
        <pc:docMk/>
      </pc:docMkLst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2436753486" sldId="517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436753486" sldId="51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436753486" sldId="517"/>
            <ac:spMk id="4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5-06T05:25:23.218" v="43" actId="6549"/>
        <pc:sldMkLst>
          <pc:docMk/>
          <pc:sldMk cId="3841486586" sldId="617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841486586" sldId="61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6T05:25:23.218" v="43" actId="6549"/>
          <ac:spMkLst>
            <pc:docMk/>
            <pc:sldMk cId="3841486586" sldId="617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3841486586" sldId="617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5-06T06:20:45.906" v="101" actId="20577"/>
        <pc:sldMkLst>
          <pc:docMk/>
          <pc:sldMk cId="3043987364" sldId="701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043987364" sldId="701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3043987364" sldId="701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3043987364" sldId="701"/>
            <ac:graphicFrameMk id="6" creationId="{00000000-0000-0000-0000-000000000000}"/>
          </ac:graphicFrameMkLst>
        </pc:graphicFrameChg>
      </pc:sldChg>
      <pc:sldChg chg="addSp delSp modSp mod">
        <pc:chgData name="Gerth Stølting Brodal" userId="04ef4784-6591-4f86-a140-f5c3b108582a" providerId="ADAL" clId="{73BAC7D6-516A-44B5-B4B0-C7B08CA8B392}" dt="2026-05-06T06:56:38.929" v="218" actId="1035"/>
        <pc:sldMkLst>
          <pc:docMk/>
          <pc:sldMk cId="324096631" sldId="702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24096631" sldId="70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24096631" sldId="702"/>
            <ac:spMk id="3" creationId="{00000000-0000-0000-0000-000000000000}"/>
          </ac:spMkLst>
        </pc:spChg>
        <pc:picChg chg="add mod ord">
          <ac:chgData name="Gerth Stølting Brodal" userId="04ef4784-6591-4f86-a140-f5c3b108582a" providerId="ADAL" clId="{73BAC7D6-516A-44B5-B4B0-C7B08CA8B392}" dt="2026-05-05T21:10:54.127" v="10" actId="167"/>
          <ac:picMkLst>
            <pc:docMk/>
            <pc:sldMk cId="324096631" sldId="702"/>
            <ac:picMk id="5" creationId="{F374741A-9C93-BF11-2B07-8EB6CE050251}"/>
          </ac:picMkLst>
        </pc:picChg>
        <pc:picChg chg="del">
          <ac:chgData name="Gerth Stølting Brodal" userId="04ef4784-6591-4f86-a140-f5c3b108582a" providerId="ADAL" clId="{73BAC7D6-516A-44B5-B4B0-C7B08CA8B392}" dt="2026-05-05T21:10:40.489" v="6" actId="478"/>
          <ac:picMkLst>
            <pc:docMk/>
            <pc:sldMk cId="324096631" sldId="702"/>
            <ac:picMk id="6" creationId="{D3D0EFE0-7133-ABEE-37BF-EC398D5E0532}"/>
          </ac:picMkLst>
        </pc:picChg>
        <pc:picChg chg="mod">
          <ac:chgData name="Gerth Stølting Brodal" userId="04ef4784-6591-4f86-a140-f5c3b108582a" providerId="ADAL" clId="{73BAC7D6-516A-44B5-B4B0-C7B08CA8B392}" dt="2026-05-06T06:56:38.929" v="218" actId="1035"/>
          <ac:picMkLst>
            <pc:docMk/>
            <pc:sldMk cId="324096631" sldId="702"/>
            <ac:picMk id="7" creationId="{9908D829-A712-4BAE-8893-B0DBE967C335}"/>
          </ac:picMkLst>
        </pc:pic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1667845984" sldId="703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667845984" sldId="70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667845984" sldId="703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667845984" sldId="703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1667845984" sldId="703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1667845984" sldId="703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5-05T21:32:13.752" v="22" actId="790"/>
        <pc:sldMkLst>
          <pc:docMk/>
          <pc:sldMk cId="1863959164" sldId="704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863959164" sldId="70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863959164" sldId="704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863959164" sldId="704"/>
            <ac:spMk id="5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873390135" sldId="705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873390135" sldId="70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873390135" sldId="705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873390135" sldId="705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873390135" sldId="705"/>
            <ac:graphicFrameMk id="6" creationId="{00000000-0000-0000-0000-000000000000}"/>
          </ac:graphicFrameMkLst>
        </pc:graphicFrameChg>
      </pc:sldChg>
      <pc:sldChg chg="addSp delSp modSp mod">
        <pc:chgData name="Gerth Stølting Brodal" userId="04ef4784-6591-4f86-a140-f5c3b108582a" providerId="ADAL" clId="{73BAC7D6-516A-44B5-B4B0-C7B08CA8B392}" dt="2026-05-06T07:01:27.285" v="248" actId="1036"/>
        <pc:sldMkLst>
          <pc:docMk/>
          <pc:sldMk cId="1537406623" sldId="707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537406623" sldId="70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2:53.162" v="23" actId="20577"/>
          <ac:spMkLst>
            <pc:docMk/>
            <pc:sldMk cId="1537406623" sldId="707"/>
            <ac:spMk id="3" creationId="{00000000-0000-0000-0000-000000000000}"/>
          </ac:spMkLst>
        </pc:spChg>
        <pc:picChg chg="add del mod">
          <ac:chgData name="Gerth Stølting Brodal" userId="04ef4784-6591-4f86-a140-f5c3b108582a" providerId="ADAL" clId="{73BAC7D6-516A-44B5-B4B0-C7B08CA8B392}" dt="2026-05-05T21:35:21.264" v="28" actId="478"/>
          <ac:picMkLst>
            <pc:docMk/>
            <pc:sldMk cId="1537406623" sldId="707"/>
            <ac:picMk id="5" creationId="{F7E096AF-4020-2A89-6521-2A33D028B321}"/>
          </ac:picMkLst>
        </pc:picChg>
        <pc:picChg chg="mod">
          <ac:chgData name="Gerth Stølting Brodal" userId="04ef4784-6591-4f86-a140-f5c3b108582a" providerId="ADAL" clId="{73BAC7D6-516A-44B5-B4B0-C7B08CA8B392}" dt="2026-05-06T07:01:27.285" v="248" actId="1036"/>
          <ac:picMkLst>
            <pc:docMk/>
            <pc:sldMk cId="1537406623" sldId="707"/>
            <ac:picMk id="7" creationId="{993DFDD3-983C-4A79-B11A-AFF282C4734F}"/>
          </ac:picMkLst>
        </pc:picChg>
        <pc:picChg chg="add del mod ord modCrop">
          <ac:chgData name="Gerth Stølting Brodal" userId="04ef4784-6591-4f86-a140-f5c3b108582a" providerId="ADAL" clId="{73BAC7D6-516A-44B5-B4B0-C7B08CA8B392}" dt="2026-05-06T07:00:37.577" v="225" actId="478"/>
          <ac:picMkLst>
            <pc:docMk/>
            <pc:sldMk cId="1537406623" sldId="707"/>
            <ac:picMk id="8" creationId="{DF6F92E8-C969-41DA-D5F3-D9E42B5FF72C}"/>
          </ac:picMkLst>
        </pc:picChg>
        <pc:picChg chg="add mod ord modCrop">
          <ac:chgData name="Gerth Stølting Brodal" userId="04ef4784-6591-4f86-a140-f5c3b108582a" providerId="ADAL" clId="{73BAC7D6-516A-44B5-B4B0-C7B08CA8B392}" dt="2026-05-06T07:01:27.285" v="248" actId="1036"/>
          <ac:picMkLst>
            <pc:docMk/>
            <pc:sldMk cId="1537406623" sldId="707"/>
            <ac:picMk id="10" creationId="{F293A89D-742F-D59F-C3D1-005F10C23313}"/>
          </ac:picMkLst>
        </pc:picChg>
        <pc:picChg chg="del">
          <ac:chgData name="Gerth Stølting Brodal" userId="04ef4784-6591-4f86-a140-f5c3b108582a" providerId="ADAL" clId="{73BAC7D6-516A-44B5-B4B0-C7B08CA8B392}" dt="2026-05-05T21:36:11.966" v="36" actId="478"/>
          <ac:picMkLst>
            <pc:docMk/>
            <pc:sldMk cId="1537406623" sldId="707"/>
            <ac:picMk id="11" creationId="{2D847965-9071-4EA8-AA5E-897295E19F57}"/>
          </ac:picMkLst>
        </pc:pic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467931418" sldId="708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467931418" sldId="70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467931418" sldId="708"/>
            <ac:spMk id="3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5-05T21:46:01.394" v="41" actId="790"/>
        <pc:sldMkLst>
          <pc:docMk/>
          <pc:sldMk cId="1389040031" sldId="709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389040031" sldId="70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389040031" sldId="709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389040031" sldId="709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389040031" sldId="709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389040031" sldId="709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389040031" sldId="709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389040031" sldId="709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1389040031" sldId="709"/>
            <ac:spMk id="1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1389040031" sldId="709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2717716213" sldId="710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717716213" sldId="71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717716213" sldId="710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2717716213" sldId="710"/>
            <ac:graphicFrameMk id="7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5-05T21:45:41.297" v="40" actId="790"/>
        <pc:sldMkLst>
          <pc:docMk/>
          <pc:sldMk cId="3691851833" sldId="711"/>
        </pc:sldMkLst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3691851833" sldId="711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285957609" sldId="712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85957609" sldId="71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85957609" sldId="712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285957609" sldId="712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285957609" sldId="712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6T06:26:20.019" v="102" actId="20577"/>
        <pc:sldMkLst>
          <pc:docMk/>
          <pc:sldMk cId="3651206223" sldId="714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651206223" sldId="71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651206223" sldId="714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6T06:26:20.019" v="102" actId="20577"/>
          <ac:graphicFrameMkLst>
            <pc:docMk/>
            <pc:sldMk cId="3651206223" sldId="71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2636328320" sldId="715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636328320" sldId="715"/>
            <ac:spMk id="7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3534174279" sldId="716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534174279" sldId="71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534174279" sldId="716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3534174279" sldId="716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2905658084" sldId="717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905658084" sldId="71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905658084" sldId="717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2905658084" sldId="717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2312210166" sldId="718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2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2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4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4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4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5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5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5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5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312210166" sldId="718"/>
            <ac:spMk id="6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3034035244" sldId="719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034035244" sldId="71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034035244" sldId="719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3034035244" sldId="719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916850611" sldId="720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916850611" sldId="720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916850611" sldId="720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6T06:54:39.189" v="203" actId="20577"/>
        <pc:sldMkLst>
          <pc:docMk/>
          <pc:sldMk cId="3957855327" sldId="721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957855327" sldId="72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6T06:54:39.189" v="203" actId="20577"/>
          <ac:spMkLst>
            <pc:docMk/>
            <pc:sldMk cId="3957855327" sldId="721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3957855327" sldId="721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5-06T06:30:24.321" v="179" actId="20577"/>
        <pc:sldMkLst>
          <pc:docMk/>
          <pc:sldMk cId="3676626356" sldId="722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676626356" sldId="72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3676626356" sldId="722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3676626356" sldId="722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5T21:31:45.750" v="21" actId="790"/>
        <pc:sldMkLst>
          <pc:docMk/>
          <pc:sldMk cId="4257835111" sldId="723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4257835111" sldId="72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4257835111" sldId="723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4257835111" sldId="723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5-06T06:48:23.082" v="196" actId="113"/>
        <pc:sldMkLst>
          <pc:docMk/>
          <pc:sldMk cId="2975332178" sldId="724"/>
        </pc:sldMkLst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975332178" sldId="72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5-05T21:31:45.750" v="21" actId="790"/>
          <ac:spMkLst>
            <pc:docMk/>
            <pc:sldMk cId="2975332178" sldId="724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2975332178" sldId="724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5-05T21:31:45.750" v="21" actId="790"/>
          <ac:graphicFrameMkLst>
            <pc:docMk/>
            <pc:sldMk cId="2975332178" sldId="724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74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Java mascot Juke</a:t>
            </a:r>
          </a:p>
          <a:p>
            <a:r>
              <a:rPr lang="en-US" noProof="0" dirty="0"/>
              <a:t>Hotspot</a:t>
            </a:r>
            <a:r>
              <a:rPr lang="en-US" baseline="0" noProof="0" dirty="0"/>
              <a:t> primary developer, Lars Bak from Aarhus University</a:t>
            </a:r>
          </a:p>
          <a:p>
            <a:r>
              <a:rPr lang="en-US" noProof="0" dirty="0"/>
              <a:t>https://en.wikipedia.org/wiki/Java_(programming_language)</a:t>
            </a:r>
          </a:p>
          <a:p>
            <a:endParaRPr lang="en-US" noProof="0" dirty="0"/>
          </a:p>
          <a:p>
            <a:r>
              <a:rPr lang="en-US" noProof="0" dirty="0"/>
              <a:t>Current JDK version:</a:t>
            </a:r>
          </a:p>
          <a:p>
            <a:r>
              <a:rPr lang="en-US" noProof="0" dirty="0"/>
              <a:t>https://www.oracle.com/java/technologies/downloads/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70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 2019:</a:t>
            </a:r>
            <a:r>
              <a:rPr lang="en-US" baseline="0" dirty="0"/>
              <a:t> The Java RE from java.com is NOT compatible with the JDK from oracle.com !!!! But JDK includes a JRE.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5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67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”</a:t>
            </a:r>
            <a:r>
              <a:rPr lang="en-US" noProof="0" dirty="0" err="1"/>
              <a:t>println</a:t>
            </a:r>
            <a:r>
              <a:rPr lang="en-US" noProof="0" dirty="0"/>
              <a:t>(1, 2);”  fails since </a:t>
            </a:r>
            <a:r>
              <a:rPr lang="en-US" noProof="0" dirty="0" err="1"/>
              <a:t>println</a:t>
            </a:r>
            <a:r>
              <a:rPr lang="en-US" noProof="0" dirty="0"/>
              <a:t> only takes one argument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4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Python </a:t>
            </a:r>
            <a:r>
              <a:rPr lang="en-US" b="1" dirty="0" err="1"/>
              <a:t>sys.argv</a:t>
            </a:r>
            <a:r>
              <a:rPr lang="en-US" b="1" dirty="0"/>
              <a:t> </a:t>
            </a:r>
            <a:r>
              <a:rPr lang="en-US" b="0" dirty="0"/>
              <a:t>contains the same arguments, except that </a:t>
            </a:r>
            <a:r>
              <a:rPr lang="en-US" b="0" dirty="0" err="1"/>
              <a:t>sys.argv</a:t>
            </a:r>
            <a:r>
              <a:rPr lang="en-US" b="0" dirty="0"/>
              <a:t>[0] is the name of the program executed.</a:t>
            </a:r>
            <a:endParaRPr lang="da-D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exist standard library classes that support arbitrary size arrays like class </a:t>
            </a:r>
            <a:r>
              <a:rPr lang="en-US" b="1" dirty="0" err="1"/>
              <a:t>ArrayList</a:t>
            </a:r>
            <a:endParaRPr lang="da-D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08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/* … */ is in Python often simulated using triple-quoted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1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68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byte</a:t>
            </a:r>
            <a:r>
              <a:rPr lang="en-US" baseline="0" noProof="0" dirty="0"/>
              <a:t> = </a:t>
            </a:r>
            <a:r>
              <a:rPr lang="en-US" noProof="0" dirty="0"/>
              <a:t>-128 to 127 (</a:t>
            </a:r>
            <a:r>
              <a:rPr lang="en-US" baseline="0" noProof="0" dirty="0"/>
              <a:t>See also code PrintingShorts.java, not on slide)</a:t>
            </a:r>
            <a:endParaRPr lang="en-US" noProof="0" dirty="0"/>
          </a:p>
          <a:p>
            <a:r>
              <a:rPr lang="en-US" noProof="0" dirty="0" err="1"/>
              <a:t>BigInteger</a:t>
            </a:r>
            <a:r>
              <a:rPr lang="en-US" noProof="0" dirty="0"/>
              <a:t> have a </a:t>
            </a:r>
            <a:r>
              <a:rPr lang="en-US" b="1" noProof="0" dirty="0" err="1"/>
              <a:t>toString</a:t>
            </a:r>
            <a:r>
              <a:rPr lang="en-US" noProof="0" dirty="0"/>
              <a:t> method, like Python __str__</a:t>
            </a:r>
            <a:r>
              <a:rPr lang="en-US" baseline="0" noProof="0" dirty="0"/>
              <a:t> method, and str(x)</a:t>
            </a:r>
          </a:p>
          <a:p>
            <a:r>
              <a:rPr lang="en-US" baseline="0" noProof="0" dirty="0"/>
              <a:t>Java does not allow uses to overload operators, so we have to write </a:t>
            </a:r>
            <a:r>
              <a:rPr lang="en-US" baseline="0" noProof="0" dirty="0" err="1"/>
              <a:t>x.multiply</a:t>
            </a:r>
            <a:r>
              <a:rPr lang="en-US" baseline="0" noProof="0" dirty="0"/>
              <a:t>(x) instead of x *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96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b="1" dirty="0"/>
              <a:t>&lt;&gt;</a:t>
            </a:r>
            <a:r>
              <a:rPr lang="en-US" dirty="0"/>
              <a:t> x = new </a:t>
            </a:r>
            <a:r>
              <a:rPr lang="en-US" dirty="0" err="1"/>
              <a:t>ArrayList</a:t>
            </a:r>
            <a:r>
              <a:rPr lang="en-US" dirty="0"/>
              <a:t>&lt;String&gt;();  --- </a:t>
            </a:r>
            <a:r>
              <a:rPr lang="en-US" b="1" dirty="0"/>
              <a:t>does not 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56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 = example</a:t>
            </a:r>
            <a:r>
              <a:rPr lang="en-US" baseline="0" dirty="0"/>
              <a:t> of </a:t>
            </a:r>
            <a:r>
              <a:rPr lang="en-US" baseline="0" dirty="0" err="1"/>
              <a:t>builtin</a:t>
            </a:r>
            <a:r>
              <a:rPr lang="en-US" baseline="0" dirty="0"/>
              <a:t> overloaded operator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35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having multiple</a:t>
            </a:r>
            <a:r>
              <a:rPr lang="en-US" baseline="0" dirty="0"/>
              <a:t> class definitions in a file, only one can be public – and must have same name as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48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method or a variable is marked as </a:t>
            </a:r>
            <a:r>
              <a:rPr lang="en-US" b="1" dirty="0"/>
              <a:t>protected</a:t>
            </a:r>
            <a:r>
              <a:rPr lang="en-US" dirty="0"/>
              <a:t>, it can be accessed from:</a:t>
            </a:r>
          </a:p>
          <a:p>
            <a:pPr lvl="1"/>
            <a:r>
              <a:rPr lang="en-US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 1) </a:t>
            </a:r>
            <a:r>
              <a:rPr lang="en-US" dirty="0">
                <a:effectLst/>
              </a:rPr>
              <a:t>Within the enclosing class.</a:t>
            </a:r>
          </a:p>
          <a:p>
            <a:pPr lvl="1"/>
            <a:r>
              <a:rPr lang="en-US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 2) </a:t>
            </a:r>
            <a:r>
              <a:rPr lang="en-US" dirty="0">
                <a:effectLst/>
              </a:rPr>
              <a:t>Other classes in the same package as the enclosing class.</a:t>
            </a:r>
          </a:p>
          <a:p>
            <a:pPr lvl="1"/>
            <a:r>
              <a:rPr lang="en-US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 3) </a:t>
            </a:r>
            <a:r>
              <a:rPr lang="en-US" dirty="0">
                <a:effectLst/>
              </a:rPr>
              <a:t>Sub classes, regardless of packages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76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“</a:t>
            </a:r>
            <a:r>
              <a:rPr lang="en-US" dirty="0" err="1"/>
              <a:t>var</a:t>
            </a:r>
            <a:r>
              <a:rPr lang="en-US" dirty="0"/>
              <a:t> p” to avoid writing</a:t>
            </a:r>
            <a:r>
              <a:rPr lang="en-US" baseline="0" dirty="0"/>
              <a:t> “Pair&lt;Integer&gt; p”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52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ensures that at compile time we know that r has an area method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78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 variable </a:t>
            </a:r>
            <a:r>
              <a:rPr lang="da-DK" dirty="0" err="1"/>
              <a:t>can</a:t>
            </a:r>
            <a:r>
              <a:rPr lang="da-DK" dirty="0"/>
              <a:t> have type </a:t>
            </a:r>
            <a:r>
              <a:rPr lang="da-DK" dirty="0" err="1"/>
              <a:t>that</a:t>
            </a:r>
            <a:r>
              <a:rPr lang="da-DK" dirty="0"/>
              <a:t> is an abstract class</a:t>
            </a:r>
          </a:p>
          <a:p>
            <a:r>
              <a:rPr lang="da-DK" dirty="0"/>
              <a:t>Int / </a:t>
            </a:r>
            <a:r>
              <a:rPr lang="da-DK" dirty="0" err="1"/>
              <a:t>int</a:t>
            </a:r>
            <a:r>
              <a:rPr lang="da-DK" dirty="0"/>
              <a:t> returns </a:t>
            </a:r>
            <a:r>
              <a:rPr lang="da-DK" dirty="0" err="1"/>
              <a:t>int</a:t>
            </a:r>
            <a:r>
              <a:rPr lang="da-DK" dirty="0"/>
              <a:t> (</a:t>
            </a:r>
            <a:r>
              <a:rPr lang="da-DK" dirty="0" err="1"/>
              <a:t>integer</a:t>
            </a:r>
            <a:r>
              <a:rPr lang="da-DK" dirty="0"/>
              <a:t> division), </a:t>
            </a:r>
            <a:r>
              <a:rPr lang="da-DK" dirty="0" err="1"/>
              <a:t>whereas</a:t>
            </a:r>
            <a:r>
              <a:rPr lang="da-DK" dirty="0"/>
              <a:t> x / y is type double </a:t>
            </a:r>
            <a:r>
              <a:rPr lang="da-DK" dirty="0" err="1"/>
              <a:t>if</a:t>
            </a:r>
            <a:r>
              <a:rPr lang="da-DK" dirty="0"/>
              <a:t> x and/or y is double</a:t>
            </a:r>
          </a:p>
          <a:p>
            <a:r>
              <a:rPr lang="da-DK" b="0" dirty="0"/>
              <a:t>This </a:t>
            </a:r>
            <a:r>
              <a:rPr lang="da-DK" b="0" dirty="0" err="1"/>
              <a:t>corresponds</a:t>
            </a:r>
            <a:r>
              <a:rPr lang="da-DK" b="0" dirty="0"/>
              <a:t> to </a:t>
            </a:r>
            <a:r>
              <a:rPr lang="da-DK" b="1" dirty="0" err="1"/>
              <a:t>Exercise</a:t>
            </a:r>
            <a:r>
              <a:rPr lang="da-DK" b="1" dirty="0"/>
              <a:t> 12.1 (</a:t>
            </a:r>
            <a:r>
              <a:rPr lang="da-DK" b="1" dirty="0" err="1"/>
              <a:t>geometric</a:t>
            </a:r>
            <a:r>
              <a:rPr lang="da-DK" b="1" dirty="0"/>
              <a:t> </a:t>
            </a:r>
            <a:r>
              <a:rPr lang="da-DK" b="1" dirty="0" err="1"/>
              <a:t>shapes</a:t>
            </a:r>
            <a:r>
              <a:rPr lang="da-DK" b="1" dirty="0"/>
              <a:t>)</a:t>
            </a:r>
            <a:r>
              <a:rPr lang="da-DK" b="0" dirty="0"/>
              <a:t> in Python</a:t>
            </a:r>
            <a:endParaRPr lang="da-D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35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da-DK" sz="1200" i="1" dirty="0">
                <a:latin typeface="Courier New" panose="02070309020205020404" pitchFamily="49" charset="0"/>
                <a:cs typeface="Courier New" panose="02070309020205020404" pitchFamily="49" charset="0"/>
              </a:rPr>
              <a:t>annotation</a:t>
            </a:r>
            <a:r>
              <a:rPr lang="da-DK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da-DK" sz="1200" b="1" dirty="0"/>
              <a:t> </a:t>
            </a:r>
            <a:r>
              <a:rPr lang="da-DK" sz="1200" dirty="0" err="1"/>
              <a:t>helps</a:t>
            </a:r>
            <a:r>
              <a:rPr lang="da-DK" sz="1200" baseline="0" dirty="0"/>
              <a:t> to spot </a:t>
            </a:r>
            <a:r>
              <a:rPr lang="da-DK" sz="1200" baseline="0" dirty="0" err="1"/>
              <a:t>misspellings</a:t>
            </a:r>
            <a:r>
              <a:rPr lang="da-DK" sz="1200" baseline="0" dirty="0"/>
              <a:t> </a:t>
            </a:r>
          </a:p>
          <a:p>
            <a:r>
              <a:rPr lang="da-DK" sz="1200" baseline="0" dirty="0"/>
              <a:t>If C </a:t>
            </a:r>
            <a:r>
              <a:rPr lang="da-DK" sz="1200" baseline="0" dirty="0" err="1"/>
              <a:t>does</a:t>
            </a:r>
            <a:r>
              <a:rPr lang="da-DK" sz="1200" baseline="0" dirty="0"/>
              <a:t> </a:t>
            </a:r>
            <a:r>
              <a:rPr lang="da-DK" sz="1200" baseline="0" dirty="0" err="1"/>
              <a:t>definde</a:t>
            </a:r>
            <a:r>
              <a:rPr lang="da-DK" sz="1200" baseline="0" dirty="0"/>
              <a:t> </a:t>
            </a:r>
            <a:r>
              <a:rPr lang="da-DK" sz="1200" baseline="0" dirty="0" err="1"/>
              <a:t>sayHi</a:t>
            </a:r>
            <a:r>
              <a:rPr lang="da-DK" sz="1200" baseline="0" dirty="0"/>
              <a:t>, </a:t>
            </a:r>
            <a:r>
              <a:rPr lang="da-DK" sz="1200" baseline="0" dirty="0" err="1"/>
              <a:t>we</a:t>
            </a:r>
            <a:r>
              <a:rPr lang="da-DK" sz="1200" baseline="0" dirty="0"/>
              <a:t> </a:t>
            </a:r>
            <a:r>
              <a:rPr lang="da-DK" sz="1200" baseline="0" dirty="0" err="1"/>
              <a:t>will</a:t>
            </a:r>
            <a:r>
              <a:rPr lang="da-DK" sz="1200" baseline="0" dirty="0"/>
              <a:t> </a:t>
            </a:r>
            <a:r>
              <a:rPr lang="da-DK" sz="1200" baseline="0" dirty="0" err="1"/>
              <a:t>get</a:t>
            </a:r>
            <a:r>
              <a:rPr lang="da-DK" sz="1200" baseline="0" dirty="0"/>
              <a:t> an ”</a:t>
            </a:r>
            <a:r>
              <a:rPr lang="da-DK" sz="1200" baseline="0" dirty="0" err="1"/>
              <a:t>Unresolved</a:t>
            </a:r>
            <a:r>
              <a:rPr lang="da-DK" sz="1200" baseline="0" dirty="0"/>
              <a:t> compilation problem, </a:t>
            </a:r>
            <a:r>
              <a:rPr lang="da-DK" sz="1200" baseline="0" dirty="0" err="1"/>
              <a:t>duplicate</a:t>
            </a:r>
            <a:r>
              <a:rPr lang="da-DK" sz="1200" baseline="0" dirty="0"/>
              <a:t> default </a:t>
            </a:r>
            <a:r>
              <a:rPr lang="da-DK" sz="1200" baseline="0" dirty="0" err="1"/>
              <a:t>methods</a:t>
            </a:r>
            <a:r>
              <a:rPr lang="da-DK" sz="1200" baseline="0" dirty="0"/>
              <a:t>”</a:t>
            </a:r>
          </a:p>
          <a:p>
            <a:r>
              <a:rPr lang="da-DK" sz="1200" b="0" baseline="0" dirty="0"/>
              <a:t>If </a:t>
            </a:r>
            <a:r>
              <a:rPr lang="pt-BR" sz="1200" b="0" u="non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pt-BR" sz="1200" b="0" u="none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pt-BR" sz="1200" b="0" u="non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(){} does not contain {}, then we get “</a:t>
            </a:r>
            <a:r>
              <a:rPr lang="en-US" sz="1200" b="0" u="non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Unresolved compilation problem: Cannot instantiate the type A”</a:t>
            </a:r>
            <a:endParaRPr lang="da-DK" sz="1200" b="0" baseline="0" dirty="0"/>
          </a:p>
          <a:p>
            <a:r>
              <a:rPr lang="da-DK" sz="1200" baseline="0" dirty="0"/>
              <a:t>new A() {} : A is </a:t>
            </a:r>
            <a:r>
              <a:rPr lang="da-DK" sz="1200" baseline="0" dirty="0" err="1"/>
              <a:t>class</a:t>
            </a:r>
            <a:r>
              <a:rPr lang="da-DK" sz="1200" baseline="0" dirty="0"/>
              <a:t> or interface, () is </a:t>
            </a:r>
            <a:r>
              <a:rPr lang="da-DK" sz="1200" baseline="0" dirty="0" err="1"/>
              <a:t>calling</a:t>
            </a:r>
            <a:r>
              <a:rPr lang="da-DK" sz="1200" baseline="0" dirty="0"/>
              <a:t> the </a:t>
            </a:r>
            <a:r>
              <a:rPr lang="da-DK" sz="1200" baseline="0" dirty="0" err="1"/>
              <a:t>constructor</a:t>
            </a:r>
            <a:r>
              <a:rPr lang="da-DK" sz="1200" baseline="0" dirty="0"/>
              <a:t>, {} </a:t>
            </a:r>
            <a:r>
              <a:rPr lang="da-DK" sz="1200" baseline="0" dirty="0" err="1"/>
              <a:t>can</a:t>
            </a:r>
            <a:r>
              <a:rPr lang="da-DK" sz="1200" baseline="0" dirty="0"/>
              <a:t> </a:t>
            </a:r>
            <a:r>
              <a:rPr lang="da-DK" sz="1200" baseline="0" dirty="0" err="1"/>
              <a:t>contain</a:t>
            </a:r>
            <a:r>
              <a:rPr lang="da-DK" sz="1200" baseline="0" dirty="0"/>
              <a:t> </a:t>
            </a:r>
            <a:r>
              <a:rPr lang="da-DK" sz="1200" baseline="0" dirty="0" err="1"/>
              <a:t>further</a:t>
            </a:r>
            <a:r>
              <a:rPr lang="da-DK" sz="1200" baseline="0" dirty="0"/>
              <a:t> </a:t>
            </a:r>
            <a:r>
              <a:rPr lang="da-DK" sz="1200" baseline="0" dirty="0" err="1"/>
              <a:t>class</a:t>
            </a:r>
            <a:r>
              <a:rPr lang="da-DK" sz="1200" baseline="0" dirty="0"/>
              <a:t> </a:t>
            </a:r>
            <a:r>
              <a:rPr lang="da-DK" sz="1200" baseline="0" dirty="0" err="1"/>
              <a:t>implementations</a:t>
            </a:r>
            <a:r>
              <a:rPr lang="da-DK" sz="1200" baseline="0" dirty="0"/>
              <a:t> for </a:t>
            </a:r>
            <a:r>
              <a:rPr lang="da-DK" sz="1200" baseline="0" dirty="0" err="1"/>
              <a:t>this</a:t>
            </a:r>
            <a:r>
              <a:rPr lang="da-DK" sz="1200" baseline="0" dirty="0"/>
              <a:t> </a:t>
            </a:r>
            <a:r>
              <a:rPr lang="da-DK" sz="1200" baseline="0" dirty="0" err="1"/>
              <a:t>use-once</a:t>
            </a:r>
            <a:r>
              <a:rPr lang="da-DK" sz="1200" baseline="0" dirty="0"/>
              <a:t> </a:t>
            </a:r>
            <a:r>
              <a:rPr lang="da-DK" sz="1200" baseline="0" dirty="0" err="1"/>
              <a:t>class</a:t>
            </a:r>
            <a:endParaRPr lang="da-DK" sz="1200" baseline="0" dirty="0"/>
          </a:p>
          <a:p>
            <a:r>
              <a:rPr lang="da-DK" sz="1200" baseline="0" dirty="0"/>
              <a:t>purpose is to </a:t>
            </a:r>
            <a:r>
              <a:rPr lang="da-DK" sz="1200" baseline="0" dirty="0" err="1"/>
              <a:t>avoid</a:t>
            </a:r>
            <a:r>
              <a:rPr lang="da-DK" sz="1200" baseline="0" dirty="0"/>
              <a:t> </a:t>
            </a:r>
            <a:r>
              <a:rPr lang="da-DK" sz="1200" baseline="0" dirty="0" err="1"/>
              <a:t>having</a:t>
            </a:r>
            <a:r>
              <a:rPr lang="da-DK" sz="1200" baseline="0" dirty="0"/>
              <a:t> to </a:t>
            </a:r>
            <a:r>
              <a:rPr lang="da-DK" sz="1200" baseline="0" dirty="0" err="1"/>
              <a:t>name</a:t>
            </a:r>
            <a:r>
              <a:rPr lang="da-DK" sz="1200" baseline="0" dirty="0"/>
              <a:t> the class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33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Python lambda has been available since version 1.0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555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05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nestone.academy/ns/books/published/java4python/index.html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java.com/download" TargetMode="External"/><Relationship Id="rId4" Type="http://schemas.openxmlformats.org/officeDocument/2006/relationships/hyperlink" Target="http://www.oracle.com/java/technologies/downloads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code.visualstudio.com/" TargetMode="External"/><Relationship Id="rId7" Type="http://schemas.openxmlformats.org/officeDocument/2006/relationships/hyperlink" Target="https://www.bluej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tbeans.org/" TargetMode="External"/><Relationship Id="rId5" Type="http://schemas.openxmlformats.org/officeDocument/2006/relationships/hyperlink" Target="https://www.eclipse.org/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s://www.jetbrains.com/idea/" TargetMode="Externa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/>
          <p:nvPr/>
        </p:nvCxnSpPr>
        <p:spPr>
          <a:xfrm flipV="1">
            <a:off x="838199" y="3019638"/>
            <a:ext cx="2612990" cy="23485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860388" y="3469647"/>
            <a:ext cx="2612990" cy="23485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827313" y="3919656"/>
            <a:ext cx="2612990" cy="23485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2" y="2920558"/>
            <a:ext cx="11478568" cy="1325563"/>
          </a:xfrm>
        </p:spPr>
        <p:txBody>
          <a:bodyPr/>
          <a:lstStyle/>
          <a:p>
            <a:pPr algn="r"/>
            <a:r>
              <a:rPr lang="en-US" noProof="0" dirty="0"/>
              <a:t>Java vs Python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389914" y="2924397"/>
            <a:ext cx="21771" cy="1252723"/>
          </a:xfrm>
          <a:prstGeom prst="line">
            <a:avLst/>
          </a:prstGeom>
          <a:ln w="161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34025" y="2957055"/>
            <a:ext cx="21771" cy="1252723"/>
          </a:xfrm>
          <a:prstGeom prst="line">
            <a:avLst/>
          </a:prstGeom>
          <a:ln w="161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466681" y="3019638"/>
            <a:ext cx="2912348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3455796" y="3504474"/>
            <a:ext cx="2912348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3434025" y="3941677"/>
            <a:ext cx="2912348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Content Placeholder 30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346" y="2576608"/>
            <a:ext cx="1934527" cy="1934527"/>
          </a:xfr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84" y="4312848"/>
            <a:ext cx="3429000" cy="17145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827313" y="5302917"/>
            <a:ext cx="21771" cy="1252723"/>
          </a:xfrm>
          <a:prstGeom prst="line">
            <a:avLst/>
          </a:prstGeom>
          <a:ln w="161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766457" y="5305651"/>
            <a:ext cx="21771" cy="1252723"/>
          </a:xfrm>
          <a:prstGeom prst="line">
            <a:avLst/>
          </a:prstGeom>
          <a:ln w="161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831502" y="5387382"/>
            <a:ext cx="2912348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831503" y="5872218"/>
            <a:ext cx="2912348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853276" y="6309421"/>
            <a:ext cx="2912348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766039" y="3022372"/>
            <a:ext cx="2612990" cy="23485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770646" y="3472382"/>
            <a:ext cx="2630572" cy="23998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783202" y="3922391"/>
            <a:ext cx="2595827" cy="23706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773881" y="6322227"/>
            <a:ext cx="7251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 err="1">
                <a:hlinkClick r:id="rId5"/>
              </a:rPr>
              <a:t>runestone.academy</a:t>
            </a:r>
            <a:r>
              <a:rPr lang="en-US" noProof="0" dirty="0">
                <a:hlinkClick r:id="rId5"/>
              </a:rPr>
              <a:t>/ns/books/published/java4python/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675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74741A-9C93-BF11-2B07-8EB6CE050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94" y="3492664"/>
            <a:ext cx="10019211" cy="33653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should you know something about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1887"/>
            <a:ext cx="10936294" cy="1984375"/>
          </a:xfrm>
        </p:spPr>
        <p:txBody>
          <a:bodyPr/>
          <a:lstStyle/>
          <a:p>
            <a:r>
              <a:rPr lang="en-US" noProof="0" dirty="0"/>
              <a:t>Java is an example of a </a:t>
            </a:r>
            <a:r>
              <a:rPr lang="en-US" b="1" noProof="0" dirty="0"/>
              <a:t>statically typed</a:t>
            </a:r>
            <a:r>
              <a:rPr lang="en-US" noProof="0" dirty="0"/>
              <a:t> </a:t>
            </a:r>
            <a:r>
              <a:rPr lang="en-US" b="1" noProof="0" dirty="0"/>
              <a:t>object oriented </a:t>
            </a:r>
            <a:r>
              <a:rPr lang="en-US" noProof="0" dirty="0"/>
              <a:t>language</a:t>
            </a:r>
            <a:br>
              <a:rPr lang="en-US" noProof="0" dirty="0"/>
            </a:br>
            <a:r>
              <a:rPr lang="en-US" noProof="0" dirty="0"/>
              <a:t>(like C and C++) opposed to Python’s being dynamically typed</a:t>
            </a:r>
          </a:p>
          <a:p>
            <a:r>
              <a:rPr lang="en-US" noProof="0" dirty="0"/>
              <a:t>One of the most widespread used programming languages</a:t>
            </a:r>
          </a:p>
          <a:p>
            <a:r>
              <a:rPr lang="en-US" noProof="0" dirty="0"/>
              <a:t>Used in other courses at the Department of Computer Science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8D829-A712-4BAE-8893-B0DBE967C3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l="28698" t="553" r="32336" b="87211"/>
          <a:stretch/>
        </p:blipFill>
        <p:spPr>
          <a:xfrm>
            <a:off x="4303889" y="3479367"/>
            <a:ext cx="4004916" cy="5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Java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4595"/>
            <a:ext cx="10809514" cy="393291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noProof="0" dirty="0"/>
              <a:t>Java 1.0 released 1995 by Sun Microsystems </a:t>
            </a:r>
            <a:br>
              <a:rPr lang="en-US" noProof="0" dirty="0"/>
            </a:br>
            <a:r>
              <a:rPr lang="en-US" noProof="0" dirty="0"/>
              <a:t>(acquired by Oracle 2010)</a:t>
            </a:r>
          </a:p>
          <a:p>
            <a:pPr>
              <a:spcAft>
                <a:spcPts val="1200"/>
              </a:spcAft>
            </a:pPr>
            <a:r>
              <a:rPr lang="en-US" noProof="0" dirty="0"/>
              <a:t>”Write Once, Run Anywhere”</a:t>
            </a:r>
          </a:p>
          <a:p>
            <a:pPr>
              <a:spcAft>
                <a:spcPts val="1200"/>
              </a:spcAft>
            </a:pPr>
            <a:r>
              <a:rPr lang="en-US" noProof="0" dirty="0"/>
              <a:t>1999 improved performance by the </a:t>
            </a:r>
            <a:r>
              <a:rPr lang="en-US" b="1" noProof="0" dirty="0"/>
              <a:t>Java </a:t>
            </a:r>
            <a:r>
              <a:rPr lang="en-US" b="1" noProof="0" dirty="0" err="1"/>
              <a:t>HotSpot</a:t>
            </a:r>
            <a:r>
              <a:rPr lang="en-US" b="1" noProof="0" dirty="0"/>
              <a:t> Performance Engine </a:t>
            </a:r>
          </a:p>
          <a:p>
            <a:pPr>
              <a:spcAft>
                <a:spcPts val="1200"/>
              </a:spcAft>
            </a:pPr>
            <a:r>
              <a:rPr lang="en-US" noProof="0" dirty="0"/>
              <a:t>Current version Java 26 (released March 2026)</a:t>
            </a:r>
          </a:p>
          <a:p>
            <a:pPr>
              <a:spcAft>
                <a:spcPts val="1200"/>
              </a:spcAft>
            </a:pPr>
            <a:r>
              <a:rPr lang="en-US" noProof="0" dirty="0"/>
              <a:t>Java compiler generates </a:t>
            </a:r>
            <a:r>
              <a:rPr lang="en-US" b="1" noProof="0" dirty="0"/>
              <a:t>Java bytecode</a:t>
            </a:r>
            <a:r>
              <a:rPr lang="en-US" noProof="0" dirty="0"/>
              <a:t> that is executed on a </a:t>
            </a:r>
            <a:br>
              <a:rPr lang="en-US" noProof="0" dirty="0"/>
            </a:br>
            <a:r>
              <a:rPr lang="en-US" b="1" noProof="0" dirty="0"/>
              <a:t>Java virtual machine</a:t>
            </a:r>
            <a:r>
              <a:rPr lang="en-US" noProof="0" dirty="0"/>
              <a:t> (</a:t>
            </a:r>
            <a:r>
              <a:rPr lang="en-US" b="1" noProof="0" dirty="0"/>
              <a:t>JVM</a:t>
            </a:r>
            <a:r>
              <a:rPr lang="en-US" noProof="0" dirty="0"/>
              <a:t>) that contains a garbage collector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051" y="221457"/>
            <a:ext cx="1293749" cy="2328749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8349344" y="2802731"/>
            <a:ext cx="3627663" cy="1088571"/>
          </a:xfrm>
          <a:prstGeom prst="wedgeRoundRectCallout">
            <a:avLst>
              <a:gd name="adj1" fmla="val -67148"/>
              <a:gd name="adj2" fmla="val 6234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>
                <a:solidFill>
                  <a:schemeClr val="tx1"/>
                </a:solidFill>
              </a:rPr>
              <a:t>PyPy</a:t>
            </a:r>
            <a:r>
              <a:rPr lang="en-US" sz="2400" noProof="0" dirty="0">
                <a:solidFill>
                  <a:schemeClr val="tx1"/>
                </a:solidFill>
              </a:rPr>
              <a:t> is adopting the same ideas to Python</a:t>
            </a:r>
            <a:br>
              <a:rPr lang="en-US" sz="2400" noProof="0" dirty="0">
                <a:solidFill>
                  <a:schemeClr val="tx1"/>
                </a:solidFill>
              </a:rPr>
            </a:br>
            <a:r>
              <a:rPr lang="en-US" sz="2400" noProof="0" dirty="0">
                <a:solidFill>
                  <a:schemeClr val="tx1"/>
                </a:solidFill>
              </a:rPr>
              <a:t>(Just-in-Time compilation)</a:t>
            </a:r>
          </a:p>
        </p:txBody>
      </p:sp>
    </p:spTree>
    <p:extLst>
      <p:ext uri="{BB962C8B-B14F-4D97-AF65-F5344CB8AC3E}">
        <p14:creationId xmlns:p14="http://schemas.microsoft.com/office/powerpoint/2010/main" val="1863959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293A89D-742F-D59F-C3D1-005F10C233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847"/>
          <a:stretch>
            <a:fillRect/>
          </a:stretch>
        </p:blipFill>
        <p:spPr>
          <a:xfrm>
            <a:off x="7110156" y="62275"/>
            <a:ext cx="5013837" cy="3328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067" y="377000"/>
            <a:ext cx="10515600" cy="1325563"/>
          </a:xfrm>
        </p:spPr>
        <p:txBody>
          <a:bodyPr/>
          <a:lstStyle/>
          <a:p>
            <a:r>
              <a:rPr lang="en-US" noProof="0" dirty="0"/>
              <a:t>Installing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756" y="1783962"/>
            <a:ext cx="6676901" cy="4589380"/>
          </a:xfrm>
        </p:spPr>
        <p:txBody>
          <a:bodyPr>
            <a:normAutofit/>
          </a:bodyPr>
          <a:lstStyle/>
          <a:p>
            <a:r>
              <a:rPr lang="en-US" sz="2400" noProof="0" dirty="0"/>
              <a:t>To compile Java programs into </a:t>
            </a:r>
            <a:r>
              <a:rPr lang="en-US" sz="2400" b="1" noProof="0" dirty="0"/>
              <a:t>bytecode </a:t>
            </a:r>
            <a:r>
              <a:rPr lang="en-US" sz="2400" noProof="0" dirty="0"/>
              <a:t>you need a </a:t>
            </a:r>
            <a:r>
              <a:rPr lang="en-US" sz="2400" noProof="0" dirty="0">
                <a:solidFill>
                  <a:srgbClr val="C00000"/>
                </a:solidFill>
              </a:rPr>
              <a:t>compiler</a:t>
            </a:r>
            <a:r>
              <a:rPr lang="en-US" sz="2400" noProof="0" dirty="0"/>
              <a:t>, e.g., from Java SE Development Kit (</a:t>
            </a:r>
            <a:r>
              <a:rPr lang="en-US" sz="2400" b="1" noProof="0" dirty="0"/>
              <a:t>JDK</a:t>
            </a:r>
            <a:r>
              <a:rPr lang="en-US" sz="2400" noProof="0" dirty="0"/>
              <a:t>):</a:t>
            </a:r>
          </a:p>
          <a:p>
            <a:pPr marL="355600" indent="0">
              <a:spcAft>
                <a:spcPts val="1200"/>
              </a:spcAft>
              <a:buNone/>
            </a:pPr>
            <a:r>
              <a:rPr lang="en-US" sz="2400" noProof="0" dirty="0">
                <a:hlinkClick r:id="rId4"/>
              </a:rPr>
              <a:t>www.oracle.com/java/technologies/downloads/</a:t>
            </a:r>
            <a:endParaRPr lang="en-US" sz="2400" noProof="0" dirty="0"/>
          </a:p>
          <a:p>
            <a:pPr marL="355600" indent="0">
              <a:buNone/>
            </a:pPr>
            <a:r>
              <a:rPr lang="en-US" sz="2400" noProof="0" dirty="0"/>
              <a:t>(you might need to add the JDK directory to your PATH, e.g. C:\Program Files\Java\jdk-26.0.1\bin)</a:t>
            </a:r>
          </a:p>
          <a:p>
            <a:pPr>
              <a:spcAft>
                <a:spcPts val="600"/>
              </a:spcAft>
            </a:pPr>
            <a:endParaRPr lang="en-US" sz="2400" noProof="0" dirty="0"/>
          </a:p>
          <a:p>
            <a:pPr>
              <a:spcAft>
                <a:spcPts val="600"/>
              </a:spcAft>
            </a:pPr>
            <a:r>
              <a:rPr lang="en-US" sz="2400" noProof="0" dirty="0"/>
              <a:t>To only run compiled Java programs:</a:t>
            </a:r>
          </a:p>
          <a:p>
            <a:pPr marL="355600" indent="0">
              <a:spcAft>
                <a:spcPts val="600"/>
              </a:spcAft>
              <a:buNone/>
            </a:pPr>
            <a:r>
              <a:rPr lang="en-US" sz="2400" noProof="0" dirty="0">
                <a:hlinkClick r:id="rId5"/>
              </a:rPr>
              <a:t>java.com/download</a:t>
            </a:r>
            <a:endParaRPr lang="en-US" sz="2400" noProof="0" dirty="0"/>
          </a:p>
          <a:p>
            <a:pPr marL="358775" indent="0" defTabSz="990600">
              <a:buNone/>
            </a:pPr>
            <a:r>
              <a:rPr lang="en-US" sz="2400" noProof="0" dirty="0"/>
              <a:t>(If you use JDK, you should not download this)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3DFDD3-983C-4A79-B11A-AFF282C47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157" y="3458147"/>
            <a:ext cx="5013838" cy="33285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7406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Java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868526" cy="1440089"/>
          </a:xfrm>
        </p:spPr>
        <p:txBody>
          <a:bodyPr/>
          <a:lstStyle/>
          <a:p>
            <a:r>
              <a:rPr lang="en-US" noProof="0" dirty="0"/>
              <a:t>Many available, some popular: </a:t>
            </a:r>
            <a:br>
              <a:rPr lang="en-US" noProof="0" dirty="0"/>
            </a:br>
            <a:r>
              <a:rPr lang="en-US" noProof="0" dirty="0">
                <a:hlinkClick r:id="rId3"/>
              </a:rPr>
              <a:t>Visual Studie Code</a:t>
            </a:r>
            <a:r>
              <a:rPr lang="en-US" noProof="0" dirty="0"/>
              <a:t>, </a:t>
            </a:r>
            <a:r>
              <a:rPr lang="en-US" noProof="0" dirty="0">
                <a:hlinkClick r:id="rId4"/>
              </a:rPr>
              <a:t>IntelliJ IDEA</a:t>
            </a:r>
            <a:r>
              <a:rPr lang="en-US" noProof="0" dirty="0"/>
              <a:t>, </a:t>
            </a:r>
            <a:r>
              <a:rPr lang="en-US" noProof="0" dirty="0">
                <a:hlinkClick r:id="rId5"/>
              </a:rPr>
              <a:t>Eclipse</a:t>
            </a:r>
            <a:r>
              <a:rPr lang="en-US" noProof="0" dirty="0"/>
              <a:t>, and </a:t>
            </a:r>
            <a:r>
              <a:rPr lang="en-US" noProof="0" dirty="0">
                <a:hlinkClick r:id="rId6"/>
              </a:rPr>
              <a:t>NetBeans</a:t>
            </a:r>
            <a:endParaRPr lang="en-US" noProof="0" dirty="0"/>
          </a:p>
          <a:p>
            <a:r>
              <a:rPr lang="en-US" noProof="0" dirty="0"/>
              <a:t>An IDE for beginners: </a:t>
            </a:r>
            <a:r>
              <a:rPr lang="en-US" noProof="0" dirty="0" err="1">
                <a:hlinkClick r:id="rId7"/>
              </a:rPr>
              <a:t>BlueJ</a:t>
            </a:r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098" y="3432875"/>
            <a:ext cx="3221075" cy="30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88" y="3432875"/>
            <a:ext cx="4216000" cy="30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892" y="3432875"/>
            <a:ext cx="3809615" cy="306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793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231" y="2752375"/>
            <a:ext cx="5625953" cy="40140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9293"/>
            <a:ext cx="12192000" cy="872224"/>
          </a:xfrm>
        </p:spPr>
        <p:txBody>
          <a:bodyPr/>
          <a:lstStyle/>
          <a:p>
            <a:pPr algn="ctr"/>
            <a:r>
              <a:rPr lang="en-US" noProof="0" dirty="0"/>
              <a:t>Compiling and running a Java program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417043"/>
              </p:ext>
            </p:extLst>
          </p:nvPr>
        </p:nvGraphicFramePr>
        <p:xfrm>
          <a:off x="5104289" y="1105137"/>
          <a:ext cx="5612671" cy="1543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267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0872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HelloWorld.java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234894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HelloWorld {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println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"Hello World!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 );</a:t>
                      </a:r>
                    </a:p>
                    <a:p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590097" y="1690688"/>
            <a:ext cx="1846967" cy="8075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HelloWorld</a:t>
            </a:r>
            <a:r>
              <a:rPr lang="en-US" b="1" noProof="0" dirty="0">
                <a:solidFill>
                  <a:schemeClr val="tx1"/>
                </a:solidFill>
              </a:rPr>
              <a:t>.java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84040" y="4976013"/>
            <a:ext cx="1846967" cy="9425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Java Virtual Machine</a:t>
            </a:r>
          </a:p>
          <a:p>
            <a:pPr algn="ctr"/>
            <a:r>
              <a:rPr lang="en-US" noProof="0" dirty="0">
                <a:solidFill>
                  <a:schemeClr val="tx1"/>
                </a:solidFill>
              </a:rPr>
              <a:t>(</a:t>
            </a:r>
            <a:r>
              <a:rPr lang="en-US" b="1" noProof="0" dirty="0">
                <a:solidFill>
                  <a:schemeClr val="tx1"/>
                </a:solidFill>
              </a:rPr>
              <a:t>java</a:t>
            </a:r>
            <a:r>
              <a:rPr lang="en-US" noProof="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8" name="Straight Arrow Connector 7"/>
          <p:cNvCxnSpPr>
            <a:stCxn id="6" idx="2"/>
            <a:endCxn id="10" idx="0"/>
          </p:cNvCxnSpPr>
          <p:nvPr/>
        </p:nvCxnSpPr>
        <p:spPr>
          <a:xfrm flipH="1">
            <a:off x="2507524" y="2498262"/>
            <a:ext cx="6057" cy="1202620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7" idx="2"/>
          </p:cNvCxnSpPr>
          <p:nvPr/>
        </p:nvCxnSpPr>
        <p:spPr>
          <a:xfrm>
            <a:off x="2507524" y="5918525"/>
            <a:ext cx="0" cy="607730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584040" y="3700882"/>
            <a:ext cx="1846967" cy="76012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 err="1">
                <a:solidFill>
                  <a:schemeClr val="tx1"/>
                </a:solidFill>
              </a:rPr>
              <a:t>HelloWorld</a:t>
            </a:r>
            <a:r>
              <a:rPr lang="en-US" b="1" noProof="0" dirty="0" err="1">
                <a:solidFill>
                  <a:schemeClr val="tx1"/>
                </a:solidFill>
              </a:rPr>
              <a:t>.class</a:t>
            </a:r>
            <a:endParaRPr lang="en-US" b="1" noProof="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88182" y="6002928"/>
            <a:ext cx="1485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5450" y="2648754"/>
            <a:ext cx="1980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Java compiler</a:t>
            </a:r>
          </a:p>
          <a:p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sz="2400" b="1" noProof="0" dirty="0" err="1">
                <a:solidFill>
                  <a:schemeClr val="accent1">
                    <a:lumMod val="50000"/>
                  </a:schemeClr>
                </a:solidFill>
              </a:rPr>
              <a:t>javac</a:t>
            </a:r>
            <a:r>
              <a:rPr lang="en-US" sz="2400" noProof="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3" name="Straight Arrow Connector 12"/>
          <p:cNvCxnSpPr>
            <a:stCxn id="10" idx="2"/>
            <a:endCxn id="7" idx="0"/>
          </p:cNvCxnSpPr>
          <p:nvPr/>
        </p:nvCxnSpPr>
        <p:spPr>
          <a:xfrm>
            <a:off x="2507524" y="4461011"/>
            <a:ext cx="0" cy="515002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802359" y="2886119"/>
            <a:ext cx="3115513" cy="64542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Oval 14"/>
          <p:cNvSpPr/>
          <p:nvPr/>
        </p:nvSpPr>
        <p:spPr>
          <a:xfrm>
            <a:off x="6742983" y="5661282"/>
            <a:ext cx="2505914" cy="61924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9040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Java :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695988"/>
              </p:ext>
            </p:extLst>
          </p:nvPr>
        </p:nvGraphicFramePr>
        <p:xfrm>
          <a:off x="587279" y="4555060"/>
          <a:ext cx="6599555" cy="2162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95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145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PrintArguments.java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79642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PrintArguments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main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 String[]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(int i=0; i&lt;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args.length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 i++)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[i] );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5970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noProof="0" dirty="0"/>
              <a:t>name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.java</a:t>
            </a:r>
            <a:r>
              <a:rPr lang="en-US" noProof="0" dirty="0"/>
              <a:t> must be equal to the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i="1" noProof="0" dirty="0"/>
              <a:t>name </a:t>
            </a:r>
          </a:p>
          <a:p>
            <a:r>
              <a:rPr lang="en-US" noProof="0" dirty="0"/>
              <a:t>A class can only be </a:t>
            </a:r>
            <a:r>
              <a:rPr lang="en-US" noProof="0" dirty="0" err="1"/>
              <a:t>excuted</a:t>
            </a:r>
            <a:r>
              <a:rPr lang="en-US" noProof="0" dirty="0"/>
              <a:t> using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en-US" noProof="0" dirty="0"/>
              <a:t> </a:t>
            </a:r>
            <a:r>
              <a:rPr lang="en-US" i="1" noProof="0" dirty="0"/>
              <a:t>name</a:t>
            </a:r>
            <a:r>
              <a:rPr lang="en-US" noProof="0" dirty="0"/>
              <a:t> (without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.class</a:t>
            </a:r>
            <a:r>
              <a:rPr lang="en-US" noProof="0" dirty="0"/>
              <a:t>) if the class has a class method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main </a:t>
            </a:r>
            <a:r>
              <a:rPr lang="en-US" noProof="0" dirty="0"/>
              <a:t>with signature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public static void main(String[]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noProof="0" dirty="0">
                <a:cs typeface="Courier New" panose="02070309020205020404" pitchFamily="49" charset="0"/>
              </a:rPr>
              <a:t>(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noProof="0" dirty="0">
                <a:cs typeface="Courier New" panose="02070309020205020404" pitchFamily="49" charset="0"/>
              </a:rPr>
              <a:t> is inherited from C and C++ sharing a lot of syntax with Java)</a:t>
            </a:r>
          </a:p>
          <a:p>
            <a:r>
              <a:rPr lang="en-US" noProof="0" dirty="0">
                <a:cs typeface="Courier New" panose="02070309020205020404" pitchFamily="49" charset="0"/>
              </a:rPr>
              <a:t>Java convention is that class names should use CamelCase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543628"/>
              </p:ext>
            </p:extLst>
          </p:nvPr>
        </p:nvGraphicFramePr>
        <p:xfrm>
          <a:off x="7522845" y="4555060"/>
          <a:ext cx="4135755" cy="172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57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640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35523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PrintArguments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y z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390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3862015"/>
              </p:ext>
            </p:extLst>
          </p:nvPr>
        </p:nvGraphicFramePr>
        <p:xfrm>
          <a:off x="2628191" y="2545226"/>
          <a:ext cx="6599555" cy="2162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95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145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PrintArguments.java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79642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PrintArguments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(int i=0; i&lt;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args.length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 i++)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[i] );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pSp>
        <p:nvGrpSpPr>
          <p:cNvPr id="68" name="Group 67"/>
          <p:cNvGrpSpPr/>
          <p:nvPr/>
        </p:nvGrpSpPr>
        <p:grpSpPr>
          <a:xfrm>
            <a:off x="6348300" y="1571986"/>
            <a:ext cx="2879446" cy="1492696"/>
            <a:chOff x="6348300" y="1571986"/>
            <a:chExt cx="2879446" cy="1492696"/>
          </a:xfrm>
        </p:grpSpPr>
        <p:cxnSp>
          <p:nvCxnSpPr>
            <p:cNvPr id="13" name="Straight Arrow Connector 12"/>
            <p:cNvCxnSpPr/>
            <p:nvPr/>
          </p:nvCxnSpPr>
          <p:spPr>
            <a:xfrm flipH="1">
              <a:off x="6488483" y="2471324"/>
              <a:ext cx="440419" cy="495419"/>
            </a:xfrm>
            <a:prstGeom prst="straightConnector1">
              <a:avLst/>
            </a:prstGeom>
            <a:ln w="57150">
              <a:solidFill>
                <a:schemeClr val="accent5">
                  <a:lumMod val="20000"/>
                  <a:lumOff val="80000"/>
                </a:schemeClr>
              </a:solidFill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6511221" y="2230011"/>
              <a:ext cx="584669" cy="307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6400531" y="2256520"/>
              <a:ext cx="713306" cy="80816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6348300" y="1571986"/>
              <a:ext cx="28794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class name containing 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  <a:r>
                <a:rPr lang="en-US" noProof="0" dirty="0">
                  <a:solidFill>
                    <a:srgbClr val="C00000"/>
                  </a:solidFill>
                </a:rPr>
                <a:t> must have same name as file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03826" y="1568310"/>
            <a:ext cx="2879446" cy="1465051"/>
            <a:chOff x="103826" y="1568310"/>
            <a:chExt cx="2879446" cy="1465051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1978429" y="2660601"/>
              <a:ext cx="697072" cy="37276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03826" y="1568310"/>
              <a:ext cx="28794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there can be several classes in a file – but only one class should be 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public</a:t>
              </a:r>
              <a:r>
                <a:rPr lang="en-US" noProof="0" dirty="0">
                  <a:solidFill>
                    <a:srgbClr val="C00000"/>
                  </a:solidFill>
                  <a:cs typeface="Courier New" panose="02070309020205020404" pitchFamily="49" charset="0"/>
                </a:rPr>
                <a:t> and have same name as file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3584392" y="1535163"/>
            <a:ext cx="2595850" cy="1745117"/>
            <a:chOff x="3584392" y="1535163"/>
            <a:chExt cx="2595850" cy="1745117"/>
          </a:xfrm>
        </p:grpSpPr>
        <p:sp>
          <p:nvSpPr>
            <p:cNvPr id="33" name="TextBox 32"/>
            <p:cNvSpPr txBox="1"/>
            <p:nvPr/>
          </p:nvSpPr>
          <p:spPr>
            <a:xfrm>
              <a:off x="3584392" y="1535163"/>
              <a:ext cx="2595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type of return value </a:t>
              </a:r>
              <a:br>
                <a:rPr lang="en-US" noProof="0" dirty="0">
                  <a:solidFill>
                    <a:srgbClr val="C00000"/>
                  </a:solidFill>
                </a:rPr>
              </a:br>
              <a:r>
                <a:rPr lang="en-US" noProof="0" dirty="0">
                  <a:solidFill>
                    <a:srgbClr val="C00000"/>
                  </a:solidFill>
                </a:rPr>
                <a:t>(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</a:t>
              </a:r>
              <a:r>
                <a:rPr lang="en-US" noProof="0" dirty="0">
                  <a:solidFill>
                    <a:srgbClr val="C00000"/>
                  </a:solidFill>
                </a:rPr>
                <a:t> = no return value)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5430769" y="2537738"/>
              <a:ext cx="7023" cy="419543"/>
            </a:xfrm>
            <a:prstGeom prst="straightConnector1">
              <a:avLst/>
            </a:prstGeom>
            <a:ln w="57150">
              <a:solidFill>
                <a:schemeClr val="accent5">
                  <a:lumMod val="20000"/>
                  <a:lumOff val="80000"/>
                </a:schemeClr>
              </a:solidFill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5425678" y="2148840"/>
              <a:ext cx="19584" cy="113144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-118272" y="3064682"/>
            <a:ext cx="3307776" cy="923330"/>
            <a:chOff x="-118272" y="3064682"/>
            <a:chExt cx="3307776" cy="923330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2326965" y="3391593"/>
              <a:ext cx="862539" cy="252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-118272" y="3064682"/>
              <a:ext cx="259585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the 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  <a:r>
                <a:rPr lang="en-US" noProof="0" dirty="0">
                  <a:solidFill>
                    <a:srgbClr val="C00000"/>
                  </a:solidFill>
                </a:rPr>
                <a:t> method must be 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public</a:t>
              </a:r>
              <a:r>
                <a:rPr lang="en-US" noProof="0" dirty="0">
                  <a:solidFill>
                    <a:srgbClr val="C00000"/>
                  </a:solidFill>
                </a:rPr>
                <a:t> to be visible outside class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1475690" y="554146"/>
            <a:ext cx="3194792" cy="2756009"/>
            <a:chOff x="1475690" y="554146"/>
            <a:chExt cx="3194792" cy="2756009"/>
          </a:xfrm>
        </p:grpSpPr>
        <p:sp>
          <p:nvSpPr>
            <p:cNvPr id="25" name="TextBox 24"/>
            <p:cNvSpPr txBox="1"/>
            <p:nvPr/>
          </p:nvSpPr>
          <p:spPr>
            <a:xfrm>
              <a:off x="1475690" y="554146"/>
              <a:ext cx="31947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a 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static</a:t>
              </a:r>
              <a:r>
                <a:rPr lang="en-US" noProof="0" dirty="0">
                  <a:solidFill>
                    <a:srgbClr val="C00000"/>
                  </a:solidFill>
                </a:rPr>
                <a:t> method in </a:t>
              </a:r>
              <a:br>
                <a:rPr lang="en-US" noProof="0" dirty="0">
                  <a:solidFill>
                    <a:srgbClr val="C00000"/>
                  </a:solidFill>
                </a:rPr>
              </a:br>
              <a:r>
                <a:rPr lang="en-US" noProof="0" dirty="0">
                  <a:solidFill>
                    <a:srgbClr val="C00000"/>
                  </a:solidFill>
                </a:rPr>
                <a:t>a class is a class method</a:t>
              </a:r>
              <a:br>
                <a:rPr lang="en-US" noProof="0" dirty="0">
                  <a:solidFill>
                    <a:srgbClr val="C00000"/>
                  </a:solidFill>
                </a:rPr>
              </a:br>
              <a:r>
                <a:rPr lang="en-US" noProof="0" dirty="0">
                  <a:solidFill>
                    <a:srgbClr val="C00000"/>
                  </a:solidFill>
                </a:rPr>
                <a:t>(exists without creating objects)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3157601" y="1422978"/>
              <a:ext cx="1142873" cy="188717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5051069" y="1095252"/>
            <a:ext cx="2258345" cy="2203670"/>
            <a:chOff x="5051069" y="1095252"/>
            <a:chExt cx="2258345" cy="2203670"/>
          </a:xfrm>
        </p:grpSpPr>
        <p:cxnSp>
          <p:nvCxnSpPr>
            <p:cNvPr id="28" name="Straight Arrow Connector 27"/>
            <p:cNvCxnSpPr/>
            <p:nvPr/>
          </p:nvCxnSpPr>
          <p:spPr>
            <a:xfrm>
              <a:off x="6125285" y="2540336"/>
              <a:ext cx="1380" cy="422016"/>
            </a:xfrm>
            <a:prstGeom prst="straightConnector1">
              <a:avLst/>
            </a:prstGeom>
            <a:ln w="57150">
              <a:solidFill>
                <a:schemeClr val="accent5">
                  <a:lumMod val="20000"/>
                  <a:lumOff val="80000"/>
                </a:schemeClr>
              </a:solidFill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6126666" y="1427420"/>
              <a:ext cx="3968" cy="187150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5051069" y="1095252"/>
              <a:ext cx="22583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method name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8429292" y="3451035"/>
            <a:ext cx="3637773" cy="618802"/>
            <a:chOff x="8429292" y="3451035"/>
            <a:chExt cx="3637773" cy="618802"/>
          </a:xfrm>
        </p:grpSpPr>
        <p:cxnSp>
          <p:nvCxnSpPr>
            <p:cNvPr id="42" name="Straight Arrow Connector 41"/>
            <p:cNvCxnSpPr/>
            <p:nvPr/>
          </p:nvCxnSpPr>
          <p:spPr>
            <a:xfrm flipH="1" flipV="1">
              <a:off x="8429292" y="3451035"/>
              <a:ext cx="1417132" cy="35056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9808720" y="3700505"/>
              <a:ext cx="22583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name of argument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7773002" y="2363171"/>
            <a:ext cx="4334485" cy="930484"/>
            <a:chOff x="7773002" y="2363171"/>
            <a:chExt cx="4334485" cy="930484"/>
          </a:xfrm>
        </p:grpSpPr>
        <p:cxnSp>
          <p:nvCxnSpPr>
            <p:cNvPr id="45" name="Straight Arrow Connector 44"/>
            <p:cNvCxnSpPr/>
            <p:nvPr/>
          </p:nvCxnSpPr>
          <p:spPr>
            <a:xfrm flipH="1">
              <a:off x="7773002" y="2888673"/>
              <a:ext cx="1815729" cy="40498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9561334" y="2363171"/>
              <a:ext cx="25461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type of argument, </a:t>
              </a:r>
              <a:br>
                <a:rPr lang="en-US" noProof="0" dirty="0">
                  <a:solidFill>
                    <a:srgbClr val="C00000"/>
                  </a:solidFill>
                </a:rPr>
              </a:br>
              <a:r>
                <a:rPr lang="en-US" noProof="0" dirty="0">
                  <a:solidFill>
                    <a:srgbClr val="C00000"/>
                  </a:solidFill>
                </a:rPr>
                <a:t>array of 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String</a:t>
              </a:r>
              <a:r>
                <a:rPr lang="en-US" noProof="0" dirty="0">
                  <a:solidFill>
                    <a:srgbClr val="C00000"/>
                  </a:solidFill>
                </a:rPr>
                <a:t> values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294254" y="3679859"/>
            <a:ext cx="3897745" cy="2323631"/>
            <a:chOff x="8144202" y="3699031"/>
            <a:chExt cx="4047798" cy="2304561"/>
          </a:xfrm>
        </p:grpSpPr>
        <p:cxnSp>
          <p:nvCxnSpPr>
            <p:cNvPr id="50" name="Straight Arrow Connector 49"/>
            <p:cNvCxnSpPr/>
            <p:nvPr/>
          </p:nvCxnSpPr>
          <p:spPr>
            <a:xfrm flipH="1" flipV="1">
              <a:off x="8144202" y="3699031"/>
              <a:ext cx="1485298" cy="80231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9201704" y="4492601"/>
              <a:ext cx="2990296" cy="15109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noProof="0" dirty="0">
                  <a:solidFill>
                    <a:srgbClr val="C00000"/>
                  </a:solidFill>
                </a:rPr>
                <a:t>For-loop equivalent to</a:t>
              </a:r>
              <a:endParaRPr lang="en-US" sz="1400" b="1" noProof="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int i = 0;</a:t>
              </a:r>
            </a:p>
            <a:p>
              <a:r>
                <a:rPr lang="en-US" sz="1400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while (i &lt; </a:t>
              </a:r>
              <a:r>
                <a:rPr lang="en-US" sz="1400" b="1" noProof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args.length</a:t>
              </a:r>
              <a:r>
                <a:rPr lang="en-US" sz="1400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{</a:t>
              </a:r>
            </a:p>
            <a:p>
              <a:r>
                <a:rPr lang="en-US" sz="1400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en-US" sz="1400" b="1" i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code</a:t>
              </a:r>
            </a:p>
            <a:p>
              <a:r>
                <a:rPr lang="en-US" sz="1400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i++;</a:t>
              </a:r>
            </a:p>
            <a:p>
              <a:r>
                <a:rPr lang="en-US" sz="1400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201704" y="4859625"/>
              <a:ext cx="2945497" cy="108896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4780613" y="4042081"/>
            <a:ext cx="2879446" cy="1638568"/>
            <a:chOff x="4780613" y="4042081"/>
            <a:chExt cx="2879446" cy="1638568"/>
          </a:xfrm>
        </p:grpSpPr>
        <p:cxnSp>
          <p:nvCxnSpPr>
            <p:cNvPr id="54" name="Straight Arrow Connector 53"/>
            <p:cNvCxnSpPr/>
            <p:nvPr/>
          </p:nvCxnSpPr>
          <p:spPr>
            <a:xfrm flipH="1" flipV="1">
              <a:off x="6220336" y="4042081"/>
              <a:ext cx="0" cy="95403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4780613" y="5034318"/>
              <a:ext cx="28794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the print statement is found in the 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System</a:t>
              </a:r>
              <a:r>
                <a:rPr lang="en-US" noProof="0" dirty="0">
                  <a:solidFill>
                    <a:srgbClr val="C00000"/>
                  </a:solidFill>
                </a:rPr>
                <a:t> class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1584542" y="3721028"/>
            <a:ext cx="3065519" cy="2009464"/>
            <a:chOff x="1584542" y="3801598"/>
            <a:chExt cx="3085940" cy="1928893"/>
          </a:xfrm>
        </p:grpSpPr>
        <p:cxnSp>
          <p:nvCxnSpPr>
            <p:cNvPr id="57" name="Straight Arrow Connector 56"/>
            <p:cNvCxnSpPr>
              <a:cxnSpLocks/>
            </p:cNvCxnSpPr>
            <p:nvPr/>
          </p:nvCxnSpPr>
          <p:spPr>
            <a:xfrm flipV="1">
              <a:off x="3189504" y="3801598"/>
              <a:ext cx="1480978" cy="131904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1584542" y="5084160"/>
              <a:ext cx="28794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declare new 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noProof="0" dirty="0">
                  <a:solidFill>
                    <a:srgbClr val="C00000"/>
                  </a:solidFill>
                </a:rPr>
                <a:t> variable locally inside for-loop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400531" y="4069837"/>
            <a:ext cx="2879446" cy="2788163"/>
            <a:chOff x="6400531" y="4069837"/>
            <a:chExt cx="2879446" cy="2788163"/>
          </a:xfrm>
        </p:grpSpPr>
        <p:cxnSp>
          <p:nvCxnSpPr>
            <p:cNvPr id="60" name="Straight Arrow Connector 59"/>
            <p:cNvCxnSpPr/>
            <p:nvPr/>
          </p:nvCxnSpPr>
          <p:spPr>
            <a:xfrm flipH="1" flipV="1">
              <a:off x="7788024" y="4069837"/>
              <a:ext cx="5182" cy="166065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6400531" y="5657671"/>
              <a:ext cx="28794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java arrays are indexed from 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 </a:t>
              </a:r>
              <a:r>
                <a:rPr lang="en-US" noProof="0" dirty="0">
                  <a:solidFill>
                    <a:srgbClr val="C00000"/>
                  </a:solidFill>
                </a:rPr>
                <a:t>to </a:t>
              </a:r>
              <a:r>
                <a:rPr lang="en-US" noProof="0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args.length</a:t>
              </a:r>
              <a:r>
                <a:rPr lang="en-US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– 1</a:t>
              </a:r>
            </a:p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and the length of an array object is fixed once created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0172987" y="5730490"/>
            <a:ext cx="823799" cy="548900"/>
            <a:chOff x="8429295" y="3451038"/>
            <a:chExt cx="2389813" cy="1662189"/>
          </a:xfrm>
        </p:grpSpPr>
        <p:cxnSp>
          <p:nvCxnSpPr>
            <p:cNvPr id="47" name="Straight Arrow Connector 46"/>
            <p:cNvCxnSpPr/>
            <p:nvPr/>
          </p:nvCxnSpPr>
          <p:spPr>
            <a:xfrm flipH="1" flipV="1">
              <a:off x="8429295" y="3451038"/>
              <a:ext cx="668922" cy="99454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8560761" y="4304750"/>
              <a:ext cx="2258347" cy="808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C00000"/>
                  </a:solidFill>
                </a:rPr>
                <a:t>i += 1</a:t>
              </a:r>
              <a:endPara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221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Argument list also exists in Python...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482798"/>
              </p:ext>
            </p:extLst>
          </p:nvPr>
        </p:nvGraphicFramePr>
        <p:xfrm>
          <a:off x="3277235" y="2898169"/>
          <a:ext cx="563753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5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PrintArguments.py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sys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sys.argv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PrintArguments.py a b 42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['PrintArguments.py', 'a', 'b', '42']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850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994089"/>
              </p:ext>
            </p:extLst>
          </p:nvPr>
        </p:nvGraphicFramePr>
        <p:xfrm>
          <a:off x="1317554" y="341811"/>
          <a:ext cx="9739630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96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Primitive.java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/**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A Java docstring to be processed using '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javadoc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*/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comment until end-of-line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Primitive {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x;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type of variable must be declared before used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1;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remember ';' after each statement</a:t>
                      </a:r>
                    </a:p>
                    <a:p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y=2;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indentation does not matter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a=3, b=4;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multiple declarations and initialization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+ y + a + b);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int[] v={1, 2, 42, 3};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array of four int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(v[2]);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prints 42, arrays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0-indexed</a:t>
                      </a:r>
                      <a:endParaRPr lang="en-US" sz="16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/* multi-line comment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that continues until here */</a:t>
                      </a: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v = new int[3];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new array of size three, containing zeros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(v[2]);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prints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</a:t>
                      </a:r>
                      <a:endParaRPr lang="en-US" sz="16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(x == y) {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if-syntax '(' and ')' mandatory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1;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2; 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} else {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use '{' and '}' to create block of statements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a = 4; b = 3; 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two statements on one line</a:t>
                      </a:r>
                    </a:p>
                    <a:p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85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state types – Python works without...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46487"/>
            <a:ext cx="9911577" cy="2478968"/>
          </a:xfrm>
        </p:spPr>
        <p:txBody>
          <a:bodyPr>
            <a:normAutofit/>
          </a:bodyPr>
          <a:lstStyle/>
          <a:p>
            <a:r>
              <a:rPr lang="en-US" noProof="0" dirty="0"/>
              <a:t>Just enforcing a different programming style (also C and C++)</a:t>
            </a:r>
          </a:p>
          <a:p>
            <a:r>
              <a:rPr lang="en-US" noProof="0" dirty="0"/>
              <a:t>Helps users to avoid mixing up values of different types</a:t>
            </a:r>
          </a:p>
          <a:p>
            <a:r>
              <a:rPr lang="en-US" noProof="0" dirty="0"/>
              <a:t>(Some) type errors can be </a:t>
            </a:r>
            <a:br>
              <a:rPr lang="en-US" noProof="0" dirty="0"/>
            </a:br>
            <a:r>
              <a:rPr lang="en-US" noProof="0" dirty="0"/>
              <a:t>caught at compile time</a:t>
            </a:r>
          </a:p>
          <a:p>
            <a:r>
              <a:rPr lang="en-US" noProof="0" dirty="0"/>
              <a:t>More efficient code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868214"/>
              </p:ext>
            </p:extLst>
          </p:nvPr>
        </p:nvGraphicFramePr>
        <p:xfrm>
          <a:off x="670930" y="3980671"/>
          <a:ext cx="5093495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49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type_error.py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3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'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print('program running...')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print(x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program running...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----&gt; 4 print(x / y)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unsupported operand type(s) for /: 'int' and 'str'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770844"/>
              </p:ext>
            </p:extLst>
          </p:nvPr>
        </p:nvGraphicFramePr>
        <p:xfrm>
          <a:off x="5928732" y="2487151"/>
          <a:ext cx="555406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06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int x = 3;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String y = "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";</a:t>
                      </a:r>
                    </a:p>
                    <a:p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y);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javac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TypeError.java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javac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TypeError.java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TypeError.java:5: error: bad operand types for binary operator '/'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/ y);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^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first type:  int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second type: String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error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57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813" y="198871"/>
            <a:ext cx="10515600" cy="1325563"/>
          </a:xfrm>
        </p:spPr>
        <p:txBody>
          <a:bodyPr/>
          <a:lstStyle/>
          <a:p>
            <a:r>
              <a:rPr lang="en-US" noProof="0" dirty="0"/>
              <a:t>Basic Java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38295"/>
              </p:ext>
            </p:extLst>
          </p:nvPr>
        </p:nvGraphicFramePr>
        <p:xfrm>
          <a:off x="127990" y="1824163"/>
          <a:ext cx="5793677" cy="43586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773680">
                  <a:extLst>
                    <a:ext uri="{9D8B030D-6E8A-4147-A177-3AD203B41FA5}">
                      <a16:colId xmlns:a16="http://schemas.microsoft.com/office/drawing/2014/main" val="1847099142"/>
                    </a:ext>
                  </a:extLst>
                </a:gridCol>
                <a:gridCol w="3019997">
                  <a:extLst>
                    <a:ext uri="{9D8B030D-6E8A-4147-A177-3AD203B41FA5}">
                      <a16:colId xmlns:a16="http://schemas.microsoft.com/office/drawing/2014/main" val="608477444"/>
                    </a:ext>
                  </a:extLst>
                </a:gridCol>
              </a:tblGrid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505633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endParaRPr lang="en-US" sz="20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2000" noProof="0" dirty="0"/>
                        <a:t> or </a:t>
                      </a:r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906620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8 bit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3964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character (16-bit</a:t>
                      </a:r>
                      <a:r>
                        <a:rPr lang="en-US" sz="2000" baseline="0" noProof="0" dirty="0"/>
                        <a:t> UTF)</a:t>
                      </a:r>
                      <a:endParaRPr lang="en-US" sz="20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768935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16 bit</a:t>
                      </a:r>
                      <a:r>
                        <a:rPr lang="en-US" sz="2000" baseline="0" noProof="0" dirty="0"/>
                        <a:t> integer</a:t>
                      </a:r>
                      <a:endParaRPr lang="en-US" sz="20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298925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32 bit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788925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64 bit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136620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32 bit</a:t>
                      </a:r>
                      <a:r>
                        <a:rPr lang="en-US" sz="2000" baseline="0" noProof="0" dirty="0"/>
                        <a:t> floating bout</a:t>
                      </a:r>
                      <a:endParaRPr lang="en-US" sz="20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967887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64 bit floating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099945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20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BigInteger</a:t>
                      </a:r>
                      <a:endParaRPr lang="en-US" sz="20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arbitrary precision integers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05875"/>
                  </a:ext>
                </a:extLst>
              </a:tr>
              <a:tr h="126373">
                <a:tc>
                  <a:txBody>
                    <a:bodyPr/>
                    <a:lstStyle/>
                    <a:p>
                      <a:r>
                        <a:rPr lang="en-US" sz="20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strings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33376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83448"/>
              </p:ext>
            </p:extLst>
          </p:nvPr>
        </p:nvGraphicFramePr>
        <p:xfrm>
          <a:off x="6096000" y="320040"/>
          <a:ext cx="5928043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80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BigIntegerTest.java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java.math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.*;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import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everything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import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java.math.BigInteger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  //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alternativ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BigIntegerTest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BigInteger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BigInteger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("2");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while (true) {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//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BigIntegers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are immutable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x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.multiply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java.math.BigInteger.toString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65536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4294967296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18446744073709551616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340282366920938463463374607431768211456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98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Java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764" y="1825625"/>
            <a:ext cx="4536374" cy="4351338"/>
          </a:xfrm>
        </p:spPr>
        <p:txBody>
          <a:bodyPr>
            <a:normAutofit fontScale="70000" lnSpcReduction="20000"/>
          </a:bodyPr>
          <a:lstStyle/>
          <a:p>
            <a:r>
              <a:rPr lang="en-US" noProof="0" dirty="0"/>
              <a:t>The size of a </a:t>
            </a:r>
            <a:r>
              <a:rPr lang="en-US" noProof="0" dirty="0" err="1"/>
              <a:t>builtin</a:t>
            </a:r>
            <a:r>
              <a:rPr lang="en-US" noProof="0" dirty="0"/>
              <a:t> Java array can not be modified when first created. </a:t>
            </a:r>
            <a:br>
              <a:rPr lang="en-US" noProof="0" dirty="0"/>
            </a:br>
            <a:r>
              <a:rPr lang="en-US" noProof="0" dirty="0"/>
              <a:t>If you need a bigger array you have to instantiate a new array.</a:t>
            </a:r>
          </a:p>
          <a:p>
            <a:endParaRPr lang="en-US" noProof="0" dirty="0"/>
          </a:p>
          <a:p>
            <a:r>
              <a:rPr lang="en-US" noProof="0" dirty="0"/>
              <a:t>Or better use a standard collection class like </a:t>
            </a:r>
            <a:r>
              <a:rPr lang="en-US" b="1" noProof="0" dirty="0" err="1">
                <a:solidFill>
                  <a:srgbClr val="C00000"/>
                </a:solidFill>
              </a:rPr>
              <a:t>ArrayList</a:t>
            </a:r>
            <a:endParaRPr lang="en-US" b="1" noProof="0" dirty="0">
              <a:solidFill>
                <a:srgbClr val="C00000"/>
              </a:solidFill>
            </a:endParaRPr>
          </a:p>
          <a:p>
            <a:endParaRPr lang="en-US" b="1" noProof="0" dirty="0">
              <a:solidFill>
                <a:srgbClr val="C00000"/>
              </a:solidFill>
            </a:endParaRPr>
          </a:p>
          <a:p>
            <a:r>
              <a:rPr lang="en-US" b="1" noProof="0" dirty="0" err="1">
                <a:solidFill>
                  <a:srgbClr val="C00000"/>
                </a:solidFill>
              </a:rPr>
              <a:t>ArrayList</a:t>
            </a:r>
            <a:r>
              <a:rPr lang="en-US" b="1" noProof="0" dirty="0">
                <a:solidFill>
                  <a:srgbClr val="C00000"/>
                </a:solidFill>
              </a:rPr>
              <a:t> </a:t>
            </a:r>
            <a:r>
              <a:rPr lang="en-US" noProof="0" dirty="0"/>
              <a:t>is a generic class (type of content is given by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i="1" noProof="0" dirty="0">
                <a:cs typeface="Courier New" panose="02070309020205020404" pitchFamily="49" charset="0"/>
              </a:rPr>
              <a:t>element type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noProof="0" dirty="0"/>
              <a:t>; generics available since Java 5, 2004)</a:t>
            </a:r>
            <a:endParaRPr lang="en-US" b="1" noProof="0" dirty="0">
              <a:solidFill>
                <a:srgbClr val="C00000"/>
              </a:solidFill>
            </a:endParaRPr>
          </a:p>
          <a:p>
            <a:endParaRPr lang="en-US" b="1" noProof="0" dirty="0">
              <a:solidFill>
                <a:srgbClr val="C00000"/>
              </a:solidFill>
            </a:endParaRPr>
          </a:p>
          <a:p>
            <a:r>
              <a:rPr lang="en-US" noProof="0" dirty="0"/>
              <a:t>The for-each loop was introduced in Java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16605"/>
              </p:ext>
            </p:extLst>
          </p:nvPr>
        </p:nvGraphicFramePr>
        <p:xfrm>
          <a:off x="5035138" y="365125"/>
          <a:ext cx="6842443" cy="620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24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ConcatenateArrayLists.java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java.util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.*;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java.util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contains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ConcatenateArrayList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//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 a generic container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 </a:t>
                      </a:r>
                      <a:r>
                        <a:rPr lang="en-US" sz="1600" b="1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new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 </a:t>
                      </a:r>
                      <a:r>
                        <a:rPr lang="en-US" sz="1600" b="1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new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 </a:t>
                      </a:r>
                      <a:r>
                        <a:rPr lang="en-US" sz="1600" b="1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new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a.add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("A1");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in Python .append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a.add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("A2");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b.add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("B1");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c.addAll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(a);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// in Python .extend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c.addAll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(b);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(String e : c)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foreach over iterator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716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Tired of writing all these types...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763" y="1825625"/>
            <a:ext cx="11311247" cy="1440089"/>
          </a:xfrm>
        </p:spPr>
        <p:txBody>
          <a:bodyPr>
            <a:normAutofit/>
          </a:bodyPr>
          <a:lstStyle/>
          <a:p>
            <a:r>
              <a:rPr lang="en-US" noProof="0" dirty="0"/>
              <a:t>In Java 7 (2011) the “diamond operator” </a:t>
            </a:r>
            <a:r>
              <a:rPr lang="en-US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  <a:r>
              <a:rPr lang="en-US" noProof="0" dirty="0"/>
              <a:t> was introduced for type inference for generic instance creation to reduce verbosity</a:t>
            </a:r>
          </a:p>
          <a:p>
            <a:r>
              <a:rPr lang="en-US" noProof="0" dirty="0"/>
              <a:t>In Java 10 (2018) the </a:t>
            </a:r>
            <a:r>
              <a:rPr lang="en-US" b="1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noProof="0" dirty="0"/>
              <a:t> keyword was introduced to type infer variables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47074"/>
              </p:ext>
            </p:extLst>
          </p:nvPr>
        </p:nvGraphicFramePr>
        <p:xfrm>
          <a:off x="316922" y="3322059"/>
          <a:ext cx="11558155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81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ArrayListTest.java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java.util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.*;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java.util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contains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ArrayListTest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//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 a generic container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Full types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 subclass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of class List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&lt;&gt;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uses type inference 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  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&lt;&gt;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subclass of List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&lt;String&gt;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     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use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 infer type of variable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 =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Math.floor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(1.5);              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not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obvious what type v is (double)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28" y="6129022"/>
            <a:ext cx="299094" cy="24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35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444915"/>
              </p:ext>
            </p:extLst>
          </p:nvPr>
        </p:nvGraphicFramePr>
        <p:xfrm>
          <a:off x="5513375" y="206829"/>
          <a:ext cx="6294755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47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Functions.java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Functions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private static int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(int x)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x * x;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private static int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(int x, int y)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x * y;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private static String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(String a, String b)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a + b;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string concatenation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(7));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4));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", "def"));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49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abcdef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914" y="311737"/>
            <a:ext cx="4942114" cy="1325563"/>
          </a:xfrm>
        </p:spPr>
        <p:txBody>
          <a:bodyPr/>
          <a:lstStyle/>
          <a:p>
            <a:r>
              <a:rPr lang="en-US" noProof="0" dirty="0"/>
              <a:t>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4"/>
            <a:ext cx="5132375" cy="5108575"/>
          </a:xfrm>
        </p:spPr>
        <p:txBody>
          <a:bodyPr>
            <a:normAutofit/>
          </a:bodyPr>
          <a:lstStyle/>
          <a:p>
            <a:r>
              <a:rPr lang="en-US" noProof="0" dirty="0"/>
              <a:t>Must declare the number of arguments and their types, and the return type</a:t>
            </a:r>
          </a:p>
          <a:p>
            <a:r>
              <a:rPr lang="en-US" noProof="0" dirty="0"/>
              <a:t>The argument types are part of the </a:t>
            </a:r>
            <a:r>
              <a:rPr lang="en-US" i="1" noProof="0" dirty="0"/>
              <a:t>signature</a:t>
            </a:r>
            <a:r>
              <a:rPr lang="en-US" noProof="0" dirty="0"/>
              <a:t> of the function</a:t>
            </a:r>
          </a:p>
          <a:p>
            <a:r>
              <a:rPr lang="en-US" noProof="0" dirty="0"/>
              <a:t>Several functions can have the same name, but different type signatures</a:t>
            </a:r>
          </a:p>
          <a:p>
            <a:endParaRPr lang="en-US" noProof="0" dirty="0"/>
          </a:p>
          <a:p>
            <a:r>
              <a:rPr lang="en-US" noProof="0" dirty="0"/>
              <a:t>Python keyword arguments, </a:t>
            </a:r>
            <a:br>
              <a:rPr lang="en-US" noProof="0" dirty="0"/>
            </a:br>
            <a:r>
              <a:rPr lang="en-US" noProof="0" dirty="0"/>
              <a:t>* and ** do not exist in Java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30038"/>
              </p:ext>
            </p:extLst>
          </p:nvPr>
        </p:nvGraphicFramePr>
        <p:xfrm>
          <a:off x="7169889" y="4325983"/>
          <a:ext cx="4827905" cy="2424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79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functions.py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f(x, y=None):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y is None: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y = x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type(x) is int: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x * y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x + y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print(f(7), f(3, 4),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f('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'def'))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Smiley Face 5"/>
          <p:cNvSpPr/>
          <p:nvPr/>
        </p:nvSpPr>
        <p:spPr>
          <a:xfrm>
            <a:off x="4956464" y="6247915"/>
            <a:ext cx="374567" cy="363338"/>
          </a:xfrm>
          <a:prstGeom prst="smileyFace">
            <a:avLst>
              <a:gd name="adj" fmla="val -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784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930" y="301573"/>
            <a:ext cx="4743203" cy="1325563"/>
          </a:xfrm>
        </p:spPr>
        <p:txBody>
          <a:bodyPr/>
          <a:lstStyle/>
          <a:p>
            <a:r>
              <a:rPr lang="en-US" noProof="0" dirty="0"/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30" y="1627136"/>
            <a:ext cx="4361215" cy="5230864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Constructor = method with name equal to class name</a:t>
            </a:r>
            <a:br>
              <a:rPr lang="en-US" noProof="0" dirty="0"/>
            </a:br>
            <a:r>
              <a:rPr lang="en-US" noProof="0" dirty="0"/>
              <a:t>(no return type)</a:t>
            </a:r>
          </a:p>
          <a:p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noProof="0" dirty="0"/>
              <a:t> = </a:t>
            </a:r>
            <a:r>
              <a:rPr lang="en-US" noProof="0" dirty="0" err="1"/>
              <a:t>referes</a:t>
            </a:r>
            <a:r>
              <a:rPr lang="en-US" noProof="0" dirty="0"/>
              <a:t> to current object (Python “self”)</a:t>
            </a:r>
          </a:p>
          <a:p>
            <a:r>
              <a:rPr lang="en-US" noProof="0" dirty="0"/>
              <a:t>Use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noProof="0" dirty="0"/>
              <a:t> /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noProof="0" dirty="0"/>
              <a:t> on attributes / methods to give access outside class</a:t>
            </a:r>
          </a:p>
          <a:p>
            <a:r>
              <a:rPr lang="en-US" noProof="0" dirty="0"/>
              <a:t>Use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noProof="0" dirty="0"/>
              <a:t> </a:t>
            </a:r>
            <a:r>
              <a:rPr lang="en-US" i="1" noProof="0" dirty="0">
                <a:solidFill>
                  <a:srgbClr val="C00000"/>
                </a:solidFill>
              </a:rPr>
              <a:t>name</a:t>
            </a:r>
            <a:r>
              <a:rPr lang="en-US" noProof="0" dirty="0"/>
              <a:t>(arguments) to create new objects</a:t>
            </a:r>
          </a:p>
          <a:p>
            <a:r>
              <a:rPr lang="en-US" noProof="0" dirty="0"/>
              <a:t>There can be multiple constructors, but with distinct type signatures</a:t>
            </a:r>
          </a:p>
          <a:p>
            <a:pPr lvl="1"/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521969"/>
              </p:ext>
            </p:extLst>
          </p:nvPr>
        </p:nvGraphicFramePr>
        <p:xfrm>
          <a:off x="5140035" y="162368"/>
          <a:ext cx="6877793" cy="652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77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6192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AClass.java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56978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private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 width, height;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declare attributes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// constructor, class name, no return type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(int width, int height)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.width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width; 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.height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height;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(int side)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width = side;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same as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this.width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side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height = side;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width * height;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class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AClass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static void main( String[]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(6, 7);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r.area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24073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486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251" y="301573"/>
            <a:ext cx="3769428" cy="1325563"/>
          </a:xfrm>
        </p:spPr>
        <p:txBody>
          <a:bodyPr/>
          <a:lstStyle/>
          <a:p>
            <a:r>
              <a:rPr lang="en-US" noProof="0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51" y="1627136"/>
            <a:ext cx="4024748" cy="4943310"/>
          </a:xfrm>
        </p:spPr>
        <p:txBody>
          <a:bodyPr>
            <a:normAutofit/>
          </a:bodyPr>
          <a:lstStyle/>
          <a:p>
            <a:r>
              <a:rPr lang="en-US" noProof="0" dirty="0"/>
              <a:t>Java supports single inheritance using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endParaRPr lang="en-US" noProof="0" dirty="0"/>
          </a:p>
          <a:p>
            <a:r>
              <a:rPr lang="en-US" noProof="0" dirty="0"/>
              <a:t>Attributes and methods that should be accessible in a subclass must be declared protected (or public)</a:t>
            </a:r>
          </a:p>
          <a:p>
            <a:r>
              <a:rPr lang="en-US" noProof="0" dirty="0"/>
              <a:t>Constructors are not inherited but can be called using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119916"/>
              </p:ext>
            </p:extLst>
          </p:nvPr>
        </p:nvGraphicFramePr>
        <p:xfrm>
          <a:off x="4476999" y="111568"/>
          <a:ext cx="7555230" cy="661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52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6192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Inheritance.java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56978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BasicRectangle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// protected allows subclass to access attributes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protected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 width, height;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BasicRectangle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(int width, int height)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this.width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width;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this.height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height;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Rectangle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extends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BasicRectangle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Rectangle(int width, int height) {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// call constructor of super class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super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(width, height);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int area()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width * height;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class Inheritance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static void main( String[]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Rectangle r = new Rectangle(6, 7);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r.area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24073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658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4" y="384701"/>
            <a:ext cx="4743203" cy="1325563"/>
          </a:xfrm>
        </p:spPr>
        <p:txBody>
          <a:bodyPr/>
          <a:lstStyle/>
          <a:p>
            <a:r>
              <a:rPr lang="en-US" noProof="0" dirty="0"/>
              <a:t>Generic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434" y="1627136"/>
            <a:ext cx="4052092" cy="4943310"/>
          </a:xfrm>
        </p:spPr>
        <p:txBody>
          <a:bodyPr>
            <a:normAutofit/>
          </a:bodyPr>
          <a:lstStyle/>
          <a:p>
            <a:r>
              <a:rPr lang="en-US" noProof="0" dirty="0"/>
              <a:t>Class that is parameterized by one or more types </a:t>
            </a:r>
            <a:br>
              <a:rPr lang="en-US" noProof="0" dirty="0"/>
            </a:br>
            <a:r>
              <a:rPr lang="en-US" noProof="0" dirty="0"/>
              <a:t>(comma separated)</a:t>
            </a:r>
          </a:p>
          <a:p>
            <a:r>
              <a:rPr lang="en-US" noProof="0" dirty="0"/>
              <a:t>Primitive types cannot be type parameters</a:t>
            </a:r>
          </a:p>
          <a:p>
            <a:r>
              <a:rPr lang="en-US" noProof="0" dirty="0"/>
              <a:t>Instead use </a:t>
            </a:r>
            <a:r>
              <a:rPr lang="en-US" i="1" noProof="0" dirty="0"/>
              <a:t>wrappers</a:t>
            </a:r>
            <a:r>
              <a:rPr lang="en-US" noProof="0" dirty="0"/>
              <a:t>, like </a:t>
            </a:r>
            <a:r>
              <a:rPr lang="en-US" noProof="0" dirty="0">
                <a:solidFill>
                  <a:srgbClr val="C00000"/>
                </a:solidFill>
              </a:rPr>
              <a:t>Integer</a:t>
            </a:r>
            <a:r>
              <a:rPr lang="en-US" noProof="0" dirty="0"/>
              <a:t> for </a:t>
            </a:r>
            <a:r>
              <a:rPr lang="en-US" noProof="0" dirty="0">
                <a:solidFill>
                  <a:srgbClr val="C00000"/>
                </a:solidFill>
              </a:rPr>
              <a:t>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534909"/>
              </p:ext>
            </p:extLst>
          </p:nvPr>
        </p:nvGraphicFramePr>
        <p:xfrm>
          <a:off x="4750129" y="729084"/>
          <a:ext cx="7145655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56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619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GenericPair.java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56978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Pair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&lt;element&gt;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private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x, y;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Pair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x,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y) {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x;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y;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first() { return x; }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second() { return y;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GenericPair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 = new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Pair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&lt;Integer&gt;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(6, 7);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p.first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*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p.second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());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4619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24073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174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17" y="198871"/>
            <a:ext cx="10515600" cy="1325563"/>
          </a:xfrm>
        </p:spPr>
        <p:txBody>
          <a:bodyPr/>
          <a:lstStyle/>
          <a:p>
            <a:r>
              <a:rPr lang="en-US" noProof="0" dirty="0"/>
              <a:t>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317" y="1325604"/>
            <a:ext cx="4600699" cy="5532396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Java does not support multiple inheritance like Python</a:t>
            </a:r>
          </a:p>
          <a:p>
            <a:r>
              <a:rPr lang="en-US" noProof="0" dirty="0"/>
              <a:t>But a class can implement an arbitrary number of </a:t>
            </a:r>
            <a:r>
              <a:rPr lang="en-US" noProof="0" dirty="0">
                <a:solidFill>
                  <a:srgbClr val="C00000"/>
                </a:solidFill>
              </a:rPr>
              <a:t>interfaces</a:t>
            </a:r>
          </a:p>
          <a:p>
            <a:r>
              <a:rPr lang="en-US" noProof="0" dirty="0"/>
              <a:t>An interface </a:t>
            </a:r>
            <a:r>
              <a:rPr lang="en-US" noProof="0" dirty="0" err="1"/>
              <a:t>specifices</a:t>
            </a:r>
            <a:r>
              <a:rPr lang="en-US" noProof="0" dirty="0"/>
              <a:t> a set of attributes and methods a class must have</a:t>
            </a:r>
          </a:p>
          <a:p>
            <a:r>
              <a:rPr lang="en-US" noProof="0" dirty="0"/>
              <a:t>The type of a variable can be an interface, and the variable can hold any object where the class is stated to </a:t>
            </a:r>
            <a:r>
              <a:rPr lang="en-US" noProof="0" dirty="0">
                <a:solidFill>
                  <a:srgbClr val="C00000"/>
                </a:solidFill>
              </a:rPr>
              <a:t>implement </a:t>
            </a:r>
            <a:r>
              <a:rPr lang="en-US" noProof="0" dirty="0"/>
              <a:t>the interface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518070"/>
              </p:ext>
            </p:extLst>
          </p:nvPr>
        </p:nvGraphicFramePr>
        <p:xfrm>
          <a:off x="5699541" y="812483"/>
          <a:ext cx="6231255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2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RectangleInterface.java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interface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Shape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int area();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method declaration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implements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Shape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private int width, height;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// constructor, class name, no return type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</a:t>
                      </a:r>
                      <a:r>
                        <a:rPr lang="en-US" sz="16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(int width, int height)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this.width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width;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this.height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height;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int area()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width * height;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RectangleInterface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Shape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 = new </a:t>
                      </a:r>
                      <a:r>
                        <a:rPr lang="en-US" sz="16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(6, 7);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r.area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());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206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17" y="198871"/>
            <a:ext cx="10515600" cy="1325563"/>
          </a:xfrm>
        </p:spPr>
        <p:txBody>
          <a:bodyPr/>
          <a:lstStyle/>
          <a:p>
            <a:r>
              <a:rPr lang="en-US" noProof="0" dirty="0"/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063" y="1524434"/>
            <a:ext cx="4600699" cy="4885851"/>
          </a:xfrm>
        </p:spPr>
        <p:txBody>
          <a:bodyPr>
            <a:norm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Abstract class</a:t>
            </a:r>
            <a:r>
              <a:rPr lang="en-US" sz="2400" noProof="0" dirty="0"/>
              <a:t> = class that cannot be instantiated, labeled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abstract</a:t>
            </a:r>
            <a:endParaRPr lang="en-US" sz="2400" noProof="0" dirty="0"/>
          </a:p>
          <a:p>
            <a:endParaRPr lang="en-US" sz="2400" noProof="0" dirty="0"/>
          </a:p>
          <a:p>
            <a:r>
              <a:rPr lang="en-US" sz="2400" noProof="0" dirty="0">
                <a:solidFill>
                  <a:srgbClr val="C00000"/>
                </a:solidFill>
              </a:rPr>
              <a:t>Abstract method</a:t>
            </a:r>
            <a:r>
              <a:rPr lang="en-US" sz="2400" noProof="0" dirty="0"/>
              <a:t> = method declared without definition, labeled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abstract</a:t>
            </a:r>
            <a:r>
              <a:rPr lang="en-US" sz="2400" noProof="0" dirty="0"/>
              <a:t>,</a:t>
            </a:r>
            <a:br>
              <a:rPr lang="en-US" sz="2400" noProof="0" dirty="0"/>
            </a:br>
            <a:r>
              <a:rPr lang="en-US" sz="2400" noProof="0" dirty="0"/>
              <a:t>must be in abstract class</a:t>
            </a:r>
          </a:p>
          <a:p>
            <a:endParaRPr lang="en-US" sz="2400" noProof="0" dirty="0"/>
          </a:p>
          <a:p>
            <a:r>
              <a:rPr lang="en-US" sz="2400" noProof="0" dirty="0"/>
              <a:t>An abstract class can be </a:t>
            </a:r>
            <a:r>
              <a:rPr lang="en-US" sz="2400" noProof="0" dirty="0">
                <a:solidFill>
                  <a:srgbClr val="C00000"/>
                </a:solidFill>
              </a:rPr>
              <a:t>extended</a:t>
            </a:r>
            <a:r>
              <a:rPr lang="en-US" sz="2400" noProof="0" dirty="0"/>
              <a:t> to a non-abstract class by providing the missing method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770902"/>
              </p:ext>
            </p:extLst>
          </p:nvPr>
        </p:nvGraphicFramePr>
        <p:xfrm>
          <a:off x="5967396" y="304483"/>
          <a:ext cx="5926455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64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AbstractRectangle.java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abstract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class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Shape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abstract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public int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circumference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abstract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public int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double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fatness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// convert int from area() to double before /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(double)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area() / circumference();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Rectangle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extends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Shape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private int width, height;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// constructor, class name, no return type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Rectangle(int width, int height)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this.width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width;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this.height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height;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int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width * height;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int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circumference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2 * (width + height);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AbstractRectangle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Shape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 = new Rectangle(6, 7);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fatness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626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17" y="198871"/>
            <a:ext cx="10515600" cy="1325563"/>
          </a:xfrm>
        </p:spPr>
        <p:txBody>
          <a:bodyPr/>
          <a:lstStyle/>
          <a:p>
            <a:r>
              <a:rPr lang="en-US" noProof="0" dirty="0"/>
              <a:t>Default methods </a:t>
            </a:r>
            <a:br>
              <a:rPr lang="en-US" noProof="0" dirty="0"/>
            </a:br>
            <a:r>
              <a:rPr lang="en-US" noProof="0" dirty="0"/>
              <a:t>in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307" y="1898507"/>
            <a:ext cx="5383810" cy="4576184"/>
          </a:xfrm>
        </p:spPr>
        <p:txBody>
          <a:bodyPr>
            <a:normAutofit/>
          </a:bodyPr>
          <a:lstStyle/>
          <a:p>
            <a:r>
              <a:rPr lang="en-US" sz="2400" noProof="0" dirty="0"/>
              <a:t>Before Java 8 all methods in an interface were abstract (no definition)</a:t>
            </a:r>
            <a:endParaRPr lang="en-US" sz="2400" noProof="0" dirty="0">
              <a:solidFill>
                <a:srgbClr val="C00000"/>
              </a:solidFill>
            </a:endParaRPr>
          </a:p>
          <a:p>
            <a:endParaRPr lang="en-US" sz="2400" noProof="0" dirty="0">
              <a:solidFill>
                <a:srgbClr val="C00000"/>
              </a:solidFill>
            </a:endParaRPr>
          </a:p>
          <a:p>
            <a:r>
              <a:rPr lang="en-US" sz="2400" noProof="0" dirty="0"/>
              <a:t>Since Java 8 interfaces can have </a:t>
            </a:r>
            <a:r>
              <a:rPr lang="en-US" sz="2400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2400" noProof="0" dirty="0"/>
              <a:t> methods with definition</a:t>
            </a:r>
            <a:endParaRPr lang="en-US" sz="2400" b="1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noProof="0" dirty="0"/>
          </a:p>
          <a:p>
            <a:r>
              <a:rPr lang="en-US" sz="2400" noProof="0" dirty="0"/>
              <a:t>The distinction between abstract classes and interfaces gets blurred</a:t>
            </a:r>
          </a:p>
          <a:p>
            <a:pPr lvl="1"/>
            <a:r>
              <a:rPr lang="en-US" sz="2000" noProof="0" dirty="0"/>
              <a:t>a class can only extend one abstract class</a:t>
            </a:r>
          </a:p>
          <a:p>
            <a:pPr lvl="1"/>
            <a:r>
              <a:rPr lang="en-US" sz="2000" noProof="0" dirty="0"/>
              <a:t>a class can implement more interfaces</a:t>
            </a:r>
          </a:p>
          <a:p>
            <a:pPr marL="457200" lvl="1" indent="0">
              <a:buNone/>
            </a:pPr>
            <a:r>
              <a:rPr lang="en-US" sz="2000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US" sz="2000" noProof="0" dirty="0"/>
              <a:t>multiple “inheritance” is possible in Java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713951"/>
              </p:ext>
            </p:extLst>
          </p:nvPr>
        </p:nvGraphicFramePr>
        <p:xfrm>
          <a:off x="5967396" y="304483"/>
          <a:ext cx="5926455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64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DefaultInterface.java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interface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Shape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int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circumference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</a:t>
                      </a:r>
                    </a:p>
                    <a:p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int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public double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fatness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// convert int from area() to double before /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(double)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area() / circumference();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Rectangle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implements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Shape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private int width, height;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// constructor, class name, no return type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Rectangle(int width, int height)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this.width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width;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this.height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height;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int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area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width * height;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int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circumference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2 * (width + height);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DefaultRectangle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Shape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 = new Rectangle(6, 7);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r.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fatness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835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17" y="198871"/>
            <a:ext cx="10515600" cy="1325563"/>
          </a:xfrm>
        </p:spPr>
        <p:txBody>
          <a:bodyPr/>
          <a:lstStyle/>
          <a:p>
            <a:r>
              <a:rPr lang="en-US" noProof="0" dirty="0"/>
              <a:t>Multiple</a:t>
            </a:r>
            <a:br>
              <a:rPr lang="en-US" noProof="0" dirty="0"/>
            </a:br>
            <a:r>
              <a:rPr lang="en-US" noProof="0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838" y="1624344"/>
            <a:ext cx="3996647" cy="5382246"/>
          </a:xfrm>
        </p:spPr>
        <p:txBody>
          <a:bodyPr>
            <a:normAutofit/>
          </a:bodyPr>
          <a:lstStyle/>
          <a:p>
            <a:r>
              <a:rPr lang="en-US" sz="2400" noProof="0" dirty="0"/>
              <a:t>Class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noProof="0" dirty="0"/>
              <a:t> implements both interfaces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noProof="0" dirty="0"/>
              <a:t> and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en-US" sz="2400" noProof="0" dirty="0"/>
          </a:p>
          <a:p>
            <a:r>
              <a:rPr lang="en-US" sz="2400" noProof="0" dirty="0"/>
              <a:t>Inherits default methods 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sayA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noProof="0" dirty="0"/>
              <a:t>and 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sayB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noProof="0" dirty="0"/>
              <a:t>Cannot inherit 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sayHi</a:t>
            </a:r>
            <a:r>
              <a:rPr lang="en-US" sz="2400" noProof="0" dirty="0"/>
              <a:t>, since in both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noProof="0" dirty="0"/>
              <a:t> and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2400" noProof="0" dirty="0"/>
              <a:t>.</a:t>
            </a:r>
            <a:br>
              <a:rPr lang="en-US" sz="2400" noProof="0" dirty="0"/>
            </a:br>
            <a:r>
              <a:rPr lang="en-US" sz="2400" noProof="0" dirty="0"/>
              <a:t>Must be </a:t>
            </a:r>
            <a:r>
              <a:rPr lang="en-US" sz="2400" noProof="0" dirty="0" err="1"/>
              <a:t>overriden</a:t>
            </a:r>
            <a:r>
              <a:rPr lang="en-US" sz="2400" noProof="0" dirty="0"/>
              <a:t> in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noProof="0" dirty="0"/>
              <a:t> </a:t>
            </a:r>
          </a:p>
          <a:p>
            <a:r>
              <a:rPr lang="en-US" sz="2400" noProof="0" dirty="0"/>
              <a:t>Can use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en-US" sz="2400" noProof="0" dirty="0"/>
              <a:t> to enforce compiler to check if method exists in super class</a:t>
            </a:r>
          </a:p>
          <a:p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new A(){}</a:t>
            </a:r>
            <a:r>
              <a:rPr lang="en-US" sz="2400" noProof="0" dirty="0"/>
              <a:t> creates an instance of an </a:t>
            </a:r>
            <a:r>
              <a:rPr lang="en-US" sz="2400" i="1" noProof="0" dirty="0"/>
              <a:t>anonymous class</a:t>
            </a:r>
            <a:r>
              <a:rPr lang="en-US" sz="2400" noProof="0" dirty="0"/>
              <a:t> (extending or implementing 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805129"/>
              </p:ext>
            </p:extLst>
          </p:nvPr>
        </p:nvGraphicFramePr>
        <p:xfrm>
          <a:off x="4243230" y="349580"/>
          <a:ext cx="7804736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473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MultipleInheritance.java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541826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interface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public void 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sayA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("say A");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public void 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sayHi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("A say's Hi");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interface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public void 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sayB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("say B");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public void 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sayHi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("B say's Hi");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implements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@Override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(optional) requests compiler to 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// check if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sayHi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exists in supertype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void 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sayHi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("C say's Hi");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(</a:t>
                      </a:r>
                      <a:r>
                        <a:rPr lang="en-US" sz="1400" b="1" u="none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 </a:t>
                      </a:r>
                      <a:r>
                        <a:rPr lang="en-US" sz="1400" b="1" u="none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400" b="1" u="none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(){}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).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sayHi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instantiate an anonymous class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void test()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sayA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sayB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sayHi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MultipleInheritance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 String[]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) {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new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().test();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346321"/>
              </p:ext>
            </p:extLst>
          </p:nvPr>
        </p:nvGraphicFramePr>
        <p:xfrm>
          <a:off x="10023302" y="4904329"/>
          <a:ext cx="1565593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5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 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 A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 B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say's Hi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say's Hi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332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Lambda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7006"/>
            <a:ext cx="10515600" cy="1060739"/>
          </a:xfrm>
        </p:spPr>
        <p:txBody>
          <a:bodyPr/>
          <a:lstStyle/>
          <a:p>
            <a:r>
              <a:rPr lang="en-US" noProof="0" dirty="0"/>
              <a:t>Lambda expressions are possible since Java 8 (2014)</a:t>
            </a:r>
          </a:p>
          <a:p>
            <a:r>
              <a:rPr lang="en-US" noProof="0" dirty="0"/>
              <a:t>Syntax :   </a:t>
            </a:r>
            <a:r>
              <a:rPr lang="en-US" i="1" noProof="0" dirty="0">
                <a:solidFill>
                  <a:srgbClr val="C00000"/>
                </a:solidFill>
              </a:rPr>
              <a:t>argument</a:t>
            </a:r>
            <a:r>
              <a:rPr lang="en-US" noProof="0" dirty="0">
                <a:solidFill>
                  <a:srgbClr val="C00000"/>
                </a:solidFill>
              </a:rPr>
              <a:t> </a:t>
            </a:r>
            <a:r>
              <a:rPr lang="en-US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noProof="0" dirty="0">
                <a:solidFill>
                  <a:srgbClr val="C00000"/>
                </a:solidFill>
              </a:rPr>
              <a:t> </a:t>
            </a:r>
            <a:r>
              <a:rPr lang="en-US" i="1" noProof="0" dirty="0">
                <a:solidFill>
                  <a:srgbClr val="C00000"/>
                </a:solidFill>
              </a:rPr>
              <a:t>expression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511246"/>
              </p:ext>
            </p:extLst>
          </p:nvPr>
        </p:nvGraphicFramePr>
        <p:xfrm>
          <a:off x="2735897" y="2632363"/>
          <a:ext cx="6720205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7252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LambdaPrinting.java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32939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java.util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.*;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endParaRPr lang="en-US" sz="16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public class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LambdaPrinting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public static void main(String[]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{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elements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ArrayList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&lt;Integer&gt;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for (int i = 1; i &lt;= 3; i++)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  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elements.add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(i);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	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elements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.forEach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 -&gt;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(e)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};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77252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LambdaPrinting.java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233944"/>
                  </a:ext>
                </a:extLst>
              </a:tr>
              <a:tr h="43507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10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855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79AEBC-E2DE-4BF2-82EA-6AA9745C1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40" y="391886"/>
            <a:ext cx="1168451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Oval 6"/>
          <p:cNvSpPr/>
          <p:nvPr/>
        </p:nvSpPr>
        <p:spPr>
          <a:xfrm>
            <a:off x="1315193" y="770490"/>
            <a:ext cx="5951882" cy="58907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36328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59280</TotalTime>
  <Words>3866</Words>
  <Application>Microsoft Office PowerPoint</Application>
  <PresentationFormat>Widescreen</PresentationFormat>
  <Paragraphs>560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Java vs Python</vt:lpstr>
      <vt:lpstr>Why should you know something about Java?</vt:lpstr>
      <vt:lpstr>Java history</vt:lpstr>
      <vt:lpstr>Installing Java</vt:lpstr>
      <vt:lpstr>Java IDE</vt:lpstr>
      <vt:lpstr>Compiling and running a Java program</vt:lpstr>
      <vt:lpstr>Java : main</vt:lpstr>
      <vt:lpstr>PowerPoint Presentation</vt:lpstr>
      <vt:lpstr>Argument list also exists in Python...</vt:lpstr>
      <vt:lpstr>PowerPoint Presentation</vt:lpstr>
      <vt:lpstr>Why state types – Python works without...</vt:lpstr>
      <vt:lpstr>Basic Java types</vt:lpstr>
      <vt:lpstr>Java arrays</vt:lpstr>
      <vt:lpstr>Tired of writing all these types...</vt:lpstr>
      <vt:lpstr>Function arguments</vt:lpstr>
      <vt:lpstr>Class</vt:lpstr>
      <vt:lpstr>Inheritance</vt:lpstr>
      <vt:lpstr>Generic class</vt:lpstr>
      <vt:lpstr>Interface</vt:lpstr>
      <vt:lpstr>Abstract classes</vt:lpstr>
      <vt:lpstr>Default methods  in interfaces</vt:lpstr>
      <vt:lpstr>Multiple Inheritance</vt:lpstr>
      <vt:lpstr>Lambda expression</vt:lpstr>
      <vt:lpstr>PowerPoint Presentation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2077</cp:revision>
  <dcterms:created xsi:type="dcterms:W3CDTF">2017-10-19T06:54:16Z</dcterms:created>
  <dcterms:modified xsi:type="dcterms:W3CDTF">2026-05-06T07:01:42Z</dcterms:modified>
</cp:coreProperties>
</file>