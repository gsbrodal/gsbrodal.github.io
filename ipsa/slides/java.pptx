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517" r:id="rId2"/>
    <p:sldId id="702" r:id="rId3"/>
    <p:sldId id="704" r:id="rId4"/>
    <p:sldId id="707" r:id="rId5"/>
    <p:sldId id="708" r:id="rId6"/>
    <p:sldId id="709" r:id="rId7"/>
    <p:sldId id="705" r:id="rId8"/>
    <p:sldId id="718" r:id="rId9"/>
    <p:sldId id="720" r:id="rId10"/>
    <p:sldId id="711" r:id="rId11"/>
    <p:sldId id="712" r:id="rId12"/>
    <p:sldId id="701" r:id="rId13"/>
    <p:sldId id="710" r:id="rId14"/>
    <p:sldId id="719" r:id="rId15"/>
    <p:sldId id="703" r:id="rId16"/>
    <p:sldId id="617" r:id="rId17"/>
    <p:sldId id="717" r:id="rId18"/>
    <p:sldId id="716" r:id="rId19"/>
    <p:sldId id="714" r:id="rId20"/>
    <p:sldId id="722" r:id="rId21"/>
    <p:sldId id="723" r:id="rId22"/>
    <p:sldId id="724" r:id="rId23"/>
    <p:sldId id="721" r:id="rId24"/>
    <p:sldId id="715" r:id="rId2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2781" autoAdjust="0"/>
  </p:normalViewPr>
  <p:slideViewPr>
    <p:cSldViewPr snapToGrid="0">
      <p:cViewPr varScale="1">
        <p:scale>
          <a:sx n="47" d="100"/>
          <a:sy n="47" d="100"/>
        </p:scale>
        <p:origin x="58" y="2947"/>
      </p:cViewPr>
      <p:guideLst/>
    </p:cSldViewPr>
  </p:slideViewPr>
  <p:outlineViewPr>
    <p:cViewPr>
      <p:scale>
        <a:sx n="33" d="100"/>
        <a:sy n="33" d="100"/>
      </p:scale>
      <p:origin x="0" y="-421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modSld">
      <pc:chgData name="Gerth Stølting Brodal" userId="04ef4784-6591-4f86-a140-f5c3b108582a" providerId="ADAL" clId="{73BAC7D6-516A-44B5-B4B0-C7B08CA8B392}" dt="2026-03-18T13:06:23.324" v="3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3-18T13:06:23.324" v="3" actId="20577"/>
        <pc:sldMkLst>
          <pc:docMk/>
          <pc:sldMk cId="1667845984" sldId="703"/>
        </pc:sldMkLst>
        <pc:graphicFrameChg chg="modGraphic">
          <ac:chgData name="Gerth Stølting Brodal" userId="04ef4784-6591-4f86-a140-f5c3b108582a" providerId="ADAL" clId="{73BAC7D6-516A-44B5-B4B0-C7B08CA8B392}" dt="2026-03-18T13:06:23.324" v="3" actId="20577"/>
          <ac:graphicFrameMkLst>
            <pc:docMk/>
            <pc:sldMk cId="1667845984" sldId="703"/>
            <ac:graphicFrameMk id="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674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Java </a:t>
            </a:r>
            <a:r>
              <a:rPr lang="da-DK" dirty="0" err="1"/>
              <a:t>mascot</a:t>
            </a:r>
            <a:r>
              <a:rPr lang="da-DK" dirty="0"/>
              <a:t> </a:t>
            </a:r>
            <a:r>
              <a:rPr lang="da-DK" dirty="0" err="1"/>
              <a:t>Juke</a:t>
            </a:r>
            <a:endParaRPr lang="da-DK" dirty="0"/>
          </a:p>
          <a:p>
            <a:r>
              <a:rPr lang="da-DK" dirty="0" err="1"/>
              <a:t>Hotspot</a:t>
            </a:r>
            <a:r>
              <a:rPr lang="da-DK" baseline="0" dirty="0"/>
              <a:t> </a:t>
            </a:r>
            <a:r>
              <a:rPr lang="da-DK" baseline="0" dirty="0" err="1"/>
              <a:t>primary</a:t>
            </a:r>
            <a:r>
              <a:rPr lang="da-DK" baseline="0" dirty="0"/>
              <a:t> developer, Lars Bak from Aarhus </a:t>
            </a:r>
            <a:r>
              <a:rPr lang="da-DK" baseline="0" dirty="0" err="1"/>
              <a:t>University</a:t>
            </a:r>
            <a:endParaRPr lang="da-DK" baseline="0" dirty="0"/>
          </a:p>
          <a:p>
            <a:r>
              <a:rPr lang="en-US" dirty="0"/>
              <a:t>https://en.wikipedia.org/wiki/Java_(programming_language)</a:t>
            </a:r>
          </a:p>
          <a:p>
            <a:endParaRPr lang="en-US" dirty="0"/>
          </a:p>
          <a:p>
            <a:r>
              <a:rPr lang="en-US" dirty="0"/>
              <a:t>Current JDK version:</a:t>
            </a:r>
          </a:p>
          <a:p>
            <a:r>
              <a:rPr lang="en-US" dirty="0"/>
              <a:t>https://www.oracle.com/java/technologies/downloads/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70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 2019:</a:t>
            </a:r>
            <a:r>
              <a:rPr lang="en-US" baseline="0" dirty="0"/>
              <a:t> The Java RE from java.com is NOT compatible with the JDK from oracle.com !!!! But JDK includes a JRE.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758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0677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”</a:t>
            </a:r>
            <a:r>
              <a:rPr lang="da-DK" dirty="0" err="1"/>
              <a:t>println</a:t>
            </a:r>
            <a:r>
              <a:rPr lang="da-DK" dirty="0"/>
              <a:t>(1, 2);”  </a:t>
            </a:r>
            <a:r>
              <a:rPr lang="da-DK" dirty="0" err="1"/>
              <a:t>fails</a:t>
            </a:r>
            <a:r>
              <a:rPr lang="da-DK" dirty="0"/>
              <a:t> </a:t>
            </a:r>
            <a:r>
              <a:rPr lang="da-DK" dirty="0" err="1"/>
              <a:t>since</a:t>
            </a:r>
            <a:r>
              <a:rPr lang="da-DK" dirty="0"/>
              <a:t> </a:t>
            </a:r>
            <a:r>
              <a:rPr lang="da-DK" dirty="0" err="1"/>
              <a:t>println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takes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argument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4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Python </a:t>
            </a:r>
            <a:r>
              <a:rPr lang="en-US" b="1" dirty="0" err="1"/>
              <a:t>sys.argv</a:t>
            </a:r>
            <a:r>
              <a:rPr lang="en-US" b="1" dirty="0"/>
              <a:t> </a:t>
            </a:r>
            <a:r>
              <a:rPr lang="en-US" b="0" dirty="0"/>
              <a:t>contains the same arguments, except that </a:t>
            </a:r>
            <a:r>
              <a:rPr lang="en-US" b="0" dirty="0" err="1"/>
              <a:t>sys.argv</a:t>
            </a:r>
            <a:r>
              <a:rPr lang="en-US" b="0" dirty="0"/>
              <a:t>[0] is the name of the program executed.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26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exist standard library classes that support arbitrary size arrays like class </a:t>
            </a:r>
            <a:r>
              <a:rPr lang="en-US" b="1" dirty="0" err="1"/>
              <a:t>ArrayList</a:t>
            </a:r>
            <a:endParaRPr lang="da-DK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08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/* … */ is in Python </a:t>
            </a:r>
            <a:r>
              <a:rPr lang="da-DK" dirty="0" err="1"/>
              <a:t>often</a:t>
            </a:r>
            <a:r>
              <a:rPr lang="da-DK" dirty="0"/>
              <a:t> </a:t>
            </a:r>
            <a:r>
              <a:rPr lang="da-DK" dirty="0" err="1"/>
              <a:t>simulated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/>
              <a:t>triple-quoted</a:t>
            </a:r>
            <a:r>
              <a:rPr lang="da-DK" dirty="0"/>
              <a:t> </a:t>
            </a:r>
            <a:r>
              <a:rPr lang="da-DK" dirty="0" err="1"/>
              <a:t>strings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41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689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byte</a:t>
            </a:r>
            <a:r>
              <a:rPr lang="da-DK" baseline="0" dirty="0"/>
              <a:t> = </a:t>
            </a:r>
            <a:r>
              <a:rPr lang="en-US" dirty="0"/>
              <a:t>-128 to 127</a:t>
            </a:r>
            <a:endParaRPr lang="da-DK" dirty="0"/>
          </a:p>
          <a:p>
            <a:r>
              <a:rPr lang="da-DK" dirty="0" err="1"/>
              <a:t>BigInteger</a:t>
            </a:r>
            <a:r>
              <a:rPr lang="da-DK" dirty="0"/>
              <a:t> have a </a:t>
            </a:r>
            <a:r>
              <a:rPr lang="da-DK" dirty="0" err="1"/>
              <a:t>toString</a:t>
            </a:r>
            <a:r>
              <a:rPr lang="da-DK" dirty="0"/>
              <a:t> </a:t>
            </a:r>
            <a:r>
              <a:rPr lang="da-DK" dirty="0" err="1"/>
              <a:t>method</a:t>
            </a:r>
            <a:r>
              <a:rPr lang="da-DK" dirty="0"/>
              <a:t>, </a:t>
            </a:r>
            <a:r>
              <a:rPr lang="da-DK" dirty="0" err="1"/>
              <a:t>like</a:t>
            </a:r>
            <a:r>
              <a:rPr lang="da-DK" dirty="0"/>
              <a:t> </a:t>
            </a:r>
            <a:r>
              <a:rPr lang="da-DK" dirty="0" err="1"/>
              <a:t>Python</a:t>
            </a:r>
            <a:r>
              <a:rPr lang="da-DK" dirty="0"/>
              <a:t> __</a:t>
            </a:r>
            <a:r>
              <a:rPr lang="da-DK" dirty="0" err="1"/>
              <a:t>str</a:t>
            </a:r>
            <a:r>
              <a:rPr lang="da-DK" dirty="0"/>
              <a:t>__</a:t>
            </a:r>
            <a:r>
              <a:rPr lang="da-DK" baseline="0" dirty="0"/>
              <a:t> </a:t>
            </a:r>
            <a:r>
              <a:rPr lang="da-DK" baseline="0" dirty="0" err="1"/>
              <a:t>method</a:t>
            </a:r>
            <a:r>
              <a:rPr lang="da-DK" baseline="0" dirty="0"/>
              <a:t>, and </a:t>
            </a:r>
            <a:r>
              <a:rPr lang="da-DK" baseline="0" dirty="0" err="1"/>
              <a:t>str</a:t>
            </a:r>
            <a:r>
              <a:rPr lang="da-DK" baseline="0" dirty="0"/>
              <a:t>(x)</a:t>
            </a:r>
          </a:p>
          <a:p>
            <a:r>
              <a:rPr lang="da-DK" baseline="0" dirty="0"/>
              <a:t>Java </a:t>
            </a:r>
            <a:r>
              <a:rPr lang="da-DK" baseline="0" dirty="0" err="1"/>
              <a:t>does</a:t>
            </a:r>
            <a:r>
              <a:rPr lang="da-DK" baseline="0" dirty="0"/>
              <a:t> not </a:t>
            </a:r>
            <a:r>
              <a:rPr lang="da-DK" baseline="0" dirty="0" err="1"/>
              <a:t>allow</a:t>
            </a:r>
            <a:r>
              <a:rPr lang="da-DK" baseline="0" dirty="0"/>
              <a:t> </a:t>
            </a:r>
            <a:r>
              <a:rPr lang="da-DK" baseline="0" dirty="0" err="1"/>
              <a:t>uses</a:t>
            </a:r>
            <a:r>
              <a:rPr lang="da-DK" baseline="0" dirty="0"/>
              <a:t> to overload operators, so </a:t>
            </a:r>
            <a:r>
              <a:rPr lang="da-DK" baseline="0" dirty="0" err="1"/>
              <a:t>we</a:t>
            </a:r>
            <a:r>
              <a:rPr lang="da-DK" baseline="0" dirty="0"/>
              <a:t> have to </a:t>
            </a:r>
            <a:r>
              <a:rPr lang="da-DK" baseline="0" dirty="0" err="1"/>
              <a:t>write</a:t>
            </a:r>
            <a:r>
              <a:rPr lang="da-DK" baseline="0" dirty="0"/>
              <a:t> </a:t>
            </a:r>
            <a:r>
              <a:rPr lang="da-DK" baseline="0" dirty="0" err="1"/>
              <a:t>x.multiply</a:t>
            </a:r>
            <a:r>
              <a:rPr lang="da-DK" baseline="0" dirty="0"/>
              <a:t>(x) </a:t>
            </a:r>
            <a:r>
              <a:rPr lang="da-DK" baseline="0" dirty="0" err="1"/>
              <a:t>instead</a:t>
            </a:r>
            <a:r>
              <a:rPr lang="da-DK" baseline="0" dirty="0"/>
              <a:t> of x * 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2964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ArrayList</a:t>
            </a:r>
            <a:r>
              <a:rPr lang="en-US" b="1" dirty="0"/>
              <a:t>&lt;&gt;</a:t>
            </a:r>
            <a:r>
              <a:rPr lang="en-US" dirty="0"/>
              <a:t> x = new </a:t>
            </a:r>
            <a:r>
              <a:rPr lang="en-US" dirty="0" err="1"/>
              <a:t>ArrayList</a:t>
            </a:r>
            <a:r>
              <a:rPr lang="en-US" dirty="0"/>
              <a:t>&lt;String&gt;();  --- </a:t>
            </a:r>
            <a:r>
              <a:rPr lang="en-US" b="1" dirty="0"/>
              <a:t>does not work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256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 = example</a:t>
            </a:r>
            <a:r>
              <a:rPr lang="en-US" baseline="0" dirty="0"/>
              <a:t> of </a:t>
            </a:r>
            <a:r>
              <a:rPr lang="en-US" baseline="0" dirty="0" err="1"/>
              <a:t>builtin</a:t>
            </a:r>
            <a:r>
              <a:rPr lang="en-US" baseline="0" dirty="0"/>
              <a:t> overloaded operator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4351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having multiple</a:t>
            </a:r>
            <a:r>
              <a:rPr lang="en-US" baseline="0" dirty="0"/>
              <a:t> class definitions in a file, only one can be public – and must have same name as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6487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method or a variable is marked as </a:t>
            </a:r>
            <a:r>
              <a:rPr lang="en-US" b="1" dirty="0"/>
              <a:t>protected</a:t>
            </a:r>
            <a:r>
              <a:rPr lang="en-US" dirty="0"/>
              <a:t>, it can be accessed from:</a:t>
            </a:r>
          </a:p>
          <a:p>
            <a:pPr lvl="1"/>
            <a:r>
              <a:rPr lang="en-US" sz="7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 1) </a:t>
            </a:r>
            <a:r>
              <a:rPr lang="en-US" dirty="0">
                <a:effectLst/>
              </a:rPr>
              <a:t>Within the enclosing class.</a:t>
            </a:r>
          </a:p>
          <a:p>
            <a:pPr lvl="1"/>
            <a:r>
              <a:rPr lang="en-US" sz="7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 2) </a:t>
            </a:r>
            <a:r>
              <a:rPr lang="en-US" dirty="0">
                <a:effectLst/>
              </a:rPr>
              <a:t>Other classes in the same package as the enclosing class.</a:t>
            </a:r>
          </a:p>
          <a:p>
            <a:pPr lvl="1"/>
            <a:r>
              <a:rPr lang="en-US" sz="7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        3) </a:t>
            </a:r>
            <a:r>
              <a:rPr lang="en-US" dirty="0">
                <a:effectLst/>
              </a:rPr>
              <a:t>Sub classes, regardless of packages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63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“</a:t>
            </a:r>
            <a:r>
              <a:rPr lang="en-US" dirty="0" err="1"/>
              <a:t>var</a:t>
            </a:r>
            <a:r>
              <a:rPr lang="en-US" dirty="0"/>
              <a:t> p” to avoid writing</a:t>
            </a:r>
            <a:r>
              <a:rPr lang="en-US" baseline="0" dirty="0"/>
              <a:t> “Pair&lt;Integer&gt; p”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1524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ensures that at compile time we know that r has an area method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788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 variable </a:t>
            </a:r>
            <a:r>
              <a:rPr lang="da-DK" dirty="0" err="1"/>
              <a:t>can</a:t>
            </a:r>
            <a:r>
              <a:rPr lang="da-DK" dirty="0"/>
              <a:t> have type </a:t>
            </a:r>
            <a:r>
              <a:rPr lang="da-DK" dirty="0" err="1"/>
              <a:t>that</a:t>
            </a:r>
            <a:r>
              <a:rPr lang="da-DK" dirty="0"/>
              <a:t> is an abstract class</a:t>
            </a:r>
          </a:p>
          <a:p>
            <a:r>
              <a:rPr lang="da-DK" dirty="0"/>
              <a:t>Int / </a:t>
            </a:r>
            <a:r>
              <a:rPr lang="da-DK" dirty="0" err="1"/>
              <a:t>int</a:t>
            </a:r>
            <a:r>
              <a:rPr lang="da-DK" dirty="0"/>
              <a:t> returns </a:t>
            </a:r>
            <a:r>
              <a:rPr lang="da-DK" dirty="0" err="1"/>
              <a:t>int</a:t>
            </a:r>
            <a:r>
              <a:rPr lang="da-DK" dirty="0"/>
              <a:t> (</a:t>
            </a:r>
            <a:r>
              <a:rPr lang="da-DK" dirty="0" err="1"/>
              <a:t>integer</a:t>
            </a:r>
            <a:r>
              <a:rPr lang="da-DK" dirty="0"/>
              <a:t> division), </a:t>
            </a:r>
            <a:r>
              <a:rPr lang="da-DK" dirty="0" err="1"/>
              <a:t>whereas</a:t>
            </a:r>
            <a:r>
              <a:rPr lang="da-DK" dirty="0"/>
              <a:t> x / y is type double </a:t>
            </a:r>
            <a:r>
              <a:rPr lang="da-DK" dirty="0" err="1"/>
              <a:t>if</a:t>
            </a:r>
            <a:r>
              <a:rPr lang="da-DK" dirty="0"/>
              <a:t> x and/or y is double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352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@override</a:t>
            </a:r>
            <a:r>
              <a:rPr lang="da-DK" sz="1200" dirty="0"/>
              <a:t> </a:t>
            </a:r>
            <a:r>
              <a:rPr lang="da-DK" sz="1200" dirty="0" err="1"/>
              <a:t>helps</a:t>
            </a:r>
            <a:r>
              <a:rPr lang="da-DK" sz="1200" baseline="0" dirty="0"/>
              <a:t> to spot </a:t>
            </a:r>
            <a:r>
              <a:rPr lang="da-DK" sz="1200" baseline="0" dirty="0" err="1"/>
              <a:t>misspellings</a:t>
            </a:r>
            <a:r>
              <a:rPr lang="da-DK" sz="1200" baseline="0" dirty="0"/>
              <a:t> </a:t>
            </a:r>
          </a:p>
          <a:p>
            <a:r>
              <a:rPr lang="da-DK" sz="1200" baseline="0" dirty="0"/>
              <a:t>If C </a:t>
            </a:r>
            <a:r>
              <a:rPr lang="da-DK" sz="1200" baseline="0" dirty="0" err="1"/>
              <a:t>does</a:t>
            </a:r>
            <a:r>
              <a:rPr lang="da-DK" sz="1200" baseline="0" dirty="0"/>
              <a:t> </a:t>
            </a:r>
            <a:r>
              <a:rPr lang="da-DK" sz="1200" baseline="0" dirty="0" err="1"/>
              <a:t>definde</a:t>
            </a:r>
            <a:r>
              <a:rPr lang="da-DK" sz="1200" baseline="0" dirty="0"/>
              <a:t> </a:t>
            </a:r>
            <a:r>
              <a:rPr lang="da-DK" sz="1200" baseline="0" dirty="0" err="1"/>
              <a:t>sayHi</a:t>
            </a:r>
            <a:r>
              <a:rPr lang="da-DK" sz="1200" baseline="0" dirty="0"/>
              <a:t>, </a:t>
            </a:r>
            <a:r>
              <a:rPr lang="da-DK" sz="1200" baseline="0" dirty="0" err="1"/>
              <a:t>we</a:t>
            </a:r>
            <a:r>
              <a:rPr lang="da-DK" sz="1200" baseline="0" dirty="0"/>
              <a:t> </a:t>
            </a:r>
            <a:r>
              <a:rPr lang="da-DK" sz="1200" baseline="0" dirty="0" err="1"/>
              <a:t>will</a:t>
            </a:r>
            <a:r>
              <a:rPr lang="da-DK" sz="1200" baseline="0" dirty="0"/>
              <a:t> </a:t>
            </a:r>
            <a:r>
              <a:rPr lang="da-DK" sz="1200" baseline="0" dirty="0" err="1"/>
              <a:t>get</a:t>
            </a:r>
            <a:r>
              <a:rPr lang="da-DK" sz="1200" baseline="0" dirty="0"/>
              <a:t> an ”</a:t>
            </a:r>
            <a:r>
              <a:rPr lang="da-DK" sz="1200" baseline="0" dirty="0" err="1"/>
              <a:t>Unresolved</a:t>
            </a:r>
            <a:r>
              <a:rPr lang="da-DK" sz="1200" baseline="0" dirty="0"/>
              <a:t> compilation problem, </a:t>
            </a:r>
            <a:r>
              <a:rPr lang="da-DK" sz="1200" baseline="0" dirty="0" err="1"/>
              <a:t>duplicate</a:t>
            </a:r>
            <a:r>
              <a:rPr lang="da-DK" sz="1200" baseline="0" dirty="0"/>
              <a:t> default </a:t>
            </a:r>
            <a:r>
              <a:rPr lang="da-DK" sz="1200" baseline="0" dirty="0" err="1"/>
              <a:t>methods</a:t>
            </a:r>
            <a:r>
              <a:rPr lang="da-DK" sz="1200" baseline="0" dirty="0"/>
              <a:t>”</a:t>
            </a:r>
          </a:p>
          <a:p>
            <a:r>
              <a:rPr lang="da-DK" sz="1200" b="0" baseline="0" dirty="0"/>
              <a:t>If </a:t>
            </a:r>
            <a:r>
              <a:rPr lang="pt-BR" sz="1200" b="0" u="none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pt-BR" sz="1200" b="0" u="none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pt-BR" sz="1200" b="0" u="none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(){} does not contain {}, then we get “</a:t>
            </a:r>
            <a:r>
              <a:rPr lang="en-US" sz="1200" b="0" u="none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Unresolved compilation problem: Cannot instantiate the type A”</a:t>
            </a:r>
            <a:endParaRPr lang="da-DK" sz="1200" b="0" baseline="0" dirty="0"/>
          </a:p>
          <a:p>
            <a:r>
              <a:rPr lang="da-DK" sz="1200" baseline="0" dirty="0"/>
              <a:t>new A() {} : A is </a:t>
            </a:r>
            <a:r>
              <a:rPr lang="da-DK" sz="1200" baseline="0" dirty="0" err="1"/>
              <a:t>class</a:t>
            </a:r>
            <a:r>
              <a:rPr lang="da-DK" sz="1200" baseline="0" dirty="0"/>
              <a:t> or interface, () is </a:t>
            </a:r>
            <a:r>
              <a:rPr lang="da-DK" sz="1200" baseline="0" dirty="0" err="1"/>
              <a:t>calling</a:t>
            </a:r>
            <a:r>
              <a:rPr lang="da-DK" sz="1200" baseline="0" dirty="0"/>
              <a:t> the </a:t>
            </a:r>
            <a:r>
              <a:rPr lang="da-DK" sz="1200" baseline="0" dirty="0" err="1"/>
              <a:t>constructor</a:t>
            </a:r>
            <a:r>
              <a:rPr lang="da-DK" sz="1200" baseline="0" dirty="0"/>
              <a:t>, {} </a:t>
            </a:r>
            <a:r>
              <a:rPr lang="da-DK" sz="1200" baseline="0" dirty="0" err="1"/>
              <a:t>can</a:t>
            </a:r>
            <a:r>
              <a:rPr lang="da-DK" sz="1200" baseline="0" dirty="0"/>
              <a:t> </a:t>
            </a:r>
            <a:r>
              <a:rPr lang="da-DK" sz="1200" baseline="0" dirty="0" err="1"/>
              <a:t>contain</a:t>
            </a:r>
            <a:r>
              <a:rPr lang="da-DK" sz="1200" baseline="0" dirty="0"/>
              <a:t> </a:t>
            </a:r>
            <a:r>
              <a:rPr lang="da-DK" sz="1200" baseline="0" dirty="0" err="1"/>
              <a:t>further</a:t>
            </a:r>
            <a:r>
              <a:rPr lang="da-DK" sz="1200" baseline="0" dirty="0"/>
              <a:t> </a:t>
            </a:r>
            <a:r>
              <a:rPr lang="da-DK" sz="1200" baseline="0" dirty="0" err="1"/>
              <a:t>class</a:t>
            </a:r>
            <a:r>
              <a:rPr lang="da-DK" sz="1200" baseline="0" dirty="0"/>
              <a:t> </a:t>
            </a:r>
            <a:r>
              <a:rPr lang="da-DK" sz="1200" baseline="0" dirty="0" err="1"/>
              <a:t>implementations</a:t>
            </a:r>
            <a:r>
              <a:rPr lang="da-DK" sz="1200" baseline="0" dirty="0"/>
              <a:t> for </a:t>
            </a:r>
            <a:r>
              <a:rPr lang="da-DK" sz="1200" baseline="0" dirty="0" err="1"/>
              <a:t>this</a:t>
            </a:r>
            <a:r>
              <a:rPr lang="da-DK" sz="1200" baseline="0" dirty="0"/>
              <a:t> </a:t>
            </a:r>
            <a:r>
              <a:rPr lang="da-DK" sz="1200" baseline="0" dirty="0" err="1"/>
              <a:t>use-once</a:t>
            </a:r>
            <a:r>
              <a:rPr lang="da-DK" sz="1200" baseline="0" dirty="0"/>
              <a:t> </a:t>
            </a:r>
            <a:r>
              <a:rPr lang="da-DK" sz="1200" baseline="0" dirty="0" err="1"/>
              <a:t>class</a:t>
            </a:r>
            <a:endParaRPr lang="da-DK" sz="1200" baseline="0" dirty="0"/>
          </a:p>
          <a:p>
            <a:r>
              <a:rPr lang="da-DK" sz="1200" baseline="0" dirty="0"/>
              <a:t>purpose is to </a:t>
            </a:r>
            <a:r>
              <a:rPr lang="da-DK" sz="1200" baseline="0" dirty="0" err="1"/>
              <a:t>avoid</a:t>
            </a:r>
            <a:r>
              <a:rPr lang="da-DK" sz="1200" baseline="0" dirty="0"/>
              <a:t> </a:t>
            </a:r>
            <a:r>
              <a:rPr lang="da-DK" sz="1200" baseline="0" dirty="0" err="1"/>
              <a:t>having</a:t>
            </a:r>
            <a:r>
              <a:rPr lang="da-DK" sz="1200" baseline="0" dirty="0"/>
              <a:t> to </a:t>
            </a:r>
            <a:r>
              <a:rPr lang="da-DK" sz="1200" baseline="0" dirty="0" err="1"/>
              <a:t>name</a:t>
            </a:r>
            <a:r>
              <a:rPr lang="da-DK" sz="1200" baseline="0" dirty="0"/>
              <a:t> the class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8339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Python lambda has been available since version 1.0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6555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05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unestone.academy/ns/books/published/java4python/index.html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java/technologies/download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https://java.com/download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code.visualstudio.com/" TargetMode="External"/><Relationship Id="rId7" Type="http://schemas.openxmlformats.org/officeDocument/2006/relationships/hyperlink" Target="https://www.bluej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etbeans.org/" TargetMode="External"/><Relationship Id="rId5" Type="http://schemas.openxmlformats.org/officeDocument/2006/relationships/hyperlink" Target="https://www.eclipse.org/" TargetMode="External"/><Relationship Id="rId10" Type="http://schemas.openxmlformats.org/officeDocument/2006/relationships/image" Target="../media/image10.png"/><Relationship Id="rId4" Type="http://schemas.openxmlformats.org/officeDocument/2006/relationships/hyperlink" Target="https://www.jetbrains.com/idea/" TargetMode="External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/>
          <p:cNvCxnSpPr/>
          <p:nvPr/>
        </p:nvCxnSpPr>
        <p:spPr>
          <a:xfrm flipV="1">
            <a:off x="838199" y="3019638"/>
            <a:ext cx="2612990" cy="23485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V="1">
            <a:off x="860388" y="3469647"/>
            <a:ext cx="2612990" cy="23485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27313" y="3919656"/>
            <a:ext cx="2612990" cy="23485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478568" cy="1325563"/>
          </a:xfrm>
        </p:spPr>
        <p:txBody>
          <a:bodyPr/>
          <a:lstStyle/>
          <a:p>
            <a:pPr algn="r"/>
            <a:r>
              <a:rPr lang="da-DK" dirty="0"/>
              <a:t>Java vs </a:t>
            </a:r>
            <a:r>
              <a:rPr lang="da-DK" dirty="0" err="1"/>
              <a:t>Python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389914" y="2924397"/>
            <a:ext cx="21771" cy="1252723"/>
          </a:xfrm>
          <a:prstGeom prst="line">
            <a:avLst/>
          </a:prstGeom>
          <a:ln w="1619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3434025" y="2957055"/>
            <a:ext cx="21771" cy="1252723"/>
          </a:xfrm>
          <a:prstGeom prst="line">
            <a:avLst/>
          </a:prstGeom>
          <a:ln w="1619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3466681" y="3019638"/>
            <a:ext cx="291234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3455796" y="3504474"/>
            <a:ext cx="291234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3434025" y="3941677"/>
            <a:ext cx="291234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Content Placeholder 30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346" y="2576608"/>
            <a:ext cx="1934527" cy="1934527"/>
          </a:xfr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584" y="4312848"/>
            <a:ext cx="3429000" cy="1714500"/>
          </a:xfrm>
          <a:prstGeom prst="rect">
            <a:avLst/>
          </a:prstGeom>
        </p:spPr>
      </p:pic>
      <p:cxnSp>
        <p:nvCxnSpPr>
          <p:cNvPr id="7" name="Straight Connector 6"/>
          <p:cNvCxnSpPr/>
          <p:nvPr/>
        </p:nvCxnSpPr>
        <p:spPr>
          <a:xfrm>
            <a:off x="827313" y="5302917"/>
            <a:ext cx="21771" cy="1252723"/>
          </a:xfrm>
          <a:prstGeom prst="line">
            <a:avLst/>
          </a:prstGeom>
          <a:ln w="1619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3766457" y="5305651"/>
            <a:ext cx="21771" cy="1252723"/>
          </a:xfrm>
          <a:prstGeom prst="line">
            <a:avLst/>
          </a:prstGeom>
          <a:ln w="1619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31502" y="5387382"/>
            <a:ext cx="291234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831503" y="5872218"/>
            <a:ext cx="291234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853276" y="6309421"/>
            <a:ext cx="2912348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3766039" y="3022372"/>
            <a:ext cx="2612990" cy="23485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3770646" y="3472382"/>
            <a:ext cx="2630572" cy="239983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3783202" y="3922391"/>
            <a:ext cx="2595827" cy="237061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773881" y="6322227"/>
            <a:ext cx="725186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hlinkClick r:id="rId5"/>
              </a:rPr>
              <a:t>runestone.academy</a:t>
            </a:r>
            <a:r>
              <a:rPr lang="en-US" dirty="0">
                <a:hlinkClick r:id="rId5"/>
              </a:rPr>
              <a:t>/ns/books/published/java4python/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753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D0EFE0-7133-ABEE-37BF-EC398D5E0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12192000" cy="33192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dirty="0"/>
              <a:t> know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about</a:t>
            </a:r>
            <a:r>
              <a:rPr lang="da-DK" dirty="0"/>
              <a:t> Java?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71887"/>
            <a:ext cx="10936294" cy="1984375"/>
          </a:xfrm>
        </p:spPr>
        <p:txBody>
          <a:bodyPr/>
          <a:lstStyle/>
          <a:p>
            <a:r>
              <a:rPr lang="da-DK" dirty="0"/>
              <a:t>Java is an </a:t>
            </a:r>
            <a:r>
              <a:rPr lang="da-DK" dirty="0" err="1"/>
              <a:t>example</a:t>
            </a:r>
            <a:r>
              <a:rPr lang="da-DK" dirty="0"/>
              <a:t> of a </a:t>
            </a:r>
            <a:r>
              <a:rPr lang="da-DK" b="1" dirty="0" err="1"/>
              <a:t>statically</a:t>
            </a:r>
            <a:r>
              <a:rPr lang="da-DK" b="1" dirty="0"/>
              <a:t> </a:t>
            </a:r>
            <a:r>
              <a:rPr lang="da-DK" b="1" dirty="0" err="1"/>
              <a:t>typed</a:t>
            </a:r>
            <a:r>
              <a:rPr lang="da-DK" dirty="0"/>
              <a:t> </a:t>
            </a:r>
            <a:r>
              <a:rPr lang="da-DK" b="1" dirty="0" err="1"/>
              <a:t>object</a:t>
            </a:r>
            <a:r>
              <a:rPr lang="da-DK" b="1" dirty="0"/>
              <a:t> </a:t>
            </a:r>
            <a:r>
              <a:rPr lang="da-DK" b="1" dirty="0" err="1"/>
              <a:t>oriented</a:t>
            </a:r>
            <a:r>
              <a:rPr lang="da-DK" b="1" dirty="0"/>
              <a:t> </a:t>
            </a:r>
            <a:r>
              <a:rPr lang="da-DK" dirty="0" err="1"/>
              <a:t>language</a:t>
            </a:r>
            <a:br>
              <a:rPr lang="da-DK" dirty="0"/>
            </a:br>
            <a:r>
              <a:rPr lang="da-DK" dirty="0"/>
              <a:t>(</a:t>
            </a:r>
            <a:r>
              <a:rPr lang="da-DK" dirty="0" err="1"/>
              <a:t>like</a:t>
            </a:r>
            <a:r>
              <a:rPr lang="da-DK" dirty="0"/>
              <a:t> C and C++) </a:t>
            </a:r>
            <a:r>
              <a:rPr lang="da-DK" dirty="0" err="1"/>
              <a:t>opposed</a:t>
            </a:r>
            <a:r>
              <a:rPr lang="da-DK" dirty="0"/>
              <a:t> to </a:t>
            </a:r>
            <a:r>
              <a:rPr lang="da-DK" dirty="0" err="1"/>
              <a:t>Python’s</a:t>
            </a:r>
            <a:r>
              <a:rPr lang="da-DK" dirty="0"/>
              <a:t> </a:t>
            </a:r>
            <a:r>
              <a:rPr lang="da-DK" dirty="0" err="1"/>
              <a:t>being</a:t>
            </a:r>
            <a:r>
              <a:rPr lang="da-DK" dirty="0"/>
              <a:t> </a:t>
            </a:r>
            <a:r>
              <a:rPr lang="da-DK" dirty="0" err="1"/>
              <a:t>dynamically</a:t>
            </a:r>
            <a:r>
              <a:rPr lang="da-DK" dirty="0"/>
              <a:t> </a:t>
            </a:r>
            <a:r>
              <a:rPr lang="da-DK" dirty="0" err="1"/>
              <a:t>typed</a:t>
            </a:r>
            <a:endParaRPr lang="da-DK" dirty="0"/>
          </a:p>
          <a:p>
            <a:r>
              <a:rPr lang="da-DK" dirty="0"/>
              <a:t>One of the most </a:t>
            </a:r>
            <a:r>
              <a:rPr lang="da-DK" dirty="0" err="1"/>
              <a:t>widespread</a:t>
            </a:r>
            <a:r>
              <a:rPr lang="da-DK" dirty="0"/>
              <a:t> </a:t>
            </a:r>
            <a:r>
              <a:rPr lang="da-DK" dirty="0" err="1"/>
              <a:t>used</a:t>
            </a:r>
            <a:r>
              <a:rPr lang="da-DK" dirty="0"/>
              <a:t>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languages</a:t>
            </a:r>
            <a:endParaRPr lang="da-DK" dirty="0"/>
          </a:p>
          <a:p>
            <a:r>
              <a:rPr lang="da-DK" dirty="0" err="1"/>
              <a:t>Used</a:t>
            </a:r>
            <a:r>
              <a:rPr lang="da-DK" dirty="0"/>
              <a:t> in </a:t>
            </a:r>
            <a:r>
              <a:rPr lang="da-DK" dirty="0" err="1"/>
              <a:t>other</a:t>
            </a:r>
            <a:r>
              <a:rPr lang="da-DK" dirty="0"/>
              <a:t> </a:t>
            </a:r>
            <a:r>
              <a:rPr lang="da-DK" dirty="0" err="1"/>
              <a:t>courses</a:t>
            </a:r>
            <a:r>
              <a:rPr lang="da-DK" dirty="0"/>
              <a:t> at the Department of Computer Science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08D829-A712-4BAE-8893-B0DBE967C3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 l="28698" t="553" r="32336" b="87211"/>
          <a:stretch/>
        </p:blipFill>
        <p:spPr>
          <a:xfrm>
            <a:off x="4303889" y="3680535"/>
            <a:ext cx="4004916" cy="593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96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Java </a:t>
            </a:r>
            <a:r>
              <a:rPr lang="da-DK" dirty="0" err="1"/>
              <a:t>history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304595"/>
            <a:ext cx="10809514" cy="3932919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da-DK" dirty="0"/>
              <a:t>Java 1.0 </a:t>
            </a:r>
            <a:r>
              <a:rPr lang="da-DK" dirty="0" err="1"/>
              <a:t>released</a:t>
            </a:r>
            <a:r>
              <a:rPr lang="da-DK" dirty="0"/>
              <a:t> 1995 by Sun Microsystems </a:t>
            </a:r>
            <a:br>
              <a:rPr lang="da-DK" dirty="0"/>
            </a:br>
            <a:r>
              <a:rPr lang="da-DK" dirty="0"/>
              <a:t>(</a:t>
            </a:r>
            <a:r>
              <a:rPr lang="da-DK" dirty="0" err="1"/>
              <a:t>acquired</a:t>
            </a:r>
            <a:r>
              <a:rPr lang="da-DK" dirty="0"/>
              <a:t> by Oracle 2010)</a:t>
            </a:r>
          </a:p>
          <a:p>
            <a:pPr>
              <a:spcAft>
                <a:spcPts val="1200"/>
              </a:spcAft>
            </a:pPr>
            <a:r>
              <a:rPr lang="da-DK" dirty="0"/>
              <a:t>”</a:t>
            </a:r>
            <a:r>
              <a:rPr lang="en-US" dirty="0"/>
              <a:t>Write Once, Run Anywhere”</a:t>
            </a:r>
          </a:p>
          <a:p>
            <a:pPr>
              <a:spcAft>
                <a:spcPts val="1200"/>
              </a:spcAft>
            </a:pPr>
            <a:r>
              <a:rPr lang="en-US" dirty="0"/>
              <a:t>1999 improved performance by the </a:t>
            </a:r>
            <a:r>
              <a:rPr lang="en-US" b="1" dirty="0"/>
              <a:t>Java </a:t>
            </a:r>
            <a:r>
              <a:rPr lang="en-US" b="1" dirty="0" err="1"/>
              <a:t>HotSpot</a:t>
            </a:r>
            <a:r>
              <a:rPr lang="en-US" b="1" dirty="0"/>
              <a:t> Performance Engine </a:t>
            </a:r>
          </a:p>
          <a:p>
            <a:pPr>
              <a:spcAft>
                <a:spcPts val="1200"/>
              </a:spcAft>
            </a:pPr>
            <a:r>
              <a:rPr lang="da-DK" dirty="0" err="1"/>
              <a:t>Current</a:t>
            </a:r>
            <a:r>
              <a:rPr lang="da-DK" dirty="0"/>
              <a:t> version Java 24 (</a:t>
            </a:r>
            <a:r>
              <a:rPr lang="da-DK" dirty="0" err="1"/>
              <a:t>released</a:t>
            </a:r>
            <a:r>
              <a:rPr lang="da-DK" dirty="0"/>
              <a:t> March 2025)</a:t>
            </a:r>
          </a:p>
          <a:p>
            <a:pPr>
              <a:spcAft>
                <a:spcPts val="1200"/>
              </a:spcAft>
            </a:pPr>
            <a:r>
              <a:rPr lang="da-DK" dirty="0"/>
              <a:t>Java compiler generates </a:t>
            </a:r>
            <a:r>
              <a:rPr lang="da-DK" b="1" dirty="0"/>
              <a:t>Java </a:t>
            </a:r>
            <a:r>
              <a:rPr lang="da-DK" b="1" dirty="0" err="1"/>
              <a:t>bytecode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executed</a:t>
            </a:r>
            <a:r>
              <a:rPr lang="da-DK" dirty="0"/>
              <a:t> on a </a:t>
            </a:r>
            <a:br>
              <a:rPr lang="da-DK" dirty="0"/>
            </a:br>
            <a:r>
              <a:rPr lang="da-DK" b="1" dirty="0"/>
              <a:t>Java virtual </a:t>
            </a:r>
            <a:r>
              <a:rPr lang="da-DK" b="1" dirty="0" err="1"/>
              <a:t>machine</a:t>
            </a:r>
            <a:r>
              <a:rPr lang="da-DK" dirty="0"/>
              <a:t> (</a:t>
            </a:r>
            <a:r>
              <a:rPr lang="da-DK" b="1" dirty="0"/>
              <a:t>JVM</a:t>
            </a:r>
            <a:r>
              <a:rPr lang="da-DK" dirty="0"/>
              <a:t>)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contains</a:t>
            </a:r>
            <a:r>
              <a:rPr lang="da-DK" dirty="0"/>
              <a:t> a </a:t>
            </a:r>
            <a:r>
              <a:rPr lang="da-DK" dirty="0" err="1"/>
              <a:t>garbage</a:t>
            </a:r>
            <a:r>
              <a:rPr lang="da-DK" dirty="0"/>
              <a:t> </a:t>
            </a:r>
            <a:r>
              <a:rPr lang="da-DK" dirty="0" err="1"/>
              <a:t>collector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0051" y="221457"/>
            <a:ext cx="1293749" cy="2328749"/>
          </a:xfrm>
          <a:prstGeom prst="rect">
            <a:avLst/>
          </a:prstGeom>
        </p:spPr>
      </p:pic>
      <p:sp>
        <p:nvSpPr>
          <p:cNvPr id="5" name="Rounded Rectangular Callout 4"/>
          <p:cNvSpPr/>
          <p:nvPr/>
        </p:nvSpPr>
        <p:spPr>
          <a:xfrm>
            <a:off x="8349344" y="2802731"/>
            <a:ext cx="3627663" cy="1088571"/>
          </a:xfrm>
          <a:prstGeom prst="wedgeRoundRectCallout">
            <a:avLst>
              <a:gd name="adj1" fmla="val -67148"/>
              <a:gd name="adj2" fmla="val 62346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2400" b="1" dirty="0" err="1">
                <a:solidFill>
                  <a:schemeClr val="tx1"/>
                </a:solidFill>
              </a:rPr>
              <a:t>PyPy</a:t>
            </a:r>
            <a:r>
              <a:rPr lang="da-DK" sz="2400" dirty="0">
                <a:solidFill>
                  <a:schemeClr val="tx1"/>
                </a:solidFill>
              </a:rPr>
              <a:t> is </a:t>
            </a:r>
            <a:r>
              <a:rPr lang="da-DK" sz="2400" dirty="0" err="1">
                <a:solidFill>
                  <a:schemeClr val="tx1"/>
                </a:solidFill>
              </a:rPr>
              <a:t>adopting</a:t>
            </a:r>
            <a:r>
              <a:rPr lang="da-DK" sz="2400" dirty="0">
                <a:solidFill>
                  <a:schemeClr val="tx1"/>
                </a:solidFill>
              </a:rPr>
              <a:t> the same </a:t>
            </a:r>
            <a:r>
              <a:rPr lang="da-DK" sz="2400" dirty="0" err="1">
                <a:solidFill>
                  <a:schemeClr val="tx1"/>
                </a:solidFill>
              </a:rPr>
              <a:t>ideas</a:t>
            </a:r>
            <a:r>
              <a:rPr lang="da-DK" sz="2400" dirty="0">
                <a:solidFill>
                  <a:schemeClr val="tx1"/>
                </a:solidFill>
              </a:rPr>
              <a:t> to </a:t>
            </a:r>
            <a:r>
              <a:rPr lang="da-DK" sz="2400" dirty="0" err="1">
                <a:solidFill>
                  <a:schemeClr val="tx1"/>
                </a:solidFill>
              </a:rPr>
              <a:t>Python</a:t>
            </a:r>
            <a:br>
              <a:rPr lang="da-DK" sz="2400" dirty="0">
                <a:solidFill>
                  <a:schemeClr val="tx1"/>
                </a:solidFill>
              </a:rPr>
            </a:br>
            <a:r>
              <a:rPr lang="da-DK" sz="2400" dirty="0">
                <a:solidFill>
                  <a:schemeClr val="tx1"/>
                </a:solidFill>
              </a:rPr>
              <a:t>(</a:t>
            </a:r>
            <a:r>
              <a:rPr lang="en-US" sz="2400" dirty="0">
                <a:solidFill>
                  <a:schemeClr val="tx1"/>
                </a:solidFill>
              </a:rPr>
              <a:t>Just-in-Time compilation)</a:t>
            </a:r>
          </a:p>
        </p:txBody>
      </p:sp>
    </p:spTree>
    <p:extLst>
      <p:ext uri="{BB962C8B-B14F-4D97-AF65-F5344CB8AC3E}">
        <p14:creationId xmlns:p14="http://schemas.microsoft.com/office/powerpoint/2010/main" val="1863959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067" y="377000"/>
            <a:ext cx="10515600" cy="1325563"/>
          </a:xfrm>
        </p:spPr>
        <p:txBody>
          <a:bodyPr/>
          <a:lstStyle/>
          <a:p>
            <a:r>
              <a:rPr lang="da-DK" dirty="0" err="1"/>
              <a:t>Installing</a:t>
            </a:r>
            <a:r>
              <a:rPr lang="da-DK" dirty="0"/>
              <a:t> Java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756" y="1783962"/>
            <a:ext cx="6676901" cy="4589380"/>
          </a:xfrm>
        </p:spPr>
        <p:txBody>
          <a:bodyPr>
            <a:normAutofit/>
          </a:bodyPr>
          <a:lstStyle/>
          <a:p>
            <a:r>
              <a:rPr lang="da-DK" sz="2400" dirty="0"/>
              <a:t>To </a:t>
            </a:r>
            <a:r>
              <a:rPr lang="da-DK" sz="2400" dirty="0" err="1"/>
              <a:t>compile</a:t>
            </a:r>
            <a:r>
              <a:rPr lang="da-DK" sz="2400" dirty="0"/>
              <a:t> Java programs </a:t>
            </a:r>
            <a:r>
              <a:rPr lang="da-DK" sz="2400" dirty="0" err="1"/>
              <a:t>into</a:t>
            </a:r>
            <a:r>
              <a:rPr lang="da-DK" sz="2400" dirty="0"/>
              <a:t> </a:t>
            </a:r>
            <a:r>
              <a:rPr lang="da-DK" sz="2400" b="1" dirty="0" err="1"/>
              <a:t>bytecode</a:t>
            </a:r>
            <a:r>
              <a:rPr lang="da-DK" sz="2400" b="1" dirty="0"/>
              <a:t>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need</a:t>
            </a:r>
            <a:r>
              <a:rPr lang="da-DK" sz="2400" dirty="0"/>
              <a:t> a </a:t>
            </a:r>
            <a:r>
              <a:rPr lang="da-DK" sz="2400" dirty="0">
                <a:solidFill>
                  <a:srgbClr val="C00000"/>
                </a:solidFill>
              </a:rPr>
              <a:t>compiler</a:t>
            </a:r>
            <a:r>
              <a:rPr lang="da-DK" sz="2400" dirty="0"/>
              <a:t>, </a:t>
            </a:r>
            <a:r>
              <a:rPr lang="da-DK" sz="2400" dirty="0" err="1"/>
              <a:t>e.g</a:t>
            </a:r>
            <a:r>
              <a:rPr lang="da-DK" sz="2400" dirty="0"/>
              <a:t>. from </a:t>
            </a:r>
            <a:r>
              <a:rPr lang="en-US" sz="2400" dirty="0"/>
              <a:t>Java SE Development Kit (</a:t>
            </a:r>
            <a:r>
              <a:rPr lang="en-US" sz="2400" b="1" dirty="0"/>
              <a:t>JDK</a:t>
            </a:r>
            <a:r>
              <a:rPr lang="en-US" sz="2400" dirty="0"/>
              <a:t>):</a:t>
            </a:r>
          </a:p>
          <a:p>
            <a:pPr marL="355600" indent="0">
              <a:spcAft>
                <a:spcPts val="1200"/>
              </a:spcAft>
              <a:buNone/>
            </a:pPr>
            <a:r>
              <a:rPr lang="da-DK" sz="2400" dirty="0">
                <a:hlinkClick r:id="rId3"/>
              </a:rPr>
              <a:t>www.oracle.com/java/technologies/downloads/</a:t>
            </a:r>
            <a:endParaRPr lang="da-DK" sz="2400" dirty="0"/>
          </a:p>
          <a:p>
            <a:pPr marL="355600" indent="0">
              <a:buNone/>
            </a:pPr>
            <a:r>
              <a:rPr lang="da-DK" sz="2400" dirty="0"/>
              <a:t>(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might</a:t>
            </a:r>
            <a:r>
              <a:rPr lang="da-DK" sz="2400" dirty="0"/>
              <a:t> </a:t>
            </a:r>
            <a:r>
              <a:rPr lang="da-DK" sz="2400" dirty="0" err="1"/>
              <a:t>need</a:t>
            </a:r>
            <a:r>
              <a:rPr lang="da-DK" sz="2400" dirty="0"/>
              <a:t> to </a:t>
            </a:r>
            <a:r>
              <a:rPr lang="da-DK" sz="2400" dirty="0" err="1"/>
              <a:t>add</a:t>
            </a:r>
            <a:r>
              <a:rPr lang="da-DK" sz="2400" dirty="0"/>
              <a:t> the JDK </a:t>
            </a:r>
            <a:r>
              <a:rPr lang="da-DK" sz="2400" dirty="0" err="1"/>
              <a:t>directory</a:t>
            </a:r>
            <a:r>
              <a:rPr lang="da-DK" sz="2400" dirty="0"/>
              <a:t> to </a:t>
            </a:r>
            <a:r>
              <a:rPr lang="da-DK" sz="2400" dirty="0" err="1"/>
              <a:t>your</a:t>
            </a:r>
            <a:r>
              <a:rPr lang="da-DK" sz="2400" dirty="0"/>
              <a:t> PATH, </a:t>
            </a:r>
            <a:r>
              <a:rPr lang="da-DK" sz="2400" dirty="0" err="1"/>
              <a:t>e.g</a:t>
            </a:r>
            <a:r>
              <a:rPr lang="da-DK" sz="2400" dirty="0"/>
              <a:t>. C:\Program Files\Java\jdk-18.0.1.1\bin)</a:t>
            </a:r>
          </a:p>
          <a:p>
            <a:pPr>
              <a:spcAft>
                <a:spcPts val="600"/>
              </a:spcAft>
            </a:pPr>
            <a:endParaRPr lang="da-DK" sz="2400" dirty="0"/>
          </a:p>
          <a:p>
            <a:pPr>
              <a:spcAft>
                <a:spcPts val="600"/>
              </a:spcAft>
            </a:pPr>
            <a:r>
              <a:rPr lang="da-DK" sz="2400" dirty="0"/>
              <a:t>To </a:t>
            </a:r>
            <a:r>
              <a:rPr lang="da-DK" sz="2400" dirty="0" err="1"/>
              <a:t>only</a:t>
            </a:r>
            <a:r>
              <a:rPr lang="da-DK" sz="2400" dirty="0"/>
              <a:t> run </a:t>
            </a:r>
            <a:r>
              <a:rPr lang="da-DK" sz="2400" dirty="0" err="1"/>
              <a:t>compiled</a:t>
            </a:r>
            <a:r>
              <a:rPr lang="da-DK" sz="2400" dirty="0"/>
              <a:t> Java programs:</a:t>
            </a:r>
          </a:p>
          <a:p>
            <a:pPr marL="355600" indent="0">
              <a:spcAft>
                <a:spcPts val="600"/>
              </a:spcAft>
              <a:buNone/>
            </a:pPr>
            <a:r>
              <a:rPr lang="en-US" sz="2400" dirty="0">
                <a:hlinkClick r:id="rId4"/>
              </a:rPr>
              <a:t>java.com/download</a:t>
            </a:r>
            <a:endParaRPr lang="en-US" sz="2400" dirty="0"/>
          </a:p>
          <a:p>
            <a:pPr marL="358775" indent="0" defTabSz="990600">
              <a:buNone/>
            </a:pPr>
            <a:r>
              <a:rPr lang="en-US" sz="2400" dirty="0"/>
              <a:t>(If you use JDK, you should not download this)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3DFDD3-983C-4A79-B11A-AFF282C47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3581" y="3464243"/>
            <a:ext cx="5013838" cy="3328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847965-9071-4EA8-AA5E-897295E19F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3581" y="56465"/>
            <a:ext cx="5013837" cy="33285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7406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Java 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868526" cy="1440089"/>
          </a:xfrm>
        </p:spPr>
        <p:txBody>
          <a:bodyPr/>
          <a:lstStyle/>
          <a:p>
            <a:r>
              <a:rPr lang="en-US" dirty="0"/>
              <a:t>Many available, some popular: </a:t>
            </a:r>
            <a:br>
              <a:rPr lang="en-US" dirty="0"/>
            </a:br>
            <a:r>
              <a:rPr lang="en-US" dirty="0">
                <a:hlinkClick r:id="rId3"/>
              </a:rPr>
              <a:t>Visual </a:t>
            </a:r>
            <a:r>
              <a:rPr lang="en-US" dirty="0" err="1">
                <a:hlinkClick r:id="rId3"/>
              </a:rPr>
              <a:t>Studie</a:t>
            </a:r>
            <a:r>
              <a:rPr lang="en-US" dirty="0">
                <a:hlinkClick r:id="rId3"/>
              </a:rPr>
              <a:t> Code</a:t>
            </a:r>
            <a:r>
              <a:rPr lang="en-US" dirty="0"/>
              <a:t>, </a:t>
            </a:r>
            <a:r>
              <a:rPr lang="en-US" dirty="0">
                <a:hlinkClick r:id="rId4"/>
              </a:rPr>
              <a:t>IntelliJ IDEA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Eclipse</a:t>
            </a:r>
            <a:r>
              <a:rPr lang="en-US" dirty="0"/>
              <a:t>, and </a:t>
            </a:r>
            <a:r>
              <a:rPr lang="en-US" dirty="0">
                <a:hlinkClick r:id="rId6"/>
              </a:rPr>
              <a:t>NetBeans</a:t>
            </a:r>
            <a:endParaRPr lang="en-US" dirty="0"/>
          </a:p>
          <a:p>
            <a:r>
              <a:rPr lang="en-US" dirty="0"/>
              <a:t>An IDE for beginners: </a:t>
            </a:r>
            <a:r>
              <a:rPr lang="en-US" dirty="0" err="1">
                <a:hlinkClick r:id="rId7"/>
              </a:rPr>
              <a:t>BlueJ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098" y="3432875"/>
            <a:ext cx="3221075" cy="306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88" y="3432875"/>
            <a:ext cx="4216000" cy="306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892" y="3432875"/>
            <a:ext cx="3809615" cy="306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67931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231" y="2752375"/>
            <a:ext cx="5625953" cy="401402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29293"/>
            <a:ext cx="12192000" cy="872224"/>
          </a:xfrm>
        </p:spPr>
        <p:txBody>
          <a:bodyPr/>
          <a:lstStyle/>
          <a:p>
            <a:pPr algn="ctr"/>
            <a:r>
              <a:rPr lang="da-DK" dirty="0" err="1"/>
              <a:t>Compiling</a:t>
            </a:r>
            <a:r>
              <a:rPr lang="da-DK" dirty="0"/>
              <a:t> and </a:t>
            </a:r>
            <a:r>
              <a:rPr lang="da-DK" dirty="0" err="1"/>
              <a:t>running</a:t>
            </a:r>
            <a:r>
              <a:rPr lang="da-DK" dirty="0"/>
              <a:t> a Java program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808972"/>
              </p:ext>
            </p:extLst>
          </p:nvPr>
        </p:nvGraphicFramePr>
        <p:xfrm>
          <a:off x="5104289" y="1105137"/>
          <a:ext cx="5612671" cy="1543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267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8723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HelloWorld.java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34894">
                <a:tc>
                  <a:txBody>
                    <a:bodyPr/>
                    <a:lstStyle/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HelloWorld {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System.out.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println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"Hello World!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);</a:t>
                      </a:r>
                    </a:p>
                    <a:p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590097" y="1690688"/>
            <a:ext cx="1846967" cy="80757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HelloWorld</a:t>
            </a:r>
            <a:r>
              <a:rPr lang="da-DK" b="1" dirty="0">
                <a:solidFill>
                  <a:schemeClr val="tx1"/>
                </a:solidFill>
              </a:rPr>
              <a:t>.java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84040" y="4976013"/>
            <a:ext cx="1846967" cy="94251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tx1"/>
                </a:solidFill>
              </a:rPr>
              <a:t>Java Virtual Machine</a:t>
            </a:r>
          </a:p>
          <a:p>
            <a:pPr algn="ctr"/>
            <a:r>
              <a:rPr lang="da-DK" dirty="0">
                <a:solidFill>
                  <a:schemeClr val="tx1"/>
                </a:solidFill>
              </a:rPr>
              <a:t>(</a:t>
            </a:r>
            <a:r>
              <a:rPr lang="da-DK" b="1" dirty="0" err="1">
                <a:solidFill>
                  <a:schemeClr val="tx1"/>
                </a:solidFill>
              </a:rPr>
              <a:t>java</a:t>
            </a:r>
            <a:r>
              <a:rPr lang="da-DK" dirty="0">
                <a:solidFill>
                  <a:schemeClr val="tx1"/>
                </a:solidFill>
              </a:rPr>
              <a:t>)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10" idx="0"/>
          </p:cNvCxnSpPr>
          <p:nvPr/>
        </p:nvCxnSpPr>
        <p:spPr>
          <a:xfrm flipH="1">
            <a:off x="2507524" y="2498262"/>
            <a:ext cx="6057" cy="1202620"/>
          </a:xfrm>
          <a:prstGeom prst="straightConnector1">
            <a:avLst/>
          </a:prstGeom>
          <a:ln w="762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7" idx="2"/>
          </p:cNvCxnSpPr>
          <p:nvPr/>
        </p:nvCxnSpPr>
        <p:spPr>
          <a:xfrm>
            <a:off x="2507524" y="5918525"/>
            <a:ext cx="0" cy="607730"/>
          </a:xfrm>
          <a:prstGeom prst="straightConnector1">
            <a:avLst/>
          </a:prstGeom>
          <a:ln w="762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84040" y="3700882"/>
            <a:ext cx="1846967" cy="76012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>
                <a:solidFill>
                  <a:schemeClr val="tx1"/>
                </a:solidFill>
              </a:rPr>
              <a:t>HelloWorld</a:t>
            </a:r>
            <a:r>
              <a:rPr lang="da-DK" b="1" dirty="0" err="1">
                <a:solidFill>
                  <a:schemeClr val="tx1"/>
                </a:solidFill>
              </a:rPr>
              <a:t>.class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88182" y="6002928"/>
            <a:ext cx="14856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dirty="0" err="1">
                <a:solidFill>
                  <a:schemeClr val="accent1">
                    <a:lumMod val="50000"/>
                  </a:schemeClr>
                </a:solidFill>
              </a:rPr>
              <a:t>execution</a:t>
            </a:r>
            <a:endParaRPr lang="en-US" sz="2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75450" y="2648754"/>
            <a:ext cx="19801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Java compiler</a:t>
            </a:r>
          </a:p>
          <a:p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(</a:t>
            </a:r>
            <a:r>
              <a:rPr lang="da-DK" sz="2400" b="1" dirty="0" err="1">
                <a:solidFill>
                  <a:schemeClr val="accent1">
                    <a:lumMod val="50000"/>
                  </a:schemeClr>
                </a:solidFill>
              </a:rPr>
              <a:t>javac</a:t>
            </a:r>
            <a:r>
              <a:rPr lang="da-DK" sz="2400" dirty="0">
                <a:solidFill>
                  <a:schemeClr val="accent1">
                    <a:lumMod val="50000"/>
                  </a:schemeClr>
                </a:solidFill>
              </a:rPr>
              <a:t>)</a:t>
            </a:r>
            <a:endParaRPr lang="en-US" sz="2400" dirty="0">
              <a:solidFill>
                <a:schemeClr val="accent1">
                  <a:lumMod val="50000"/>
                </a:schemeClr>
              </a:solidFill>
            </a:endParaRPr>
          </a:p>
        </p:txBody>
      </p:sp>
      <p:cxnSp>
        <p:nvCxnSpPr>
          <p:cNvPr id="13" name="Straight Arrow Connector 12"/>
          <p:cNvCxnSpPr>
            <a:stCxn id="10" idx="2"/>
            <a:endCxn id="7" idx="0"/>
          </p:cNvCxnSpPr>
          <p:nvPr/>
        </p:nvCxnSpPr>
        <p:spPr>
          <a:xfrm>
            <a:off x="2507524" y="4461011"/>
            <a:ext cx="0" cy="515002"/>
          </a:xfrm>
          <a:prstGeom prst="straightConnector1">
            <a:avLst/>
          </a:prstGeom>
          <a:ln w="7620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802359" y="2886119"/>
            <a:ext cx="3115513" cy="64542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6742983" y="5661282"/>
            <a:ext cx="2505914" cy="61924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40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Java :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22358"/>
              </p:ext>
            </p:extLst>
          </p:nvPr>
        </p:nvGraphicFramePr>
        <p:xfrm>
          <a:off x="587279" y="4555060"/>
          <a:ext cx="6599555" cy="2162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99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4547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PrintArguments.java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96423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PrintArguments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main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 String[] args )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(int i=0; i&lt;args.length; i++)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System.out.println( args[i] );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5970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i="1" dirty="0"/>
              <a:t>name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.java</a:t>
            </a:r>
            <a:r>
              <a:rPr lang="da-DK" dirty="0"/>
              <a:t> must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equal</a:t>
            </a:r>
            <a:r>
              <a:rPr lang="da-DK" dirty="0"/>
              <a:t> to the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i="1" dirty="0" err="1"/>
              <a:t>name</a:t>
            </a:r>
            <a:r>
              <a:rPr lang="da-DK" i="1" dirty="0"/>
              <a:t> </a:t>
            </a:r>
          </a:p>
          <a:p>
            <a:r>
              <a:rPr lang="da-DK" dirty="0"/>
              <a:t>A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excuted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java</a:t>
            </a:r>
            <a:r>
              <a:rPr lang="da-DK" dirty="0"/>
              <a:t> </a:t>
            </a:r>
            <a:r>
              <a:rPr lang="da-DK" i="1" dirty="0" err="1"/>
              <a:t>name</a:t>
            </a:r>
            <a:r>
              <a:rPr lang="da-DK" dirty="0"/>
              <a:t> (</a:t>
            </a:r>
            <a:r>
              <a:rPr lang="da-DK" dirty="0" err="1"/>
              <a:t>without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da-DK" dirty="0"/>
              <a:t>) if the </a:t>
            </a:r>
            <a:r>
              <a:rPr lang="da-DK" dirty="0" err="1"/>
              <a:t>class</a:t>
            </a:r>
            <a:r>
              <a:rPr lang="da-DK" dirty="0"/>
              <a:t> has a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method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with signature</a:t>
            </a:r>
          </a:p>
          <a:p>
            <a:pPr marL="0" indent="0">
              <a:buNone/>
            </a:pP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public static void main(String[]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a-DK" dirty="0">
                <a:cs typeface="Courier New" panose="02070309020205020404" pitchFamily="49" charset="0"/>
              </a:rPr>
              <a:t>(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da-DK" dirty="0">
                <a:cs typeface="Courier New" panose="02070309020205020404" pitchFamily="49" charset="0"/>
              </a:rPr>
              <a:t> is </a:t>
            </a:r>
            <a:r>
              <a:rPr lang="da-DK" dirty="0" err="1">
                <a:cs typeface="Courier New" panose="02070309020205020404" pitchFamily="49" charset="0"/>
              </a:rPr>
              <a:t>inherited</a:t>
            </a:r>
            <a:r>
              <a:rPr lang="da-DK" dirty="0">
                <a:cs typeface="Courier New" panose="02070309020205020404" pitchFamily="49" charset="0"/>
              </a:rPr>
              <a:t> from C and C++ </a:t>
            </a:r>
            <a:r>
              <a:rPr lang="da-DK" dirty="0" err="1">
                <a:cs typeface="Courier New" panose="02070309020205020404" pitchFamily="49" charset="0"/>
              </a:rPr>
              <a:t>sharing</a:t>
            </a:r>
            <a:r>
              <a:rPr lang="da-DK" dirty="0">
                <a:cs typeface="Courier New" panose="02070309020205020404" pitchFamily="49" charset="0"/>
              </a:rPr>
              <a:t> a </a:t>
            </a:r>
            <a:r>
              <a:rPr lang="da-DK" dirty="0" err="1">
                <a:cs typeface="Courier New" panose="02070309020205020404" pitchFamily="49" charset="0"/>
              </a:rPr>
              <a:t>lot</a:t>
            </a:r>
            <a:r>
              <a:rPr lang="da-DK" dirty="0">
                <a:cs typeface="Courier New" panose="02070309020205020404" pitchFamily="49" charset="0"/>
              </a:rPr>
              <a:t> of </a:t>
            </a:r>
            <a:r>
              <a:rPr lang="da-DK" dirty="0" err="1">
                <a:cs typeface="Courier New" panose="02070309020205020404" pitchFamily="49" charset="0"/>
              </a:rPr>
              <a:t>syntax</a:t>
            </a:r>
            <a:r>
              <a:rPr lang="da-DK" dirty="0">
                <a:cs typeface="Courier New" panose="02070309020205020404" pitchFamily="49" charset="0"/>
              </a:rPr>
              <a:t> with Java)</a:t>
            </a:r>
          </a:p>
          <a:p>
            <a:r>
              <a:rPr lang="da-DK" dirty="0">
                <a:cs typeface="Courier New" panose="02070309020205020404" pitchFamily="49" charset="0"/>
              </a:rPr>
              <a:t>Java </a:t>
            </a:r>
            <a:r>
              <a:rPr lang="da-DK" dirty="0" err="1">
                <a:cs typeface="Courier New" panose="02070309020205020404" pitchFamily="49" charset="0"/>
              </a:rPr>
              <a:t>convention</a:t>
            </a:r>
            <a:r>
              <a:rPr lang="da-DK" dirty="0">
                <a:cs typeface="Courier New" panose="02070309020205020404" pitchFamily="49" charset="0"/>
              </a:rPr>
              <a:t> is </a:t>
            </a:r>
            <a:r>
              <a:rPr lang="da-DK" dirty="0" err="1">
                <a:cs typeface="Courier New" panose="02070309020205020404" pitchFamily="49" charset="0"/>
              </a:rPr>
              <a:t>that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class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names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should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use</a:t>
            </a:r>
            <a:r>
              <a:rPr lang="da-DK" dirty="0">
                <a:cs typeface="Courier New" panose="02070309020205020404" pitchFamily="49" charset="0"/>
              </a:rPr>
              <a:t> </a:t>
            </a:r>
            <a:r>
              <a:rPr lang="da-DK" dirty="0" err="1">
                <a:cs typeface="Courier New" panose="02070309020205020404" pitchFamily="49" charset="0"/>
              </a:rPr>
              <a:t>CamelCase</a:t>
            </a:r>
            <a:endParaRPr lang="en-US" dirty="0">
              <a:cs typeface="Courier New" panose="02070309020205020404" pitchFamily="49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14251"/>
              </p:ext>
            </p:extLst>
          </p:nvPr>
        </p:nvGraphicFramePr>
        <p:xfrm>
          <a:off x="7522845" y="4555060"/>
          <a:ext cx="4135755" cy="1720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5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6407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5523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java PrintArguments x y z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390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8334323"/>
              </p:ext>
            </p:extLst>
          </p:nvPr>
        </p:nvGraphicFramePr>
        <p:xfrm>
          <a:off x="2628191" y="2545226"/>
          <a:ext cx="6599555" cy="2162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99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4547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PrintArguments.java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96423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PrintArguments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(int i=0; i&lt;args.length; i++)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  System.out.println( args[i] );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68" name="Group 67"/>
          <p:cNvGrpSpPr/>
          <p:nvPr/>
        </p:nvGrpSpPr>
        <p:grpSpPr>
          <a:xfrm>
            <a:off x="6348300" y="1571986"/>
            <a:ext cx="2879446" cy="1492696"/>
            <a:chOff x="6348300" y="1571986"/>
            <a:chExt cx="2879446" cy="1492696"/>
          </a:xfrm>
        </p:grpSpPr>
        <p:cxnSp>
          <p:nvCxnSpPr>
            <p:cNvPr id="13" name="Straight Arrow Connector 12"/>
            <p:cNvCxnSpPr/>
            <p:nvPr/>
          </p:nvCxnSpPr>
          <p:spPr>
            <a:xfrm flipH="1">
              <a:off x="6488483" y="2471324"/>
              <a:ext cx="440419" cy="495419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tailEnd type="non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/>
            <p:cNvSpPr/>
            <p:nvPr/>
          </p:nvSpPr>
          <p:spPr>
            <a:xfrm>
              <a:off x="6511221" y="2230011"/>
              <a:ext cx="584669" cy="307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>
              <a:off x="6400531" y="2256520"/>
              <a:ext cx="713306" cy="8081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6348300" y="1571986"/>
              <a:ext cx="28794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class name containing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dirty="0">
                  <a:solidFill>
                    <a:srgbClr val="C00000"/>
                  </a:solidFill>
                </a:rPr>
                <a:t> must have same name as file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103826" y="1568310"/>
            <a:ext cx="2879446" cy="1465051"/>
            <a:chOff x="103826" y="1568310"/>
            <a:chExt cx="2879446" cy="1465051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78429" y="2660601"/>
              <a:ext cx="697072" cy="37276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3826" y="1568310"/>
              <a:ext cx="287944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there can be several classes in a file – but only one class should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public</a:t>
              </a:r>
              <a:r>
                <a:rPr lang="en-US" dirty="0">
                  <a:solidFill>
                    <a:srgbClr val="C00000"/>
                  </a:solidFill>
                  <a:cs typeface="Courier New" panose="02070309020205020404" pitchFamily="49" charset="0"/>
                </a:rPr>
                <a:t> and have same name as file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3584392" y="1535163"/>
            <a:ext cx="2595850" cy="1745117"/>
            <a:chOff x="3584392" y="1535163"/>
            <a:chExt cx="2595850" cy="1745117"/>
          </a:xfrm>
        </p:grpSpPr>
        <p:sp>
          <p:nvSpPr>
            <p:cNvPr id="33" name="TextBox 32"/>
            <p:cNvSpPr txBox="1"/>
            <p:nvPr/>
          </p:nvSpPr>
          <p:spPr>
            <a:xfrm>
              <a:off x="3584392" y="1535163"/>
              <a:ext cx="2595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type of return value 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(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</a:t>
              </a:r>
              <a:r>
                <a:rPr lang="en-US" dirty="0">
                  <a:solidFill>
                    <a:srgbClr val="C00000"/>
                  </a:solidFill>
                </a:rPr>
                <a:t> = no return value)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>
              <a:off x="5430769" y="2537738"/>
              <a:ext cx="7023" cy="419543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tailEnd type="non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>
              <a:off x="5425678" y="2148840"/>
              <a:ext cx="19584" cy="113144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/>
          <p:cNvGrpSpPr/>
          <p:nvPr/>
        </p:nvGrpSpPr>
        <p:grpSpPr>
          <a:xfrm>
            <a:off x="-118272" y="3064682"/>
            <a:ext cx="3307776" cy="923330"/>
            <a:chOff x="-118272" y="3064682"/>
            <a:chExt cx="3307776" cy="923330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2326965" y="3391593"/>
              <a:ext cx="862539" cy="252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-118272" y="3064682"/>
              <a:ext cx="25958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the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dirty="0">
                  <a:solidFill>
                    <a:srgbClr val="C00000"/>
                  </a:solidFill>
                </a:rPr>
                <a:t> method must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public</a:t>
              </a:r>
              <a:r>
                <a:rPr lang="en-US" dirty="0">
                  <a:solidFill>
                    <a:srgbClr val="C00000"/>
                  </a:solidFill>
                </a:rPr>
                <a:t> to be visible outside class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1475690" y="554146"/>
            <a:ext cx="3194792" cy="2756009"/>
            <a:chOff x="1475690" y="554146"/>
            <a:chExt cx="3194792" cy="2756009"/>
          </a:xfrm>
        </p:grpSpPr>
        <p:sp>
          <p:nvSpPr>
            <p:cNvPr id="25" name="TextBox 24"/>
            <p:cNvSpPr txBox="1"/>
            <p:nvPr/>
          </p:nvSpPr>
          <p:spPr>
            <a:xfrm>
              <a:off x="1475690" y="554146"/>
              <a:ext cx="319479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a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static</a:t>
              </a:r>
              <a:r>
                <a:rPr lang="en-US" dirty="0">
                  <a:solidFill>
                    <a:srgbClr val="C00000"/>
                  </a:solidFill>
                </a:rPr>
                <a:t> method in 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 class is a class method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(exists without creating objects)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9" name="Straight Arrow Connector 38"/>
            <p:cNvCxnSpPr/>
            <p:nvPr/>
          </p:nvCxnSpPr>
          <p:spPr>
            <a:xfrm>
              <a:off x="3157601" y="1422978"/>
              <a:ext cx="1142873" cy="1887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/>
          <p:cNvGrpSpPr/>
          <p:nvPr/>
        </p:nvGrpSpPr>
        <p:grpSpPr>
          <a:xfrm>
            <a:off x="5051069" y="1095252"/>
            <a:ext cx="2258345" cy="2203670"/>
            <a:chOff x="5051069" y="1095252"/>
            <a:chExt cx="2258345" cy="220367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6125285" y="2540336"/>
              <a:ext cx="1380" cy="422016"/>
            </a:xfrm>
            <a:prstGeom prst="straightConnector1">
              <a:avLst/>
            </a:prstGeom>
            <a:ln w="57150">
              <a:solidFill>
                <a:schemeClr val="accent5">
                  <a:lumMod val="20000"/>
                  <a:lumOff val="80000"/>
                </a:schemeClr>
              </a:solidFill>
              <a:tailEnd type="non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 flipH="1">
              <a:off x="6126666" y="1427420"/>
              <a:ext cx="3968" cy="187150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/>
            <p:cNvSpPr txBox="1"/>
            <p:nvPr/>
          </p:nvSpPr>
          <p:spPr>
            <a:xfrm>
              <a:off x="5051069" y="1095252"/>
              <a:ext cx="2258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method name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8429292" y="3451035"/>
            <a:ext cx="3637773" cy="618802"/>
            <a:chOff x="8429292" y="3451035"/>
            <a:chExt cx="3637773" cy="618802"/>
          </a:xfrm>
        </p:grpSpPr>
        <p:cxnSp>
          <p:nvCxnSpPr>
            <p:cNvPr id="42" name="Straight Arrow Connector 41"/>
            <p:cNvCxnSpPr/>
            <p:nvPr/>
          </p:nvCxnSpPr>
          <p:spPr>
            <a:xfrm flipH="1" flipV="1">
              <a:off x="8429292" y="3451035"/>
              <a:ext cx="1417132" cy="35056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/>
            <p:cNvSpPr txBox="1"/>
            <p:nvPr/>
          </p:nvSpPr>
          <p:spPr>
            <a:xfrm>
              <a:off x="9808720" y="3700505"/>
              <a:ext cx="2258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name of argument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773002" y="2363171"/>
            <a:ext cx="4334485" cy="930484"/>
            <a:chOff x="7773002" y="2363171"/>
            <a:chExt cx="4334485" cy="930484"/>
          </a:xfrm>
        </p:grpSpPr>
        <p:cxnSp>
          <p:nvCxnSpPr>
            <p:cNvPr id="45" name="Straight Arrow Connector 44"/>
            <p:cNvCxnSpPr/>
            <p:nvPr/>
          </p:nvCxnSpPr>
          <p:spPr>
            <a:xfrm flipH="1">
              <a:off x="7773002" y="2888673"/>
              <a:ext cx="1815729" cy="4049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9561334" y="2363171"/>
              <a:ext cx="254615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type of argument, 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array of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dirty="0">
                  <a:solidFill>
                    <a:srgbClr val="C00000"/>
                  </a:solidFill>
                </a:rPr>
                <a:t> values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6" name="Group 75"/>
          <p:cNvGrpSpPr/>
          <p:nvPr/>
        </p:nvGrpSpPr>
        <p:grpSpPr>
          <a:xfrm>
            <a:off x="8294254" y="3679859"/>
            <a:ext cx="3897745" cy="2323631"/>
            <a:chOff x="8144202" y="3699031"/>
            <a:chExt cx="4047798" cy="2304561"/>
          </a:xfrm>
        </p:grpSpPr>
        <p:cxnSp>
          <p:nvCxnSpPr>
            <p:cNvPr id="50" name="Straight Arrow Connector 49"/>
            <p:cNvCxnSpPr/>
            <p:nvPr/>
          </p:nvCxnSpPr>
          <p:spPr>
            <a:xfrm flipH="1" flipV="1">
              <a:off x="8144202" y="3699031"/>
              <a:ext cx="1485298" cy="8023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/>
            <p:cNvSpPr/>
            <p:nvPr/>
          </p:nvSpPr>
          <p:spPr>
            <a:xfrm>
              <a:off x="9201704" y="4492601"/>
              <a:ext cx="2990296" cy="151099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dirty="0">
                  <a:solidFill>
                    <a:srgbClr val="C00000"/>
                  </a:solidFill>
                </a:rPr>
                <a:t>For-loop equivalent to</a:t>
              </a:r>
              <a:endParaRPr lang="pt-BR" sz="14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pt-BR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 i = 0;</a:t>
              </a:r>
            </a:p>
            <a:p>
              <a:r>
                <a:rPr lang="pt-BR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while (i &lt; args.length) {</a:t>
              </a:r>
            </a:p>
            <a:p>
              <a:r>
                <a:rPr lang="pt-BR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</a:t>
              </a:r>
              <a:r>
                <a:rPr lang="pt-BR" sz="1400" b="1" i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code</a:t>
              </a:r>
            </a:p>
            <a:p>
              <a:r>
                <a:rPr lang="pt-BR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i++;</a:t>
              </a:r>
            </a:p>
            <a:p>
              <a:r>
                <a:rPr lang="pt-BR" sz="14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201704" y="4859625"/>
              <a:ext cx="2945497" cy="10889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4780613" y="4042081"/>
            <a:ext cx="2879446" cy="1638568"/>
            <a:chOff x="4780613" y="4042081"/>
            <a:chExt cx="2879446" cy="1638568"/>
          </a:xfrm>
        </p:grpSpPr>
        <p:cxnSp>
          <p:nvCxnSpPr>
            <p:cNvPr id="54" name="Straight Arrow Connector 53"/>
            <p:cNvCxnSpPr/>
            <p:nvPr/>
          </p:nvCxnSpPr>
          <p:spPr>
            <a:xfrm flipH="1" flipV="1">
              <a:off x="6220336" y="4042081"/>
              <a:ext cx="0" cy="95403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/>
            <p:cNvSpPr txBox="1"/>
            <p:nvPr/>
          </p:nvSpPr>
          <p:spPr>
            <a:xfrm>
              <a:off x="4780613" y="5034318"/>
              <a:ext cx="28794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the print statement is found in the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System</a:t>
              </a:r>
              <a:r>
                <a:rPr lang="en-US" dirty="0">
                  <a:solidFill>
                    <a:srgbClr val="C00000"/>
                  </a:solidFill>
                </a:rPr>
                <a:t> class</a:t>
              </a:r>
            </a:p>
          </p:txBody>
        </p:sp>
      </p:grpSp>
      <p:grpSp>
        <p:nvGrpSpPr>
          <p:cNvPr id="77" name="Group 76"/>
          <p:cNvGrpSpPr/>
          <p:nvPr/>
        </p:nvGrpSpPr>
        <p:grpSpPr>
          <a:xfrm>
            <a:off x="1584542" y="3721028"/>
            <a:ext cx="3065519" cy="2009464"/>
            <a:chOff x="1584542" y="3801598"/>
            <a:chExt cx="3085940" cy="1928893"/>
          </a:xfrm>
        </p:grpSpPr>
        <p:cxnSp>
          <p:nvCxnSpPr>
            <p:cNvPr id="57" name="Straight Arrow Connector 56"/>
            <p:cNvCxnSpPr>
              <a:cxnSpLocks/>
            </p:cNvCxnSpPr>
            <p:nvPr/>
          </p:nvCxnSpPr>
          <p:spPr>
            <a:xfrm flipV="1">
              <a:off x="3189504" y="3801598"/>
              <a:ext cx="1480978" cy="13190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/>
            <p:cNvSpPr txBox="1"/>
            <p:nvPr/>
          </p:nvSpPr>
          <p:spPr>
            <a:xfrm>
              <a:off x="1584542" y="5084160"/>
              <a:ext cx="28794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declare new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solidFill>
                    <a:srgbClr val="C00000"/>
                  </a:solidFill>
                </a:rPr>
                <a:t> variable locally inside for-loop</a:t>
              </a:r>
            </a:p>
          </p:txBody>
        </p:sp>
      </p:grpSp>
      <p:grpSp>
        <p:nvGrpSpPr>
          <p:cNvPr id="79" name="Group 78"/>
          <p:cNvGrpSpPr/>
          <p:nvPr/>
        </p:nvGrpSpPr>
        <p:grpSpPr>
          <a:xfrm>
            <a:off x="6400531" y="4069837"/>
            <a:ext cx="2879446" cy="2788163"/>
            <a:chOff x="6400531" y="4069837"/>
            <a:chExt cx="2879446" cy="2788163"/>
          </a:xfrm>
        </p:grpSpPr>
        <p:cxnSp>
          <p:nvCxnSpPr>
            <p:cNvPr id="60" name="Straight Arrow Connector 59"/>
            <p:cNvCxnSpPr/>
            <p:nvPr/>
          </p:nvCxnSpPr>
          <p:spPr>
            <a:xfrm flipH="1" flipV="1">
              <a:off x="7788024" y="4069837"/>
              <a:ext cx="5182" cy="16606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6400531" y="5657671"/>
              <a:ext cx="287944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java arrays are indexed from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 </a:t>
              </a:r>
              <a:r>
                <a:rPr lang="en-US" dirty="0">
                  <a:solidFill>
                    <a:srgbClr val="C00000"/>
                  </a:solidFill>
                </a:rPr>
                <a:t>to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args.length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– 1</a:t>
              </a:r>
            </a:p>
            <a:p>
              <a:pPr algn="ctr"/>
              <a:r>
                <a:rPr lang="en-US" dirty="0">
                  <a:solidFill>
                    <a:srgbClr val="C00000"/>
                  </a:solidFill>
                </a:rPr>
                <a:t>and the length of an array object is fixed once created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10172987" y="5730490"/>
            <a:ext cx="823799" cy="548900"/>
            <a:chOff x="8429295" y="3451038"/>
            <a:chExt cx="2389813" cy="1662189"/>
          </a:xfrm>
        </p:grpSpPr>
        <p:cxnSp>
          <p:nvCxnSpPr>
            <p:cNvPr id="47" name="Straight Arrow Connector 46"/>
            <p:cNvCxnSpPr/>
            <p:nvPr/>
          </p:nvCxnSpPr>
          <p:spPr>
            <a:xfrm flipH="1" flipV="1">
              <a:off x="8429295" y="3451038"/>
              <a:ext cx="668922" cy="99454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8560761" y="4304750"/>
              <a:ext cx="2258347" cy="808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i += 1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221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 list also exists in Python...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092635"/>
              </p:ext>
            </p:extLst>
          </p:nvPr>
        </p:nvGraphicFramePr>
        <p:xfrm>
          <a:off x="3277235" y="2898169"/>
          <a:ext cx="563753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PrintArguments.py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sys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print(sys.argv)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PrintArguments.py a b 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['PrintArguments.py', 'a', 'b', '42']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850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51908"/>
              </p:ext>
            </p:extLst>
          </p:nvPr>
        </p:nvGraphicFramePr>
        <p:xfrm>
          <a:off x="1317554" y="341811"/>
          <a:ext cx="9739630" cy="627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39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Primitive.java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/**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* A Java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docstring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to be processed using '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javadoc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*/</a:t>
                      </a: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comment until end-of-line</a:t>
                      </a:r>
                    </a:p>
                    <a:p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Primitive {</a:t>
                      </a:r>
                    </a:p>
                    <a:p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</a:t>
                      </a:r>
                      <a:r>
                        <a:rPr lang="en-US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args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) {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type of variable must be declared before used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remember ';' after each statement</a:t>
                      </a:r>
                    </a:p>
                    <a:p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y=2;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indentation does not matter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a=3, b=4;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multiple declarations and initialization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 + y + a + b);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 v={1, 2, 42, 3};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array of four </a:t>
                      </a:r>
                      <a:r>
                        <a:rPr lang="en-US" sz="1600" b="1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en-US" sz="16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(v[2]);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prints 42, arrays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0-indexed</a:t>
                      </a:r>
                      <a:endParaRPr lang="en-US" sz="16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/* multi-line comment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that continues until here */</a:t>
                      </a:r>
                      <a:endParaRPr lang="en-US" sz="1600" b="1" baseline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v = new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[3];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new array of size three, containing zeros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(v[2]);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prints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</a:t>
                      </a:r>
                      <a:endParaRPr lang="en-US" sz="16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(x == y) {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if-syntax '(' and ')' mandatory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1;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2; 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} else {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use '{' and '}' to create block of statements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a = 4; b = 3; 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two statements on one line</a:t>
                      </a:r>
                    </a:p>
                    <a:p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1851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types – </a:t>
            </a:r>
            <a:r>
              <a:rPr lang="da-DK" dirty="0" err="1"/>
              <a:t>Python</a:t>
            </a:r>
            <a:r>
              <a:rPr lang="da-DK" dirty="0"/>
              <a:t> </a:t>
            </a:r>
            <a:r>
              <a:rPr lang="da-DK" dirty="0" err="1"/>
              <a:t>works</a:t>
            </a:r>
            <a:r>
              <a:rPr lang="da-DK" dirty="0"/>
              <a:t> </a:t>
            </a:r>
            <a:r>
              <a:rPr lang="da-DK" dirty="0" err="1"/>
              <a:t>without</a:t>
            </a:r>
            <a:r>
              <a:rPr lang="da-DK" dirty="0"/>
              <a:t>...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446487"/>
            <a:ext cx="9911577" cy="2478968"/>
          </a:xfrm>
        </p:spPr>
        <p:txBody>
          <a:bodyPr>
            <a:normAutofit/>
          </a:bodyPr>
          <a:lstStyle/>
          <a:p>
            <a:r>
              <a:rPr lang="da-DK" dirty="0"/>
              <a:t>Just </a:t>
            </a:r>
            <a:r>
              <a:rPr lang="da-DK" dirty="0" err="1"/>
              <a:t>enforcing</a:t>
            </a:r>
            <a:r>
              <a:rPr lang="da-DK" dirty="0"/>
              <a:t> a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programming</a:t>
            </a:r>
            <a:r>
              <a:rPr lang="da-DK" dirty="0"/>
              <a:t> </a:t>
            </a:r>
            <a:r>
              <a:rPr lang="da-DK" dirty="0" err="1"/>
              <a:t>style</a:t>
            </a:r>
            <a:r>
              <a:rPr lang="da-DK" dirty="0"/>
              <a:t> (</a:t>
            </a:r>
            <a:r>
              <a:rPr lang="da-DK" dirty="0" err="1"/>
              <a:t>also</a:t>
            </a:r>
            <a:r>
              <a:rPr lang="da-DK" dirty="0"/>
              <a:t> C and C++)</a:t>
            </a:r>
          </a:p>
          <a:p>
            <a:r>
              <a:rPr lang="da-DK" dirty="0"/>
              <a:t>Helps </a:t>
            </a:r>
            <a:r>
              <a:rPr lang="da-DK" dirty="0" err="1"/>
              <a:t>users</a:t>
            </a:r>
            <a:r>
              <a:rPr lang="da-DK" dirty="0"/>
              <a:t> to </a:t>
            </a:r>
            <a:r>
              <a:rPr lang="da-DK" dirty="0" err="1"/>
              <a:t>avoid</a:t>
            </a:r>
            <a:r>
              <a:rPr lang="da-DK" dirty="0"/>
              <a:t> </a:t>
            </a:r>
            <a:r>
              <a:rPr lang="da-DK" dirty="0" err="1"/>
              <a:t>mixing</a:t>
            </a:r>
            <a:r>
              <a:rPr lang="da-DK" dirty="0"/>
              <a:t> up </a:t>
            </a:r>
            <a:r>
              <a:rPr lang="da-DK" dirty="0" err="1"/>
              <a:t>values</a:t>
            </a:r>
            <a:r>
              <a:rPr lang="da-DK" dirty="0"/>
              <a:t> of </a:t>
            </a:r>
            <a:r>
              <a:rPr lang="da-DK" dirty="0" err="1"/>
              <a:t>different</a:t>
            </a:r>
            <a:r>
              <a:rPr lang="da-DK" dirty="0"/>
              <a:t> types</a:t>
            </a:r>
          </a:p>
          <a:p>
            <a:r>
              <a:rPr lang="da-DK" dirty="0"/>
              <a:t>(</a:t>
            </a:r>
            <a:r>
              <a:rPr lang="da-DK" dirty="0" err="1"/>
              <a:t>Some</a:t>
            </a:r>
            <a:r>
              <a:rPr lang="da-DK" dirty="0"/>
              <a:t>) type </a:t>
            </a:r>
            <a:r>
              <a:rPr lang="da-DK" dirty="0" err="1"/>
              <a:t>errors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 err="1"/>
              <a:t>caught</a:t>
            </a:r>
            <a:r>
              <a:rPr lang="da-DK" dirty="0"/>
              <a:t> at </a:t>
            </a:r>
            <a:r>
              <a:rPr lang="da-DK" dirty="0" err="1"/>
              <a:t>compile</a:t>
            </a:r>
            <a:r>
              <a:rPr lang="da-DK" dirty="0"/>
              <a:t> time</a:t>
            </a:r>
          </a:p>
          <a:p>
            <a:r>
              <a:rPr lang="da-DK" dirty="0"/>
              <a:t>More </a:t>
            </a:r>
            <a:r>
              <a:rPr lang="da-DK" dirty="0" err="1"/>
              <a:t>efficient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execution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87762"/>
              </p:ext>
            </p:extLst>
          </p:nvPr>
        </p:nvGraphicFramePr>
        <p:xfrm>
          <a:off x="670930" y="3980671"/>
          <a:ext cx="5093495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49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type_error.py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3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'abc'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print('program running...')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print(x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program running...</a:t>
                      </a:r>
                    </a:p>
                    <a:p>
                      <a:pPr marL="0" indent="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----&gt; 4 print(x / y)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TypeError: unsupported operand type(s) for /: 'int' and 'str'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41948"/>
              </p:ext>
            </p:extLst>
          </p:nvPr>
        </p:nvGraphicFramePr>
        <p:xfrm>
          <a:off x="5928732" y="2487151"/>
          <a:ext cx="555406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406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TypeError {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int x = 3;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String y = "abc";</a:t>
                      </a:r>
                    </a:p>
                    <a:p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System.out.println(x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</a:t>
                      </a:r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y);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javac TypeError.java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javac TypeError.java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TypeError.java:5: error: bad operand types for binary operator '/'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System.out.println(x / y);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    ^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first type:  int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second type: String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error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957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8813" y="198871"/>
            <a:ext cx="10515600" cy="1325563"/>
          </a:xfrm>
        </p:spPr>
        <p:txBody>
          <a:bodyPr/>
          <a:lstStyle/>
          <a:p>
            <a:r>
              <a:rPr lang="da-DK" dirty="0"/>
              <a:t>Basic Java types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884468"/>
              </p:ext>
            </p:extLst>
          </p:nvPr>
        </p:nvGraphicFramePr>
        <p:xfrm>
          <a:off x="127990" y="1824163"/>
          <a:ext cx="5793677" cy="435864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2773680">
                  <a:extLst>
                    <a:ext uri="{9D8B030D-6E8A-4147-A177-3AD203B41FA5}">
                      <a16:colId xmlns:a16="http://schemas.microsoft.com/office/drawing/2014/main" val="1847099142"/>
                    </a:ext>
                  </a:extLst>
                </a:gridCol>
                <a:gridCol w="3019997">
                  <a:extLst>
                    <a:ext uri="{9D8B030D-6E8A-4147-A177-3AD203B41FA5}">
                      <a16:colId xmlns:a16="http://schemas.microsoft.com/office/drawing/2014/main" val="608477444"/>
                    </a:ext>
                  </a:extLst>
                </a:gridCol>
              </a:tblGrid>
              <a:tr h="126373">
                <a:tc>
                  <a:txBody>
                    <a:bodyPr/>
                    <a:lstStyle/>
                    <a:p>
                      <a:r>
                        <a:rPr lang="da-DK" sz="2000" dirty="0"/>
                        <a:t>Type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Values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6505633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r>
                        <a:rPr lang="da-DK" sz="2000" dirty="0"/>
                        <a:t> or </a:t>
                      </a:r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8906620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8 bit </a:t>
                      </a:r>
                      <a:r>
                        <a:rPr lang="da-DK" sz="2000" dirty="0" err="1"/>
                        <a:t>integer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93964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 err="1"/>
                        <a:t>character</a:t>
                      </a:r>
                      <a:r>
                        <a:rPr lang="da-DK" sz="2000" dirty="0"/>
                        <a:t> (16-bit</a:t>
                      </a:r>
                      <a:r>
                        <a:rPr lang="da-DK" sz="2000" baseline="0" dirty="0"/>
                        <a:t> UTF)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9768935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short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16 bit</a:t>
                      </a:r>
                      <a:r>
                        <a:rPr lang="da-DK" sz="2000" baseline="0" dirty="0"/>
                        <a:t> </a:t>
                      </a:r>
                      <a:r>
                        <a:rPr lang="da-DK" sz="2000" baseline="0" dirty="0" err="1"/>
                        <a:t>integer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7298925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32 bit </a:t>
                      </a:r>
                      <a:r>
                        <a:rPr lang="da-DK" sz="2000" dirty="0" err="1"/>
                        <a:t>integer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788925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endParaRPr lang="en-US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64 bit </a:t>
                      </a:r>
                      <a:r>
                        <a:rPr lang="da-DK" sz="2000" dirty="0" err="1"/>
                        <a:t>integer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136620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da-DK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32 bit</a:t>
                      </a:r>
                      <a:r>
                        <a:rPr lang="da-DK" sz="2000" baseline="0" dirty="0"/>
                        <a:t> </a:t>
                      </a:r>
                      <a:r>
                        <a:rPr lang="da-DK" sz="2000" baseline="0" dirty="0" err="1"/>
                        <a:t>floating</a:t>
                      </a:r>
                      <a:r>
                        <a:rPr lang="da-DK" sz="2000" baseline="0" dirty="0"/>
                        <a:t> </a:t>
                      </a:r>
                      <a:r>
                        <a:rPr lang="da-DK" sz="2000" baseline="0" dirty="0" err="1"/>
                        <a:t>bout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0967887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/>
                        <a:t>64 bit </a:t>
                      </a:r>
                      <a:r>
                        <a:rPr lang="da-DK" sz="2000" dirty="0" err="1"/>
                        <a:t>floating</a:t>
                      </a:r>
                      <a:r>
                        <a:rPr lang="da-DK" sz="2000" dirty="0"/>
                        <a:t> point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8099945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BigInteger</a:t>
                      </a:r>
                      <a:endParaRPr lang="da-DK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 err="1"/>
                        <a:t>arbitrary</a:t>
                      </a:r>
                      <a:r>
                        <a:rPr lang="da-DK" sz="2000" dirty="0"/>
                        <a:t> </a:t>
                      </a:r>
                      <a:r>
                        <a:rPr lang="da-DK" sz="2000" dirty="0" err="1"/>
                        <a:t>precision</a:t>
                      </a:r>
                      <a:r>
                        <a:rPr lang="da-DK" sz="2000" dirty="0"/>
                        <a:t> </a:t>
                      </a:r>
                      <a:r>
                        <a:rPr lang="da-DK" sz="2000" dirty="0" err="1"/>
                        <a:t>integers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905875"/>
                  </a:ext>
                </a:extLst>
              </a:tr>
              <a:tr h="126373">
                <a:tc>
                  <a:txBody>
                    <a:bodyPr/>
                    <a:lstStyle/>
                    <a:p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da-DK" sz="20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20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</a:t>
                      </a:r>
                      <a:endParaRPr lang="da-DK" sz="20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2000" dirty="0" err="1"/>
                        <a:t>strings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33376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552238"/>
              </p:ext>
            </p:extLst>
          </p:nvPr>
        </p:nvGraphicFramePr>
        <p:xfrm>
          <a:off x="6096000" y="320040"/>
          <a:ext cx="5928043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80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BigIntegerTest.java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java.math.*;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import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everything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import java.math.BigInteger;  // alternativ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BigIntegerTest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BigInteger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BigInteger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("2");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while (true) {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//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BigIntegers are immutable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x = x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.multiply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java.math.BigInteger.toString()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System.out.println(x);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65536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4294967296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18446744073709551616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340282366920938463463374607431768211456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3987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Java arrays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8764" y="1825625"/>
            <a:ext cx="4536374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size of a </a:t>
            </a:r>
            <a:r>
              <a:rPr lang="en-US" dirty="0" err="1"/>
              <a:t>builtin</a:t>
            </a:r>
            <a:r>
              <a:rPr lang="en-US" dirty="0"/>
              <a:t> Java array can not be modified when first created. </a:t>
            </a:r>
            <a:br>
              <a:rPr lang="en-US" dirty="0"/>
            </a:br>
            <a:r>
              <a:rPr lang="en-US" dirty="0"/>
              <a:t>If you need a bigger array you have to instantiate a new array.</a:t>
            </a:r>
          </a:p>
          <a:p>
            <a:endParaRPr lang="da-DK" dirty="0"/>
          </a:p>
          <a:p>
            <a:r>
              <a:rPr lang="da-DK" dirty="0"/>
              <a:t>Or </a:t>
            </a:r>
            <a:r>
              <a:rPr lang="da-DK" dirty="0" err="1"/>
              <a:t>better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a standard </a:t>
            </a:r>
            <a:r>
              <a:rPr lang="da-DK" dirty="0" err="1"/>
              <a:t>collection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like</a:t>
            </a:r>
            <a:r>
              <a:rPr lang="da-DK" dirty="0"/>
              <a:t> </a:t>
            </a:r>
            <a:r>
              <a:rPr lang="da-DK" b="1" dirty="0" err="1">
                <a:solidFill>
                  <a:srgbClr val="C00000"/>
                </a:solidFill>
              </a:rPr>
              <a:t>ArrayList</a:t>
            </a:r>
            <a:endParaRPr lang="da-DK" b="1" dirty="0">
              <a:solidFill>
                <a:srgbClr val="C00000"/>
              </a:solidFill>
            </a:endParaRPr>
          </a:p>
          <a:p>
            <a:endParaRPr lang="da-DK" b="1" dirty="0">
              <a:solidFill>
                <a:srgbClr val="C00000"/>
              </a:solidFill>
            </a:endParaRPr>
          </a:p>
          <a:p>
            <a:r>
              <a:rPr lang="da-DK" b="1" dirty="0" err="1">
                <a:solidFill>
                  <a:srgbClr val="C00000"/>
                </a:solidFill>
              </a:rPr>
              <a:t>ArrayList</a:t>
            </a:r>
            <a:r>
              <a:rPr lang="da-DK" b="1" dirty="0">
                <a:solidFill>
                  <a:srgbClr val="C00000"/>
                </a:solidFill>
              </a:rPr>
              <a:t> </a:t>
            </a:r>
            <a:r>
              <a:rPr lang="da-DK" dirty="0"/>
              <a:t>is a </a:t>
            </a:r>
            <a:r>
              <a:rPr lang="da-DK" dirty="0" err="1"/>
              <a:t>generic</a:t>
            </a:r>
            <a:r>
              <a:rPr lang="da-DK" dirty="0"/>
              <a:t> </a:t>
            </a:r>
            <a:r>
              <a:rPr lang="da-DK" dirty="0" err="1"/>
              <a:t>class</a:t>
            </a:r>
            <a:r>
              <a:rPr lang="da-DK" dirty="0"/>
              <a:t> (type of </a:t>
            </a:r>
            <a:r>
              <a:rPr lang="da-DK" dirty="0" err="1"/>
              <a:t>content</a:t>
            </a:r>
            <a:r>
              <a:rPr lang="da-DK" dirty="0"/>
              <a:t> is given by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a-DK" i="1" dirty="0">
                <a:cs typeface="Courier New" panose="02070309020205020404" pitchFamily="49" charset="0"/>
              </a:rPr>
              <a:t>element type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da-DK" dirty="0"/>
              <a:t>; </a:t>
            </a:r>
            <a:r>
              <a:rPr lang="da-DK" dirty="0" err="1"/>
              <a:t>generics</a:t>
            </a:r>
            <a:r>
              <a:rPr lang="da-DK" dirty="0"/>
              <a:t> </a:t>
            </a:r>
            <a:r>
              <a:rPr lang="da-DK" dirty="0" err="1"/>
              <a:t>available</a:t>
            </a:r>
            <a:r>
              <a:rPr lang="da-DK" dirty="0"/>
              <a:t> </a:t>
            </a:r>
            <a:r>
              <a:rPr lang="da-DK" dirty="0" err="1"/>
              <a:t>since</a:t>
            </a:r>
            <a:r>
              <a:rPr lang="da-DK" dirty="0"/>
              <a:t> Java 5, 2004)</a:t>
            </a:r>
            <a:endParaRPr lang="da-DK" b="1" dirty="0">
              <a:solidFill>
                <a:srgbClr val="C00000"/>
              </a:solidFill>
            </a:endParaRPr>
          </a:p>
          <a:p>
            <a:endParaRPr lang="da-DK" b="1" dirty="0">
              <a:solidFill>
                <a:srgbClr val="C00000"/>
              </a:solidFill>
            </a:endParaRPr>
          </a:p>
          <a:p>
            <a:r>
              <a:rPr lang="da-DK" dirty="0"/>
              <a:t>The for-</a:t>
            </a:r>
            <a:r>
              <a:rPr lang="da-DK" dirty="0" err="1"/>
              <a:t>each</a:t>
            </a:r>
            <a:r>
              <a:rPr lang="da-DK" dirty="0"/>
              <a:t> loop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introduced</a:t>
            </a:r>
            <a:r>
              <a:rPr lang="da-DK" dirty="0"/>
              <a:t> in Java 5</a:t>
            </a:r>
            <a:endParaRPr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689244"/>
              </p:ext>
            </p:extLst>
          </p:nvPr>
        </p:nvGraphicFramePr>
        <p:xfrm>
          <a:off x="5035138" y="365125"/>
          <a:ext cx="6842443" cy="620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424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ConcatenateArrayLists.java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java.util.*;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java.util contains ArrayList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ConcatenateArrayList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ArrayList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a generic container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 </a:t>
                      </a:r>
                      <a:r>
                        <a:rPr lang="pt-BR" sz="1600" b="1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new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 </a:t>
                      </a:r>
                      <a:r>
                        <a:rPr lang="pt-BR" sz="1600" b="1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new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 </a:t>
                      </a:r>
                      <a:r>
                        <a:rPr lang="pt-BR" sz="1600" b="1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new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a.add("A1");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in Python .append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a.add("A2");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b.add("B1");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c.addAll(a);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// in Python .extend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c.addAll(b);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(String e : c) 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foreach over iterator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 System.out.println(e);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7716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Tired</a:t>
            </a:r>
            <a:r>
              <a:rPr lang="da-DK" dirty="0"/>
              <a:t> of </a:t>
            </a:r>
            <a:r>
              <a:rPr lang="da-DK" dirty="0" err="1"/>
              <a:t>writing</a:t>
            </a:r>
            <a:r>
              <a:rPr lang="da-DK" dirty="0"/>
              <a:t> all </a:t>
            </a:r>
            <a:r>
              <a:rPr lang="da-DK" dirty="0" err="1"/>
              <a:t>these</a:t>
            </a:r>
            <a:r>
              <a:rPr lang="da-DK" dirty="0"/>
              <a:t> types...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8763" y="1825625"/>
            <a:ext cx="11311247" cy="1440089"/>
          </a:xfrm>
        </p:spPr>
        <p:txBody>
          <a:bodyPr>
            <a:normAutofit/>
          </a:bodyPr>
          <a:lstStyle/>
          <a:p>
            <a:r>
              <a:rPr lang="en-US" dirty="0"/>
              <a:t>In Java 7 (2011) the “diamond operator”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&lt;&gt;</a:t>
            </a:r>
            <a:r>
              <a:rPr lang="en-US" dirty="0"/>
              <a:t> was introduced for type inference for generic instance creation to reduce verbosity</a:t>
            </a:r>
          </a:p>
          <a:p>
            <a:r>
              <a:rPr lang="en-US" dirty="0"/>
              <a:t>In Java 10 (2018) the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/>
              <a:t> keyword was introduced to type infer variables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150536"/>
              </p:ext>
            </p:extLst>
          </p:nvPr>
        </p:nvGraphicFramePr>
        <p:xfrm>
          <a:off x="316922" y="3322059"/>
          <a:ext cx="11558155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81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ArrayListTest.java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java.util.*;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java.util contains ArrayList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ArrayListTest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// ArrayList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a generic container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Full types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   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ArrayList is subclass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of class List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    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&lt;&gt;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uses type inference 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         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&lt;&gt;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ArrayList subclass of List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ArrayList&lt;String&gt;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            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use </a:t>
                      </a:r>
                      <a:r>
                        <a:rPr lang="pt-BR" sz="1600" b="1" baseline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to infer type of variable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 = Math.floor(1.5);                     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not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obvious what type v is (double)</a:t>
                      </a:r>
                      <a:endParaRPr lang="pt-BR" sz="16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28" y="6129022"/>
            <a:ext cx="299094" cy="24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035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17008"/>
              </p:ext>
            </p:extLst>
          </p:nvPr>
        </p:nvGraphicFramePr>
        <p:xfrm>
          <a:off x="5513375" y="206829"/>
          <a:ext cx="6294755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947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Functions.java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Functions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static int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(int x)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x * x;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static int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(int x, int y)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x * y;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static String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(String a, String b)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a + b;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string concatenation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(7));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(3, 4));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("abc", "def"));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914" y="311737"/>
            <a:ext cx="4942114" cy="1325563"/>
          </a:xfrm>
        </p:spPr>
        <p:txBody>
          <a:bodyPr/>
          <a:lstStyle/>
          <a:p>
            <a:r>
              <a:rPr lang="da-DK" dirty="0" err="1"/>
              <a:t>Function</a:t>
            </a:r>
            <a:r>
              <a:rPr lang="da-DK" dirty="0"/>
              <a:t> arguments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825624"/>
            <a:ext cx="5132375" cy="5108575"/>
          </a:xfrm>
        </p:spPr>
        <p:txBody>
          <a:bodyPr>
            <a:normAutofit/>
          </a:bodyPr>
          <a:lstStyle/>
          <a:p>
            <a:r>
              <a:rPr lang="da-DK" dirty="0"/>
              <a:t>Must </a:t>
            </a:r>
            <a:r>
              <a:rPr lang="da-DK" dirty="0" err="1"/>
              <a:t>declare</a:t>
            </a:r>
            <a:r>
              <a:rPr lang="da-DK" dirty="0"/>
              <a:t> the </a:t>
            </a:r>
            <a:r>
              <a:rPr lang="da-DK" dirty="0" err="1"/>
              <a:t>number</a:t>
            </a:r>
            <a:r>
              <a:rPr lang="da-DK" dirty="0"/>
              <a:t> of arguments and </a:t>
            </a:r>
            <a:r>
              <a:rPr lang="da-DK" dirty="0" err="1"/>
              <a:t>their</a:t>
            </a:r>
            <a:r>
              <a:rPr lang="da-DK" dirty="0"/>
              <a:t> types, and the </a:t>
            </a:r>
            <a:r>
              <a:rPr lang="da-DK" dirty="0" err="1"/>
              <a:t>return</a:t>
            </a:r>
            <a:r>
              <a:rPr lang="da-DK" dirty="0"/>
              <a:t> type</a:t>
            </a:r>
          </a:p>
          <a:p>
            <a:r>
              <a:rPr lang="da-DK" dirty="0"/>
              <a:t>The argument types </a:t>
            </a:r>
            <a:r>
              <a:rPr lang="da-DK" dirty="0" err="1"/>
              <a:t>are</a:t>
            </a:r>
            <a:r>
              <a:rPr lang="da-DK" dirty="0"/>
              <a:t> part of the </a:t>
            </a:r>
            <a:r>
              <a:rPr lang="da-DK" i="1" dirty="0"/>
              <a:t>signature</a:t>
            </a:r>
            <a:r>
              <a:rPr lang="da-DK" dirty="0"/>
              <a:t> of the </a:t>
            </a:r>
            <a:r>
              <a:rPr lang="da-DK" dirty="0" err="1"/>
              <a:t>function</a:t>
            </a:r>
            <a:endParaRPr lang="da-DK" dirty="0"/>
          </a:p>
          <a:p>
            <a:r>
              <a:rPr lang="da-DK" dirty="0" err="1"/>
              <a:t>Several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have the same </a:t>
            </a:r>
            <a:r>
              <a:rPr lang="da-DK" dirty="0" err="1"/>
              <a:t>name</a:t>
            </a:r>
            <a:r>
              <a:rPr lang="da-DK" dirty="0"/>
              <a:t>, but </a:t>
            </a:r>
            <a:r>
              <a:rPr lang="da-DK" dirty="0" err="1"/>
              <a:t>different</a:t>
            </a:r>
            <a:r>
              <a:rPr lang="da-DK" dirty="0"/>
              <a:t> type signatures</a:t>
            </a:r>
          </a:p>
          <a:p>
            <a:endParaRPr lang="da-DK" dirty="0"/>
          </a:p>
          <a:p>
            <a:r>
              <a:rPr lang="da-DK" dirty="0" err="1"/>
              <a:t>Python</a:t>
            </a:r>
            <a:r>
              <a:rPr lang="da-DK" dirty="0"/>
              <a:t> </a:t>
            </a:r>
            <a:r>
              <a:rPr lang="da-DK" dirty="0" err="1"/>
              <a:t>keyword</a:t>
            </a:r>
            <a:r>
              <a:rPr lang="da-DK" dirty="0"/>
              <a:t> arguments, </a:t>
            </a:r>
            <a:br>
              <a:rPr lang="da-DK" dirty="0"/>
            </a:br>
            <a:r>
              <a:rPr lang="da-DK" dirty="0"/>
              <a:t>* and ** do not </a:t>
            </a:r>
            <a:r>
              <a:rPr lang="da-DK" dirty="0" err="1"/>
              <a:t>exist</a:t>
            </a:r>
            <a:r>
              <a:rPr lang="da-DK" dirty="0"/>
              <a:t> in Java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253701"/>
              </p:ext>
            </p:extLst>
          </p:nvPr>
        </p:nvGraphicFramePr>
        <p:xfrm>
          <a:off x="7169889" y="4325983"/>
          <a:ext cx="4827905" cy="2424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7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functions.py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f(x, y=None):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600" b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is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y = x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type(x) is 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x * y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return x + y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print(f(7), f(3, 4),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f('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Smiley Face 5"/>
          <p:cNvSpPr/>
          <p:nvPr/>
        </p:nvSpPr>
        <p:spPr>
          <a:xfrm>
            <a:off x="4956464" y="6247915"/>
            <a:ext cx="374567" cy="363338"/>
          </a:xfrm>
          <a:prstGeom prst="smileyFace">
            <a:avLst>
              <a:gd name="adj" fmla="val -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7845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930" y="301573"/>
            <a:ext cx="4743203" cy="1325563"/>
          </a:xfrm>
        </p:spPr>
        <p:txBody>
          <a:bodyPr/>
          <a:lstStyle/>
          <a:p>
            <a:r>
              <a:rPr lang="da-DK" dirty="0"/>
              <a:t>Class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6930" y="1627136"/>
            <a:ext cx="4361215" cy="5230864"/>
          </a:xfrm>
        </p:spPr>
        <p:txBody>
          <a:bodyPr>
            <a:normAutofit fontScale="92500" lnSpcReduction="10000"/>
          </a:bodyPr>
          <a:lstStyle/>
          <a:p>
            <a:r>
              <a:rPr lang="da-DK" dirty="0" err="1"/>
              <a:t>Constructor</a:t>
            </a:r>
            <a:r>
              <a:rPr lang="da-DK" dirty="0"/>
              <a:t> = </a:t>
            </a:r>
            <a:r>
              <a:rPr lang="da-DK" dirty="0" err="1"/>
              <a:t>method</a:t>
            </a:r>
            <a:r>
              <a:rPr lang="da-DK" dirty="0"/>
              <a:t> with </a:t>
            </a:r>
            <a:r>
              <a:rPr lang="da-DK" dirty="0" err="1"/>
              <a:t>name</a:t>
            </a:r>
            <a:r>
              <a:rPr lang="da-DK" dirty="0"/>
              <a:t> </a:t>
            </a:r>
            <a:r>
              <a:rPr lang="da-DK" dirty="0" err="1"/>
              <a:t>equal</a:t>
            </a:r>
            <a:r>
              <a:rPr lang="da-DK" dirty="0"/>
              <a:t> to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name</a:t>
            </a:r>
            <a:br>
              <a:rPr lang="da-DK" dirty="0"/>
            </a:br>
            <a:r>
              <a:rPr lang="da-DK" dirty="0"/>
              <a:t>(</a:t>
            </a:r>
            <a:r>
              <a:rPr lang="da-DK" dirty="0" err="1"/>
              <a:t>no</a:t>
            </a:r>
            <a:r>
              <a:rPr lang="da-DK" dirty="0"/>
              <a:t> </a:t>
            </a:r>
            <a:r>
              <a:rPr lang="da-DK" dirty="0" err="1"/>
              <a:t>return</a:t>
            </a:r>
            <a:r>
              <a:rPr lang="da-DK" dirty="0"/>
              <a:t> type)</a:t>
            </a:r>
            <a:endParaRPr lang="en-US" dirty="0"/>
          </a:p>
          <a:p>
            <a:r>
              <a:rPr lang="da-DK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da-DK" dirty="0"/>
              <a:t> = </a:t>
            </a:r>
            <a:r>
              <a:rPr lang="da-DK" dirty="0" err="1"/>
              <a:t>referes</a:t>
            </a:r>
            <a:r>
              <a:rPr lang="da-DK" dirty="0"/>
              <a:t> to </a:t>
            </a:r>
            <a:r>
              <a:rPr lang="da-DK" dirty="0" err="1"/>
              <a:t>current</a:t>
            </a:r>
            <a:r>
              <a:rPr lang="da-DK" dirty="0"/>
              <a:t> </a:t>
            </a:r>
            <a:r>
              <a:rPr lang="da-DK" dirty="0" err="1"/>
              <a:t>object</a:t>
            </a:r>
            <a:r>
              <a:rPr lang="da-DK" dirty="0"/>
              <a:t> (</a:t>
            </a:r>
            <a:r>
              <a:rPr lang="da-DK" dirty="0" err="1"/>
              <a:t>Python</a:t>
            </a:r>
            <a:r>
              <a:rPr lang="da-DK" dirty="0"/>
              <a:t> </a:t>
            </a:r>
            <a:r>
              <a:rPr lang="en-US" dirty="0"/>
              <a:t>“</a:t>
            </a:r>
            <a:r>
              <a:rPr lang="da-DK" dirty="0" err="1"/>
              <a:t>self</a:t>
            </a:r>
            <a:r>
              <a:rPr lang="da-DK" dirty="0"/>
              <a:t>”)</a:t>
            </a:r>
            <a:endParaRPr lang="en-US" dirty="0"/>
          </a:p>
          <a:p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da-DK" dirty="0"/>
              <a:t> / 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da-DK" dirty="0"/>
              <a:t> on </a:t>
            </a:r>
            <a:r>
              <a:rPr lang="da-DK" dirty="0" err="1"/>
              <a:t>attributes</a:t>
            </a:r>
            <a:r>
              <a:rPr lang="da-DK" dirty="0"/>
              <a:t> / </a:t>
            </a:r>
            <a:r>
              <a:rPr lang="da-DK" dirty="0" err="1"/>
              <a:t>methods</a:t>
            </a:r>
            <a:r>
              <a:rPr lang="da-DK" dirty="0"/>
              <a:t> to give </a:t>
            </a:r>
            <a:r>
              <a:rPr lang="da-DK" dirty="0" err="1"/>
              <a:t>access</a:t>
            </a:r>
            <a:r>
              <a:rPr lang="da-DK" dirty="0"/>
              <a:t> </a:t>
            </a:r>
            <a:r>
              <a:rPr lang="da-DK" dirty="0" err="1"/>
              <a:t>outside</a:t>
            </a:r>
            <a:r>
              <a:rPr lang="da-DK" dirty="0"/>
              <a:t> </a:t>
            </a:r>
            <a:r>
              <a:rPr lang="da-DK" dirty="0" err="1"/>
              <a:t>class</a:t>
            </a:r>
            <a:endParaRPr lang="da-DK" dirty="0"/>
          </a:p>
          <a:p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da-DK" dirty="0"/>
              <a:t> </a:t>
            </a:r>
            <a:r>
              <a:rPr lang="da-DK" i="1" dirty="0" err="1">
                <a:solidFill>
                  <a:srgbClr val="C00000"/>
                </a:solidFill>
              </a:rPr>
              <a:t>name</a:t>
            </a:r>
            <a:r>
              <a:rPr lang="da-DK" dirty="0"/>
              <a:t>(arguments) to </a:t>
            </a:r>
            <a:r>
              <a:rPr lang="da-DK" dirty="0" err="1"/>
              <a:t>create</a:t>
            </a:r>
            <a:r>
              <a:rPr lang="da-DK" dirty="0"/>
              <a:t> new </a:t>
            </a:r>
            <a:r>
              <a:rPr lang="da-DK" dirty="0" err="1"/>
              <a:t>objects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There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multiple </a:t>
            </a:r>
            <a:r>
              <a:rPr lang="da-DK" dirty="0" err="1"/>
              <a:t>constructors</a:t>
            </a:r>
            <a:r>
              <a:rPr lang="da-DK" dirty="0"/>
              <a:t>, but with </a:t>
            </a:r>
            <a:r>
              <a:rPr lang="da-DK" dirty="0" err="1"/>
              <a:t>distinct</a:t>
            </a:r>
            <a:r>
              <a:rPr lang="da-DK" dirty="0"/>
              <a:t> type signatures</a:t>
            </a:r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396508"/>
              </p:ext>
            </p:extLst>
          </p:nvPr>
        </p:nvGraphicFramePr>
        <p:xfrm>
          <a:off x="5140035" y="162368"/>
          <a:ext cx="6877793" cy="652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777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619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AClass.java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69780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 width, height;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declare attributes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// constructor, class name, no return type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(int width, int height)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.width = width; </a:t>
                      </a:r>
                    </a:p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this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.height = height;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  <a:endParaRPr lang="en-US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side) {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width = side;  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same as </a:t>
                      </a:r>
                      <a:r>
                        <a:rPr lang="en-US" sz="1600" b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this.width</a:t>
                      </a:r>
                      <a:r>
                        <a:rPr lang="en-US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side</a:t>
                      </a:r>
                    </a:p>
                    <a:p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height = side;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  <a:endParaRPr lang="pt-BR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width * height;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class AClass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static void main( String[] args 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(6, 7);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System.out.println(r.area());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46192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2407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486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251" y="301573"/>
            <a:ext cx="3769428" cy="1325563"/>
          </a:xfrm>
        </p:spPr>
        <p:txBody>
          <a:bodyPr/>
          <a:lstStyle/>
          <a:p>
            <a:r>
              <a:rPr lang="da-DK" dirty="0" err="1"/>
              <a:t>Inheritance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251" y="1627136"/>
            <a:ext cx="4024748" cy="4943310"/>
          </a:xfrm>
        </p:spPr>
        <p:txBody>
          <a:bodyPr>
            <a:normAutofit/>
          </a:bodyPr>
          <a:lstStyle/>
          <a:p>
            <a:r>
              <a:rPr lang="da-DK" dirty="0"/>
              <a:t>Java supports single </a:t>
            </a:r>
            <a:r>
              <a:rPr lang="da-DK" dirty="0" err="1"/>
              <a:t>inheritance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endParaRPr lang="da-DK" dirty="0"/>
          </a:p>
          <a:p>
            <a:r>
              <a:rPr lang="da-DK" dirty="0" err="1"/>
              <a:t>Attributes</a:t>
            </a:r>
            <a:r>
              <a:rPr lang="da-DK" dirty="0"/>
              <a:t> and </a:t>
            </a:r>
            <a:r>
              <a:rPr lang="da-DK" dirty="0" err="1"/>
              <a:t>methods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accessible</a:t>
            </a:r>
            <a:r>
              <a:rPr lang="da-DK" dirty="0"/>
              <a:t> in a </a:t>
            </a:r>
            <a:r>
              <a:rPr lang="da-DK" dirty="0" err="1"/>
              <a:t>subclass</a:t>
            </a:r>
            <a:r>
              <a:rPr lang="da-DK" dirty="0"/>
              <a:t> must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declared</a:t>
            </a:r>
            <a:r>
              <a:rPr lang="da-DK" dirty="0"/>
              <a:t> </a:t>
            </a:r>
            <a:r>
              <a:rPr lang="da-DK" dirty="0" err="1"/>
              <a:t>protected</a:t>
            </a:r>
            <a:r>
              <a:rPr lang="da-DK" dirty="0"/>
              <a:t> (or public)</a:t>
            </a:r>
          </a:p>
          <a:p>
            <a:r>
              <a:rPr lang="da-DK" dirty="0" err="1"/>
              <a:t>Constructors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not </a:t>
            </a:r>
            <a:r>
              <a:rPr lang="da-DK" dirty="0" err="1"/>
              <a:t>inherited</a:t>
            </a:r>
            <a:r>
              <a:rPr lang="da-DK" dirty="0"/>
              <a:t> but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called</a:t>
            </a:r>
            <a:r>
              <a:rPr lang="da-DK" dirty="0"/>
              <a:t> </a:t>
            </a:r>
            <a:r>
              <a:rPr lang="da-DK" dirty="0" err="1"/>
              <a:t>using</a:t>
            </a:r>
            <a:r>
              <a:rPr lang="da-DK" dirty="0"/>
              <a:t>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super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419640"/>
              </p:ext>
            </p:extLst>
          </p:nvPr>
        </p:nvGraphicFramePr>
        <p:xfrm>
          <a:off x="4476999" y="111568"/>
          <a:ext cx="7555230" cy="661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5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619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Inheritance.java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69780">
                <a:tc>
                  <a:txBody>
                    <a:bodyPr/>
                    <a:lstStyle/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BasicRectangle {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// protected allows subclass to access attributes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 width, height;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BasicRectangle(int width, int height)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this.width = width; this.height = height;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Rectangle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extends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BasicRectangle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Rectangle(int width, int height) {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// call constructor of super class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super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(width, height);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 area()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width * height;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class Inheritance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static void main( String[] args 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Rectangle r = new Rectangle(6, 7);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System.out.println(r.area());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46192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2407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56580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434" y="384701"/>
            <a:ext cx="4743203" cy="1325563"/>
          </a:xfrm>
        </p:spPr>
        <p:txBody>
          <a:bodyPr/>
          <a:lstStyle/>
          <a:p>
            <a:r>
              <a:rPr lang="da-DK" dirty="0" err="1"/>
              <a:t>Generic</a:t>
            </a:r>
            <a:r>
              <a:rPr lang="da-DK" dirty="0"/>
              <a:t> </a:t>
            </a:r>
            <a:r>
              <a:rPr lang="da-DK" dirty="0" err="1"/>
              <a:t>class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9434" y="1627136"/>
            <a:ext cx="4052092" cy="4943310"/>
          </a:xfrm>
        </p:spPr>
        <p:txBody>
          <a:bodyPr>
            <a:normAutofit/>
          </a:bodyPr>
          <a:lstStyle/>
          <a:p>
            <a:r>
              <a:rPr lang="da-DK" dirty="0"/>
              <a:t>Class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parameterized</a:t>
            </a:r>
            <a:r>
              <a:rPr lang="da-DK" dirty="0"/>
              <a:t> by </a:t>
            </a:r>
            <a:r>
              <a:rPr lang="da-DK" dirty="0" err="1"/>
              <a:t>one</a:t>
            </a:r>
            <a:r>
              <a:rPr lang="da-DK" dirty="0"/>
              <a:t> or more types </a:t>
            </a:r>
            <a:br>
              <a:rPr lang="da-DK" dirty="0"/>
            </a:br>
            <a:r>
              <a:rPr lang="da-DK" dirty="0"/>
              <a:t>(</a:t>
            </a:r>
            <a:r>
              <a:rPr lang="da-DK" dirty="0" err="1"/>
              <a:t>comma</a:t>
            </a:r>
            <a:r>
              <a:rPr lang="da-DK" dirty="0"/>
              <a:t> </a:t>
            </a:r>
            <a:r>
              <a:rPr lang="da-DK" dirty="0" err="1"/>
              <a:t>separated</a:t>
            </a:r>
            <a:r>
              <a:rPr lang="da-DK" dirty="0"/>
              <a:t>)</a:t>
            </a:r>
          </a:p>
          <a:p>
            <a:r>
              <a:rPr lang="da-DK" dirty="0"/>
              <a:t>Primitive types </a:t>
            </a:r>
            <a:r>
              <a:rPr lang="da-DK" dirty="0" err="1"/>
              <a:t>cannot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type parameters</a:t>
            </a:r>
          </a:p>
          <a:p>
            <a:r>
              <a:rPr lang="da-DK" dirty="0" err="1"/>
              <a:t>Instead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i="1" dirty="0" err="1"/>
              <a:t>wrappers</a:t>
            </a:r>
            <a:r>
              <a:rPr lang="da-DK" dirty="0"/>
              <a:t>, </a:t>
            </a:r>
            <a:r>
              <a:rPr lang="da-DK" dirty="0" err="1"/>
              <a:t>like</a:t>
            </a:r>
            <a:r>
              <a:rPr lang="da-DK" dirty="0"/>
              <a:t> </a:t>
            </a:r>
            <a:r>
              <a:rPr lang="da-DK" dirty="0" err="1">
                <a:solidFill>
                  <a:srgbClr val="C00000"/>
                </a:solidFill>
              </a:rPr>
              <a:t>Integer</a:t>
            </a:r>
            <a:r>
              <a:rPr lang="da-DK" dirty="0"/>
              <a:t> for </a:t>
            </a:r>
            <a:r>
              <a:rPr lang="da-DK" dirty="0" err="1">
                <a:solidFill>
                  <a:srgbClr val="C00000"/>
                </a:solidFill>
              </a:rPr>
              <a:t>int</a:t>
            </a:r>
            <a:endParaRPr lang="en-US" dirty="0">
              <a:solidFill>
                <a:srgbClr val="C00000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4445862"/>
              </p:ext>
            </p:extLst>
          </p:nvPr>
        </p:nvGraphicFramePr>
        <p:xfrm>
          <a:off x="4750129" y="729084"/>
          <a:ext cx="7145655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56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6192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GenericPair.java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69780">
                <a:tc>
                  <a:txBody>
                    <a:bodyPr/>
                    <a:lstStyle/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Pair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&lt;element&gt;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element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x, y;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Pair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element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x,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element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y)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.x = x;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.y = y;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element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first() { return x; }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element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second() { return y;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GenericPair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 = new </a:t>
                      </a:r>
                      <a:r>
                        <a:rPr lang="pt-BR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Pair</a:t>
                      </a:r>
                      <a:r>
                        <a:rPr lang="pt-BR" sz="18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&lt;Integer&gt;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(6, 7);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System.out.println(p.first() * p.second());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46192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2407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4174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17" y="198871"/>
            <a:ext cx="10515600" cy="1325563"/>
          </a:xfrm>
        </p:spPr>
        <p:txBody>
          <a:bodyPr/>
          <a:lstStyle/>
          <a:p>
            <a:r>
              <a:rPr lang="da-DK" dirty="0"/>
              <a:t>Interface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317" y="1325604"/>
            <a:ext cx="4600699" cy="5532396"/>
          </a:xfrm>
        </p:spPr>
        <p:txBody>
          <a:bodyPr>
            <a:normAutofit lnSpcReduction="10000"/>
          </a:bodyPr>
          <a:lstStyle/>
          <a:p>
            <a:r>
              <a:rPr lang="da-DK" dirty="0"/>
              <a:t>Java </a:t>
            </a:r>
            <a:r>
              <a:rPr lang="da-DK" dirty="0" err="1"/>
              <a:t>does</a:t>
            </a:r>
            <a:r>
              <a:rPr lang="da-DK" dirty="0"/>
              <a:t> not support multiple </a:t>
            </a:r>
            <a:r>
              <a:rPr lang="da-DK" dirty="0" err="1"/>
              <a:t>inheritance</a:t>
            </a:r>
            <a:r>
              <a:rPr lang="da-DK" dirty="0"/>
              <a:t> </a:t>
            </a:r>
            <a:r>
              <a:rPr lang="da-DK" dirty="0" err="1"/>
              <a:t>like</a:t>
            </a:r>
            <a:r>
              <a:rPr lang="da-DK" dirty="0"/>
              <a:t> </a:t>
            </a:r>
            <a:r>
              <a:rPr lang="da-DK" dirty="0" err="1"/>
              <a:t>Python</a:t>
            </a:r>
            <a:endParaRPr lang="da-DK" dirty="0"/>
          </a:p>
          <a:p>
            <a:r>
              <a:rPr lang="da-DK" dirty="0"/>
              <a:t>But a </a:t>
            </a:r>
            <a:r>
              <a:rPr lang="da-DK" dirty="0" err="1"/>
              <a:t>class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implement</a:t>
            </a:r>
            <a:r>
              <a:rPr lang="da-DK" dirty="0"/>
              <a:t> an </a:t>
            </a:r>
            <a:r>
              <a:rPr lang="da-DK" dirty="0" err="1"/>
              <a:t>arbitrary</a:t>
            </a:r>
            <a:r>
              <a:rPr lang="da-DK" dirty="0"/>
              <a:t>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>
                <a:solidFill>
                  <a:srgbClr val="C00000"/>
                </a:solidFill>
              </a:rPr>
              <a:t>interfaces</a:t>
            </a:r>
          </a:p>
          <a:p>
            <a:r>
              <a:rPr lang="da-DK" dirty="0"/>
              <a:t>An interface </a:t>
            </a:r>
            <a:r>
              <a:rPr lang="da-DK" dirty="0" err="1"/>
              <a:t>specifices</a:t>
            </a:r>
            <a:r>
              <a:rPr lang="da-DK" dirty="0"/>
              <a:t> a set of </a:t>
            </a:r>
            <a:r>
              <a:rPr lang="da-DK" dirty="0" err="1"/>
              <a:t>attributes</a:t>
            </a:r>
            <a:r>
              <a:rPr lang="da-DK" dirty="0"/>
              <a:t> and </a:t>
            </a:r>
            <a:r>
              <a:rPr lang="da-DK" dirty="0" err="1"/>
              <a:t>methods</a:t>
            </a:r>
            <a:r>
              <a:rPr lang="da-DK" dirty="0"/>
              <a:t> a </a:t>
            </a:r>
            <a:r>
              <a:rPr lang="da-DK" dirty="0" err="1"/>
              <a:t>class</a:t>
            </a:r>
            <a:r>
              <a:rPr lang="da-DK" dirty="0"/>
              <a:t> must have</a:t>
            </a:r>
          </a:p>
          <a:p>
            <a:r>
              <a:rPr lang="da-DK" dirty="0"/>
              <a:t>The type of a variable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an interface, and the variable </a:t>
            </a:r>
            <a:r>
              <a:rPr lang="da-DK" dirty="0" err="1"/>
              <a:t>can</a:t>
            </a:r>
            <a:r>
              <a:rPr lang="da-DK" dirty="0"/>
              <a:t> hold </a:t>
            </a:r>
            <a:r>
              <a:rPr lang="da-DK" dirty="0" err="1"/>
              <a:t>any</a:t>
            </a:r>
            <a:r>
              <a:rPr lang="da-DK" dirty="0"/>
              <a:t> </a:t>
            </a:r>
            <a:r>
              <a:rPr lang="da-DK" dirty="0" err="1"/>
              <a:t>object</a:t>
            </a:r>
            <a:r>
              <a:rPr lang="da-DK" dirty="0"/>
              <a:t> </a:t>
            </a:r>
            <a:r>
              <a:rPr lang="da-DK" dirty="0" err="1"/>
              <a:t>where</a:t>
            </a:r>
            <a:r>
              <a:rPr lang="da-DK" dirty="0"/>
              <a:t> the </a:t>
            </a:r>
            <a:r>
              <a:rPr lang="da-DK" dirty="0" err="1"/>
              <a:t>class</a:t>
            </a:r>
            <a:r>
              <a:rPr lang="da-DK" dirty="0"/>
              <a:t> is </a:t>
            </a:r>
            <a:r>
              <a:rPr lang="da-DK" dirty="0" err="1"/>
              <a:t>stated</a:t>
            </a:r>
            <a:r>
              <a:rPr lang="da-DK" dirty="0"/>
              <a:t> to </a:t>
            </a:r>
            <a:r>
              <a:rPr lang="da-DK" dirty="0" err="1">
                <a:solidFill>
                  <a:srgbClr val="C00000"/>
                </a:solidFill>
              </a:rPr>
              <a:t>implement</a:t>
            </a:r>
            <a:r>
              <a:rPr lang="da-DK" dirty="0">
                <a:solidFill>
                  <a:srgbClr val="C00000"/>
                </a:solidFill>
              </a:rPr>
              <a:t> </a:t>
            </a:r>
            <a:r>
              <a:rPr lang="da-DK" dirty="0"/>
              <a:t>the interface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801234"/>
              </p:ext>
            </p:extLst>
          </p:nvPr>
        </p:nvGraphicFramePr>
        <p:xfrm>
          <a:off x="5699541" y="812483"/>
          <a:ext cx="6231255" cy="536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2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RectangleInterface.java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area();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method declaration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6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implements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int width, height;</a:t>
                      </a:r>
                    </a:p>
                    <a:p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// constructor, class name, no return type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</a:t>
                      </a:r>
                      <a:r>
                        <a:rPr lang="pt-BR" sz="16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(int width, int height)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this.width = width; this.height = height;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area()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width * height;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RectangleInterface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 = new </a:t>
                      </a:r>
                      <a:r>
                        <a:rPr lang="pt-BR" sz="16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Rectangle</a:t>
                      </a:r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(6, 7);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System.out.println(r.area());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206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17" y="198871"/>
            <a:ext cx="10515600" cy="1325563"/>
          </a:xfrm>
        </p:spPr>
        <p:txBody>
          <a:bodyPr/>
          <a:lstStyle/>
          <a:p>
            <a:r>
              <a:rPr lang="da-DK" dirty="0"/>
              <a:t>Abstract </a:t>
            </a:r>
            <a:r>
              <a:rPr lang="da-DK" dirty="0" err="1"/>
              <a:t>classes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063" y="1524434"/>
            <a:ext cx="4600699" cy="4885851"/>
          </a:xfrm>
        </p:spPr>
        <p:txBody>
          <a:bodyPr>
            <a:normAutofit/>
          </a:bodyPr>
          <a:lstStyle/>
          <a:p>
            <a:r>
              <a:rPr lang="da-DK" sz="2400" dirty="0">
                <a:solidFill>
                  <a:srgbClr val="C00000"/>
                </a:solidFill>
              </a:rPr>
              <a:t>Abstract </a:t>
            </a:r>
            <a:r>
              <a:rPr lang="da-DK" sz="2400" dirty="0" err="1">
                <a:solidFill>
                  <a:srgbClr val="C00000"/>
                </a:solidFill>
              </a:rPr>
              <a:t>class</a:t>
            </a:r>
            <a:r>
              <a:rPr lang="da-DK" sz="2400" dirty="0"/>
              <a:t> = </a:t>
            </a:r>
            <a:r>
              <a:rPr lang="da-DK" sz="2400" dirty="0" err="1"/>
              <a:t>class</a:t>
            </a:r>
            <a:r>
              <a:rPr lang="da-DK" sz="2400" dirty="0"/>
              <a:t> </a:t>
            </a:r>
            <a:r>
              <a:rPr lang="da-DK" sz="2400" dirty="0" err="1"/>
              <a:t>that</a:t>
            </a:r>
            <a:r>
              <a:rPr lang="da-DK" sz="2400" dirty="0"/>
              <a:t> </a:t>
            </a:r>
            <a:r>
              <a:rPr lang="da-DK" sz="2400" dirty="0" err="1"/>
              <a:t>cannot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instantiated</a:t>
            </a:r>
            <a:r>
              <a:rPr lang="da-DK" sz="2400" dirty="0"/>
              <a:t>, </a:t>
            </a:r>
            <a:r>
              <a:rPr lang="da-DK" sz="2400" dirty="0" err="1"/>
              <a:t>labeled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abstract</a:t>
            </a:r>
            <a:endParaRPr lang="da-DK" sz="2400" dirty="0"/>
          </a:p>
          <a:p>
            <a:endParaRPr lang="da-DK" sz="2400" dirty="0"/>
          </a:p>
          <a:p>
            <a:r>
              <a:rPr lang="da-DK" sz="2400" dirty="0">
                <a:solidFill>
                  <a:srgbClr val="C00000"/>
                </a:solidFill>
              </a:rPr>
              <a:t>Abstract </a:t>
            </a:r>
            <a:r>
              <a:rPr lang="da-DK" sz="2400" dirty="0" err="1">
                <a:solidFill>
                  <a:srgbClr val="C00000"/>
                </a:solidFill>
              </a:rPr>
              <a:t>method</a:t>
            </a:r>
            <a:r>
              <a:rPr lang="da-DK" sz="2400" dirty="0"/>
              <a:t> = </a:t>
            </a:r>
            <a:r>
              <a:rPr lang="da-DK" sz="2400" dirty="0" err="1"/>
              <a:t>method</a:t>
            </a:r>
            <a:r>
              <a:rPr lang="da-DK" sz="2400" dirty="0"/>
              <a:t> </a:t>
            </a:r>
            <a:r>
              <a:rPr lang="da-DK" sz="2400" dirty="0" err="1"/>
              <a:t>declared</a:t>
            </a:r>
            <a:r>
              <a:rPr lang="da-DK" sz="2400" dirty="0"/>
              <a:t> </a:t>
            </a:r>
            <a:r>
              <a:rPr lang="da-DK" sz="2400" dirty="0" err="1"/>
              <a:t>without</a:t>
            </a:r>
            <a:r>
              <a:rPr lang="da-DK" sz="2400" dirty="0"/>
              <a:t> definition, </a:t>
            </a:r>
            <a:r>
              <a:rPr lang="da-DK" sz="2400" dirty="0" err="1"/>
              <a:t>labeled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abstract</a:t>
            </a:r>
            <a:r>
              <a:rPr lang="da-DK" sz="2400" dirty="0"/>
              <a:t>,</a:t>
            </a:r>
            <a:br>
              <a:rPr lang="da-DK" sz="2400" dirty="0"/>
            </a:br>
            <a:r>
              <a:rPr lang="da-DK" sz="2400" dirty="0"/>
              <a:t>must </a:t>
            </a:r>
            <a:r>
              <a:rPr lang="da-DK" sz="2400" dirty="0" err="1"/>
              <a:t>be</a:t>
            </a:r>
            <a:r>
              <a:rPr lang="da-DK" sz="2400" dirty="0"/>
              <a:t> in abstract </a:t>
            </a:r>
            <a:r>
              <a:rPr lang="da-DK" sz="2400" dirty="0" err="1"/>
              <a:t>class</a:t>
            </a:r>
            <a:endParaRPr lang="da-DK" sz="2400" dirty="0"/>
          </a:p>
          <a:p>
            <a:endParaRPr lang="da-DK" sz="2400" dirty="0"/>
          </a:p>
          <a:p>
            <a:r>
              <a:rPr lang="da-DK" sz="2400" dirty="0"/>
              <a:t>An abstract class </a:t>
            </a:r>
            <a:r>
              <a:rPr lang="da-DK" sz="2400" dirty="0" err="1"/>
              <a:t>can</a:t>
            </a:r>
            <a:r>
              <a:rPr lang="da-DK" sz="2400" dirty="0"/>
              <a:t>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>
                <a:solidFill>
                  <a:srgbClr val="C00000"/>
                </a:solidFill>
              </a:rPr>
              <a:t>extended</a:t>
            </a:r>
            <a:r>
              <a:rPr lang="da-DK" sz="2400" dirty="0"/>
              <a:t> to a non-abstract class by </a:t>
            </a:r>
            <a:r>
              <a:rPr lang="da-DK" sz="2400" dirty="0" err="1"/>
              <a:t>providing</a:t>
            </a:r>
            <a:r>
              <a:rPr lang="da-DK" sz="2400" dirty="0"/>
              <a:t> the missing </a:t>
            </a:r>
            <a:r>
              <a:rPr lang="da-DK" sz="2400" dirty="0" err="1"/>
              <a:t>method</a:t>
            </a:r>
            <a:r>
              <a:rPr lang="da-DK" sz="2400" dirty="0"/>
              <a:t> definitions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51961"/>
              </p:ext>
            </p:extLst>
          </p:nvPr>
        </p:nvGraphicFramePr>
        <p:xfrm>
          <a:off x="5967396" y="304483"/>
          <a:ext cx="5926455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64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AbstractRectangle.java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abstract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class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abstract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circumference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abstract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double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fatness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// convert int from area() to double before /</a:t>
                      </a:r>
                      <a:endParaRPr lang="pt-BR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(double)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area() / circumference();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Rectangle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extends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int width, height;</a:t>
                      </a:r>
                    </a:p>
                    <a:p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// constructor, class name, no return type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Rectangle(int width, int height)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this.width = width; this.height = height;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width * height;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circumference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2 * (width + height);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AbstractRectangle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 = new Rectangle(6, 7);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System.out.println(r.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fatness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626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17" y="198871"/>
            <a:ext cx="10515600" cy="1325563"/>
          </a:xfrm>
        </p:spPr>
        <p:txBody>
          <a:bodyPr/>
          <a:lstStyle/>
          <a:p>
            <a:r>
              <a:rPr lang="da-DK" dirty="0"/>
              <a:t>Default </a:t>
            </a:r>
            <a:r>
              <a:rPr lang="da-DK" dirty="0" err="1"/>
              <a:t>methods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/>
              <a:t>in interfaces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307" y="1898507"/>
            <a:ext cx="5383810" cy="4576184"/>
          </a:xfrm>
        </p:spPr>
        <p:txBody>
          <a:bodyPr>
            <a:normAutofit/>
          </a:bodyPr>
          <a:lstStyle/>
          <a:p>
            <a:r>
              <a:rPr lang="da-DK" sz="2400" dirty="0" err="1"/>
              <a:t>Before</a:t>
            </a:r>
            <a:r>
              <a:rPr lang="da-DK" sz="2400" dirty="0"/>
              <a:t> Java 8 all </a:t>
            </a:r>
            <a:r>
              <a:rPr lang="da-DK" sz="2400" dirty="0" err="1"/>
              <a:t>methods</a:t>
            </a:r>
            <a:r>
              <a:rPr lang="da-DK" sz="2400" dirty="0"/>
              <a:t> in an interface </a:t>
            </a:r>
            <a:r>
              <a:rPr lang="da-DK" sz="2400" dirty="0" err="1"/>
              <a:t>were</a:t>
            </a:r>
            <a:r>
              <a:rPr lang="da-DK" sz="2400" dirty="0"/>
              <a:t> abstract (</a:t>
            </a:r>
            <a:r>
              <a:rPr lang="da-DK" sz="2400" dirty="0" err="1"/>
              <a:t>no</a:t>
            </a:r>
            <a:r>
              <a:rPr lang="da-DK" sz="2400" dirty="0"/>
              <a:t> definition)</a:t>
            </a:r>
            <a:endParaRPr lang="da-DK" sz="2400" dirty="0">
              <a:solidFill>
                <a:srgbClr val="C00000"/>
              </a:solidFill>
            </a:endParaRPr>
          </a:p>
          <a:p>
            <a:endParaRPr lang="da-DK" sz="2400" dirty="0">
              <a:solidFill>
                <a:srgbClr val="C00000"/>
              </a:solidFill>
            </a:endParaRPr>
          </a:p>
          <a:p>
            <a:r>
              <a:rPr lang="da-DK" sz="2400" dirty="0" err="1"/>
              <a:t>Since</a:t>
            </a:r>
            <a:r>
              <a:rPr lang="da-DK" sz="2400" dirty="0"/>
              <a:t> Java 8 interfaces </a:t>
            </a:r>
            <a:r>
              <a:rPr lang="da-DK" sz="2400" dirty="0" err="1"/>
              <a:t>can</a:t>
            </a:r>
            <a:r>
              <a:rPr lang="da-DK" sz="2400" dirty="0"/>
              <a:t> have </a:t>
            </a:r>
            <a:r>
              <a:rPr lang="da-DK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a-DK" sz="2400" dirty="0"/>
              <a:t> </a:t>
            </a:r>
            <a:r>
              <a:rPr lang="da-DK" sz="2400" dirty="0" err="1"/>
              <a:t>methods</a:t>
            </a:r>
            <a:r>
              <a:rPr lang="da-DK" sz="2400" dirty="0"/>
              <a:t> with definition</a:t>
            </a:r>
            <a:endParaRPr lang="da-DK" sz="24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a-DK" sz="2400" dirty="0"/>
          </a:p>
          <a:p>
            <a:r>
              <a:rPr lang="da-DK" sz="2400" dirty="0"/>
              <a:t>The </a:t>
            </a:r>
            <a:r>
              <a:rPr lang="da-DK" sz="2400" dirty="0" err="1"/>
              <a:t>distinction</a:t>
            </a:r>
            <a:r>
              <a:rPr lang="da-DK" sz="2400" dirty="0"/>
              <a:t> </a:t>
            </a:r>
            <a:r>
              <a:rPr lang="da-DK" sz="2400" dirty="0" err="1"/>
              <a:t>between</a:t>
            </a:r>
            <a:r>
              <a:rPr lang="da-DK" sz="2400" dirty="0"/>
              <a:t> abstract </a:t>
            </a:r>
            <a:r>
              <a:rPr lang="da-DK" sz="2400" dirty="0" err="1"/>
              <a:t>classes</a:t>
            </a:r>
            <a:r>
              <a:rPr lang="da-DK" sz="2400" dirty="0"/>
              <a:t> and interfaces </a:t>
            </a:r>
            <a:r>
              <a:rPr lang="da-DK" sz="2400" dirty="0" err="1"/>
              <a:t>gets</a:t>
            </a:r>
            <a:r>
              <a:rPr lang="da-DK" sz="2400" dirty="0"/>
              <a:t> </a:t>
            </a:r>
            <a:r>
              <a:rPr lang="da-DK" sz="2400" dirty="0" err="1"/>
              <a:t>blurred</a:t>
            </a:r>
            <a:endParaRPr lang="da-DK" sz="2400" dirty="0"/>
          </a:p>
          <a:p>
            <a:pPr lvl="1"/>
            <a:r>
              <a:rPr lang="da-DK" sz="2000" dirty="0"/>
              <a:t>a </a:t>
            </a:r>
            <a:r>
              <a:rPr lang="da-DK" sz="2000" dirty="0" err="1"/>
              <a:t>class</a:t>
            </a:r>
            <a:r>
              <a:rPr lang="da-DK" sz="2000" dirty="0"/>
              <a:t> </a:t>
            </a:r>
            <a:r>
              <a:rPr lang="da-DK" sz="2000" dirty="0" err="1"/>
              <a:t>can</a:t>
            </a:r>
            <a:r>
              <a:rPr lang="da-DK" sz="2000" dirty="0"/>
              <a:t> </a:t>
            </a:r>
            <a:r>
              <a:rPr lang="da-DK" sz="2000" dirty="0" err="1"/>
              <a:t>only</a:t>
            </a:r>
            <a:r>
              <a:rPr lang="da-DK" sz="2000" dirty="0"/>
              <a:t> </a:t>
            </a:r>
            <a:r>
              <a:rPr lang="da-DK" sz="2000" dirty="0" err="1"/>
              <a:t>extend</a:t>
            </a:r>
            <a:r>
              <a:rPr lang="da-DK" sz="2000" dirty="0"/>
              <a:t> </a:t>
            </a:r>
            <a:r>
              <a:rPr lang="da-DK" sz="2000" dirty="0" err="1"/>
              <a:t>one</a:t>
            </a:r>
            <a:r>
              <a:rPr lang="da-DK" sz="2000" dirty="0"/>
              <a:t> abstract </a:t>
            </a:r>
            <a:r>
              <a:rPr lang="da-DK" sz="2000" dirty="0" err="1"/>
              <a:t>class</a:t>
            </a:r>
            <a:endParaRPr lang="da-DK" sz="2000" dirty="0"/>
          </a:p>
          <a:p>
            <a:pPr lvl="1"/>
            <a:r>
              <a:rPr lang="da-DK" sz="2000" dirty="0"/>
              <a:t>a </a:t>
            </a:r>
            <a:r>
              <a:rPr lang="da-DK" sz="2000" dirty="0" err="1"/>
              <a:t>class</a:t>
            </a:r>
            <a:r>
              <a:rPr lang="da-DK" sz="2000" dirty="0"/>
              <a:t> </a:t>
            </a:r>
            <a:r>
              <a:rPr lang="da-DK" sz="2000" dirty="0" err="1"/>
              <a:t>can</a:t>
            </a:r>
            <a:r>
              <a:rPr lang="da-DK" sz="2000" dirty="0"/>
              <a:t> </a:t>
            </a:r>
            <a:r>
              <a:rPr lang="da-DK" sz="2000" dirty="0" err="1"/>
              <a:t>implement</a:t>
            </a:r>
            <a:r>
              <a:rPr lang="da-DK" sz="2000" dirty="0"/>
              <a:t> more interfaces</a:t>
            </a:r>
          </a:p>
          <a:p>
            <a:pPr marL="457200" lvl="1" indent="0">
              <a:buNone/>
            </a:pPr>
            <a:r>
              <a:rPr lang="da-DK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⇒ </a:t>
            </a:r>
            <a:r>
              <a:rPr lang="da-DK" sz="2000" dirty="0"/>
              <a:t>multiple </a:t>
            </a:r>
            <a:r>
              <a:rPr lang="en-US" sz="2000" dirty="0"/>
              <a:t>“</a:t>
            </a:r>
            <a:r>
              <a:rPr lang="da-DK" sz="2000" dirty="0" err="1"/>
              <a:t>inheritance</a:t>
            </a:r>
            <a:r>
              <a:rPr lang="da-DK" sz="2000" dirty="0"/>
              <a:t>” is </a:t>
            </a:r>
            <a:r>
              <a:rPr lang="da-DK" sz="2000" dirty="0" err="1"/>
              <a:t>possible</a:t>
            </a:r>
            <a:r>
              <a:rPr lang="da-DK" sz="2000" dirty="0"/>
              <a:t> in Java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510866"/>
              </p:ext>
            </p:extLst>
          </p:nvPr>
        </p:nvGraphicFramePr>
        <p:xfrm>
          <a:off x="5967396" y="304483"/>
          <a:ext cx="5926455" cy="630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64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DefaultInterface.java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circumference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 </a:t>
                      </a:r>
                    </a:p>
                    <a:p>
                      <a:r>
                        <a:rPr lang="pt-BR" sz="14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double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fatness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pt-B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// convert int from area() to double before /</a:t>
                      </a:r>
                      <a:endParaRPr lang="pt-BR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(double)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area() / circumference();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Rectangle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implements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private int width, height;</a:t>
                      </a:r>
                    </a:p>
                    <a:p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// constructor, class name, no return type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Rectangle(int width, int height)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this.width = width; this.height = height;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width * height;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int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circumference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return 2 * (width + height);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DefaultRectangle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Shape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 = new Rectangle(6, 7);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System.out.println(r.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fatness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783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17" y="198871"/>
            <a:ext cx="10515600" cy="1325563"/>
          </a:xfrm>
        </p:spPr>
        <p:txBody>
          <a:bodyPr/>
          <a:lstStyle/>
          <a:p>
            <a:r>
              <a:rPr lang="da-DK" dirty="0"/>
              <a:t>Multiple</a:t>
            </a:r>
            <a:br>
              <a:rPr lang="da-DK" dirty="0"/>
            </a:br>
            <a:r>
              <a:rPr lang="da-DK" dirty="0" err="1"/>
              <a:t>Inheritance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838" y="1624344"/>
            <a:ext cx="3996647" cy="5382246"/>
          </a:xfrm>
        </p:spPr>
        <p:txBody>
          <a:bodyPr>
            <a:normAutofit/>
          </a:bodyPr>
          <a:lstStyle/>
          <a:p>
            <a:r>
              <a:rPr lang="da-DK" sz="2400" dirty="0"/>
              <a:t>Class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da-DK" sz="2400" dirty="0"/>
              <a:t> </a:t>
            </a:r>
            <a:r>
              <a:rPr lang="da-DK" sz="2400" dirty="0" err="1"/>
              <a:t>implements</a:t>
            </a:r>
            <a:r>
              <a:rPr lang="da-DK" sz="2400" dirty="0"/>
              <a:t> </a:t>
            </a:r>
            <a:r>
              <a:rPr lang="da-DK" sz="2400" dirty="0" err="1"/>
              <a:t>both</a:t>
            </a:r>
            <a:r>
              <a:rPr lang="da-DK" sz="2400" dirty="0"/>
              <a:t> interfaces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a-DK" sz="2400" dirty="0"/>
              <a:t> and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endParaRPr lang="da-DK" sz="2400" dirty="0"/>
          </a:p>
          <a:p>
            <a:r>
              <a:rPr lang="da-DK" sz="2400" dirty="0" err="1"/>
              <a:t>Inherits</a:t>
            </a:r>
            <a:r>
              <a:rPr lang="da-DK" sz="2400" dirty="0"/>
              <a:t> default </a:t>
            </a:r>
            <a:r>
              <a:rPr lang="da-DK" sz="2400" dirty="0" err="1"/>
              <a:t>methods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sayA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sz="2400" dirty="0"/>
              <a:t>and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sayB</a:t>
            </a:r>
            <a:endParaRPr lang="da-DK" sz="24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a-DK" sz="2400" dirty="0" err="1"/>
              <a:t>Cannot</a:t>
            </a:r>
            <a:r>
              <a:rPr lang="da-DK" sz="2400" dirty="0"/>
              <a:t> </a:t>
            </a:r>
            <a:r>
              <a:rPr lang="da-DK" sz="2400" dirty="0" err="1"/>
              <a:t>inherit</a:t>
            </a:r>
            <a:r>
              <a:rPr lang="da-DK" sz="2400" dirty="0"/>
              <a:t> </a:t>
            </a:r>
            <a:r>
              <a:rPr lang="da-DK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sayHi</a:t>
            </a:r>
            <a:r>
              <a:rPr lang="da-DK" sz="2400" dirty="0"/>
              <a:t>, </a:t>
            </a:r>
            <a:r>
              <a:rPr lang="da-DK" sz="2400" dirty="0" err="1"/>
              <a:t>since</a:t>
            </a:r>
            <a:r>
              <a:rPr lang="da-DK" sz="2400" dirty="0"/>
              <a:t> in </a:t>
            </a:r>
            <a:r>
              <a:rPr lang="da-DK" sz="2400" dirty="0" err="1"/>
              <a:t>both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a-DK" sz="2400" dirty="0"/>
              <a:t> and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da-DK" sz="2400" dirty="0"/>
              <a:t>.</a:t>
            </a:r>
            <a:br>
              <a:rPr lang="da-DK" sz="2400" dirty="0"/>
            </a:br>
            <a:r>
              <a:rPr lang="da-DK" sz="2400" dirty="0"/>
              <a:t>Must </a:t>
            </a:r>
            <a:r>
              <a:rPr lang="da-DK" sz="2400" dirty="0" err="1"/>
              <a:t>be</a:t>
            </a:r>
            <a:r>
              <a:rPr lang="da-DK" sz="2400" dirty="0"/>
              <a:t> overriden in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da-DK" sz="2400" dirty="0"/>
              <a:t> </a:t>
            </a:r>
          </a:p>
          <a:p>
            <a:r>
              <a:rPr lang="da-DK" sz="2400" dirty="0"/>
              <a:t>Can </a:t>
            </a:r>
            <a:r>
              <a:rPr lang="da-DK" sz="2400" dirty="0" err="1"/>
              <a:t>use</a:t>
            </a:r>
            <a:r>
              <a:rPr lang="da-DK" sz="2400" dirty="0"/>
              <a:t> </a:t>
            </a:r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@override</a:t>
            </a:r>
            <a:r>
              <a:rPr lang="da-DK" sz="2400" dirty="0"/>
              <a:t> to </a:t>
            </a:r>
            <a:r>
              <a:rPr lang="da-DK" sz="2400" dirty="0" err="1"/>
              <a:t>enforce</a:t>
            </a:r>
            <a:r>
              <a:rPr lang="da-DK" sz="2400" dirty="0"/>
              <a:t> compiler to check if </a:t>
            </a:r>
            <a:r>
              <a:rPr lang="da-DK" sz="2400" dirty="0" err="1"/>
              <a:t>method</a:t>
            </a:r>
            <a:r>
              <a:rPr lang="da-DK" sz="2400" dirty="0"/>
              <a:t> </a:t>
            </a:r>
            <a:r>
              <a:rPr lang="da-DK" sz="2400" dirty="0" err="1"/>
              <a:t>exists</a:t>
            </a:r>
            <a:r>
              <a:rPr lang="da-DK" sz="2400" dirty="0"/>
              <a:t> in super </a:t>
            </a:r>
            <a:r>
              <a:rPr lang="da-DK" sz="2400" dirty="0" err="1"/>
              <a:t>class</a:t>
            </a:r>
            <a:endParaRPr lang="da-DK" sz="2400" dirty="0"/>
          </a:p>
          <a:p>
            <a:r>
              <a:rPr lang="da-DK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new A(){}</a:t>
            </a:r>
            <a:r>
              <a:rPr lang="da-DK" sz="2400" dirty="0"/>
              <a:t> </a:t>
            </a:r>
            <a:r>
              <a:rPr lang="da-DK" sz="2400" dirty="0" err="1"/>
              <a:t>creates</a:t>
            </a:r>
            <a:r>
              <a:rPr lang="da-DK" sz="2400" dirty="0"/>
              <a:t> an </a:t>
            </a:r>
            <a:r>
              <a:rPr lang="da-DK" sz="2400" dirty="0" err="1"/>
              <a:t>instance</a:t>
            </a:r>
            <a:r>
              <a:rPr lang="da-DK" sz="2400" dirty="0"/>
              <a:t> of an </a:t>
            </a:r>
            <a:r>
              <a:rPr lang="da-DK" sz="2400" i="1" dirty="0" err="1"/>
              <a:t>anonymous</a:t>
            </a:r>
            <a:r>
              <a:rPr lang="da-DK" sz="2400" i="1" dirty="0"/>
              <a:t> </a:t>
            </a:r>
            <a:r>
              <a:rPr lang="da-DK" sz="2400" i="1" dirty="0" err="1"/>
              <a:t>class</a:t>
            </a:r>
            <a:r>
              <a:rPr lang="da-DK" sz="2400" dirty="0"/>
              <a:t> (</a:t>
            </a:r>
            <a:r>
              <a:rPr lang="da-DK" sz="2400" dirty="0" err="1"/>
              <a:t>extending</a:t>
            </a:r>
            <a:r>
              <a:rPr lang="da-DK" sz="2400" dirty="0"/>
              <a:t> or </a:t>
            </a:r>
            <a:r>
              <a:rPr lang="da-DK" sz="2400" dirty="0" err="1"/>
              <a:t>implementing</a:t>
            </a:r>
            <a:r>
              <a:rPr lang="da-DK" sz="2400" dirty="0"/>
              <a:t> 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919918"/>
              </p:ext>
            </p:extLst>
          </p:nvPr>
        </p:nvGraphicFramePr>
        <p:xfrm>
          <a:off x="4243230" y="349580"/>
          <a:ext cx="7804736" cy="624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473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MultipleInheritance.java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541826">
                <a:tc>
                  <a:txBody>
                    <a:bodyPr/>
                    <a:lstStyle/>
                    <a:p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void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 System.out.println("say A");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void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sayHi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 System.out.println("A say's Hi");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void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sayB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 System.out.println("say B");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public void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sayHi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 System.out.println("B say's Hi");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implements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pt-BR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@Override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(optional) requests compiler to </a:t>
                      </a:r>
                    </a:p>
                    <a:p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// check if sayHi exists in supertype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void 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sayHi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System.out.println("C say's Hi");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(</a:t>
                      </a:r>
                      <a:r>
                        <a:rPr lang="pt-BR" sz="1400" b="1" u="none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 </a:t>
                      </a:r>
                      <a:r>
                        <a:rPr lang="pt-BR" sz="1400" b="1" u="none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r>
                        <a:rPr lang="pt-BR" sz="1400" b="1" u="none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(){}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).sayHi();  </a:t>
                      </a:r>
                      <a:r>
                        <a:rPr lang="pt-BR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</a:t>
                      </a:r>
                      <a:r>
                        <a:rPr lang="pt-BR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instantiate an anonymous class</a:t>
                      </a:r>
                      <a:endParaRPr lang="pt-BR" sz="1400" b="1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void test()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sayA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sayB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400" b="1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sayHi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MultipleInheritance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 String[] args ) {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new </a:t>
                      </a:r>
                      <a:r>
                        <a:rPr lang="pt-BR" sz="14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().test();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</a:t>
                      </a:r>
                    </a:p>
                    <a:p>
                      <a:r>
                        <a:rPr lang="pt-BR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305732"/>
              </p:ext>
            </p:extLst>
          </p:nvPr>
        </p:nvGraphicFramePr>
        <p:xfrm>
          <a:off x="10023302" y="4904329"/>
          <a:ext cx="156559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559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 output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 A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say B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say's Hi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say's Hi</a:t>
                      </a:r>
                      <a:endParaRPr lang="pt-BR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32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67006"/>
            <a:ext cx="10515600" cy="1060739"/>
          </a:xfrm>
        </p:spPr>
        <p:txBody>
          <a:bodyPr/>
          <a:lstStyle/>
          <a:p>
            <a:r>
              <a:rPr lang="en-US" dirty="0"/>
              <a:t>Lambda expressions are possible since Java 8</a:t>
            </a:r>
          </a:p>
          <a:p>
            <a:r>
              <a:rPr lang="en-US" dirty="0"/>
              <a:t>Syntax :   </a:t>
            </a:r>
            <a:r>
              <a:rPr lang="en-US" i="1" dirty="0">
                <a:solidFill>
                  <a:srgbClr val="C00000"/>
                </a:solidFill>
              </a:rPr>
              <a:t>argument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i="1" dirty="0">
                <a:solidFill>
                  <a:srgbClr val="C00000"/>
                </a:solidFill>
              </a:rPr>
              <a:t>expression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859085"/>
              </p:ext>
            </p:extLst>
          </p:nvPr>
        </p:nvGraphicFramePr>
        <p:xfrm>
          <a:off x="2735897" y="2632363"/>
          <a:ext cx="6720205" cy="4008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02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7252">
                <a:tc>
                  <a:txBody>
                    <a:bodyPr/>
                    <a:lstStyle/>
                    <a:p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LambdaPrinting.java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32939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java.util.*;  </a:t>
                      </a:r>
                      <a:r>
                        <a:rPr lang="pt-BR" sz="16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// ArrayList</a:t>
                      </a:r>
                      <a:endParaRPr lang="pt-BR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 class LambdaPrinting {</a:t>
                      </a:r>
                    </a:p>
                    <a:p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public static void main(String[] args) {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var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elements = </a:t>
                      </a:r>
                      <a:r>
                        <a:rPr lang="pt-BR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new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ArrayList&lt;Integer&gt;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();</a:t>
                      </a:r>
                    </a:p>
                    <a:p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for (int i = 1; i &lt;= 3; i++)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    elements.add(i);</a:t>
                      </a:r>
                    </a:p>
                    <a:p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	elements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.forEach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pt-BR" sz="16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 -&gt; System.out.println(e)</a:t>
                      </a: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);</a:t>
                      </a:r>
                    </a:p>
                    <a:p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};</a:t>
                      </a:r>
                    </a:p>
                    <a:p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77252">
                <a:tc>
                  <a:txBody>
                    <a:bodyPr/>
                    <a:lstStyle/>
                    <a:p>
                      <a:r>
                        <a:rPr lang="da-DK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LambdaPrinting.java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233944"/>
                  </a:ext>
                </a:extLst>
              </a:tr>
              <a:tr h="43507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pt-BR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510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8553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79AEBC-E2DE-4BF2-82EA-6AA9745C1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0" y="391886"/>
            <a:ext cx="1168451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Oval 6"/>
          <p:cNvSpPr/>
          <p:nvPr/>
        </p:nvSpPr>
        <p:spPr>
          <a:xfrm>
            <a:off x="1315193" y="770490"/>
            <a:ext cx="5951882" cy="589079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328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58688</TotalTime>
  <Words>3838</Words>
  <Application>Microsoft Office PowerPoint</Application>
  <PresentationFormat>Widescreen</PresentationFormat>
  <Paragraphs>560</Paragraphs>
  <Slides>24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Java vs Python</vt:lpstr>
      <vt:lpstr>Why should you know something about Java?</vt:lpstr>
      <vt:lpstr>Java history</vt:lpstr>
      <vt:lpstr>Installing Java</vt:lpstr>
      <vt:lpstr>Java IDE</vt:lpstr>
      <vt:lpstr>Compiling and running a Java program</vt:lpstr>
      <vt:lpstr>Java : main</vt:lpstr>
      <vt:lpstr>PowerPoint Presentation</vt:lpstr>
      <vt:lpstr>Argument list also exists in Python...</vt:lpstr>
      <vt:lpstr>PowerPoint Presentation</vt:lpstr>
      <vt:lpstr>Why state types – Python works without...</vt:lpstr>
      <vt:lpstr>Basic Java types</vt:lpstr>
      <vt:lpstr>Java arrays</vt:lpstr>
      <vt:lpstr>Tired of writing all these types...</vt:lpstr>
      <vt:lpstr>Function arguments</vt:lpstr>
      <vt:lpstr>Class</vt:lpstr>
      <vt:lpstr>Inheritance</vt:lpstr>
      <vt:lpstr>Generic class</vt:lpstr>
      <vt:lpstr>Interface</vt:lpstr>
      <vt:lpstr>Abstract classes</vt:lpstr>
      <vt:lpstr>Default methods  in interfaces</vt:lpstr>
      <vt:lpstr>Multiple Inheritance</vt:lpstr>
      <vt:lpstr>Lambda expression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2077</cp:revision>
  <dcterms:created xsi:type="dcterms:W3CDTF">2017-10-19T06:54:16Z</dcterms:created>
  <dcterms:modified xsi:type="dcterms:W3CDTF">2026-03-18T13:06:23Z</dcterms:modified>
</cp:coreProperties>
</file>