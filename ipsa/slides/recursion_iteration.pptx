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82" r:id="rId2"/>
    <p:sldId id="606" r:id="rId3"/>
    <p:sldId id="614" r:id="rId4"/>
    <p:sldId id="607" r:id="rId5"/>
    <p:sldId id="608" r:id="rId6"/>
    <p:sldId id="609" r:id="rId7"/>
    <p:sldId id="619" r:id="rId8"/>
    <p:sldId id="623" r:id="rId9"/>
    <p:sldId id="612" r:id="rId10"/>
    <p:sldId id="613" r:id="rId11"/>
    <p:sldId id="524" r:id="rId12"/>
    <p:sldId id="615" r:id="rId13"/>
    <p:sldId id="616" r:id="rId14"/>
    <p:sldId id="617" r:id="rId15"/>
    <p:sldId id="618" r:id="rId16"/>
    <p:sldId id="622" r:id="rId17"/>
    <p:sldId id="407" r:id="rId18"/>
    <p:sldId id="515" r:id="rId19"/>
    <p:sldId id="600" r:id="rId20"/>
    <p:sldId id="602" r:id="rId21"/>
    <p:sldId id="620" r:id="rId22"/>
    <p:sldId id="621" r:id="rId2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  <a:srgbClr val="FFA7A7"/>
    <a:srgbClr val="DEEBF7"/>
    <a:srgbClr val="E2F0D9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528D2F-8BAE-4036-A99F-A2E1406FD0CA}" v="5" dt="2026-02-19T17:29:51.1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8" autoAdjust="0"/>
    <p:restoredTop sz="82128" autoAdjust="0"/>
  </p:normalViewPr>
  <p:slideViewPr>
    <p:cSldViewPr snapToGrid="0">
      <p:cViewPr varScale="1">
        <p:scale>
          <a:sx n="144" d="100"/>
          <a:sy n="144" d="100"/>
        </p:scale>
        <p:origin x="894" y="132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custSel modSld">
      <pc:chgData name="Gerth Stølting Brodal" userId="04ef4784-6591-4f86-a140-f5c3b108582a" providerId="ADAL" clId="{73BAC7D6-516A-44B5-B4B0-C7B08CA8B392}" dt="2026-02-19T17:53:15.235" v="409" actId="20577"/>
      <pc:docMkLst>
        <pc:docMk/>
      </pc:docMkLst>
      <pc:sldChg chg="modNotesTx">
        <pc:chgData name="Gerth Stølting Brodal" userId="04ef4784-6591-4f86-a140-f5c3b108582a" providerId="ADAL" clId="{73BAC7D6-516A-44B5-B4B0-C7B08CA8B392}" dt="2026-02-19T17:52:07.769" v="408" actId="113"/>
        <pc:sldMkLst>
          <pc:docMk/>
          <pc:sldMk cId="1276516941" sldId="407"/>
        </pc:sldMkLst>
      </pc:sldChg>
      <pc:sldChg chg="modNotesTx">
        <pc:chgData name="Gerth Stølting Brodal" userId="04ef4784-6591-4f86-a140-f5c3b108582a" providerId="ADAL" clId="{73BAC7D6-516A-44B5-B4B0-C7B08CA8B392}" dt="2026-02-19T17:48:52.635" v="308" actId="20577"/>
        <pc:sldMkLst>
          <pc:docMk/>
          <pc:sldMk cId="1062450610" sldId="482"/>
        </pc:sldMkLst>
      </pc:sldChg>
      <pc:sldChg chg="modSp mod">
        <pc:chgData name="Gerth Stølting Brodal" userId="04ef4784-6591-4f86-a140-f5c3b108582a" providerId="ADAL" clId="{73BAC7D6-516A-44B5-B4B0-C7B08CA8B392}" dt="2026-02-19T17:53:15.235" v="409" actId="20577"/>
        <pc:sldMkLst>
          <pc:docMk/>
          <pc:sldMk cId="2031821264" sldId="515"/>
        </pc:sldMkLst>
        <pc:graphicFrameChg chg="modGraphic">
          <ac:chgData name="Gerth Stølting Brodal" userId="04ef4784-6591-4f86-a140-f5c3b108582a" providerId="ADAL" clId="{73BAC7D6-516A-44B5-B4B0-C7B08CA8B392}" dt="2026-02-19T17:53:15.235" v="409" actId="20577"/>
          <ac:graphicFrameMkLst>
            <pc:docMk/>
            <pc:sldMk cId="2031821264" sldId="515"/>
            <ac:graphicFrameMk id="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9T17:30:24.105" v="250" actId="6549"/>
        <pc:sldMkLst>
          <pc:docMk/>
          <pc:sldMk cId="2532045085" sldId="524"/>
        </pc:sldMkLst>
        <pc:graphicFrameChg chg="mod modGraphic">
          <ac:chgData name="Gerth Stølting Brodal" userId="04ef4784-6591-4f86-a140-f5c3b108582a" providerId="ADAL" clId="{73BAC7D6-516A-44B5-B4B0-C7B08CA8B392}" dt="2026-02-19T17:30:24.105" v="250" actId="6549"/>
          <ac:graphicFrameMkLst>
            <pc:docMk/>
            <pc:sldMk cId="2532045085" sldId="524"/>
            <ac:graphicFrameMk id="5" creationId="{00000000-0000-0000-0000-000000000000}"/>
          </ac:graphicFrameMkLst>
        </pc:graphicFrameChg>
      </pc:sldChg>
      <pc:sldChg chg="modNotesTx">
        <pc:chgData name="Gerth Stølting Brodal" userId="04ef4784-6591-4f86-a140-f5c3b108582a" providerId="ADAL" clId="{73BAC7D6-516A-44B5-B4B0-C7B08CA8B392}" dt="2026-02-19T17:20:34.646" v="124" actId="113"/>
        <pc:sldMkLst>
          <pc:docMk/>
          <pc:sldMk cId="2314303491" sldId="6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Sorting algorithms </a:t>
            </a:r>
            <a:r>
              <a:rPr lang="en-US" b="1" dirty="0"/>
              <a:t>selection sort</a:t>
            </a:r>
            <a:r>
              <a:rPr lang="en-US" dirty="0"/>
              <a:t>, </a:t>
            </a:r>
            <a:r>
              <a:rPr lang="en-US" b="1" dirty="0"/>
              <a:t>merge sort</a:t>
            </a:r>
            <a:r>
              <a:rPr lang="en-US" dirty="0"/>
              <a:t>, </a:t>
            </a:r>
            <a:r>
              <a:rPr lang="en-US" b="1" dirty="0"/>
              <a:t>quicksort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 err="1"/>
              <a:t>FindZero</a:t>
            </a:r>
            <a:r>
              <a:rPr lang="en-US" b="0" dirty="0"/>
              <a:t> in a 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GCD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Permutations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Maze solver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358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L[:] </a:t>
            </a:r>
            <a:r>
              <a:rPr lang="da-DK" dirty="0" err="1"/>
              <a:t>makes</a:t>
            </a:r>
            <a:r>
              <a:rPr lang="da-DK" dirty="0"/>
              <a:t> </a:t>
            </a:r>
            <a:r>
              <a:rPr lang="da-DK" dirty="0" err="1"/>
              <a:t>copy</a:t>
            </a:r>
            <a:r>
              <a:rPr lang="da-DK" dirty="0"/>
              <a:t> to </a:t>
            </a:r>
            <a:r>
              <a:rPr lang="da-DK" dirty="0" err="1"/>
              <a:t>ensure</a:t>
            </a:r>
            <a:r>
              <a:rPr lang="da-DK" dirty="0"/>
              <a:t> L </a:t>
            </a:r>
            <a:r>
              <a:rPr lang="da-DK" dirty="0" err="1"/>
              <a:t>remains</a:t>
            </a:r>
            <a:r>
              <a:rPr lang="da-DK" dirty="0"/>
              <a:t> </a:t>
            </a:r>
            <a:r>
              <a:rPr lang="da-DK" dirty="0" err="1"/>
              <a:t>unchanged</a:t>
            </a:r>
            <a:endParaRPr lang="da-DK" dirty="0"/>
          </a:p>
          <a:p>
            <a:r>
              <a:rPr lang="da-DK" dirty="0"/>
              <a:t>L = [3, 2, 1, 5, 7]</a:t>
            </a:r>
          </a:p>
          <a:p>
            <a:r>
              <a:rPr lang="da-DK" dirty="0" err="1"/>
              <a:t>sorted</a:t>
            </a:r>
            <a:r>
              <a:rPr lang="da-DK" dirty="0"/>
              <a:t>(L)</a:t>
            </a:r>
          </a:p>
          <a:p>
            <a:r>
              <a:rPr lang="da-DK" dirty="0" err="1"/>
              <a:t>L.sort</a:t>
            </a:r>
            <a:r>
              <a:rPr lang="da-DK" dirty="0"/>
              <a:t>()  # side </a:t>
            </a:r>
            <a:r>
              <a:rPr lang="da-DK" dirty="0" err="1"/>
              <a:t>effect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70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also have used </a:t>
            </a:r>
            <a:r>
              <a:rPr lang="en-US" dirty="0" err="1"/>
              <a:t>C.append</a:t>
            </a:r>
            <a:r>
              <a:rPr lang="en-US" dirty="0"/>
              <a:t> on an initial empty C, and while a + b &lt; 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139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internally uses a slight variation of this algorithm denoted </a:t>
            </a:r>
            <a:r>
              <a:rPr lang="en-US" dirty="0" err="1"/>
              <a:t>TimSort</a:t>
            </a:r>
            <a:r>
              <a:rPr lang="en-US" dirty="0"/>
              <a:t>/</a:t>
            </a:r>
            <a:r>
              <a:rPr lang="en-US" dirty="0" err="1"/>
              <a:t>PowerSort</a:t>
            </a:r>
            <a:r>
              <a:rPr lang="en-US" dirty="0"/>
              <a:t> for </a:t>
            </a:r>
            <a:r>
              <a:rPr lang="en-US" b="1" dirty="0"/>
              <a:t>sort </a:t>
            </a:r>
            <a:r>
              <a:rPr lang="en-US" dirty="0"/>
              <a:t>and </a:t>
            </a:r>
            <a:r>
              <a:rPr lang="en-US" b="1" dirty="0"/>
              <a:t>sorted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6115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38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Sorting random floats in [0, 1]</a:t>
            </a:r>
          </a:p>
          <a:p>
            <a:r>
              <a:rPr lang="en-US" dirty="0"/>
              <a:t>Average time of sufficiently many runs to make time &gt;= 1.0 second, since windows timing resolution 0.016 second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8539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3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= 90 % 24, since 90 = 3 * 24 + 18; could shortcut computation using </a:t>
            </a:r>
            <a:r>
              <a:rPr lang="en-US" b="1" dirty="0"/>
              <a:t>modulo computation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0302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recursive call to </a:t>
            </a:r>
            <a:r>
              <a:rPr lang="en-US" dirty="0" err="1"/>
              <a:t>gcd_recursive</a:t>
            </a:r>
            <a:r>
              <a:rPr lang="en-US" dirty="0"/>
              <a:t> the sum </a:t>
            </a:r>
            <a:r>
              <a:rPr lang="en-US" dirty="0" err="1"/>
              <a:t>x+y</a:t>
            </a:r>
            <a:r>
              <a:rPr lang="en-US" dirty="0"/>
              <a:t> is at most 2/3 of the previous call =&gt; logarithmic number of calls. </a:t>
            </a:r>
          </a:p>
          <a:p>
            <a:r>
              <a:rPr lang="da-DK" dirty="0" err="1"/>
              <a:t>Fibonacci</a:t>
            </a:r>
            <a:r>
              <a:rPr lang="da-DK" dirty="0"/>
              <a:t> </a:t>
            </a:r>
            <a:r>
              <a:rPr lang="da-DK" dirty="0" err="1"/>
              <a:t>numbers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inputs </a:t>
            </a:r>
            <a:r>
              <a:rPr lang="da-DK" dirty="0" err="1"/>
              <a:t>causing</a:t>
            </a:r>
            <a:r>
              <a:rPr lang="da-DK" dirty="0"/>
              <a:t> </a:t>
            </a:r>
            <a:r>
              <a:rPr lang="da-DK" dirty="0" err="1"/>
              <a:t>deep</a:t>
            </a:r>
            <a:r>
              <a:rPr lang="da-DK" dirty="0"/>
              <a:t> </a:t>
            </a:r>
            <a:r>
              <a:rPr lang="da-DK" dirty="0" err="1"/>
              <a:t>recursion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2142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usage of L[:]</a:t>
            </a:r>
            <a:r>
              <a:rPr lang="en-US" baseline="0" dirty="0"/>
              <a:t> and L[:1] makes the implementation polymorph – and works for strings, tuples and lists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2251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is to print the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396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find </a:t>
            </a:r>
            <a:r>
              <a:rPr lang="en-US" dirty="0"/>
              <a:t>returns -1 if not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683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"explore</a:t>
            </a:r>
            <a:r>
              <a:rPr lang="en-US"/>
              <a:t>" changed</a:t>
            </a:r>
          </a:p>
          <a:p>
            <a:r>
              <a:rPr lang="en-US" dirty="0"/>
              <a:t>Could add "break" when solution found</a:t>
            </a:r>
          </a:p>
          <a:p>
            <a:r>
              <a:rPr lang="en-US" dirty="0"/>
              <a:t>Visited could be a set of cells 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623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itertools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11636383" cy="1325563"/>
          </a:xfrm>
        </p:spPr>
        <p:txBody>
          <a:bodyPr/>
          <a:lstStyle/>
          <a:p>
            <a:pPr algn="r"/>
            <a:r>
              <a:rPr lang="da-DK" dirty="0" err="1"/>
              <a:t>Recursion</a:t>
            </a:r>
            <a:r>
              <a:rPr lang="da-DK" dirty="0"/>
              <a:t> and </a:t>
            </a:r>
            <a:r>
              <a:rPr lang="da-DK" dirty="0" err="1"/>
              <a:t>iteration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99981" y="3920647"/>
            <a:ext cx="5131432" cy="2937353"/>
          </a:xfrm>
        </p:spPr>
        <p:txBody>
          <a:bodyPr>
            <a:normAutofit/>
          </a:bodyPr>
          <a:lstStyle/>
          <a:p>
            <a:r>
              <a:rPr lang="en-US" dirty="0"/>
              <a:t>algorithm examples</a:t>
            </a:r>
          </a:p>
        </p:txBody>
      </p:sp>
    </p:spTree>
    <p:extLst>
      <p:ext uri="{BB962C8B-B14F-4D97-AF65-F5344CB8AC3E}">
        <p14:creationId xmlns:p14="http://schemas.microsoft.com/office/powerpoint/2010/main" val="1062450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52-card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527912" y="6445667"/>
            <a:ext cx="45215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en.wikipedia.org/wiki/Standard_52-card_deck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2942" t="23961" r="1019" b="33192"/>
          <a:stretch/>
        </p:blipFill>
        <p:spPr>
          <a:xfrm>
            <a:off x="162955" y="1841719"/>
            <a:ext cx="11854441" cy="39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992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Selection</a:t>
            </a:r>
            <a:r>
              <a:rPr lang="da-DK" dirty="0"/>
              <a:t> sort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0" y="4207276"/>
            <a:ext cx="5806190" cy="2002326"/>
          </a:xfrm>
        </p:spPr>
        <p:txBody>
          <a:bodyPr>
            <a:normAutofit/>
          </a:bodyPr>
          <a:lstStyle/>
          <a:p>
            <a:r>
              <a:rPr lang="da-DK" dirty="0">
                <a:latin typeface="Courier" pitchFamily="49" charset="0"/>
              </a:rPr>
              <a:t>min</a:t>
            </a:r>
            <a:r>
              <a:rPr lang="da-DK" dirty="0"/>
              <a:t> and </a:t>
            </a:r>
            <a:r>
              <a:rPr lang="da-DK" dirty="0">
                <a:latin typeface="Courier" pitchFamily="49" charset="0"/>
              </a:rPr>
              <a:t>.</a:t>
            </a:r>
            <a:r>
              <a:rPr lang="da-DK" dirty="0" err="1">
                <a:latin typeface="Courier" pitchFamily="49" charset="0"/>
              </a:rPr>
              <a:t>remove</a:t>
            </a:r>
            <a:r>
              <a:rPr lang="da-DK" dirty="0"/>
              <a:t> scan the </a:t>
            </a:r>
            <a:r>
              <a:rPr lang="da-DK" dirty="0" err="1"/>
              <a:t>remaining</a:t>
            </a:r>
            <a:r>
              <a:rPr lang="da-DK" dirty="0"/>
              <a:t> </a:t>
            </a:r>
            <a:r>
              <a:rPr lang="da-DK" dirty="0" err="1">
                <a:latin typeface="Courier" pitchFamily="49" charset="0"/>
              </a:rPr>
              <a:t>unsorted</a:t>
            </a:r>
            <a:r>
              <a:rPr lang="da-DK" dirty="0"/>
              <a:t> list for </a:t>
            </a:r>
            <a:r>
              <a:rPr lang="da-DK" dirty="0" err="1"/>
              <a:t>each</a:t>
            </a:r>
            <a:r>
              <a:rPr lang="da-DK" dirty="0"/>
              <a:t> element </a:t>
            </a:r>
            <a:r>
              <a:rPr lang="da-DK" dirty="0" err="1"/>
              <a:t>moved</a:t>
            </a:r>
            <a:r>
              <a:rPr lang="da-DK" dirty="0"/>
              <a:t> to </a:t>
            </a:r>
            <a:r>
              <a:rPr lang="da-DK" dirty="0" err="1">
                <a:latin typeface="Courier" pitchFamily="49" charset="0"/>
              </a:rPr>
              <a:t>result</a:t>
            </a:r>
            <a:endParaRPr lang="da-DK" dirty="0">
              <a:latin typeface="Courier" pitchFamily="49" charset="0"/>
            </a:endParaRPr>
          </a:p>
          <a:p>
            <a:r>
              <a:rPr lang="da-DK" dirty="0" err="1"/>
              <a:t>order</a:t>
            </a:r>
            <a:r>
              <a:rPr lang="da-DK" dirty="0"/>
              <a:t> |L|</a:t>
            </a:r>
            <a:r>
              <a:rPr lang="da-DK" baseline="30000" dirty="0"/>
              <a:t>2</a:t>
            </a:r>
            <a:r>
              <a:rPr lang="da-DK" dirty="0"/>
              <a:t>  </a:t>
            </a:r>
            <a:r>
              <a:rPr lang="da-DK" dirty="0" err="1"/>
              <a:t>comparisons</a:t>
            </a:r>
            <a:endParaRPr lang="en-US" baseline="30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138504"/>
              </p:ext>
            </p:extLst>
          </p:nvPr>
        </p:nvGraphicFramePr>
        <p:xfrm>
          <a:off x="1242399" y="2335605"/>
          <a:ext cx="4297680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selection_sort.py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selection_sort</a:t>
                      </a:r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unsorted = L[:]</a:t>
                      </a: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result = []</a:t>
                      </a:r>
                    </a:p>
                    <a:p>
                      <a:endParaRPr lang="en-US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unsorted:</a:t>
                      </a: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 = </a:t>
                      </a: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(unsorted)</a:t>
                      </a: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unsorted.</a:t>
                      </a:r>
                      <a:r>
                        <a:rPr lang="en-US" sz="20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remove</a:t>
                      </a:r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(e)</a:t>
                      </a: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20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result.append</a:t>
                      </a:r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(e)</a:t>
                      </a:r>
                    </a:p>
                    <a:p>
                      <a:endParaRPr lang="en-US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20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result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6256" y="1836870"/>
            <a:ext cx="762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628" y="2002911"/>
            <a:ext cx="762000" cy="952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6383" y="1675958"/>
            <a:ext cx="762000" cy="952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8873" y="2249988"/>
            <a:ext cx="762000" cy="952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5860" y="1899957"/>
            <a:ext cx="762000" cy="9525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2304" y="1964155"/>
            <a:ext cx="762000" cy="952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0781" y="2070108"/>
            <a:ext cx="762000" cy="952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96494" y="3218732"/>
            <a:ext cx="19177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 err="1">
                <a:solidFill>
                  <a:srgbClr val="C00000"/>
                </a:solidFill>
              </a:rPr>
              <a:t>unsorted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94869" y="3218731"/>
            <a:ext cx="17338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 err="1">
                <a:solidFill>
                  <a:srgbClr val="C00000"/>
                </a:solidFill>
              </a:rPr>
              <a:t>sorted</a:t>
            </a:r>
            <a:endParaRPr lang="da-DK" sz="2400" b="1" dirty="0">
              <a:solidFill>
                <a:srgbClr val="C00000"/>
              </a:solidFill>
            </a:endParaRPr>
          </a:p>
          <a:p>
            <a:pPr algn="ctr"/>
            <a:r>
              <a:rPr lang="da-DK" sz="2400" b="1" dirty="0" err="1">
                <a:solidFill>
                  <a:srgbClr val="C00000"/>
                </a:solidFill>
              </a:rPr>
              <a:t>result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9031964" y="2136614"/>
            <a:ext cx="657624" cy="780041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a-DK" sz="1400" dirty="0"/>
              <a:t>min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59374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Sorting</a:t>
            </a:r>
            <a:r>
              <a:rPr lang="da-DK" dirty="0"/>
              <a:t> a pile of </a:t>
            </a:r>
            <a:r>
              <a:rPr lang="da-DK" dirty="0" err="1"/>
              <a:t>cards</a:t>
            </a:r>
            <a:r>
              <a:rPr lang="da-DK" dirty="0"/>
              <a:t> (</a:t>
            </a:r>
            <a:r>
              <a:rPr lang="da-DK" dirty="0" err="1"/>
              <a:t>Merge</a:t>
            </a:r>
            <a:r>
              <a:rPr lang="da-DK" dirty="0"/>
              <a:t> sort)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382" y="2163380"/>
            <a:ext cx="8899566" cy="4039712"/>
          </a:xfrm>
        </p:spPr>
        <p:txBody>
          <a:bodyPr>
            <a:normAutofit/>
          </a:bodyPr>
          <a:lstStyle/>
          <a:p>
            <a:r>
              <a:rPr lang="da-DK" dirty="0"/>
              <a:t>If </a:t>
            </a:r>
            <a:r>
              <a:rPr lang="da-DK" dirty="0" err="1"/>
              <a:t>one</a:t>
            </a:r>
            <a:r>
              <a:rPr lang="da-DK" dirty="0"/>
              <a:t> card in pile, i.e. pile is </a:t>
            </a:r>
            <a:r>
              <a:rPr lang="da-DK" dirty="0" err="1"/>
              <a:t>sorted</a:t>
            </a:r>
            <a:br>
              <a:rPr lang="da-DK" dirty="0"/>
            </a:br>
            <a:endParaRPr lang="da-DK" dirty="0"/>
          </a:p>
          <a:p>
            <a:r>
              <a:rPr lang="da-DK" dirty="0" err="1"/>
              <a:t>Otherwise</a:t>
            </a:r>
            <a:br>
              <a:rPr lang="da-DK" dirty="0"/>
            </a:br>
            <a:endParaRPr lang="da-DK" dirty="0"/>
          </a:p>
          <a:p>
            <a:pPr marL="1081088" indent="-452438">
              <a:buFont typeface="+mj-lt"/>
              <a:buAutoNum type="arabicParenR"/>
            </a:pP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Split</a:t>
            </a:r>
            <a:r>
              <a:rPr lang="da-DK" dirty="0"/>
              <a:t> pile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two</a:t>
            </a:r>
            <a:r>
              <a:rPr lang="da-DK" dirty="0"/>
              <a:t> piles, </a:t>
            </a:r>
            <a:r>
              <a:rPr lang="da-DK" b="1" dirty="0" err="1">
                <a:solidFill>
                  <a:srgbClr val="C00000"/>
                </a:solidFill>
              </a:rPr>
              <a:t>left</a:t>
            </a:r>
            <a:r>
              <a:rPr lang="da-DK" dirty="0"/>
              <a:t> and </a:t>
            </a:r>
            <a:r>
              <a:rPr lang="da-DK" b="1" dirty="0">
                <a:solidFill>
                  <a:srgbClr val="C00000"/>
                </a:solidFill>
              </a:rPr>
              <a:t>right</a:t>
            </a:r>
            <a:r>
              <a:rPr lang="da-DK" dirty="0"/>
              <a:t>,</a:t>
            </a:r>
            <a:br>
              <a:rPr lang="da-DK" dirty="0"/>
            </a:br>
            <a:r>
              <a:rPr lang="da-DK" dirty="0"/>
              <a:t>of </a:t>
            </a:r>
            <a:r>
              <a:rPr lang="da-DK" dirty="0" err="1"/>
              <a:t>approximately</a:t>
            </a:r>
            <a:r>
              <a:rPr lang="da-DK" dirty="0"/>
              <a:t> same </a:t>
            </a:r>
            <a:r>
              <a:rPr lang="da-DK" dirty="0" err="1"/>
              <a:t>size</a:t>
            </a:r>
            <a:endParaRPr lang="da-DK" dirty="0"/>
          </a:p>
          <a:p>
            <a:pPr marL="1081088" indent="-452438">
              <a:buFont typeface="+mj-lt"/>
              <a:buAutoNum type="arabicParenR"/>
            </a:pPr>
            <a:r>
              <a:rPr lang="da-DK" dirty="0"/>
              <a:t>Sort </a:t>
            </a:r>
            <a:r>
              <a:rPr lang="da-DK" b="1" dirty="0" err="1">
                <a:solidFill>
                  <a:srgbClr val="C00000"/>
                </a:solidFill>
              </a:rPr>
              <a:t>left</a:t>
            </a:r>
            <a:r>
              <a:rPr lang="da-DK" dirty="0"/>
              <a:t> and </a:t>
            </a:r>
            <a:r>
              <a:rPr lang="da-DK" b="1" dirty="0">
                <a:solidFill>
                  <a:srgbClr val="C00000"/>
                </a:solidFill>
              </a:rPr>
              <a:t>right</a:t>
            </a:r>
            <a:r>
              <a:rPr lang="da-DK" dirty="0"/>
              <a:t> </a:t>
            </a:r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recursively</a:t>
            </a:r>
            <a:r>
              <a:rPr lang="da-DK" dirty="0"/>
              <a:t> (</a:t>
            </a:r>
            <a:r>
              <a:rPr lang="da-DK" dirty="0" err="1"/>
              <a:t>independently</a:t>
            </a:r>
            <a:r>
              <a:rPr lang="da-DK" dirty="0"/>
              <a:t>)</a:t>
            </a:r>
          </a:p>
          <a:p>
            <a:pPr marL="1081088" indent="-452438">
              <a:buFont typeface="+mj-lt"/>
              <a:buAutoNum type="arabicParenR"/>
            </a:pPr>
            <a:r>
              <a:rPr lang="da-DK" dirty="0" err="1">
                <a:solidFill>
                  <a:schemeClr val="accent1">
                    <a:lumMod val="50000"/>
                  </a:schemeClr>
                </a:solidFill>
              </a:rPr>
              <a:t>Merge</a:t>
            </a:r>
            <a:r>
              <a:rPr lang="da-DK" dirty="0"/>
              <a:t> </a:t>
            </a:r>
            <a:r>
              <a:rPr lang="da-DK" b="1" dirty="0" err="1">
                <a:solidFill>
                  <a:srgbClr val="C00000"/>
                </a:solidFill>
              </a:rPr>
              <a:t>left</a:t>
            </a:r>
            <a:r>
              <a:rPr lang="da-DK" dirty="0"/>
              <a:t> and </a:t>
            </a:r>
            <a:r>
              <a:rPr lang="da-DK" b="1" dirty="0">
                <a:solidFill>
                  <a:srgbClr val="C00000"/>
                </a:solidFill>
              </a:rPr>
              <a:t>right</a:t>
            </a:r>
            <a:r>
              <a:rPr lang="da-DK" dirty="0"/>
              <a:t> (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sorted</a:t>
            </a:r>
            <a:r>
              <a:rPr lang="da-DK" dirty="0"/>
              <a:t>)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9803" y="160322"/>
            <a:ext cx="762000" cy="9525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319" y="199906"/>
            <a:ext cx="762000" cy="9525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2835" y="239490"/>
            <a:ext cx="762000" cy="952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351" y="279074"/>
            <a:ext cx="762000" cy="952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5867" y="318658"/>
            <a:ext cx="762000" cy="952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7383" y="358242"/>
            <a:ext cx="762000" cy="9525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899" y="397826"/>
            <a:ext cx="762000" cy="952500"/>
          </a:xfrm>
          <a:prstGeom prst="rect">
            <a:avLst/>
          </a:prstGeom>
        </p:spPr>
      </p:pic>
      <p:grpSp>
        <p:nvGrpSpPr>
          <p:cNvPr id="73" name="Group 72"/>
          <p:cNvGrpSpPr/>
          <p:nvPr/>
        </p:nvGrpSpPr>
        <p:grpSpPr>
          <a:xfrm>
            <a:off x="9142328" y="3032045"/>
            <a:ext cx="2891087" cy="1946409"/>
            <a:chOff x="9142328" y="3032045"/>
            <a:chExt cx="2891087" cy="1946409"/>
          </a:xfrm>
        </p:grpSpPr>
        <p:pic>
          <p:nvPicPr>
            <p:cNvPr id="54" name="Picture 5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09774" y="3829028"/>
              <a:ext cx="762000" cy="952500"/>
            </a:xfrm>
            <a:prstGeom prst="rect">
              <a:avLst/>
            </a:prstGeom>
          </p:spPr>
        </p:pic>
        <p:pic>
          <p:nvPicPr>
            <p:cNvPr id="51" name="Picture 5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2328" y="3829028"/>
              <a:ext cx="762000" cy="952500"/>
            </a:xfrm>
            <a:prstGeom prst="rect">
              <a:avLst/>
            </a:prstGeom>
          </p:spPr>
        </p:pic>
        <p:pic>
          <p:nvPicPr>
            <p:cNvPr id="49" name="Picture 4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2669" y="3897918"/>
              <a:ext cx="762000" cy="952500"/>
            </a:xfrm>
            <a:prstGeom prst="rect">
              <a:avLst/>
            </a:prstGeom>
          </p:spPr>
        </p:pic>
        <p:pic>
          <p:nvPicPr>
            <p:cNvPr id="50" name="Picture 4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54185" y="3966808"/>
              <a:ext cx="762000" cy="952500"/>
            </a:xfrm>
            <a:prstGeom prst="rect">
              <a:avLst/>
            </a:prstGeom>
          </p:spPr>
        </p:pic>
        <p:pic>
          <p:nvPicPr>
            <p:cNvPr id="52" name="Picture 5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2278" y="4025954"/>
              <a:ext cx="762000" cy="952500"/>
            </a:xfrm>
            <a:prstGeom prst="rect">
              <a:avLst/>
            </a:prstGeom>
          </p:spPr>
        </p:pic>
        <p:pic>
          <p:nvPicPr>
            <p:cNvPr id="53" name="Picture 5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59899" y="3897918"/>
              <a:ext cx="762000" cy="952500"/>
            </a:xfrm>
            <a:prstGeom prst="rect">
              <a:avLst/>
            </a:prstGeom>
          </p:spPr>
        </p:pic>
        <p:pic>
          <p:nvPicPr>
            <p:cNvPr id="55" name="Picture 54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1415" y="3966808"/>
              <a:ext cx="762000" cy="952500"/>
            </a:xfrm>
            <a:prstGeom prst="rect">
              <a:avLst/>
            </a:prstGeom>
          </p:spPr>
        </p:pic>
        <p:sp>
          <p:nvSpPr>
            <p:cNvPr id="65" name="Right Arrow 64"/>
            <p:cNvSpPr/>
            <p:nvPr/>
          </p:nvSpPr>
          <p:spPr>
            <a:xfrm rot="5400000">
              <a:off x="9427532" y="3067960"/>
              <a:ext cx="824564" cy="780041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r"/>
              <a:r>
                <a:rPr lang="da-DK" sz="1400" dirty="0" err="1"/>
                <a:t>recurse</a:t>
              </a:r>
              <a:endParaRPr lang="en-US" sz="1400" dirty="0"/>
            </a:p>
          </p:txBody>
        </p:sp>
        <p:sp>
          <p:nvSpPr>
            <p:cNvPr id="66" name="Right Arrow 65"/>
            <p:cNvSpPr/>
            <p:nvPr/>
          </p:nvSpPr>
          <p:spPr>
            <a:xfrm rot="5400000">
              <a:off x="10998090" y="3054306"/>
              <a:ext cx="824564" cy="780041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r"/>
              <a:r>
                <a:rPr lang="da-DK" sz="1400" dirty="0" err="1"/>
                <a:t>recurse</a:t>
              </a:r>
              <a:endParaRPr lang="en-US" sz="1400" dirty="0"/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9569995" y="4929027"/>
            <a:ext cx="2198867" cy="1849965"/>
            <a:chOff x="9569995" y="4929027"/>
            <a:chExt cx="2198867" cy="1849965"/>
          </a:xfrm>
        </p:grpSpPr>
        <p:pic>
          <p:nvPicPr>
            <p:cNvPr id="56" name="Picture 5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9995" y="5494612"/>
              <a:ext cx="762000" cy="952500"/>
            </a:xfrm>
            <a:prstGeom prst="rect">
              <a:avLst/>
            </a:prstGeom>
          </p:spPr>
        </p:pic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9473" y="5549925"/>
              <a:ext cx="762000" cy="952500"/>
            </a:xfrm>
            <a:prstGeom prst="rect">
              <a:avLst/>
            </a:prstGeom>
          </p:spPr>
        </p:pic>
        <p:pic>
          <p:nvPicPr>
            <p:cNvPr id="61" name="Picture 6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48951" y="5605238"/>
              <a:ext cx="762000" cy="952500"/>
            </a:xfrm>
            <a:prstGeom prst="rect">
              <a:avLst/>
            </a:prstGeom>
          </p:spPr>
        </p:pic>
        <p:pic>
          <p:nvPicPr>
            <p:cNvPr id="58" name="Picture 5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88429" y="5660551"/>
              <a:ext cx="762000" cy="952500"/>
            </a:xfrm>
            <a:prstGeom prst="rect">
              <a:avLst/>
            </a:prstGeom>
          </p:spPr>
        </p:pic>
        <p:pic>
          <p:nvPicPr>
            <p:cNvPr id="59" name="Picture 5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27907" y="5715864"/>
              <a:ext cx="762000" cy="952500"/>
            </a:xfrm>
            <a:prstGeom prst="rect">
              <a:avLst/>
            </a:prstGeom>
          </p:spPr>
        </p:pic>
        <p:pic>
          <p:nvPicPr>
            <p:cNvPr id="60" name="Picture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67385" y="5771177"/>
              <a:ext cx="762000" cy="952500"/>
            </a:xfrm>
            <a:prstGeom prst="rect">
              <a:avLst/>
            </a:prstGeom>
          </p:spPr>
        </p:pic>
        <p:pic>
          <p:nvPicPr>
            <p:cNvPr id="62" name="Picture 6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6862" y="5826492"/>
              <a:ext cx="762000" cy="952500"/>
            </a:xfrm>
            <a:prstGeom prst="rect">
              <a:avLst/>
            </a:prstGeom>
          </p:spPr>
        </p:pic>
        <p:sp>
          <p:nvSpPr>
            <p:cNvPr id="70" name="Right Arrow 69"/>
            <p:cNvSpPr/>
            <p:nvPr/>
          </p:nvSpPr>
          <p:spPr>
            <a:xfrm rot="5400000">
              <a:off x="10333705" y="4894412"/>
              <a:ext cx="710811" cy="780041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r"/>
              <a:r>
                <a:rPr lang="da-DK" sz="1400" dirty="0" err="1"/>
                <a:t>merge</a:t>
              </a:r>
              <a:endParaRPr lang="en-US" sz="1400" dirty="0"/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9049647" y="1383630"/>
            <a:ext cx="2983768" cy="1602814"/>
            <a:chOff x="9049647" y="1383630"/>
            <a:chExt cx="2983768" cy="1602814"/>
          </a:xfrm>
        </p:grpSpPr>
        <p:pic>
          <p:nvPicPr>
            <p:cNvPr id="42" name="Picture 4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1776" y="1915192"/>
              <a:ext cx="762000" cy="952500"/>
            </a:xfrm>
            <a:prstGeom prst="rect">
              <a:avLst/>
            </a:prstGeom>
          </p:spPr>
        </p:pic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3292" y="1954776"/>
              <a:ext cx="762000" cy="952500"/>
            </a:xfrm>
            <a:prstGeom prst="rect">
              <a:avLst/>
            </a:prstGeom>
          </p:spPr>
        </p:pic>
        <p:pic>
          <p:nvPicPr>
            <p:cNvPr id="44" name="Picture 4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54808" y="1994360"/>
              <a:ext cx="762000" cy="952500"/>
            </a:xfrm>
            <a:prstGeom prst="rect">
              <a:avLst/>
            </a:prstGeom>
          </p:spPr>
        </p:pic>
        <p:pic>
          <p:nvPicPr>
            <p:cNvPr id="45" name="Picture 4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6324" y="2033944"/>
              <a:ext cx="762000" cy="952500"/>
            </a:xfrm>
            <a:prstGeom prst="rect">
              <a:avLst/>
            </a:prstGeom>
          </p:spPr>
        </p:pic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48383" y="1915192"/>
              <a:ext cx="762000" cy="952500"/>
            </a:xfrm>
            <a:prstGeom prst="rect">
              <a:avLst/>
            </a:prstGeom>
          </p:spPr>
        </p:pic>
        <p:pic>
          <p:nvPicPr>
            <p:cNvPr id="47" name="Picture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59899" y="1954776"/>
              <a:ext cx="762000" cy="952500"/>
            </a:xfrm>
            <a:prstGeom prst="rect">
              <a:avLst/>
            </a:prstGeom>
          </p:spPr>
        </p:pic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1415" y="1994360"/>
              <a:ext cx="762000" cy="952500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9049647" y="1431538"/>
              <a:ext cx="15145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a-DK" sz="2400" b="1" dirty="0" err="1">
                  <a:solidFill>
                    <a:srgbClr val="C00000"/>
                  </a:solidFill>
                </a:rPr>
                <a:t>left</a:t>
              </a:r>
              <a:endParaRPr lang="en-US" sz="2400" b="1" dirty="0">
                <a:solidFill>
                  <a:srgbClr val="C00000"/>
                </a:solidFill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0996702" y="1437702"/>
              <a:ext cx="967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a-DK" sz="2400" b="1" dirty="0">
                  <a:solidFill>
                    <a:srgbClr val="C00000"/>
                  </a:solidFill>
                </a:rPr>
                <a:t>right</a:t>
              </a:r>
              <a:endParaRPr lang="en-US" sz="2400" b="1" dirty="0">
                <a:solidFill>
                  <a:srgbClr val="C00000"/>
                </a:solidFill>
              </a:endParaRPr>
            </a:p>
          </p:txBody>
        </p:sp>
        <p:sp>
          <p:nvSpPr>
            <p:cNvPr id="71" name="Right Arrow 70"/>
            <p:cNvSpPr/>
            <p:nvPr/>
          </p:nvSpPr>
          <p:spPr>
            <a:xfrm rot="5400000">
              <a:off x="10362894" y="1322421"/>
              <a:ext cx="657624" cy="780041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r"/>
              <a:r>
                <a:rPr lang="da-DK" sz="1400" dirty="0"/>
                <a:t>split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45144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327016"/>
              </p:ext>
            </p:extLst>
          </p:nvPr>
        </p:nvGraphicFramePr>
        <p:xfrm>
          <a:off x="391763" y="457200"/>
          <a:ext cx="7828280" cy="594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282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 = len(L)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n &lt;= 1: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L[:]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mid = n // 2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left, right = L[:mid], L[mid:]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(left),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(right))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 = len(A) + len(B)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 = n * [None]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a, b = 0, 0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c in range(n):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a &lt; len(A) and (b == len(B) or A[a] &lt; B[b]):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C[c] = A[a]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 = a + 1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C[c] = B[b]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b = b + 1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996075"/>
              </p:ext>
            </p:extLst>
          </p:nvPr>
        </p:nvGraphicFramePr>
        <p:xfrm>
          <a:off x="9512533" y="5377896"/>
          <a:ext cx="2492496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0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1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2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3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4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5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6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7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940878"/>
              </p:ext>
            </p:extLst>
          </p:nvPr>
        </p:nvGraphicFramePr>
        <p:xfrm>
          <a:off x="9522093" y="3553210"/>
          <a:ext cx="1246248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0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1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2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3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723258"/>
              </p:ext>
            </p:extLst>
          </p:nvPr>
        </p:nvGraphicFramePr>
        <p:xfrm>
          <a:off x="9522093" y="4465553"/>
          <a:ext cx="1246248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0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1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2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3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01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486066"/>
              </p:ext>
            </p:extLst>
          </p:nvPr>
        </p:nvGraphicFramePr>
        <p:xfrm>
          <a:off x="9453158" y="2280828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55166"/>
              </p:ext>
            </p:extLst>
          </p:nvPr>
        </p:nvGraphicFramePr>
        <p:xfrm>
          <a:off x="9453158" y="848585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826190"/>
              </p:ext>
            </p:extLst>
          </p:nvPr>
        </p:nvGraphicFramePr>
        <p:xfrm>
          <a:off x="9453158" y="1322122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6944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401432"/>
              </p:ext>
            </p:extLst>
          </p:nvPr>
        </p:nvGraphicFramePr>
        <p:xfrm>
          <a:off x="9453158" y="1801475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6944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pSp>
        <p:nvGrpSpPr>
          <p:cNvPr id="30" name="Group 29"/>
          <p:cNvGrpSpPr/>
          <p:nvPr/>
        </p:nvGrpSpPr>
        <p:grpSpPr>
          <a:xfrm>
            <a:off x="7997872" y="957421"/>
            <a:ext cx="1465839" cy="1574848"/>
            <a:chOff x="8005385" y="4780284"/>
            <a:chExt cx="1465839" cy="1574848"/>
          </a:xfrm>
        </p:grpSpPr>
        <p:sp>
          <p:nvSpPr>
            <p:cNvPr id="20" name="Arc 19"/>
            <p:cNvSpPr/>
            <p:nvPr/>
          </p:nvSpPr>
          <p:spPr>
            <a:xfrm>
              <a:off x="9221843" y="4782059"/>
              <a:ext cx="249381" cy="465661"/>
            </a:xfrm>
            <a:prstGeom prst="arc">
              <a:avLst>
                <a:gd name="adj1" fmla="val 4935039"/>
                <a:gd name="adj2" fmla="val 16414575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/>
            <p:cNvSpPr/>
            <p:nvPr/>
          </p:nvSpPr>
          <p:spPr>
            <a:xfrm>
              <a:off x="9221843" y="5345087"/>
              <a:ext cx="249381" cy="465661"/>
            </a:xfrm>
            <a:prstGeom prst="arc">
              <a:avLst>
                <a:gd name="adj1" fmla="val 4935039"/>
                <a:gd name="adj2" fmla="val 16414575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9221843" y="5872490"/>
              <a:ext cx="249381" cy="465661"/>
            </a:xfrm>
            <a:prstGeom prst="arc">
              <a:avLst>
                <a:gd name="adj1" fmla="val 4935039"/>
                <a:gd name="adj2" fmla="val 16414575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367530" y="4780284"/>
              <a:ext cx="8747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000" dirty="0">
                  <a:solidFill>
                    <a:srgbClr val="C00000"/>
                  </a:solidFill>
                </a:rPr>
                <a:t>split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005385" y="5354155"/>
              <a:ext cx="12415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000" dirty="0" err="1">
                  <a:solidFill>
                    <a:srgbClr val="C00000"/>
                  </a:solidFill>
                </a:rPr>
                <a:t>recurse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05385" y="5955022"/>
              <a:ext cx="12415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000" dirty="0" err="1">
                  <a:solidFill>
                    <a:schemeClr val="accent1">
                      <a:lumMod val="50000"/>
                    </a:schemeClr>
                  </a:solidFill>
                </a:rPr>
                <a:t>merge</a:t>
              </a:r>
              <a:endParaRPr lang="en-US" sz="2000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288978" y="3429252"/>
            <a:ext cx="3852945" cy="2700848"/>
            <a:chOff x="8237116" y="519798"/>
            <a:chExt cx="3852945" cy="2700848"/>
          </a:xfrm>
        </p:grpSpPr>
        <p:sp>
          <p:nvSpPr>
            <p:cNvPr id="9" name="TextBox 8"/>
            <p:cNvSpPr txBox="1"/>
            <p:nvPr/>
          </p:nvSpPr>
          <p:spPr>
            <a:xfrm>
              <a:off x="8855031" y="1014596"/>
              <a:ext cx="5462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b="1" dirty="0">
                  <a:solidFill>
                    <a:srgbClr val="C00000"/>
                  </a:solidFill>
                  <a:latin typeface="Courier" pitchFamily="49" charset="0"/>
                </a:rPr>
                <a:t>A</a:t>
              </a:r>
              <a:endParaRPr lang="en-US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55031" y="1938894"/>
              <a:ext cx="5462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b="1" dirty="0">
                  <a:solidFill>
                    <a:srgbClr val="C00000"/>
                  </a:solidFill>
                  <a:latin typeface="Courier" pitchFamily="49" charset="0"/>
                </a:rPr>
                <a:t>B</a:t>
              </a:r>
              <a:endParaRPr lang="en-US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098506" y="2851314"/>
              <a:ext cx="3027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b="1" dirty="0">
                  <a:solidFill>
                    <a:srgbClr val="C00000"/>
                  </a:solidFill>
                  <a:latin typeface="Courier" pitchFamily="49" charset="0"/>
                </a:rPr>
                <a:t>C</a:t>
              </a:r>
              <a:endParaRPr lang="en-US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70214" y="519798"/>
              <a:ext cx="5462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1600" b="1" dirty="0">
                  <a:solidFill>
                    <a:srgbClr val="C00000"/>
                  </a:solidFill>
                  <a:latin typeface="Courier" pitchFamily="49" charset="0"/>
                </a:rPr>
                <a:t>a</a:t>
              </a:r>
              <a:endParaRPr lang="en-US" sz="1600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61783" y="1430317"/>
              <a:ext cx="5462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1600" b="1" dirty="0">
                  <a:solidFill>
                    <a:srgbClr val="C00000"/>
                  </a:solidFill>
                  <a:latin typeface="Courier" pitchFamily="49" charset="0"/>
                </a:rPr>
                <a:t>b</a:t>
              </a:r>
              <a:endParaRPr lang="en-US" sz="1600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772562" y="2367562"/>
              <a:ext cx="5462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1600" b="1" dirty="0">
                  <a:solidFill>
                    <a:srgbClr val="C00000"/>
                  </a:solidFill>
                  <a:latin typeface="Courier" pitchFamily="49" charset="0"/>
                </a:rPr>
                <a:t>c</a:t>
              </a:r>
              <a:endParaRPr lang="en-US" sz="1600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1386117" y="2365073"/>
              <a:ext cx="7039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1600" b="1" dirty="0">
                  <a:solidFill>
                    <a:srgbClr val="C00000"/>
                  </a:solidFill>
                  <a:latin typeface="Courier" pitchFamily="49" charset="0"/>
                </a:rPr>
                <a:t>n-1</a:t>
              </a:r>
              <a:endParaRPr lang="en-US" sz="1600" b="1" dirty="0">
                <a:solidFill>
                  <a:srgbClr val="C00000"/>
                </a:solidFill>
                <a:latin typeface="Courier" pitchFamily="49" charset="0"/>
              </a:endParaRPr>
            </a:p>
          </p:txBody>
        </p:sp>
        <p:sp>
          <p:nvSpPr>
            <p:cNvPr id="26" name="Left Brace 25"/>
            <p:cNvSpPr/>
            <p:nvPr/>
          </p:nvSpPr>
          <p:spPr>
            <a:xfrm>
              <a:off x="9041878" y="1027455"/>
              <a:ext cx="119922" cy="1283183"/>
            </a:xfrm>
            <a:prstGeom prst="leftBrace">
              <a:avLst>
                <a:gd name="adj1" fmla="val 69029"/>
                <a:gd name="adj2" fmla="val 50000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Left Brace 26"/>
            <p:cNvSpPr/>
            <p:nvPr/>
          </p:nvSpPr>
          <p:spPr>
            <a:xfrm>
              <a:off x="9065597" y="2851315"/>
              <a:ext cx="96202" cy="357300"/>
            </a:xfrm>
            <a:prstGeom prst="leftBrace">
              <a:avLst>
                <a:gd name="adj1" fmla="val 38681"/>
                <a:gd name="adj2" fmla="val 50000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370544" y="1469184"/>
              <a:ext cx="6743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>
                  <a:solidFill>
                    <a:srgbClr val="C00000"/>
                  </a:solidFill>
                </a:rPr>
                <a:t>input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237116" y="2839282"/>
              <a:ext cx="8284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>
                  <a:solidFill>
                    <a:srgbClr val="C00000"/>
                  </a:solidFill>
                </a:rPr>
                <a:t>output</a:t>
              </a:r>
              <a:endParaRPr lang="en-US" dirty="0">
                <a:solidFill>
                  <a:srgbClr val="C00000"/>
                </a:solidFill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61D3FE85-C0AF-4EA7-A065-14C01176DE60}"/>
              </a:ext>
            </a:extLst>
          </p:cNvPr>
          <p:cNvSpPr txBox="1"/>
          <p:nvPr/>
        </p:nvSpPr>
        <p:spPr>
          <a:xfrm>
            <a:off x="10459488" y="516143"/>
            <a:ext cx="661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sz="1600" b="1" dirty="0" err="1">
                <a:solidFill>
                  <a:srgbClr val="C00000"/>
                </a:solidFill>
                <a:latin typeface="Courier" pitchFamily="49" charset="0"/>
              </a:rPr>
              <a:t>mid</a:t>
            </a:r>
            <a:endParaRPr lang="en-US" sz="1600" b="1" dirty="0">
              <a:solidFill>
                <a:srgbClr val="C00000"/>
              </a:solidFill>
              <a:latin typeface="Courier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042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725584" y="3667778"/>
            <a:ext cx="2805830" cy="2724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Depth of </a:t>
            </a:r>
            <a:r>
              <a:rPr lang="da-DK" dirty="0" err="1"/>
              <a:t>recursion</a:t>
            </a:r>
            <a:r>
              <a:rPr lang="da-DK" dirty="0"/>
              <a:t> for 52 elements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01855" y="1606419"/>
            <a:ext cx="2863241" cy="4913378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1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6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7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8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9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10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132500"/>
              </p:ext>
            </p:extLst>
          </p:nvPr>
        </p:nvGraphicFramePr>
        <p:xfrm>
          <a:off x="8879417" y="4381002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032184"/>
              </p:ext>
            </p:extLst>
          </p:nvPr>
        </p:nvGraphicFramePr>
        <p:xfrm>
          <a:off x="8879417" y="4854539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6944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276944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000931"/>
              </p:ext>
            </p:extLst>
          </p:nvPr>
        </p:nvGraphicFramePr>
        <p:xfrm>
          <a:off x="8879417" y="5360316"/>
          <a:ext cx="2492501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6591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2682905746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3093782572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226591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882140"/>
              </p:ext>
            </p:extLst>
          </p:nvPr>
        </p:nvGraphicFramePr>
        <p:xfrm>
          <a:off x="8879417" y="5868555"/>
          <a:ext cx="249249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166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3202284838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2682905746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2372996715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3632818564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3093782572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2814604413"/>
                    </a:ext>
                  </a:extLst>
                </a:gridCol>
                <a:gridCol w="166166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sp>
        <p:nvSpPr>
          <p:cNvPr id="9" name="Smiley Face 8" descr="QuizAnswer"/>
          <p:cNvSpPr/>
          <p:nvPr/>
        </p:nvSpPr>
        <p:spPr>
          <a:xfrm>
            <a:off x="3950371" y="4352599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829313" y="3824174"/>
            <a:ext cx="2439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Depth 4 for 8 elements</a:t>
            </a:r>
            <a:endParaRPr lang="en-US" dirty="0"/>
          </a:p>
        </p:txBody>
      </p:sp>
      <p:sp>
        <p:nvSpPr>
          <p:cNvPr id="7" name="TextBox 6" descr="QuizAnswer">
            <a:extLst>
              <a:ext uri="{FF2B5EF4-FFF2-40B4-BE49-F238E27FC236}">
                <a16:creationId xmlns:a16="http://schemas.microsoft.com/office/drawing/2014/main" id="{3116208C-34B0-4694-B8AE-2011BD797F5E}"/>
              </a:ext>
            </a:extLst>
          </p:cNvPr>
          <p:cNvSpPr txBox="1"/>
          <p:nvPr/>
        </p:nvSpPr>
        <p:spPr>
          <a:xfrm>
            <a:off x="6681427" y="1847084"/>
            <a:ext cx="484998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Max recursive subproblem size</a:t>
            </a:r>
          </a:p>
          <a:p>
            <a:r>
              <a:rPr lang="en-US" sz="2600" dirty="0"/>
              <a:t>52 </a:t>
            </a:r>
            <a:r>
              <a:rPr lang="en-US" sz="2600" dirty="0">
                <a:sym typeface="Wingdings" panose="05000000000000000000" pitchFamily="2" charset="2"/>
              </a:rPr>
              <a:t> 26  13  7  4  2  1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1931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365125"/>
            <a:ext cx="11326482" cy="1325563"/>
          </a:xfrm>
        </p:spPr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Order of </a:t>
            </a:r>
            <a:r>
              <a:rPr lang="da-DK" dirty="0" err="1"/>
              <a:t>comparisons</a:t>
            </a:r>
            <a:r>
              <a:rPr lang="da-DK" dirty="0"/>
              <a:t> by </a:t>
            </a:r>
            <a:r>
              <a:rPr lang="da-DK" dirty="0" err="1"/>
              <a:t>Merge</a:t>
            </a:r>
            <a:r>
              <a:rPr lang="da-DK" dirty="0"/>
              <a:t> sort 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33109" y="2551374"/>
                <a:ext cx="2516530" cy="3265226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lphaLcParenR"/>
                </a:pPr>
                <a:r>
                  <a:rPr lang="da-DK" dirty="0"/>
                  <a:t>~ n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da-DK" dirty="0"/>
                  <a:t>~ n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nor/>
                          </m:rPr>
                          <a:rPr lang="da-DK" b="0" i="0" smtClean="0">
                            <a:ea typeface="Cambria Math" panose="02040503050406030204" pitchFamily="18" charset="0"/>
                          </a:rPr>
                          <m:t>n</m:t>
                        </m:r>
                      </m:e>
                    </m:rad>
                  </m:oMath>
                </a14:m>
                <a:r>
                  <a:rPr lang="da-DK" dirty="0"/>
                  <a:t> 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da-DK" dirty="0"/>
                  <a:t>~ n log</a:t>
                </a:r>
                <a:r>
                  <a:rPr lang="da-DK" baseline="-25000" dirty="0"/>
                  <a:t>2</a:t>
                </a:r>
                <a:r>
                  <a:rPr lang="da-DK" dirty="0"/>
                  <a:t> n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da-DK" dirty="0"/>
                  <a:t>~ n</a:t>
                </a:r>
                <a:r>
                  <a:rPr lang="da-DK" baseline="30000" dirty="0"/>
                  <a:t>2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da-DK" dirty="0"/>
                  <a:t>~ n</a:t>
                </a:r>
                <a:r>
                  <a:rPr lang="da-DK" baseline="30000" dirty="0"/>
                  <a:t>3</a:t>
                </a:r>
                <a:endParaRPr lang="da-DK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da-DK" dirty="0" err="1"/>
                  <a:t>Don’t</a:t>
                </a:r>
                <a:r>
                  <a:rPr lang="da-DK" dirty="0"/>
                  <a:t> know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33109" y="2551374"/>
                <a:ext cx="2516530" cy="3265226"/>
              </a:xfrm>
              <a:blipFill>
                <a:blip r:embed="rId2"/>
                <a:stretch>
                  <a:fillRect l="-5085" t="-3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miley Face 8" descr="QuizAnswer"/>
          <p:cNvSpPr/>
          <p:nvPr/>
        </p:nvSpPr>
        <p:spPr>
          <a:xfrm>
            <a:off x="1663462" y="3653211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091151"/>
              </p:ext>
            </p:extLst>
          </p:nvPr>
        </p:nvGraphicFramePr>
        <p:xfrm>
          <a:off x="5151321" y="1690688"/>
          <a:ext cx="6297559" cy="487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755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 = len(L)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n &lt;= 1: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L[:]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n // 2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left, right = L[:mid], L[mid:]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(left),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(right))</a:t>
                      </a:r>
                    </a:p>
                    <a:p>
                      <a:endParaRPr lang="pt-BR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B):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 = len(A) + len(B)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 = n * [None]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a, b = 0, 0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c in range(n):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a &lt; len(A) and (b == len(B) or A[a] &lt; B[b]):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C[c] = A[a]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a = a + 1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C[c] = B[b]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b = b + 1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10123096" y="4962811"/>
            <a:ext cx="360000" cy="360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5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D1BC2-4388-3CA1-2BEB-7334EBB38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991"/>
            <a:ext cx="10515600" cy="1325563"/>
          </a:xfrm>
        </p:spPr>
        <p:txBody>
          <a:bodyPr/>
          <a:lstStyle/>
          <a:p>
            <a:r>
              <a:rPr lang="da-DK" dirty="0"/>
              <a:t>Growth of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functions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E7B24-36BA-CB35-5DC2-422FA0D38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79B60-F7CB-3481-C55D-1EC68965A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1097"/>
            <a:ext cx="5990134" cy="55283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107B25-9DA8-C601-E0BF-41C3C7AA6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134" y="1271097"/>
            <a:ext cx="6200671" cy="546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35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239077"/>
              </p:ext>
            </p:extLst>
          </p:nvPr>
        </p:nvGraphicFramePr>
        <p:xfrm>
          <a:off x="494258" y="2695030"/>
          <a:ext cx="6835100" cy="3901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51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merge_sort.py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merge_sort_iterative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Q = [[x] for x in L]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len(Q) &gt; 1: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Q.insert(0,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(Q.pop(), Q.pop()))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Q[0]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1200"/>
                        </a:spcAft>
                      </a:pPr>
                      <a:endParaRPr lang="pt-BR" sz="1800" b="1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Merge</a:t>
            </a:r>
            <a:r>
              <a:rPr lang="da-DK" dirty="0"/>
              <a:t> sort </a:t>
            </a:r>
            <a:r>
              <a:rPr lang="da-DK" dirty="0" err="1"/>
              <a:t>without</a:t>
            </a:r>
            <a:r>
              <a:rPr lang="da-DK" dirty="0"/>
              <a:t> </a:t>
            </a:r>
            <a:r>
              <a:rPr lang="da-DK" dirty="0" err="1"/>
              <a:t>recursion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94941"/>
            <a:ext cx="10515600" cy="4351338"/>
          </a:xfrm>
        </p:spPr>
        <p:txBody>
          <a:bodyPr/>
          <a:lstStyle/>
          <a:p>
            <a:r>
              <a:rPr lang="da-DK" dirty="0"/>
              <a:t>Start with piles of </a:t>
            </a:r>
            <a:r>
              <a:rPr lang="da-DK" dirty="0" err="1"/>
              <a:t>size</a:t>
            </a:r>
            <a:r>
              <a:rPr lang="da-DK" dirty="0"/>
              <a:t> </a:t>
            </a:r>
            <a:r>
              <a:rPr lang="da-DK" dirty="0" err="1"/>
              <a:t>one</a:t>
            </a:r>
            <a:endParaRPr lang="da-DK" dirty="0"/>
          </a:p>
          <a:p>
            <a:r>
              <a:rPr lang="da-DK" dirty="0" err="1"/>
              <a:t>Repeatedly</a:t>
            </a:r>
            <a:r>
              <a:rPr lang="da-DK" dirty="0"/>
              <a:t> </a:t>
            </a:r>
            <a:r>
              <a:rPr lang="da-DK" dirty="0" err="1"/>
              <a:t>merge</a:t>
            </a:r>
            <a:r>
              <a:rPr lang="da-DK" dirty="0"/>
              <a:t> </a:t>
            </a:r>
            <a:r>
              <a:rPr lang="da-DK" dirty="0" err="1"/>
              <a:t>two</a:t>
            </a:r>
            <a:r>
              <a:rPr lang="da-DK" dirty="0"/>
              <a:t> smallest piles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922315"/>
              </p:ext>
            </p:extLst>
          </p:nvPr>
        </p:nvGraphicFramePr>
        <p:xfrm>
          <a:off x="494258" y="2695030"/>
          <a:ext cx="6835100" cy="3901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51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merge_sort.py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merge_sort_iterative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Q = [[x] for x in L]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len(Q) &gt; 1: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Q.insert(0,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(Q.pop(), Q.pop()))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Q[0]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collections import </a:t>
                      </a:r>
                      <a:r>
                        <a:rPr lang="pt-BR" sz="18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merge_sort_deque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Q = </a:t>
                      </a:r>
                      <a:r>
                        <a:rPr lang="pt-BR" sz="18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([[x] for x in L])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len(Q) &gt; 1: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Q.</a:t>
                      </a:r>
                      <a:r>
                        <a:rPr lang="pt-BR" sz="18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(Q.pop(), Q.pop()))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Q[0]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13" name="Group 12"/>
          <p:cNvGrpSpPr/>
          <p:nvPr/>
        </p:nvGrpSpPr>
        <p:grpSpPr>
          <a:xfrm>
            <a:off x="3207895" y="3244492"/>
            <a:ext cx="3968924" cy="1492399"/>
            <a:chOff x="3207895" y="3244492"/>
            <a:chExt cx="3968924" cy="1492399"/>
          </a:xfrm>
        </p:grpSpPr>
        <p:sp>
          <p:nvSpPr>
            <p:cNvPr id="6" name="Arc 5"/>
            <p:cNvSpPr/>
            <p:nvPr/>
          </p:nvSpPr>
          <p:spPr>
            <a:xfrm>
              <a:off x="3207895" y="3567658"/>
              <a:ext cx="3453152" cy="1169233"/>
            </a:xfrm>
            <a:prstGeom prst="arc">
              <a:avLst>
                <a:gd name="adj1" fmla="val 11112155"/>
                <a:gd name="adj2" fmla="val 15419059"/>
              </a:avLst>
            </a:prstGeom>
            <a:ln w="28575">
              <a:solidFill>
                <a:srgbClr val="C00000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333029" y="3244492"/>
              <a:ext cx="18437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 err="1">
                  <a:solidFill>
                    <a:srgbClr val="C00000"/>
                  </a:solidFill>
                </a:rPr>
                <a:t>insert</a:t>
              </a:r>
              <a:r>
                <a:rPr lang="da-DK" dirty="0">
                  <a:solidFill>
                    <a:srgbClr val="C00000"/>
                  </a:solidFill>
                </a:rPr>
                <a:t> at front of list </a:t>
              </a:r>
              <a:r>
                <a:rPr lang="da-DK" dirty="0" err="1">
                  <a:solidFill>
                    <a:srgbClr val="C00000"/>
                  </a:solidFill>
                </a:rPr>
                <a:t>inefficient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71803" y="3364706"/>
              <a:ext cx="487666" cy="405904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7507921" y="3224094"/>
            <a:ext cx="469275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" pitchFamily="49" charset="0"/>
              </a:rPr>
              <a:t>merge_sort_iterative</a:t>
            </a:r>
            <a:r>
              <a:rPr lang="en-US" sz="1600" dirty="0">
                <a:latin typeface="Courier" pitchFamily="49" charset="0"/>
              </a:rPr>
              <a:t>([7,1,9,3,-2,5])</a:t>
            </a:r>
          </a:p>
          <a:p>
            <a:endParaRPr lang="da-DK" b="1" dirty="0"/>
          </a:p>
          <a:p>
            <a:r>
              <a:rPr lang="da-DK" b="1" dirty="0"/>
              <a:t>Values of Q in </a:t>
            </a:r>
            <a:r>
              <a:rPr lang="da-DK" b="1" dirty="0" err="1"/>
              <a:t>while</a:t>
            </a:r>
            <a:r>
              <a:rPr lang="da-DK" b="1" dirty="0"/>
              <a:t>-loop</a:t>
            </a:r>
          </a:p>
          <a:p>
            <a:r>
              <a:rPr lang="en-US" sz="1600" dirty="0">
                <a:latin typeface="Courier" pitchFamily="49" charset="0"/>
              </a:rPr>
              <a:t>[[7], [1], [9], [3], [-2], [5]]</a:t>
            </a:r>
          </a:p>
          <a:p>
            <a:r>
              <a:rPr lang="en-US" sz="1600" dirty="0">
                <a:latin typeface="Courier" pitchFamily="49" charset="0"/>
              </a:rPr>
              <a:t>[[-2, 5], [7], [1], [9], [3]]</a:t>
            </a:r>
          </a:p>
          <a:p>
            <a:r>
              <a:rPr lang="en-US" sz="1600" dirty="0">
                <a:latin typeface="Courier" pitchFamily="49" charset="0"/>
              </a:rPr>
              <a:t>[[3, 9], [-2, 5], [7], [1]]</a:t>
            </a:r>
          </a:p>
          <a:p>
            <a:r>
              <a:rPr lang="en-US" sz="1600" dirty="0">
                <a:latin typeface="Courier" pitchFamily="49" charset="0"/>
              </a:rPr>
              <a:t>[[1, 7], [3, 9], [-2, 5]]</a:t>
            </a:r>
          </a:p>
          <a:p>
            <a:r>
              <a:rPr lang="en-US" sz="1600" dirty="0">
                <a:latin typeface="Courier" pitchFamily="49" charset="0"/>
              </a:rPr>
              <a:t>[[-2, 3, 5, 9], [1, 7]]</a:t>
            </a:r>
          </a:p>
          <a:p>
            <a:r>
              <a:rPr lang="en-US" sz="1600" dirty="0">
                <a:latin typeface="Courier" pitchFamily="49" charset="0"/>
              </a:rPr>
              <a:t>[[-2, 1, 3, 5, 7, 9]]</a:t>
            </a:r>
          </a:p>
          <a:p>
            <a:endParaRPr lang="da-DK" sz="1600" dirty="0">
              <a:latin typeface="Courier" pitchFamily="49" charset="0"/>
            </a:endParaRPr>
          </a:p>
          <a:p>
            <a:r>
              <a:rPr lang="da-DK" sz="1600" b="1" dirty="0"/>
              <a:t>Note</a:t>
            </a:r>
            <a:r>
              <a:rPr lang="da-DK" sz="1600" dirty="0"/>
              <a:t>: Lists in Q </a:t>
            </a:r>
            <a:r>
              <a:rPr lang="da-DK" sz="1600" dirty="0" err="1"/>
              <a:t>appear</a:t>
            </a:r>
            <a:r>
              <a:rPr lang="da-DK" sz="1600" dirty="0"/>
              <a:t> in non-</a:t>
            </a:r>
            <a:r>
              <a:rPr lang="da-DK" sz="1600" dirty="0" err="1"/>
              <a:t>increasing</a:t>
            </a:r>
            <a:r>
              <a:rPr lang="da-DK" sz="1600" dirty="0"/>
              <a:t> </a:t>
            </a:r>
            <a:r>
              <a:rPr lang="da-DK" sz="1600" dirty="0" err="1"/>
              <a:t>length</a:t>
            </a:r>
            <a:r>
              <a:rPr lang="da-DK" sz="1600" dirty="0"/>
              <a:t> </a:t>
            </a:r>
            <a:r>
              <a:rPr lang="da-DK" sz="1600" dirty="0" err="1"/>
              <a:t>order</a:t>
            </a:r>
            <a:r>
              <a:rPr lang="da-DK" sz="1600" dirty="0"/>
              <a:t>, </a:t>
            </a:r>
            <a:r>
              <a:rPr lang="da-DK" sz="1600" dirty="0" err="1"/>
              <a:t>where</a:t>
            </a:r>
            <a:r>
              <a:rPr lang="da-DK" sz="1600" dirty="0"/>
              <a:t> </a:t>
            </a:r>
            <a:r>
              <a:rPr lang="da-DK" sz="1600" dirty="0" err="1"/>
              <a:t>longest</a:t>
            </a:r>
            <a:r>
              <a:rPr lang="da-DK" sz="1600" dirty="0"/>
              <a:t> ≤ 2∙ </a:t>
            </a:r>
            <a:r>
              <a:rPr lang="da-DK" sz="1600" dirty="0" err="1"/>
              <a:t>shortest</a:t>
            </a:r>
            <a:endParaRPr lang="en-US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4871803" y="4409034"/>
            <a:ext cx="23669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00B050"/>
                </a:solidFill>
              </a:rPr>
              <a:t>deques</a:t>
            </a:r>
            <a:r>
              <a:rPr lang="da-DK" dirty="0">
                <a:solidFill>
                  <a:srgbClr val="00B050"/>
                </a:solidFill>
              </a:rPr>
              <a:t> </a:t>
            </a:r>
            <a:r>
              <a:rPr lang="da-DK" dirty="0" err="1">
                <a:solidFill>
                  <a:srgbClr val="00B050"/>
                </a:solidFill>
              </a:rPr>
              <a:t>are</a:t>
            </a:r>
            <a:r>
              <a:rPr lang="da-DK" dirty="0">
                <a:solidFill>
                  <a:srgbClr val="00B050"/>
                </a:solidFill>
              </a:rPr>
              <a:t> a </a:t>
            </a:r>
            <a:r>
              <a:rPr lang="da-DK" dirty="0" err="1">
                <a:solidFill>
                  <a:srgbClr val="00B050"/>
                </a:solidFill>
              </a:rPr>
              <a:t>generalization</a:t>
            </a:r>
            <a:r>
              <a:rPr lang="da-DK" dirty="0">
                <a:solidFill>
                  <a:srgbClr val="00B050"/>
                </a:solidFill>
              </a:rPr>
              <a:t> of lists with </a:t>
            </a:r>
            <a:r>
              <a:rPr lang="da-DK" dirty="0" err="1">
                <a:solidFill>
                  <a:srgbClr val="00B050"/>
                </a:solidFill>
              </a:rPr>
              <a:t>efficient</a:t>
            </a:r>
            <a:r>
              <a:rPr lang="da-DK" dirty="0">
                <a:solidFill>
                  <a:srgbClr val="00B050"/>
                </a:solidFill>
              </a:rPr>
              <a:t> </a:t>
            </a:r>
            <a:r>
              <a:rPr lang="da-DK" dirty="0" err="1">
                <a:solidFill>
                  <a:srgbClr val="00B050"/>
                </a:solidFill>
              </a:rPr>
              <a:t>updates</a:t>
            </a:r>
            <a:r>
              <a:rPr lang="da-DK" dirty="0">
                <a:solidFill>
                  <a:srgbClr val="00B050"/>
                </a:solidFill>
              </a:rPr>
              <a:t> at </a:t>
            </a:r>
            <a:r>
              <a:rPr lang="da-DK" dirty="0" err="1">
                <a:solidFill>
                  <a:srgbClr val="00B050"/>
                </a:solidFill>
              </a:rPr>
              <a:t>both</a:t>
            </a:r>
            <a:r>
              <a:rPr lang="da-DK" dirty="0">
                <a:solidFill>
                  <a:srgbClr val="00B050"/>
                </a:solidFill>
              </a:rPr>
              <a:t> </a:t>
            </a:r>
            <a:r>
              <a:rPr lang="da-DK" dirty="0" err="1">
                <a:solidFill>
                  <a:srgbClr val="00B050"/>
                </a:solidFill>
              </a:rPr>
              <a:t>ends</a:t>
            </a:r>
            <a:r>
              <a:rPr lang="da-DK" dirty="0">
                <a:solidFill>
                  <a:srgbClr val="00B050"/>
                </a:solidFill>
              </a:rPr>
              <a:t> 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30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3931" cy="1325563"/>
          </a:xfrm>
        </p:spPr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iterations</a:t>
            </a:r>
            <a:r>
              <a:rPr lang="da-DK" dirty="0"/>
              <a:t> of </a:t>
            </a:r>
            <a:r>
              <a:rPr lang="da-DK" dirty="0" err="1"/>
              <a:t>while</a:t>
            </a:r>
            <a:r>
              <a:rPr lang="da-DK" dirty="0"/>
              <a:t>-loop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2251" y="1810634"/>
            <a:ext cx="8673296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>
                <a:latin typeface="Courier" pitchFamily="49" charset="0"/>
              </a:rPr>
              <a:t>merge_sort_iterative</a:t>
            </a:r>
            <a:r>
              <a:rPr lang="en-US" dirty="0">
                <a:latin typeface="Courier" pitchFamily="49" charset="0"/>
              </a:rPr>
              <a:t>([7, 1, 9, 3, -2, 5])</a:t>
            </a:r>
          </a:p>
          <a:p>
            <a:endParaRPr lang="da-DK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1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6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7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617824"/>
              </p:ext>
            </p:extLst>
          </p:nvPr>
        </p:nvGraphicFramePr>
        <p:xfrm>
          <a:off x="5275881" y="3249666"/>
          <a:ext cx="632650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6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7377">
                <a:tc>
                  <a:txBody>
                    <a:bodyPr/>
                    <a:lstStyle/>
                    <a:p>
                      <a:r>
                        <a:rPr lang="da-DK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merge_sort.py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29672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merge_sort_iterative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Q = [[x] for x in L]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len(Q) &gt; 1: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Q.insert(0,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merge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(Q.pop(), Q.pop()))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Q[0]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Smiley Face 4" descr="QuizAnswer"/>
          <p:cNvSpPr/>
          <p:nvPr/>
        </p:nvSpPr>
        <p:spPr>
          <a:xfrm>
            <a:off x="1736256" y="4205837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3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(randomized)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3244"/>
              </p:ext>
            </p:extLst>
          </p:nvPr>
        </p:nvGraphicFramePr>
        <p:xfrm>
          <a:off x="303544" y="1770543"/>
          <a:ext cx="785715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5715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quicksort.py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random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quicksort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len(L) &lt;= 1: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L[:]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idx = random.randrange(len(L))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pivot = L[idx]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small = [e for e in L if e &lt; pivot]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equal = [e for e in L if e == pivot]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large = [e for e in L if e &gt; pivot]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quicksort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(small) + equal +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quicksort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(large)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758948"/>
              </p:ext>
            </p:extLst>
          </p:nvPr>
        </p:nvGraphicFramePr>
        <p:xfrm>
          <a:off x="9469298" y="5065230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5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85885"/>
              </p:ext>
            </p:extLst>
          </p:nvPr>
        </p:nvGraphicFramePr>
        <p:xfrm>
          <a:off x="9469298" y="2270195"/>
          <a:ext cx="2492496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040850645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0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1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2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3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4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5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6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>
                          <a:latin typeface="Courier" pitchFamily="49" charset="0"/>
                        </a:rPr>
                        <a:t>7</a:t>
                      </a:r>
                      <a:endParaRPr lang="en-US" sz="1100" dirty="0">
                        <a:latin typeface="Courier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842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5</a:t>
                      </a:r>
                      <a:endParaRPr lang="en-US" dirty="0">
                        <a:solidFill>
                          <a:srgbClr val="C00000"/>
                        </a:solidFill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598833"/>
              </p:ext>
            </p:extLst>
          </p:nvPr>
        </p:nvGraphicFramePr>
        <p:xfrm>
          <a:off x="9469298" y="3453444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5</a:t>
                      </a:r>
                      <a:endParaRPr lang="en-US" dirty="0">
                        <a:solidFill>
                          <a:srgbClr val="C00000"/>
                        </a:solidFill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8047829" y="4599569"/>
            <a:ext cx="1465839" cy="465661"/>
            <a:chOff x="8005385" y="5345087"/>
            <a:chExt cx="1465839" cy="465661"/>
          </a:xfrm>
        </p:grpSpPr>
        <p:sp>
          <p:nvSpPr>
            <p:cNvPr id="12" name="Arc 11"/>
            <p:cNvSpPr/>
            <p:nvPr/>
          </p:nvSpPr>
          <p:spPr>
            <a:xfrm>
              <a:off x="9221843" y="5345087"/>
              <a:ext cx="249381" cy="465661"/>
            </a:xfrm>
            <a:prstGeom prst="arc">
              <a:avLst>
                <a:gd name="adj1" fmla="val 4935039"/>
                <a:gd name="adj2" fmla="val 16414575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05385" y="5354155"/>
              <a:ext cx="12415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000" dirty="0" err="1">
                  <a:solidFill>
                    <a:srgbClr val="C00000"/>
                  </a:solidFill>
                </a:rPr>
                <a:t>combine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738558" y="1914712"/>
            <a:ext cx="1528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sz="1400" dirty="0" err="1">
                <a:solidFill>
                  <a:srgbClr val="C00000"/>
                </a:solidFill>
              </a:rPr>
              <a:t>random</a:t>
            </a:r>
            <a:r>
              <a:rPr lang="da-DK" sz="1400" dirty="0">
                <a:solidFill>
                  <a:srgbClr val="C00000"/>
                </a:solidFill>
              </a:rPr>
              <a:t> </a:t>
            </a:r>
            <a:r>
              <a:rPr lang="da-DK" sz="1400" dirty="0" err="1">
                <a:solidFill>
                  <a:srgbClr val="C00000"/>
                </a:solidFill>
              </a:rPr>
              <a:t>idx</a:t>
            </a:r>
            <a:endParaRPr lang="en-US" sz="1400" dirty="0">
              <a:solidFill>
                <a:srgbClr val="C00000"/>
              </a:solidFill>
            </a:endParaRPr>
          </a:p>
        </p:txBody>
      </p:sp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819277"/>
              </p:ext>
            </p:extLst>
          </p:nvPr>
        </p:nvGraphicFramePr>
        <p:xfrm>
          <a:off x="9469298" y="4259337"/>
          <a:ext cx="249249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562">
                  <a:extLst>
                    <a:ext uri="{9D8B030D-6E8A-4147-A177-3AD203B41FA5}">
                      <a16:colId xmlns:a16="http://schemas.microsoft.com/office/drawing/2014/main" val="437159538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992349221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420995770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453870324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2252437730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226838262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3690891399"/>
                    </a:ext>
                  </a:extLst>
                </a:gridCol>
                <a:gridCol w="311562">
                  <a:extLst>
                    <a:ext uri="{9D8B030D-6E8A-4147-A177-3AD203B41FA5}">
                      <a16:colId xmlns:a16="http://schemas.microsoft.com/office/drawing/2014/main" val="1891492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1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2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4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5</a:t>
                      </a:r>
                      <a:endParaRPr lang="en-US" dirty="0">
                        <a:solidFill>
                          <a:srgbClr val="C00000"/>
                        </a:solidFill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6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7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8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latin typeface="Courier" pitchFamily="49" charset="0"/>
                        </a:rPr>
                        <a:t>9</a:t>
                      </a:r>
                      <a:endParaRPr lang="en-US" dirty="0">
                        <a:latin typeface="Courier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794483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0327444" y="2005723"/>
            <a:ext cx="633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pivot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3411" y="3120388"/>
            <a:ext cx="633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small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50079" y="3111417"/>
            <a:ext cx="633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dirty="0">
                <a:solidFill>
                  <a:srgbClr val="C00000"/>
                </a:solidFill>
              </a:rPr>
              <a:t>large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10142601" y="2216468"/>
            <a:ext cx="64885" cy="17679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10327444" y="2301246"/>
            <a:ext cx="236319" cy="43472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/>
          <p:cNvGrpSpPr/>
          <p:nvPr/>
        </p:nvGrpSpPr>
        <p:grpSpPr>
          <a:xfrm>
            <a:off x="8027596" y="3838009"/>
            <a:ext cx="1465839" cy="465661"/>
            <a:chOff x="8005385" y="5345087"/>
            <a:chExt cx="1465839" cy="465661"/>
          </a:xfrm>
        </p:grpSpPr>
        <p:sp>
          <p:nvSpPr>
            <p:cNvPr id="33" name="Arc 32"/>
            <p:cNvSpPr/>
            <p:nvPr/>
          </p:nvSpPr>
          <p:spPr>
            <a:xfrm>
              <a:off x="9221843" y="5345087"/>
              <a:ext cx="249381" cy="465661"/>
            </a:xfrm>
            <a:prstGeom prst="arc">
              <a:avLst>
                <a:gd name="adj1" fmla="val 4935039"/>
                <a:gd name="adj2" fmla="val 16414575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05385" y="5354155"/>
              <a:ext cx="12415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000" dirty="0" err="1">
                  <a:solidFill>
                    <a:srgbClr val="C00000"/>
                  </a:solidFill>
                </a:rPr>
                <a:t>recurse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8102511" y="2952330"/>
            <a:ext cx="1411157" cy="465661"/>
            <a:chOff x="8060067" y="5345087"/>
            <a:chExt cx="1411157" cy="465661"/>
          </a:xfrm>
        </p:grpSpPr>
        <p:sp>
          <p:nvSpPr>
            <p:cNvPr id="36" name="Arc 35"/>
            <p:cNvSpPr/>
            <p:nvPr/>
          </p:nvSpPr>
          <p:spPr>
            <a:xfrm>
              <a:off x="9221843" y="5345087"/>
              <a:ext cx="249381" cy="465661"/>
            </a:xfrm>
            <a:prstGeom prst="arc">
              <a:avLst>
                <a:gd name="adj1" fmla="val 4935039"/>
                <a:gd name="adj2" fmla="val 16414575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060067" y="5348059"/>
              <a:ext cx="12415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a-DK" sz="2000" dirty="0">
                  <a:solidFill>
                    <a:srgbClr val="C00000"/>
                  </a:solidFill>
                </a:rPr>
                <a:t>partition</a:t>
              </a:r>
              <a:endParaRPr lang="en-US" sz="2000" dirty="0">
                <a:solidFill>
                  <a:srgbClr val="C00000"/>
                </a:solidFill>
              </a:endParaRPr>
            </a:p>
          </p:txBody>
        </p:sp>
      </p:grpSp>
      <p:sp>
        <p:nvSpPr>
          <p:cNvPr id="38" name="Rectangle 37"/>
          <p:cNvSpPr/>
          <p:nvPr/>
        </p:nvSpPr>
        <p:spPr>
          <a:xfrm>
            <a:off x="8082230" y="6364122"/>
            <a:ext cx="40577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dirty="0" err="1"/>
              <a:t>order</a:t>
            </a:r>
            <a:r>
              <a:rPr lang="da-DK" dirty="0"/>
              <a:t> |L|∙log</a:t>
            </a:r>
            <a:r>
              <a:rPr lang="da-DK" baseline="-25000" dirty="0"/>
              <a:t>2</a:t>
            </a:r>
            <a:r>
              <a:rPr lang="da-DK" dirty="0"/>
              <a:t> |L| </a:t>
            </a:r>
            <a:r>
              <a:rPr lang="da-DK" dirty="0" err="1"/>
              <a:t>comparisons</a:t>
            </a:r>
            <a:r>
              <a:rPr lang="da-DK" dirty="0"/>
              <a:t>, </a:t>
            </a:r>
            <a:r>
              <a:rPr lang="da-DK" dirty="0" err="1"/>
              <a:t>expected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2532045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  <p:bldP spid="22" grpId="0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Sorting</a:t>
            </a:r>
            <a:r>
              <a:rPr lang="da-DK" dirty="0"/>
              <a:t> </a:t>
            </a:r>
            <a:r>
              <a:rPr lang="da-DK" dirty="0" err="1"/>
              <a:t>comparison</a:t>
            </a:r>
            <a:r>
              <a:rPr lang="da-DK" dirty="0"/>
              <a:t> (single run)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442350"/>
              </p:ext>
            </p:extLst>
          </p:nvPr>
        </p:nvGraphicFramePr>
        <p:xfrm>
          <a:off x="1363179" y="1994819"/>
          <a:ext cx="9465641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320">
                  <a:extLst>
                    <a:ext uri="{9D8B030D-6E8A-4147-A177-3AD203B41FA5}">
                      <a16:colId xmlns:a16="http://schemas.microsoft.com/office/drawing/2014/main" val="3332608299"/>
                    </a:ext>
                  </a:extLst>
                </a:gridCol>
                <a:gridCol w="1448273">
                  <a:extLst>
                    <a:ext uri="{9D8B030D-6E8A-4147-A177-3AD203B41FA5}">
                      <a16:colId xmlns:a16="http://schemas.microsoft.com/office/drawing/2014/main" val="3021660640"/>
                    </a:ext>
                  </a:extLst>
                </a:gridCol>
                <a:gridCol w="1448273">
                  <a:extLst>
                    <a:ext uri="{9D8B030D-6E8A-4147-A177-3AD203B41FA5}">
                      <a16:colId xmlns:a16="http://schemas.microsoft.com/office/drawing/2014/main" val="1657369595"/>
                    </a:ext>
                  </a:extLst>
                </a:gridCol>
                <a:gridCol w="1448273">
                  <a:extLst>
                    <a:ext uri="{9D8B030D-6E8A-4147-A177-3AD203B41FA5}">
                      <a16:colId xmlns:a16="http://schemas.microsoft.com/office/drawing/2014/main" val="884221937"/>
                    </a:ext>
                  </a:extLst>
                </a:gridCol>
                <a:gridCol w="1448273">
                  <a:extLst>
                    <a:ext uri="{9D8B030D-6E8A-4147-A177-3AD203B41FA5}">
                      <a16:colId xmlns:a16="http://schemas.microsoft.com/office/drawing/2014/main" val="872309337"/>
                    </a:ext>
                  </a:extLst>
                </a:gridCol>
                <a:gridCol w="1448273">
                  <a:extLst>
                    <a:ext uri="{9D8B030D-6E8A-4147-A177-3AD203B41FA5}">
                      <a16:colId xmlns:a16="http://schemas.microsoft.com/office/drawing/2014/main" val="141507108"/>
                    </a:ext>
                  </a:extLst>
                </a:gridCol>
                <a:gridCol w="1683956">
                  <a:extLst>
                    <a:ext uri="{9D8B030D-6E8A-4147-A177-3AD203B41FA5}">
                      <a16:colId xmlns:a16="http://schemas.microsoft.com/office/drawing/2014/main" val="2066084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|L|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Selection sort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 err="1">
                          <a:solidFill>
                            <a:schemeClr val="bg1"/>
                          </a:solidFill>
                        </a:rPr>
                        <a:t>Merge</a:t>
                      </a:r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 sort </a:t>
                      </a:r>
                      <a:r>
                        <a:rPr lang="da-DK" dirty="0" err="1">
                          <a:solidFill>
                            <a:schemeClr val="bg1"/>
                          </a:solidFill>
                        </a:rPr>
                        <a:t>Recursive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 err="1">
                          <a:solidFill>
                            <a:schemeClr val="bg1"/>
                          </a:solidFill>
                        </a:rPr>
                        <a:t>Merge</a:t>
                      </a:r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 sort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Iterative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 err="1">
                          <a:solidFill>
                            <a:schemeClr val="bg1"/>
                          </a:solidFill>
                        </a:rPr>
                        <a:t>Merge</a:t>
                      </a:r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 sort</a:t>
                      </a:r>
                    </a:p>
                    <a:p>
                      <a:pPr algn="ctr"/>
                      <a:r>
                        <a:rPr lang="da-DK" dirty="0" err="1">
                          <a:solidFill>
                            <a:schemeClr val="bg1"/>
                          </a:solidFill>
                        </a:rPr>
                        <a:t>Deque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Quicksort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sorted</a:t>
                      </a:r>
                      <a:br>
                        <a:rPr lang="en-US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(Python </a:t>
                      </a:r>
                      <a:r>
                        <a:rPr lang="en-US" dirty="0" err="1">
                          <a:solidFill>
                            <a:schemeClr val="bg1"/>
                          </a:solidFill>
                        </a:rPr>
                        <a:t>builtin</a:t>
                      </a: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41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10</a:t>
                      </a:r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11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12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13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14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15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16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17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18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19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20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21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0.006</a:t>
                      </a:r>
                    </a:p>
                    <a:p>
                      <a:pPr algn="ctr"/>
                      <a:r>
                        <a:rPr lang="en-US" dirty="0"/>
                        <a:t>0.02</a:t>
                      </a:r>
                    </a:p>
                    <a:p>
                      <a:pPr algn="ctr"/>
                      <a:r>
                        <a:rPr lang="en-US" dirty="0"/>
                        <a:t>0.09</a:t>
                      </a:r>
                    </a:p>
                    <a:p>
                      <a:pPr algn="ctr"/>
                      <a:r>
                        <a:rPr lang="en-US" dirty="0"/>
                        <a:t>0.37</a:t>
                      </a:r>
                    </a:p>
                    <a:p>
                      <a:pPr algn="ctr"/>
                      <a:r>
                        <a:rPr lang="en-US" dirty="0"/>
                        <a:t>1.50</a:t>
                      </a:r>
                    </a:p>
                    <a:p>
                      <a:pPr algn="ctr"/>
                      <a:r>
                        <a:rPr lang="en-US" dirty="0"/>
                        <a:t>6.19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25.67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104.20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0.002</a:t>
                      </a:r>
                    </a:p>
                    <a:p>
                      <a:pPr algn="ctr"/>
                      <a:r>
                        <a:rPr lang="en-US" dirty="0"/>
                        <a:t>0.004</a:t>
                      </a:r>
                    </a:p>
                    <a:p>
                      <a:pPr algn="ctr"/>
                      <a:r>
                        <a:rPr lang="en-US" dirty="0"/>
                        <a:t>0.008</a:t>
                      </a:r>
                    </a:p>
                    <a:p>
                      <a:pPr algn="ctr"/>
                      <a:r>
                        <a:rPr lang="en-US" dirty="0"/>
                        <a:t>0.02</a:t>
                      </a:r>
                    </a:p>
                    <a:p>
                      <a:pPr algn="ctr"/>
                      <a:r>
                        <a:rPr lang="en-US" dirty="0"/>
                        <a:t>0.04</a:t>
                      </a:r>
                    </a:p>
                    <a:p>
                      <a:pPr algn="ctr"/>
                      <a:r>
                        <a:rPr lang="en-US" dirty="0"/>
                        <a:t>0.08</a:t>
                      </a:r>
                    </a:p>
                    <a:p>
                      <a:pPr algn="ctr"/>
                      <a:r>
                        <a:rPr lang="en-US" dirty="0"/>
                        <a:t>0.18</a:t>
                      </a:r>
                    </a:p>
                    <a:p>
                      <a:pPr algn="ctr"/>
                      <a:r>
                        <a:rPr lang="en-US" dirty="0"/>
                        <a:t>0.38</a:t>
                      </a:r>
                    </a:p>
                    <a:p>
                      <a:pPr algn="ctr"/>
                      <a:r>
                        <a:rPr lang="en-US" dirty="0"/>
                        <a:t>0.81</a:t>
                      </a:r>
                    </a:p>
                    <a:p>
                      <a:pPr algn="ctr"/>
                      <a:r>
                        <a:rPr lang="en-US" dirty="0"/>
                        <a:t>1.69</a:t>
                      </a:r>
                    </a:p>
                    <a:p>
                      <a:pPr algn="ctr"/>
                      <a:r>
                        <a:rPr lang="en-US" dirty="0"/>
                        <a:t>3.65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7.85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16.69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0.003</a:t>
                      </a:r>
                    </a:p>
                    <a:p>
                      <a:pPr algn="ctr"/>
                      <a:r>
                        <a:rPr lang="en-US" dirty="0"/>
                        <a:t>0.006</a:t>
                      </a:r>
                    </a:p>
                    <a:p>
                      <a:pPr algn="ctr"/>
                      <a:r>
                        <a:rPr lang="en-US" dirty="0"/>
                        <a:t>0.01</a:t>
                      </a:r>
                    </a:p>
                    <a:p>
                      <a:pPr algn="ctr"/>
                      <a:r>
                        <a:rPr lang="en-US" dirty="0"/>
                        <a:t>0.04</a:t>
                      </a:r>
                    </a:p>
                    <a:p>
                      <a:pPr algn="ctr"/>
                      <a:r>
                        <a:rPr lang="en-US" dirty="0"/>
                        <a:t>0.10</a:t>
                      </a:r>
                    </a:p>
                    <a:p>
                      <a:pPr algn="ctr"/>
                      <a:r>
                        <a:rPr lang="en-US" dirty="0"/>
                        <a:t>0.26</a:t>
                      </a:r>
                    </a:p>
                    <a:p>
                      <a:pPr algn="ctr"/>
                      <a:r>
                        <a:rPr lang="en-US" dirty="0"/>
                        <a:t>0.81</a:t>
                      </a:r>
                    </a:p>
                    <a:p>
                      <a:pPr algn="ctr"/>
                      <a:r>
                        <a:rPr lang="en-US" dirty="0"/>
                        <a:t>2.96</a:t>
                      </a:r>
                    </a:p>
                    <a:p>
                      <a:pPr algn="ctr"/>
                      <a:r>
                        <a:rPr lang="en-US" dirty="0"/>
                        <a:t>10.78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41.71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167.31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0.002</a:t>
                      </a:r>
                    </a:p>
                    <a:p>
                      <a:pPr algn="ctr"/>
                      <a:r>
                        <a:rPr lang="en-US" dirty="0"/>
                        <a:t>0.000</a:t>
                      </a:r>
                    </a:p>
                    <a:p>
                      <a:pPr algn="ctr"/>
                      <a:r>
                        <a:rPr lang="en-US" dirty="0"/>
                        <a:t>0.008</a:t>
                      </a:r>
                    </a:p>
                    <a:p>
                      <a:pPr algn="ctr"/>
                      <a:r>
                        <a:rPr lang="en-US" dirty="0"/>
                        <a:t>0.03</a:t>
                      </a:r>
                    </a:p>
                    <a:p>
                      <a:pPr algn="ctr"/>
                      <a:r>
                        <a:rPr lang="en-US" dirty="0"/>
                        <a:t>0.06</a:t>
                      </a:r>
                    </a:p>
                    <a:p>
                      <a:pPr algn="ctr"/>
                      <a:r>
                        <a:rPr lang="en-US" dirty="0"/>
                        <a:t>0.13</a:t>
                      </a:r>
                    </a:p>
                    <a:p>
                      <a:pPr algn="ctr"/>
                      <a:r>
                        <a:rPr lang="en-US" dirty="0"/>
                        <a:t>0.26</a:t>
                      </a:r>
                    </a:p>
                    <a:p>
                      <a:pPr algn="ctr"/>
                      <a:r>
                        <a:rPr lang="en-US" dirty="0"/>
                        <a:t>0.61</a:t>
                      </a:r>
                    </a:p>
                    <a:p>
                      <a:pPr algn="ctr"/>
                      <a:r>
                        <a:rPr lang="en-US" dirty="0"/>
                        <a:t>1.29</a:t>
                      </a:r>
                    </a:p>
                    <a:p>
                      <a:pPr algn="ctr"/>
                      <a:r>
                        <a:rPr lang="en-US" dirty="0"/>
                        <a:t>2.58</a:t>
                      </a:r>
                    </a:p>
                    <a:p>
                      <a:pPr algn="ctr"/>
                      <a:r>
                        <a:rPr lang="en-US" dirty="0"/>
                        <a:t>5.15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9.68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19.09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0.002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0.003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0.007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0.02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0.03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0.07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0.14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0.29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0.62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1.48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chemeClr val="tx1"/>
                          </a:solidFill>
                        </a:rPr>
                        <a:t>3.30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rgbClr val="C00000"/>
                          </a:solidFill>
                        </a:rPr>
                        <a:t>7.53</a:t>
                      </a:r>
                    </a:p>
                    <a:p>
                      <a:pPr algn="ctr"/>
                      <a:r>
                        <a:rPr lang="da-DK" dirty="0">
                          <a:solidFill>
                            <a:srgbClr val="C00000"/>
                          </a:solidFill>
                        </a:rPr>
                        <a:t>17.6</a:t>
                      </a:r>
                      <a:endParaRPr lang="en-US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0.00004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0.0001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0.0003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0.0007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0.002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0.003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0.008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0.02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0.04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0.09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0.20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0.45</a:t>
                      </a:r>
                    </a:p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1.00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36358"/>
                  </a:ext>
                </a:extLst>
              </a:tr>
            </a:tbl>
          </a:graphicData>
        </a:graphic>
      </p:graphicFrame>
      <p:sp>
        <p:nvSpPr>
          <p:cNvPr id="10" name="Arc 9"/>
          <p:cNvSpPr/>
          <p:nvPr/>
        </p:nvSpPr>
        <p:spPr>
          <a:xfrm>
            <a:off x="7275865" y="5854931"/>
            <a:ext cx="179774" cy="265814"/>
          </a:xfrm>
          <a:prstGeom prst="arc">
            <a:avLst>
              <a:gd name="adj1" fmla="val 16200000"/>
              <a:gd name="adj2" fmla="val 5510291"/>
            </a:avLst>
          </a:prstGeom>
          <a:ln w="1905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A046E7-410B-40BA-B396-969E88C1B323}"/>
              </a:ext>
            </a:extLst>
          </p:cNvPr>
          <p:cNvGrpSpPr/>
          <p:nvPr/>
        </p:nvGrpSpPr>
        <p:grpSpPr>
          <a:xfrm>
            <a:off x="2917110" y="4415793"/>
            <a:ext cx="860257" cy="369332"/>
            <a:chOff x="3672158" y="4161366"/>
            <a:chExt cx="860257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3851932" y="4161366"/>
              <a:ext cx="6804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>
                  <a:solidFill>
                    <a:srgbClr val="C00000"/>
                  </a:solidFill>
                </a:rPr>
                <a:t>x 4</a:t>
              </a:r>
              <a:endParaRPr 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11" name="Arc 10"/>
            <p:cNvSpPr/>
            <p:nvPr/>
          </p:nvSpPr>
          <p:spPr>
            <a:xfrm>
              <a:off x="3672158" y="4213125"/>
              <a:ext cx="179774" cy="265814"/>
            </a:xfrm>
            <a:prstGeom prst="arc">
              <a:avLst>
                <a:gd name="adj1" fmla="val 16200000"/>
                <a:gd name="adj2" fmla="val 5510291"/>
              </a:avLst>
            </a:prstGeom>
            <a:ln w="1905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8982B1C-F64F-4F00-BF12-A28C8D52300A}"/>
              </a:ext>
            </a:extLst>
          </p:cNvPr>
          <p:cNvGrpSpPr/>
          <p:nvPr/>
        </p:nvGrpSpPr>
        <p:grpSpPr>
          <a:xfrm>
            <a:off x="4319524" y="5803172"/>
            <a:ext cx="1081705" cy="369332"/>
            <a:chOff x="5161197" y="5799001"/>
            <a:chExt cx="1081705" cy="369332"/>
          </a:xfrm>
        </p:grpSpPr>
        <p:sp>
          <p:nvSpPr>
            <p:cNvPr id="8" name="Arc 7"/>
            <p:cNvSpPr/>
            <p:nvPr/>
          </p:nvSpPr>
          <p:spPr>
            <a:xfrm>
              <a:off x="5161197" y="5850760"/>
              <a:ext cx="179774" cy="265814"/>
            </a:xfrm>
            <a:prstGeom prst="arc">
              <a:avLst>
                <a:gd name="adj1" fmla="val 16200000"/>
                <a:gd name="adj2" fmla="val 5510291"/>
              </a:avLst>
            </a:prstGeom>
            <a:ln w="1905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318358" y="5799001"/>
              <a:ext cx="9245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>
                  <a:solidFill>
                    <a:srgbClr val="C00000"/>
                  </a:solidFill>
                </a:rPr>
                <a:t>x 2</a:t>
              </a:r>
              <a:endParaRPr lang="en-US" sz="14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A1A269C-C826-408E-B2AF-DEB2FE2D0877}"/>
              </a:ext>
            </a:extLst>
          </p:cNvPr>
          <p:cNvGrpSpPr/>
          <p:nvPr/>
        </p:nvGrpSpPr>
        <p:grpSpPr>
          <a:xfrm>
            <a:off x="5806407" y="5228798"/>
            <a:ext cx="860257" cy="369332"/>
            <a:chOff x="6628830" y="4974370"/>
            <a:chExt cx="860257" cy="369332"/>
          </a:xfrm>
        </p:grpSpPr>
        <p:sp>
          <p:nvSpPr>
            <p:cNvPr id="9" name="Arc 8"/>
            <p:cNvSpPr/>
            <p:nvPr/>
          </p:nvSpPr>
          <p:spPr>
            <a:xfrm>
              <a:off x="6628830" y="5026129"/>
              <a:ext cx="179774" cy="265814"/>
            </a:xfrm>
            <a:prstGeom prst="arc">
              <a:avLst>
                <a:gd name="adj1" fmla="val 16200000"/>
                <a:gd name="adj2" fmla="val 5510291"/>
              </a:avLst>
            </a:prstGeom>
            <a:ln w="1905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808604" y="4974370"/>
              <a:ext cx="6804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>
                  <a:solidFill>
                    <a:srgbClr val="C00000"/>
                  </a:solidFill>
                </a:rPr>
                <a:t>x 4</a:t>
              </a:r>
              <a:endParaRPr lang="en-US" sz="14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455639" y="5803172"/>
            <a:ext cx="471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x 2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6" name="Arc 15"/>
          <p:cNvSpPr/>
          <p:nvPr/>
        </p:nvSpPr>
        <p:spPr>
          <a:xfrm>
            <a:off x="8625265" y="5854931"/>
            <a:ext cx="179774" cy="265814"/>
          </a:xfrm>
          <a:prstGeom prst="arc">
            <a:avLst>
              <a:gd name="adj1" fmla="val 16200000"/>
              <a:gd name="adj2" fmla="val 5510291"/>
            </a:avLst>
          </a:prstGeom>
          <a:ln w="1905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805039" y="5803172"/>
            <a:ext cx="471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x 2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EB718E4A-76C9-4CF2-B3C3-85011B6C482A}"/>
              </a:ext>
            </a:extLst>
          </p:cNvPr>
          <p:cNvSpPr/>
          <p:nvPr/>
        </p:nvSpPr>
        <p:spPr>
          <a:xfrm>
            <a:off x="10177548" y="5854931"/>
            <a:ext cx="179774" cy="265814"/>
          </a:xfrm>
          <a:prstGeom prst="arc">
            <a:avLst>
              <a:gd name="adj1" fmla="val 16200000"/>
              <a:gd name="adj2" fmla="val 5510291"/>
            </a:avLst>
          </a:prstGeom>
          <a:ln w="1905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F0DEC8-1BE2-4CAB-8B3E-BC9231DFA8B3}"/>
              </a:ext>
            </a:extLst>
          </p:cNvPr>
          <p:cNvSpPr txBox="1"/>
          <p:nvPr/>
        </p:nvSpPr>
        <p:spPr>
          <a:xfrm>
            <a:off x="10357322" y="5803172"/>
            <a:ext cx="471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x 2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267E5AF-830E-4994-95BB-20201D8A23FA}"/>
              </a:ext>
            </a:extLst>
          </p:cNvPr>
          <p:cNvSpPr/>
          <p:nvPr/>
        </p:nvSpPr>
        <p:spPr>
          <a:xfrm>
            <a:off x="10027687" y="1158663"/>
            <a:ext cx="1224405" cy="1307890"/>
          </a:xfrm>
          <a:prstGeom prst="arc">
            <a:avLst>
              <a:gd name="adj1" fmla="val 10942897"/>
              <a:gd name="adj2" fmla="val 14056172"/>
            </a:avLst>
          </a:prstGeom>
          <a:ln w="28575">
            <a:solidFill>
              <a:srgbClr val="C0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9A473F-637F-462C-A00E-33952440063E}"/>
              </a:ext>
            </a:extLst>
          </p:cNvPr>
          <p:cNvSpPr txBox="1"/>
          <p:nvPr/>
        </p:nvSpPr>
        <p:spPr>
          <a:xfrm>
            <a:off x="9276537" y="606564"/>
            <a:ext cx="28244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tuned</a:t>
            </a:r>
            <a:r>
              <a:rPr lang="da-DK" dirty="0"/>
              <a:t> </a:t>
            </a:r>
            <a:r>
              <a:rPr lang="da-DK" dirty="0" err="1"/>
              <a:t>merge</a:t>
            </a:r>
            <a:r>
              <a:rPr lang="da-DK" dirty="0"/>
              <a:t>-sort (Tim-sort)</a:t>
            </a:r>
          </a:p>
          <a:p>
            <a:pPr algn="ctr"/>
            <a:r>
              <a:rPr lang="da-DK" dirty="0" err="1"/>
              <a:t>implementation</a:t>
            </a:r>
            <a:r>
              <a:rPr lang="da-DK" dirty="0"/>
              <a:t> in C</a:t>
            </a:r>
          </a:p>
        </p:txBody>
      </p:sp>
    </p:spTree>
    <p:extLst>
      <p:ext uri="{BB962C8B-B14F-4D97-AF65-F5344CB8AC3E}">
        <p14:creationId xmlns:p14="http://schemas.microsoft.com/office/powerpoint/2010/main" val="3839973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722B26-7303-44B0-96F8-AD239943E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073" y="1350073"/>
            <a:ext cx="6835304" cy="5507927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 err="1"/>
              <a:t>Sorting</a:t>
            </a:r>
            <a:r>
              <a:rPr lang="da-DK" dirty="0"/>
              <a:t> </a:t>
            </a:r>
            <a:r>
              <a:rPr lang="da-DK" dirty="0" err="1"/>
              <a:t>comparison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81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Find </a:t>
            </a:r>
            <a:r>
              <a:rPr lang="da-DK" dirty="0" err="1"/>
              <a:t>zero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38" t="10977" r="8955" b="4967"/>
          <a:stretch/>
        </p:blipFill>
        <p:spPr>
          <a:xfrm>
            <a:off x="3659037" y="3053749"/>
            <a:ext cx="4873925" cy="3657601"/>
          </a:xfr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601338"/>
            <a:ext cx="1135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Given a list L of integers starting with a negative and ending with a positive integer, and where |L[i+1] - L[i]| ≤ 1, find the position of a zero in L.</a:t>
            </a:r>
          </a:p>
        </p:txBody>
      </p:sp>
      <p:sp>
        <p:nvSpPr>
          <p:cNvPr id="6" name="Oval 5"/>
          <p:cNvSpPr/>
          <p:nvPr/>
        </p:nvSpPr>
        <p:spPr>
          <a:xfrm>
            <a:off x="5694872" y="6475567"/>
            <a:ext cx="216000" cy="216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520131" y="6475567"/>
            <a:ext cx="216000" cy="216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7336764" y="6475567"/>
            <a:ext cx="216000" cy="216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02124" y="2684417"/>
            <a:ext cx="61430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L = [-5, -4, -3, -3, -4, -3, -2, -1, 0, 1, 2, 1, 0, -1, -2, -1, 0 , 1, 2, 3, 2]</a:t>
            </a:r>
          </a:p>
        </p:txBody>
      </p:sp>
    </p:spTree>
    <p:extLst>
      <p:ext uri="{BB962C8B-B14F-4D97-AF65-F5344CB8AC3E}">
        <p14:creationId xmlns:p14="http://schemas.microsoft.com/office/powerpoint/2010/main" val="1175075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44617"/>
              </p:ext>
            </p:extLst>
          </p:nvPr>
        </p:nvGraphicFramePr>
        <p:xfrm>
          <a:off x="979520" y="120770"/>
          <a:ext cx="10059035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1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507355">
                  <a:extLst>
                    <a:ext uri="{9D8B030D-6E8A-4147-A177-3AD203B41FA5}">
                      <a16:colId xmlns:a16="http://schemas.microsoft.com/office/drawing/2014/main" val="4105420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find_zero_loop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 = 0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L[i] != 0: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 += 1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i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find_zero_enumerate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i, e in enumerate(L):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e == 0: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i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find_zero_index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L.index(0)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find_zero_binary_search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 = 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high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True: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L[low] &lt; 0 &lt; L[high]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L[mid] ==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L[mid] &lt;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find_zero_recursive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(low, high):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L[mid] ==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L[mid] &lt;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(mid, high)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(low, mid)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49C85841-842B-45DA-B862-66EDC31A5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693" y="4252107"/>
            <a:ext cx="3069908" cy="231728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89941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389686"/>
              </p:ext>
            </p:extLst>
          </p:nvPr>
        </p:nvGraphicFramePr>
        <p:xfrm>
          <a:off x="979520" y="120770"/>
          <a:ext cx="10059035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1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507355">
                  <a:extLst>
                    <a:ext uri="{9D8B030D-6E8A-4147-A177-3AD203B41FA5}">
                      <a16:colId xmlns:a16="http://schemas.microsoft.com/office/drawing/2014/main" val="4105420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find_zero_loop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 = 0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L[i] != 0: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 += 1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i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find_zero_enumerate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i, e in enumerate(L):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e == 0: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i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find_zero_index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L.index(0)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find_zero_binary_search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 = 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high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True: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L[low] &lt; 0 &lt; L[high]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L[mid] ==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L[mid] &lt;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find_zero_recursive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search(low, high):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L[mid] ==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L[mid] &lt;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(mid, high)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(low, mid)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search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1433424" y="4594705"/>
          <a:ext cx="3636074" cy="1833880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2530856">
                  <a:extLst>
                    <a:ext uri="{9D8B030D-6E8A-4147-A177-3AD203B41FA5}">
                      <a16:colId xmlns:a16="http://schemas.microsoft.com/office/drawing/2014/main" val="3166869696"/>
                    </a:ext>
                  </a:extLst>
                </a:gridCol>
                <a:gridCol w="1105218">
                  <a:extLst>
                    <a:ext uri="{9D8B030D-6E8A-4147-A177-3AD203B41FA5}">
                      <a16:colId xmlns:a16="http://schemas.microsoft.com/office/drawing/2014/main" val="21721930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err="1">
                          <a:solidFill>
                            <a:schemeClr val="bg1"/>
                          </a:solidFill>
                        </a:rPr>
                        <a:t>Function</a:t>
                      </a:r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 (|L| = 10</a:t>
                      </a:r>
                      <a:r>
                        <a:rPr lang="da-DK" baseline="30000" dirty="0">
                          <a:solidFill>
                            <a:schemeClr val="bg1"/>
                          </a:solidFill>
                        </a:rPr>
                        <a:t>6</a:t>
                      </a:r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dirty="0">
                          <a:solidFill>
                            <a:schemeClr val="bg1"/>
                          </a:solidFill>
                        </a:rPr>
                        <a:t>Time,</a:t>
                      </a:r>
                      <a:r>
                        <a:rPr lang="da-DK" baseline="0" dirty="0">
                          <a:solidFill>
                            <a:schemeClr val="bg1"/>
                          </a:solidFill>
                        </a:rPr>
                        <a:t> sec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8679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find_zero_loop</a:t>
                      </a:r>
                      <a:endParaRPr lang="en-US" dirty="0"/>
                    </a:p>
                    <a:p>
                      <a:r>
                        <a:rPr lang="en-US" dirty="0" err="1"/>
                        <a:t>find_zero_enumerate</a:t>
                      </a:r>
                      <a:endParaRPr lang="en-US" dirty="0"/>
                    </a:p>
                    <a:p>
                      <a:r>
                        <a:rPr lang="en-US" dirty="0" err="1"/>
                        <a:t>find_zero_index</a:t>
                      </a:r>
                      <a:endParaRPr lang="en-US" dirty="0"/>
                    </a:p>
                    <a:p>
                      <a:r>
                        <a:rPr lang="en-US" dirty="0" err="1"/>
                        <a:t>find_zero_binary_search</a:t>
                      </a:r>
                      <a:endParaRPr lang="en-US" dirty="0"/>
                    </a:p>
                    <a:p>
                      <a:r>
                        <a:rPr lang="en-US" dirty="0" err="1"/>
                        <a:t>find_zero_recursive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dirty="0"/>
                        <a:t>0.13</a:t>
                      </a:r>
                    </a:p>
                    <a:p>
                      <a:r>
                        <a:rPr lang="da-DK" dirty="0"/>
                        <a:t>0.10</a:t>
                      </a:r>
                    </a:p>
                    <a:p>
                      <a:r>
                        <a:rPr lang="da-DK" dirty="0"/>
                        <a:t>0.015</a:t>
                      </a:r>
                    </a:p>
                    <a:p>
                      <a:r>
                        <a:rPr lang="da-DK" dirty="0"/>
                        <a:t>0.000015</a:t>
                      </a:r>
                    </a:p>
                    <a:p>
                      <a:r>
                        <a:rPr lang="da-DK" dirty="0"/>
                        <a:t>0.000088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088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8497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Greatest Common Divisor (GCD)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pPr marL="0" indent="0" defTabSz="779463">
              <a:buNone/>
            </a:pPr>
            <a:r>
              <a:rPr lang="da-DK" b="1" dirty="0">
                <a:solidFill>
                  <a:srgbClr val="C00000"/>
                </a:solidFill>
              </a:rPr>
              <a:t>Notation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/>
              <a:t>		</a:t>
            </a:r>
            <a:r>
              <a:rPr lang="da-DK" dirty="0">
                <a:solidFill>
                  <a:srgbClr val="C00000"/>
                </a:solidFill>
              </a:rPr>
              <a:t>x</a:t>
            </a:r>
            <a:r>
              <a:rPr lang="en-US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solidFill>
                  <a:srgbClr val="C00000"/>
                </a:solidFill>
                <a:cs typeface="Times New Roman" panose="02020603050405020304" pitchFamily="18" charset="0"/>
              </a:rPr>
              <a:t>y</a:t>
            </a:r>
            <a:r>
              <a:rPr lang="en-US" dirty="0">
                <a:cs typeface="Times New Roman" panose="02020603050405020304" pitchFamily="18" charset="0"/>
              </a:rPr>
              <a:t>  denotes y is divisible by x, e.g.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12</a:t>
            </a:r>
            <a:br>
              <a:rPr lang="en-US" dirty="0">
                <a:cs typeface="Times New Roman" panose="02020603050405020304" pitchFamily="18" charset="0"/>
              </a:rPr>
            </a:br>
            <a:r>
              <a:rPr lang="en-US" dirty="0">
                <a:cs typeface="Times New Roman" panose="02020603050405020304" pitchFamily="18" charset="0"/>
              </a:rPr>
              <a:t>			              i.e. y = </a:t>
            </a:r>
            <a:r>
              <a:rPr lang="en-US" dirty="0" err="1">
                <a:cs typeface="Times New Roman" panose="02020603050405020304" pitchFamily="18" charset="0"/>
              </a:rPr>
              <a:t>a∙x</a:t>
            </a:r>
            <a:r>
              <a:rPr lang="en-US" dirty="0">
                <a:cs typeface="Times New Roman" panose="02020603050405020304" pitchFamily="18" charset="0"/>
              </a:rPr>
              <a:t> for some integer a</a:t>
            </a:r>
          </a:p>
          <a:p>
            <a:pPr marL="0" indent="0" defTabSz="779463">
              <a:buNone/>
            </a:pPr>
            <a:endParaRPr lang="da-DK" dirty="0"/>
          </a:p>
          <a:p>
            <a:pPr marL="0" indent="0" defTabSz="779463">
              <a:buNone/>
            </a:pPr>
            <a:r>
              <a:rPr lang="da-DK" b="1" dirty="0">
                <a:solidFill>
                  <a:srgbClr val="C00000"/>
                </a:solidFill>
              </a:rPr>
              <a:t>Definition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/>
              <a:t>		</a:t>
            </a:r>
            <a:r>
              <a:rPr lang="da-DK" dirty="0" err="1">
                <a:solidFill>
                  <a:srgbClr val="C00000"/>
                </a:solidFill>
              </a:rPr>
              <a:t>gcd</a:t>
            </a:r>
            <a:r>
              <a:rPr lang="da-DK" dirty="0">
                <a:solidFill>
                  <a:srgbClr val="C00000"/>
                </a:solidFill>
              </a:rPr>
              <a:t>(m, n)</a:t>
            </a:r>
            <a:r>
              <a:rPr lang="da-DK" dirty="0"/>
              <a:t> = max { x | 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m  and  </a:t>
            </a:r>
            <a:r>
              <a:rPr lang="da-DK" dirty="0"/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n }</a:t>
            </a:r>
            <a:endParaRPr lang="en-US" dirty="0"/>
          </a:p>
          <a:p>
            <a:pPr marL="0" indent="0" defTabSz="779463">
              <a:buNone/>
            </a:pPr>
            <a:endParaRPr lang="da-DK" dirty="0"/>
          </a:p>
          <a:p>
            <a:pPr marL="0" indent="0" defTabSz="779463">
              <a:buNone/>
            </a:pPr>
            <a:r>
              <a:rPr lang="da-DK" b="1" dirty="0" err="1">
                <a:solidFill>
                  <a:srgbClr val="C00000"/>
                </a:solidFill>
              </a:rPr>
              <a:t>Fact</a:t>
            </a:r>
            <a:r>
              <a:rPr lang="da-DK" b="1" dirty="0">
                <a:solidFill>
                  <a:srgbClr val="C00000"/>
                </a:solidFill>
              </a:rPr>
              <a:t> </a:t>
            </a:r>
            <a:r>
              <a:rPr lang="da-DK" b="1" dirty="0"/>
              <a:t>			</a:t>
            </a:r>
            <a:r>
              <a:rPr lang="da-DK" dirty="0"/>
              <a:t>if </a:t>
            </a:r>
            <a:r>
              <a:rPr lang="da-DK" b="1" dirty="0"/>
              <a:t> </a:t>
            </a:r>
            <a:r>
              <a:rPr lang="da-DK" dirty="0"/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y  and  </a:t>
            </a:r>
            <a:r>
              <a:rPr lang="da-DK" dirty="0"/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z  then  </a:t>
            </a:r>
            <a:r>
              <a:rPr lang="da-DK" dirty="0"/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(y + z)  and  </a:t>
            </a:r>
            <a:r>
              <a:rPr lang="da-DK" dirty="0"/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↑</a:t>
            </a:r>
            <a:r>
              <a:rPr lang="en-US" dirty="0">
                <a:cs typeface="Times New Roman" panose="02020603050405020304" pitchFamily="18" charset="0"/>
              </a:rPr>
              <a:t>(y - z)</a:t>
            </a:r>
            <a:endParaRPr lang="en-US" dirty="0"/>
          </a:p>
          <a:p>
            <a:pPr marL="0" indent="0" defTabSz="779463">
              <a:buNone/>
            </a:pPr>
            <a:endParaRPr lang="da-DK" dirty="0"/>
          </a:p>
          <a:p>
            <a:pPr marL="0" indent="0" defTabSz="717550">
              <a:buNone/>
            </a:pPr>
            <a:r>
              <a:rPr lang="da-DK" b="1" dirty="0">
                <a:solidFill>
                  <a:srgbClr val="C00000"/>
                </a:solidFill>
              </a:rPr>
              <a:t>Observation</a:t>
            </a:r>
            <a:r>
              <a:rPr lang="da-DK" b="1" dirty="0"/>
              <a:t>				</a:t>
            </a:r>
            <a:r>
              <a:rPr lang="da-DK" dirty="0"/>
              <a:t>m 			if  m = n</a:t>
            </a:r>
          </a:p>
          <a:p>
            <a:pPr marL="0" indent="0" defTabSz="717550">
              <a:buNone/>
            </a:pPr>
            <a:r>
              <a:rPr lang="da-DK" dirty="0"/>
              <a:t>			  </a:t>
            </a:r>
            <a:r>
              <a:rPr lang="da-DK" dirty="0" err="1"/>
              <a:t>gcd</a:t>
            </a:r>
            <a:r>
              <a:rPr lang="da-DK" dirty="0"/>
              <a:t>(m, n) = 	</a:t>
            </a:r>
            <a:r>
              <a:rPr lang="da-DK" dirty="0" err="1"/>
              <a:t>gcd</a:t>
            </a:r>
            <a:r>
              <a:rPr lang="da-DK" dirty="0"/>
              <a:t>(m, n – m)	if  m &lt; n</a:t>
            </a:r>
          </a:p>
          <a:p>
            <a:pPr marL="0" indent="0" defTabSz="717550">
              <a:buNone/>
            </a:pPr>
            <a:r>
              <a:rPr lang="da-DK" dirty="0"/>
              <a:t>						</a:t>
            </a:r>
            <a:r>
              <a:rPr lang="da-DK" dirty="0" err="1"/>
              <a:t>gcd</a:t>
            </a:r>
            <a:r>
              <a:rPr lang="da-DK" dirty="0"/>
              <a:t>(m – n, n)	if  m &gt; n</a:t>
            </a:r>
            <a:endParaRPr lang="en-US" dirty="0"/>
          </a:p>
        </p:txBody>
      </p:sp>
      <p:sp>
        <p:nvSpPr>
          <p:cNvPr id="4" name="Left Brace 3"/>
          <p:cNvSpPr/>
          <p:nvPr/>
        </p:nvSpPr>
        <p:spPr>
          <a:xfrm>
            <a:off x="4992133" y="5089178"/>
            <a:ext cx="135924" cy="1136821"/>
          </a:xfrm>
          <a:prstGeom prst="leftBrace">
            <a:avLst>
              <a:gd name="adj1" fmla="val 480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838200" y="5288257"/>
            <a:ext cx="214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(</a:t>
            </a:r>
            <a:r>
              <a:rPr lang="da-DK" dirty="0" err="1">
                <a:solidFill>
                  <a:srgbClr val="C00000"/>
                </a:solidFill>
              </a:rPr>
              <a:t>recursive</a:t>
            </a:r>
            <a:r>
              <a:rPr lang="da-DK" dirty="0">
                <a:solidFill>
                  <a:srgbClr val="C00000"/>
                </a:solidFill>
              </a:rPr>
              <a:t> definition)</a:t>
            </a:r>
            <a:endParaRPr lang="en-US" dirty="0">
              <a:solidFill>
                <a:srgbClr val="C00000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356414"/>
              </p:ext>
            </p:extLst>
          </p:nvPr>
        </p:nvGraphicFramePr>
        <p:xfrm>
          <a:off x="10122246" y="2485833"/>
          <a:ext cx="1703174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51587">
                  <a:extLst>
                    <a:ext uri="{9D8B030D-6E8A-4147-A177-3AD203B41FA5}">
                      <a16:colId xmlns:a16="http://schemas.microsoft.com/office/drawing/2014/main" val="2853835118"/>
                    </a:ext>
                  </a:extLst>
                </a:gridCol>
                <a:gridCol w="851587">
                  <a:extLst>
                    <a:ext uri="{9D8B030D-6E8A-4147-A177-3AD203B41FA5}">
                      <a16:colId xmlns:a16="http://schemas.microsoft.com/office/drawing/2014/main" val="13332351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solidFill>
                            <a:schemeClr val="bg1"/>
                          </a:solidFill>
                        </a:rPr>
                        <a:t>m</a:t>
                      </a:r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6748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90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24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14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66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24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209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42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24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236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18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24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877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18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6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402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12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6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937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 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/>
                        <a:t>6</a:t>
                      </a:r>
                      <a:endParaRPr lang="en-US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72329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122246" y="2024168"/>
            <a:ext cx="17031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000" b="1" dirty="0" err="1"/>
              <a:t>gcd</a:t>
            </a:r>
            <a:r>
              <a:rPr lang="da-DK" sz="2000" b="1" dirty="0"/>
              <a:t>(90, 24)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27651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95" y="251011"/>
            <a:ext cx="10515600" cy="1325563"/>
          </a:xfrm>
        </p:spPr>
        <p:txBody>
          <a:bodyPr/>
          <a:lstStyle/>
          <a:p>
            <a:r>
              <a:rPr lang="en-US" dirty="0"/>
              <a:t>Greatest Common Divisor (GCD)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797537"/>
              </p:ext>
            </p:extLst>
          </p:nvPr>
        </p:nvGraphicFramePr>
        <p:xfrm>
          <a:off x="134245" y="3842576"/>
          <a:ext cx="5885051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50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577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6877">
                <a:tc>
                  <a:txBody>
                    <a:bodyPr/>
                    <a:lstStyle/>
                    <a:p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(m, n):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 != 0: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m, n = n, m % n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5562"/>
              </p:ext>
            </p:extLst>
          </p:nvPr>
        </p:nvGraphicFramePr>
        <p:xfrm>
          <a:off x="6172702" y="3842576"/>
          <a:ext cx="588505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50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577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gcd_recursive.py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6877">
                <a:tc>
                  <a:txBody>
                    <a:bodyPr/>
                    <a:lstStyle/>
                    <a:p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(m, n):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 == 0: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(n, m % n)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492304"/>
              </p:ext>
            </p:extLst>
          </p:nvPr>
        </p:nvGraphicFramePr>
        <p:xfrm>
          <a:off x="6172702" y="5738844"/>
          <a:ext cx="5885051" cy="1017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50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5319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gcd_recursive_one_line.py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51606">
                <a:tc>
                  <a:txBody>
                    <a:bodyPr/>
                    <a:lstStyle/>
                    <a:p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(m, n):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 == 0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(n, m % n)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04907"/>
              </p:ext>
            </p:extLst>
          </p:nvPr>
        </p:nvGraphicFramePr>
        <p:xfrm>
          <a:off x="6169800" y="1397668"/>
          <a:ext cx="5885051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50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577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gcd_slow_recursive.py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687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(m, n):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m == n: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m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 &gt; n: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 - n, n)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(m, n - m)</a:t>
                      </a:r>
                      <a:endParaRPr lang="es-E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630661"/>
              </p:ext>
            </p:extLst>
          </p:nvPr>
        </p:nvGraphicFramePr>
        <p:xfrm>
          <a:off x="134246" y="1388822"/>
          <a:ext cx="5885051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50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5771">
                <a:tc>
                  <a:txBody>
                    <a:bodyPr/>
                    <a:lstStyle/>
                    <a:p>
                      <a:r>
                        <a:rPr lang="da-DK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gcd_slow.py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6877">
                <a:tc>
                  <a:txBody>
                    <a:bodyPr/>
                    <a:lstStyle/>
                    <a:p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(m, n):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 != n: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 &gt; m: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n = n -</a:t>
                      </a: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</a:t>
                      </a:r>
                      <a:endParaRPr lang="es-E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s-ES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endParaRPr lang="es-E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m = m - n        </a:t>
                      </a:r>
                    </a:p>
                    <a:p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s-E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s-E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182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Permutations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60579"/>
            <a:ext cx="10957560" cy="5118517"/>
          </a:xfrm>
        </p:spPr>
        <p:txBody>
          <a:bodyPr>
            <a:normAutofit/>
          </a:bodyPr>
          <a:lstStyle/>
          <a:p>
            <a:r>
              <a:rPr lang="en-US" dirty="0"/>
              <a:t>Generate a list L of all permutations of a tuple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 implementation of </a:t>
            </a:r>
            <a:r>
              <a:rPr lang="en-US" dirty="0">
                <a:latin typeface="Courier"/>
              </a:rPr>
              <a:t>permutations</a:t>
            </a:r>
            <a:r>
              <a:rPr lang="en-US" dirty="0"/>
              <a:t> exists in the </a:t>
            </a:r>
            <a:r>
              <a:rPr lang="en-US" dirty="0" err="1">
                <a:hlinkClick r:id="rId3"/>
              </a:rPr>
              <a:t>itertools</a:t>
            </a:r>
            <a:r>
              <a:rPr lang="en-US" dirty="0"/>
              <a:t> module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154951"/>
              </p:ext>
            </p:extLst>
          </p:nvPr>
        </p:nvGraphicFramePr>
        <p:xfrm>
          <a:off x="838200" y="3785163"/>
          <a:ext cx="1070312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312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577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permutations.py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687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permutations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== 0: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[L[:]]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empty tuple (ensures same type as L)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 =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permutations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(L[</a:t>
                      </a:r>
                      <a:r>
                        <a:rPr lang="en-U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1: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[p[:i] + L[:1] + p[i:] for p in P for i in range(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(L))]</a:t>
                      </a:r>
                      <a:endParaRPr lang="es-E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370174"/>
              </p:ext>
            </p:extLst>
          </p:nvPr>
        </p:nvGraphicFramePr>
        <p:xfrm>
          <a:off x="838201" y="2246062"/>
          <a:ext cx="1070312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312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8988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1039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permutations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(('a', 'b', 'c'))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[('a', 'b', 'c'), ('b', 'a', 'c'), ('b', 'c', 'a'), </a:t>
                      </a:r>
                      <a:b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('a', 'c', 'b'), ('c', 'a', 'b'), ('c', 'b', 'a')]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0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Maze</a:t>
            </a:r>
            <a:r>
              <a:rPr lang="da-DK" dirty="0"/>
              <a:t> </a:t>
            </a:r>
            <a:r>
              <a:rPr lang="da-DK" dirty="0" err="1"/>
              <a:t>solver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5838" y="1957428"/>
            <a:ext cx="6459747" cy="40317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Input</a:t>
            </a:r>
          </a:p>
          <a:p>
            <a:pPr lvl="1"/>
            <a:r>
              <a:rPr lang="da-DK" dirty="0"/>
              <a:t>First line #</a:t>
            </a:r>
            <a:r>
              <a:rPr lang="da-DK" dirty="0" err="1"/>
              <a:t>rows</a:t>
            </a:r>
            <a:r>
              <a:rPr lang="da-DK" dirty="0"/>
              <a:t> and #columns</a:t>
            </a:r>
          </a:p>
          <a:p>
            <a:pPr lvl="1"/>
            <a:r>
              <a:rPr lang="da-DK" dirty="0" err="1"/>
              <a:t>Following</a:t>
            </a:r>
            <a:r>
              <a:rPr lang="da-DK" dirty="0"/>
              <a:t> #</a:t>
            </a:r>
            <a:r>
              <a:rPr lang="da-DK" dirty="0" err="1"/>
              <a:t>rows</a:t>
            </a:r>
            <a:r>
              <a:rPr lang="da-DK" dirty="0"/>
              <a:t> lines </a:t>
            </a:r>
            <a:r>
              <a:rPr lang="da-DK" dirty="0" err="1"/>
              <a:t>contain</a:t>
            </a:r>
            <a:r>
              <a:rPr lang="da-DK" dirty="0"/>
              <a:t> </a:t>
            </a:r>
            <a:r>
              <a:rPr lang="da-DK" dirty="0" err="1"/>
              <a:t>strings</a:t>
            </a:r>
            <a:r>
              <a:rPr lang="da-DK" dirty="0"/>
              <a:t> </a:t>
            </a:r>
            <a:r>
              <a:rPr lang="da-DK" dirty="0" err="1"/>
              <a:t>containing</a:t>
            </a:r>
            <a:r>
              <a:rPr lang="da-DK" dirty="0"/>
              <a:t> #column </a:t>
            </a:r>
            <a:r>
              <a:rPr lang="da-DK" dirty="0" err="1"/>
              <a:t>characters</a:t>
            </a:r>
            <a:endParaRPr lang="da-DK" dirty="0"/>
          </a:p>
          <a:p>
            <a:pPr lvl="1"/>
            <a:r>
              <a:rPr lang="da-DK" dirty="0" err="1"/>
              <a:t>There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exactly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'</a:t>
            </a:r>
            <a:r>
              <a:rPr lang="da-DK" dirty="0">
                <a:latin typeface="Courier" pitchFamily="49" charset="0"/>
              </a:rPr>
              <a:t>A</a:t>
            </a:r>
            <a:r>
              <a:rPr lang="da-DK" dirty="0"/>
              <a:t>' and </a:t>
            </a:r>
            <a:r>
              <a:rPr lang="da-DK" dirty="0" err="1"/>
              <a:t>one</a:t>
            </a:r>
            <a:r>
              <a:rPr lang="da-DK" dirty="0"/>
              <a:t> '</a:t>
            </a:r>
            <a:r>
              <a:rPr lang="da-DK" dirty="0">
                <a:latin typeface="Courier" pitchFamily="49" charset="0"/>
              </a:rPr>
              <a:t>B</a:t>
            </a:r>
            <a:r>
              <a:rPr lang="da-DK" dirty="0"/>
              <a:t>'</a:t>
            </a:r>
          </a:p>
          <a:p>
            <a:pPr lvl="1"/>
            <a:r>
              <a:rPr lang="da-DK" dirty="0"/>
              <a:t>'</a:t>
            </a:r>
            <a:r>
              <a:rPr lang="da-DK" dirty="0">
                <a:latin typeface="Courier" pitchFamily="49" charset="0"/>
              </a:rPr>
              <a:t>.</a:t>
            </a:r>
            <a:r>
              <a:rPr lang="da-DK" dirty="0"/>
              <a:t>'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free</a:t>
            </a:r>
            <a:r>
              <a:rPr lang="da-DK" dirty="0"/>
              <a:t> </a:t>
            </a:r>
            <a:r>
              <a:rPr lang="da-DK" dirty="0" err="1"/>
              <a:t>cells</a:t>
            </a:r>
            <a:r>
              <a:rPr lang="da-DK" dirty="0"/>
              <a:t> and '</a:t>
            </a:r>
            <a:r>
              <a:rPr lang="da-DK" dirty="0">
                <a:latin typeface="Courier" pitchFamily="49" charset="0"/>
              </a:rPr>
              <a:t>#</a:t>
            </a:r>
            <a:r>
              <a:rPr lang="da-DK" dirty="0"/>
              <a:t>'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blocked</a:t>
            </a:r>
            <a:r>
              <a:rPr lang="da-DK" dirty="0"/>
              <a:t> </a:t>
            </a:r>
            <a:r>
              <a:rPr lang="da-DK" dirty="0" err="1"/>
              <a:t>cells</a:t>
            </a:r>
            <a:endParaRPr lang="da-DK" dirty="0"/>
          </a:p>
          <a:p>
            <a:pPr lvl="1"/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Output</a:t>
            </a:r>
          </a:p>
          <a:p>
            <a:pPr lvl="1"/>
            <a:r>
              <a:rPr lang="da-DK" dirty="0"/>
              <a:t>Print </a:t>
            </a:r>
            <a:r>
              <a:rPr lang="da-DK" dirty="0" err="1"/>
              <a:t>whether</a:t>
            </a:r>
            <a:r>
              <a:rPr lang="da-DK" dirty="0"/>
              <a:t> </a:t>
            </a:r>
            <a:r>
              <a:rPr lang="da-DK" dirty="0" err="1"/>
              <a:t>there</a:t>
            </a:r>
            <a:r>
              <a:rPr lang="da-DK" dirty="0"/>
              <a:t> is a </a:t>
            </a:r>
            <a:r>
              <a:rPr lang="da-DK" dirty="0" err="1"/>
              <a:t>path</a:t>
            </a:r>
            <a:r>
              <a:rPr lang="da-DK" dirty="0"/>
              <a:t> from '</a:t>
            </a:r>
            <a:r>
              <a:rPr lang="da-DK" dirty="0">
                <a:latin typeface="Courier" pitchFamily="49" charset="0"/>
              </a:rPr>
              <a:t>A</a:t>
            </a:r>
            <a:r>
              <a:rPr lang="da-DK" dirty="0"/>
              <a:t>' to '</a:t>
            </a:r>
            <a:r>
              <a:rPr lang="da-DK" dirty="0">
                <a:latin typeface="Courier" pitchFamily="49" charset="0"/>
              </a:rPr>
              <a:t>B</a:t>
            </a:r>
            <a:r>
              <a:rPr lang="da-DK" dirty="0"/>
              <a:t>' or not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344803"/>
              </p:ext>
            </p:extLst>
          </p:nvPr>
        </p:nvGraphicFramePr>
        <p:xfrm>
          <a:off x="8039800" y="1245019"/>
          <a:ext cx="3657619" cy="50108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2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dirty="0" err="1">
                          <a:latin typeface="+mn-lt"/>
                          <a:cs typeface="Courier New" panose="02070309020205020404" pitchFamily="49" charset="0"/>
                        </a:rPr>
                        <a:t>maze</a:t>
                      </a:r>
                      <a:r>
                        <a:rPr lang="da-DK" sz="2400" b="0" dirty="0">
                          <a:latin typeface="+mn-lt"/>
                          <a:cs typeface="Courier New" panose="02070309020205020404" pitchFamily="49" charset="0"/>
                        </a:rPr>
                        <a:t> input</a:t>
                      </a:r>
                      <a:endParaRPr lang="da-DK" sz="24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5536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11 19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#######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A</a:t>
                      </a:r>
                      <a:r>
                        <a:rPr lang="en-US" sz="2400" dirty="0">
                          <a:latin typeface="Courier" pitchFamily="49" charset="0"/>
                        </a:rPr>
                        <a:t>###########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#....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#..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#.###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###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#...#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#.#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#.#.###.#.#.#.###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#.#.....#...#.#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...</a:t>
                      </a:r>
                      <a:r>
                        <a:rPr lang="en-US" sz="2400" dirty="0">
                          <a:latin typeface="Courier" pitchFamily="49" charset="0"/>
                        </a:rPr>
                        <a:t>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#.###########.#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#.#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#.#.#.....#...#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#.#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#.#.#####.#####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#.#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#.........#....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.</a:t>
                      </a:r>
                      <a:r>
                        <a:rPr lang="en-US" sz="2400" dirty="0">
                          <a:latin typeface="Courier" pitchFamily="49" charset="0"/>
                        </a:rPr>
                        <a:t>#.#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ourier" pitchFamily="49" charset="0"/>
                        </a:rPr>
                        <a:t>###############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urier" pitchFamily="49" charset="0"/>
                        </a:rPr>
                        <a:t>B</a:t>
                      </a:r>
                      <a:r>
                        <a:rPr lang="en-US" sz="2400" dirty="0">
                          <a:latin typeface="Courier" pitchFamily="49" charset="0"/>
                        </a:rPr>
                        <a:t>###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17203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0"/>
            <a:ext cx="10515600" cy="1325563"/>
          </a:xfrm>
        </p:spPr>
        <p:txBody>
          <a:bodyPr/>
          <a:lstStyle/>
          <a:p>
            <a:r>
              <a:rPr lang="da-DK" dirty="0" err="1"/>
              <a:t>Maze</a:t>
            </a:r>
            <a:r>
              <a:rPr lang="da-DK" dirty="0"/>
              <a:t> </a:t>
            </a:r>
            <a:r>
              <a:rPr lang="da-DK" dirty="0" err="1"/>
              <a:t>solver</a:t>
            </a:r>
            <a:r>
              <a:rPr lang="da-DK" dirty="0"/>
              <a:t> (</a:t>
            </a:r>
            <a:r>
              <a:rPr lang="da-DK" dirty="0" err="1"/>
              <a:t>recursive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539019"/>
              </p:ext>
            </p:extLst>
          </p:nvPr>
        </p:nvGraphicFramePr>
        <p:xfrm>
          <a:off x="327273" y="1325563"/>
          <a:ext cx="11489373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4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194618">
                  <a:extLst>
                    <a:ext uri="{9D8B030D-6E8A-4147-A177-3AD203B41FA5}">
                      <a16:colId xmlns:a16="http://schemas.microsoft.com/office/drawing/2014/main" val="410542065"/>
                    </a:ext>
                  </a:extLst>
                </a:gridCol>
              </a:tblGrid>
              <a:tr h="301118">
                <a:tc gridSpan="2"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maze_solver.py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227779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(i,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j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global solution, visited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(0 &lt;= i &lt; n and 0 &lt;= j &lt; m and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maze[i][j] != '#' and not visited[i][j]):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visited[i][j] = True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maze[i][j] == 'B':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solution = True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 - 1, j)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 + 1, j)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(i, j - 1)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(i, j + 1)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find(symbol):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row in enumerate(maze)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j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row.find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(symbol)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j &gt;= 0: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(i, j)</a:t>
                      </a:r>
                    </a:p>
                    <a:p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n, m = [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().split()]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maze = [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for i in range(n)]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 = False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visited = [m * [False] for i in range(n)]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(*find('A'))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solution: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print('path from A to B exists')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print('no path')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EE7E1E12-119F-4B25-9FAE-4FB6A80D4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377" y="3429000"/>
            <a:ext cx="2371634" cy="325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987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0"/>
            <a:ext cx="10515600" cy="1325563"/>
          </a:xfrm>
        </p:spPr>
        <p:txBody>
          <a:bodyPr/>
          <a:lstStyle/>
          <a:p>
            <a:r>
              <a:rPr lang="da-DK" dirty="0" err="1"/>
              <a:t>Maze</a:t>
            </a:r>
            <a:r>
              <a:rPr lang="da-DK" dirty="0"/>
              <a:t> </a:t>
            </a:r>
            <a:r>
              <a:rPr lang="da-DK" dirty="0" err="1"/>
              <a:t>solver</a:t>
            </a:r>
            <a:r>
              <a:rPr lang="da-DK" dirty="0"/>
              <a:t> (iterative)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260380"/>
              </p:ext>
            </p:extLst>
          </p:nvPr>
        </p:nvGraphicFramePr>
        <p:xfrm>
          <a:off x="110103" y="1239065"/>
          <a:ext cx="1197832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8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194618">
                  <a:extLst>
                    <a:ext uri="{9D8B030D-6E8A-4147-A177-3AD203B41FA5}">
                      <a16:colId xmlns:a16="http://schemas.microsoft.com/office/drawing/2014/main" val="410542065"/>
                    </a:ext>
                  </a:extLst>
                </a:gridCol>
              </a:tblGrid>
              <a:tr h="249311">
                <a:tc gridSpan="2"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maze_solver_iterative.py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793168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(i, j):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global solution, visited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 = [(i, j)]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cells to visit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i, j =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Q.pop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(0 &lt;= i &lt; n and 0 &lt;= j &lt; m and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maze[i][j] != '#' and not visited[i][j]):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visited[i][j] = True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maze[i][j] == 'B':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solution = True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Q.append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((i - 1, j))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Q.append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((i + 1, j))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Q.append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((i, j - 1))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Q.append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((i, j + 1))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find(symbol):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row in enumerate(maze):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j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row.find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(symbol)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j &gt;= 0: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(i, j)</a:t>
                      </a:r>
                    </a:p>
                    <a:p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n, m = [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().split()]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maze = [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input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for i in range(n)]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solution = False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visited = [m*[False] for i in range(n)]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explore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(*find('A'))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solution: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print("path from A to B exists")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print("no path")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791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27916</TotalTime>
  <Words>3337</Words>
  <Application>Microsoft Office PowerPoint</Application>
  <PresentationFormat>Widescreen</PresentationFormat>
  <Paragraphs>728</Paragraphs>
  <Slides>22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Courier</vt:lpstr>
      <vt:lpstr>Courier New</vt:lpstr>
      <vt:lpstr>Times New Roman</vt:lpstr>
      <vt:lpstr>Wingdings</vt:lpstr>
      <vt:lpstr>Office Theme</vt:lpstr>
      <vt:lpstr>Recursion and iteration</vt:lpstr>
      <vt:lpstr>Standard 52-card deck</vt:lpstr>
      <vt:lpstr>Selection sort </vt:lpstr>
      <vt:lpstr>Sorting a pile of cards (Merge sort)</vt:lpstr>
      <vt:lpstr>PowerPoint Presentation</vt:lpstr>
      <vt:lpstr>Question – Depth of recursion for 52 elements</vt:lpstr>
      <vt:lpstr>Question – Order of comparisons by Merge sort ?</vt:lpstr>
      <vt:lpstr>Growth of some functions</vt:lpstr>
      <vt:lpstr>Merge sort without recursion</vt:lpstr>
      <vt:lpstr>Question – Number of iterations of while-loop ?</vt:lpstr>
      <vt:lpstr>Quicksort (randomized)</vt:lpstr>
      <vt:lpstr>Sorting comparison (single run)</vt:lpstr>
      <vt:lpstr>Sorting comparison</vt:lpstr>
      <vt:lpstr>Find zero</vt:lpstr>
      <vt:lpstr>PowerPoint Presentation</vt:lpstr>
      <vt:lpstr>PowerPoint Presentation</vt:lpstr>
      <vt:lpstr>Greatest Common Divisor (GCD)</vt:lpstr>
      <vt:lpstr>Greatest Common Divisor (GCD)</vt:lpstr>
      <vt:lpstr>Permutations</vt:lpstr>
      <vt:lpstr>Maze solver</vt:lpstr>
      <vt:lpstr>Maze solver (recursive)</vt:lpstr>
      <vt:lpstr>Maze solver (iterative)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997</cp:revision>
  <dcterms:created xsi:type="dcterms:W3CDTF">2017-10-19T06:54:16Z</dcterms:created>
  <dcterms:modified xsi:type="dcterms:W3CDTF">2026-02-19T17:53:24Z</dcterms:modified>
</cp:coreProperties>
</file>