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475" r:id="rId2"/>
    <p:sldId id="703" r:id="rId3"/>
    <p:sldId id="701" r:id="rId4"/>
    <p:sldId id="702" r:id="rId5"/>
    <p:sldId id="704" r:id="rId6"/>
    <p:sldId id="705" r:id="rId7"/>
    <p:sldId id="706" r:id="rId8"/>
    <p:sldId id="722" r:id="rId9"/>
    <p:sldId id="707" r:id="rId10"/>
    <p:sldId id="512" r:id="rId11"/>
    <p:sldId id="716" r:id="rId12"/>
    <p:sldId id="715" r:id="rId13"/>
    <p:sldId id="714" r:id="rId14"/>
    <p:sldId id="718" r:id="rId15"/>
    <p:sldId id="727" r:id="rId16"/>
    <p:sldId id="712" r:id="rId17"/>
    <p:sldId id="717" r:id="rId18"/>
    <p:sldId id="720" r:id="rId19"/>
    <p:sldId id="721" r:id="rId20"/>
    <p:sldId id="710" r:id="rId21"/>
    <p:sldId id="711" r:id="rId22"/>
    <p:sldId id="709" r:id="rId23"/>
    <p:sldId id="708" r:id="rId24"/>
    <p:sldId id="724" r:id="rId25"/>
    <p:sldId id="731" r:id="rId26"/>
    <p:sldId id="726" r:id="rId27"/>
    <p:sldId id="723" r:id="rId28"/>
    <p:sldId id="728" r:id="rId29"/>
    <p:sldId id="729" r:id="rId30"/>
    <p:sldId id="730" r:id="rId3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8F93A8-4FA1-49BC-B109-DD14B9BCDAB8}" v="3" dt="2026-03-09T05:33:46.9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70423" autoAdjust="0"/>
  </p:normalViewPr>
  <p:slideViewPr>
    <p:cSldViewPr snapToGrid="0">
      <p:cViewPr varScale="1">
        <p:scale>
          <a:sx n="51" d="100"/>
          <a:sy n="51" d="100"/>
        </p:scale>
        <p:origin x="1220" y="36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custSel modSld">
      <pc:chgData name="Gerth Stølting Brodal" userId="04ef4784-6591-4f86-a140-f5c3b108582a" providerId="ADAL" clId="{73BAC7D6-516A-44B5-B4B0-C7B08CA8B392}" dt="2026-03-09T06:25:56.526" v="307" actId="20577"/>
      <pc:docMkLst>
        <pc:docMk/>
      </pc:docMkLst>
      <pc:sldChg chg="modSp mod">
        <pc:chgData name="Gerth Stølting Brodal" userId="04ef4784-6591-4f86-a140-f5c3b108582a" providerId="ADAL" clId="{73BAC7D6-516A-44B5-B4B0-C7B08CA8B392}" dt="2026-03-09T05:33:46.993" v="22" actId="27636"/>
        <pc:sldMkLst>
          <pc:docMk/>
          <pc:sldMk cId="1038163257" sldId="475"/>
        </pc:sldMkLst>
        <pc:spChg chg="mod">
          <ac:chgData name="Gerth Stølting Brodal" userId="04ef4784-6591-4f86-a140-f5c3b108582a" providerId="ADAL" clId="{73BAC7D6-516A-44B5-B4B0-C7B08CA8B392}" dt="2026-03-09T05:33:46.993" v="22" actId="27636"/>
          <ac:spMkLst>
            <pc:docMk/>
            <pc:sldMk cId="1038163257" sldId="475"/>
            <ac:spMk id="3" creationId="{00000000-0000-0000-0000-000000000000}"/>
          </ac:spMkLst>
        </pc:spChg>
      </pc:sldChg>
      <pc:sldChg chg="modNotesTx">
        <pc:chgData name="Gerth Stølting Brodal" userId="04ef4784-6591-4f86-a140-f5c3b108582a" providerId="ADAL" clId="{73BAC7D6-516A-44B5-B4B0-C7B08CA8B392}" dt="2026-03-09T05:24:28.008" v="0" actId="20577"/>
        <pc:sldMkLst>
          <pc:docMk/>
          <pc:sldMk cId="1654434957" sldId="704"/>
        </pc:sldMkLst>
      </pc:sldChg>
      <pc:sldChg chg="modSp mod modNotesTx">
        <pc:chgData name="Gerth Stølting Brodal" userId="04ef4784-6591-4f86-a140-f5c3b108582a" providerId="ADAL" clId="{73BAC7D6-516A-44B5-B4B0-C7B08CA8B392}" dt="2026-03-09T05:52:17.894" v="71" actId="313"/>
        <pc:sldMkLst>
          <pc:docMk/>
          <pc:sldMk cId="926288180" sldId="716"/>
        </pc:sldMkLst>
        <pc:spChg chg="ord">
          <ac:chgData name="Gerth Stølting Brodal" userId="04ef4784-6591-4f86-a140-f5c3b108582a" providerId="ADAL" clId="{73BAC7D6-516A-44B5-B4B0-C7B08CA8B392}" dt="2026-03-09T05:51:13.007" v="23" actId="167"/>
          <ac:spMkLst>
            <pc:docMk/>
            <pc:sldMk cId="926288180" sldId="716"/>
            <ac:spMk id="7" creationId="{00000000-0000-0000-0000-000000000000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3-09T06:20:40.585" v="217" actId="20577"/>
        <pc:sldMkLst>
          <pc:docMk/>
          <pc:sldMk cId="3037496381" sldId="721"/>
        </pc:sldMkLst>
        <pc:spChg chg="mod">
          <ac:chgData name="Gerth Stølting Brodal" userId="04ef4784-6591-4f86-a140-f5c3b108582a" providerId="ADAL" clId="{73BAC7D6-516A-44B5-B4B0-C7B08CA8B392}" dt="2026-03-09T06:17:49.938" v="73" actId="20577"/>
          <ac:spMkLst>
            <pc:docMk/>
            <pc:sldMk cId="3037496381" sldId="721"/>
            <ac:spMk id="3" creationId="{00000000-0000-0000-0000-000000000000}"/>
          </ac:spMkLst>
        </pc:spChg>
      </pc:sldChg>
      <pc:sldChg chg="modNotesTx">
        <pc:chgData name="Gerth Stølting Brodal" userId="04ef4784-6591-4f86-a140-f5c3b108582a" providerId="ADAL" clId="{73BAC7D6-516A-44B5-B4B0-C7B08CA8B392}" dt="2026-03-09T06:25:56.526" v="307" actId="20577"/>
        <pc:sldMkLst>
          <pc:docMk/>
          <pc:sldMk cId="1833727466" sldId="7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4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Emphasized</a:t>
            </a:r>
            <a:r>
              <a:rPr lang="da-DK" dirty="0"/>
              <a:t> (red) </a:t>
            </a:r>
            <a:r>
              <a:rPr lang="da-DK" dirty="0" err="1"/>
              <a:t>exception</a:t>
            </a:r>
            <a:r>
              <a:rPr lang="da-DK" dirty="0"/>
              <a:t> types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those</a:t>
            </a:r>
            <a:r>
              <a:rPr lang="da-DK" dirty="0"/>
              <a:t> </a:t>
            </a:r>
            <a:r>
              <a:rPr lang="da-DK" dirty="0" err="1"/>
              <a:t>likely</a:t>
            </a:r>
            <a:r>
              <a:rPr lang="da-DK" baseline="0" dirty="0"/>
              <a:t> </a:t>
            </a:r>
            <a:r>
              <a:rPr lang="da-DK" baseline="0" dirty="0" err="1"/>
              <a:t>already</a:t>
            </a:r>
            <a:r>
              <a:rPr lang="da-DK" baseline="0" dirty="0"/>
              <a:t> </a:t>
            </a:r>
            <a:r>
              <a:rPr lang="da-DK" baseline="0" dirty="0" err="1"/>
              <a:t>seen</a:t>
            </a:r>
            <a:r>
              <a:rPr lang="da-DK" baseline="0" dirty="0"/>
              <a:t> </a:t>
            </a:r>
            <a:r>
              <a:rPr lang="da-DK" baseline="0" dirty="0" err="1"/>
              <a:t>during</a:t>
            </a:r>
            <a:r>
              <a:rPr lang="da-DK" baseline="0" dirty="0"/>
              <a:t> the </a:t>
            </a:r>
            <a:r>
              <a:rPr lang="da-DK" baseline="0" dirty="0" err="1"/>
              <a:t>course</a:t>
            </a:r>
            <a:r>
              <a:rPr lang="da-DK" baseline="0" dirty="0"/>
              <a:t> </a:t>
            </a:r>
            <a:r>
              <a:rPr lang="da-DK" baseline="0" dirty="0" err="1"/>
              <a:t>until</a:t>
            </a:r>
            <a:r>
              <a:rPr lang="da-DK" baseline="0" dirty="0"/>
              <a:t> </a:t>
            </a:r>
            <a:r>
              <a:rPr lang="da-DK" baseline="0" dirty="0" err="1"/>
              <a:t>now</a:t>
            </a:r>
            <a:endParaRPr lang="da-DK" baseline="0" dirty="0"/>
          </a:p>
          <a:p>
            <a:r>
              <a:rPr lang="da-DK" baseline="0" dirty="0" err="1"/>
              <a:t>Next</a:t>
            </a:r>
            <a:r>
              <a:rPr lang="da-DK" baseline="0" dirty="0"/>
              <a:t> slide shows </a:t>
            </a:r>
            <a:r>
              <a:rPr lang="da-DK" baseline="0" dirty="0" err="1"/>
              <a:t>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60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L = [1] * 1_000_000_000 succeeds, but uses 7.6 Gb 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L = [1] * 10_000_000_000 fails immediately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baseline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73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Program crashes… Goal: catch </a:t>
            </a:r>
            <a:r>
              <a:rPr lang="en-US" dirty="0" err="1"/>
              <a:t>misbehavoring</a:t>
            </a:r>
            <a:r>
              <a:rPr lang="en-US" dirty="0"/>
              <a:t> users</a:t>
            </a:r>
            <a:endParaRPr lang="da-DK" dirty="0"/>
          </a:p>
          <a:p>
            <a:r>
              <a:rPr lang="en-US" dirty="0"/>
              <a:t>1/4 versions of the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23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to think of all the possible errors that might occur...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08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drawback</a:t>
            </a:r>
            <a:r>
              <a:rPr lang="en-US" baseline="0" dirty="0"/>
              <a:t> is that it is unclear where exception is raised when caught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94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also use “pass” instead of “continue”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55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 err="1"/>
              <a:t>help</a:t>
            </a:r>
            <a:r>
              <a:rPr lang="da-DK" b="1" dirty="0"/>
              <a:t>(</a:t>
            </a:r>
            <a:r>
              <a:rPr lang="da-DK" b="1" dirty="0" err="1"/>
              <a:t>LookupError</a:t>
            </a:r>
            <a:r>
              <a:rPr lang="da-DK" b="1" dirty="0"/>
              <a:t>)</a:t>
            </a:r>
            <a:r>
              <a:rPr lang="da-DK" dirty="0"/>
              <a:t> -&gt; class </a:t>
            </a:r>
            <a:r>
              <a:rPr lang="da-DK" dirty="0" err="1"/>
              <a:t>LookupError</a:t>
            </a:r>
            <a:r>
              <a:rPr lang="da-DK" dirty="0"/>
              <a:t>(</a:t>
            </a:r>
            <a:r>
              <a:rPr lang="da-DK" dirty="0" err="1"/>
              <a:t>Exception</a:t>
            </a:r>
            <a:r>
              <a:rPr lang="da-DK" dirty="0"/>
              <a:t>)  # lists </a:t>
            </a:r>
            <a:r>
              <a:rPr lang="da-DK" dirty="0" err="1"/>
              <a:t>parent</a:t>
            </a:r>
            <a:r>
              <a:rPr lang="da-DK" dirty="0"/>
              <a:t> </a:t>
            </a:r>
            <a:r>
              <a:rPr lang="da-DK" dirty="0" err="1"/>
              <a:t>classes</a:t>
            </a:r>
            <a:r>
              <a:rPr lang="da-DK" dirty="0"/>
              <a:t> (as part of method-resolution </a:t>
            </a:r>
            <a:r>
              <a:rPr lang="da-DK" dirty="0" err="1"/>
              <a:t>order</a:t>
            </a:r>
            <a:r>
              <a:rPr lang="da-DK" dirty="0"/>
              <a:t>) but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builtin</a:t>
            </a:r>
            <a:r>
              <a:rPr lang="da-DK" dirty="0"/>
              <a:t> </a:t>
            </a:r>
            <a:r>
              <a:rPr lang="da-DK" dirty="0" err="1"/>
              <a:t>subclasses</a:t>
            </a:r>
            <a:r>
              <a:rPr lang="da-DK" dirty="0"/>
              <a:t> (but not </a:t>
            </a:r>
            <a:r>
              <a:rPr lang="da-DK" dirty="0" err="1"/>
              <a:t>used</a:t>
            </a:r>
            <a:r>
              <a:rPr lang="da-DK" dirty="0"/>
              <a:t> </a:t>
            </a:r>
            <a:r>
              <a:rPr lang="da-DK" dirty="0" err="1"/>
              <a:t>defined</a:t>
            </a:r>
            <a:r>
              <a:rPr lang="da-DK" dirty="0"/>
              <a:t> </a:t>
            </a:r>
            <a:r>
              <a:rPr lang="da-DK" dirty="0" err="1"/>
              <a:t>subclasses</a:t>
            </a:r>
            <a:r>
              <a:rPr lang="da-DK" dirty="0"/>
              <a:t>)</a:t>
            </a:r>
          </a:p>
          <a:p>
            <a:endParaRPr lang="da-DK" dirty="0"/>
          </a:p>
          <a:p>
            <a:r>
              <a:rPr lang="da-DK" dirty="0" err="1"/>
              <a:t>Other</a:t>
            </a:r>
            <a:r>
              <a:rPr lang="da-DK" dirty="0"/>
              <a:t> </a:t>
            </a:r>
            <a:r>
              <a:rPr lang="da-DK" dirty="0" err="1"/>
              <a:t>exceptions</a:t>
            </a:r>
            <a:r>
              <a:rPr lang="da-DK" dirty="0"/>
              <a:t> </a:t>
            </a:r>
            <a:r>
              <a:rPr lang="da-DK" dirty="0" err="1"/>
              <a:t>could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NameError</a:t>
            </a:r>
            <a:r>
              <a:rPr lang="da-DK" dirty="0"/>
              <a:t> (L not </a:t>
            </a:r>
            <a:r>
              <a:rPr lang="da-DK" dirty="0" err="1"/>
              <a:t>defined</a:t>
            </a:r>
            <a:r>
              <a:rPr lang="da-DK" dirty="0"/>
              <a:t>) or </a:t>
            </a:r>
            <a:r>
              <a:rPr lang="da-DK" dirty="0" err="1"/>
              <a:t>TypeError</a:t>
            </a:r>
            <a:r>
              <a:rPr lang="da-DK" dirty="0"/>
              <a:t> (L is not </a:t>
            </a:r>
            <a:r>
              <a:rPr lang="da-DK" dirty="0" err="1"/>
              <a:t>subscriptable</a:t>
            </a:r>
            <a:r>
              <a:rPr lang="da-DK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9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finally </a:t>
            </a:r>
            <a:r>
              <a:rPr lang="en-US" dirty="0"/>
              <a:t>is also executed if an “except” is executed that raises a new exception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57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3</a:t>
            </a:r>
            <a:r>
              <a:rPr lang="en-US" baseline="30000" dirty="0"/>
              <a:t>rd</a:t>
            </a:r>
            <a:r>
              <a:rPr lang="en-US" dirty="0"/>
              <a:t> case the parenthesis cannot be omitted!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94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is an abstract class (seen earlier), where g has not been implemented (but it is, it just raises an </a:t>
            </a:r>
            <a:r>
              <a:rPr lang="en-US" dirty="0" err="1"/>
              <a:t>NotImplementedError</a:t>
            </a:r>
            <a:r>
              <a:rPr lang="en-US" dirty="0"/>
              <a:t> exception when called).</a:t>
            </a:r>
          </a:p>
          <a:p>
            <a:endParaRPr lang="en-US" dirty="0"/>
          </a:p>
          <a:p>
            <a:r>
              <a:rPr lang="en-US" dirty="0"/>
              <a:t>Without the default g we would get </a:t>
            </a:r>
            <a:r>
              <a:rPr lang="en-US" b="1" dirty="0" err="1"/>
              <a:t>AttributeError</a:t>
            </a:r>
            <a:r>
              <a:rPr lang="en-US" b="1" dirty="0"/>
              <a:t>: 'A' object has no attribute 'g'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69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Example</a:t>
            </a:r>
            <a:r>
              <a:rPr lang="da-DK" dirty="0"/>
              <a:t> of </a:t>
            </a:r>
            <a:r>
              <a:rPr lang="da-DK" dirty="0" err="1"/>
              <a:t>how</a:t>
            </a:r>
            <a:r>
              <a:rPr lang="da-DK" dirty="0"/>
              <a:t> to </a:t>
            </a:r>
            <a:r>
              <a:rPr lang="da-DK" dirty="0" err="1"/>
              <a:t>use</a:t>
            </a:r>
            <a:r>
              <a:rPr lang="da-DK" dirty="0"/>
              <a:t> a user </a:t>
            </a:r>
            <a:r>
              <a:rPr lang="da-DK" dirty="0" err="1"/>
              <a:t>defined</a:t>
            </a:r>
            <a:r>
              <a:rPr lang="da-DK" dirty="0"/>
              <a:t> </a:t>
            </a:r>
            <a:r>
              <a:rPr lang="da-DK" dirty="0" err="1"/>
              <a:t>exception</a:t>
            </a:r>
            <a:r>
              <a:rPr lang="da-DK" dirty="0"/>
              <a:t> to break out of a </a:t>
            </a:r>
            <a:r>
              <a:rPr lang="da-DK" dirty="0" err="1"/>
              <a:t>recursive</a:t>
            </a:r>
            <a:r>
              <a:rPr lang="da-DK" dirty="0"/>
              <a:t> </a:t>
            </a:r>
            <a:r>
              <a:rPr lang="da-DK" dirty="0" err="1"/>
              <a:t>function</a:t>
            </a:r>
            <a:r>
              <a:rPr lang="da-DK" dirty="0"/>
              <a:t> – </a:t>
            </a:r>
            <a:r>
              <a:rPr lang="da-DK" b="1" dirty="0" err="1"/>
              <a:t>control</a:t>
            </a:r>
            <a:r>
              <a:rPr lang="da-DK" b="1" dirty="0"/>
              <a:t>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36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lines read contains a ‘\n’ at the end, so we avoid printing two newlines by setting </a:t>
            </a:r>
            <a:r>
              <a:rPr lang="en-US" b="1" dirty="0"/>
              <a:t>end=‘’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93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allows multiple arguments and converts to string (whereas write requires the argument to be a string)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44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with</a:t>
            </a:r>
            <a:r>
              <a:rPr lang="en-US" dirty="0"/>
              <a:t> wraps code in </a:t>
            </a:r>
            <a:r>
              <a:rPr lang="en-US" b="1" dirty="0"/>
              <a:t>try-except-else</a:t>
            </a:r>
            <a:r>
              <a:rPr lang="en-US" dirty="0"/>
              <a:t> both calling __exit__. If an exception happens __exit__ is given this exception and can react on it or just ignore it and let it propagate.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146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 err="1"/>
              <a:t>help</a:t>
            </a:r>
            <a:r>
              <a:rPr lang="da-DK" b="1" dirty="0"/>
              <a:t>(print) </a:t>
            </a:r>
            <a:r>
              <a:rPr lang="da-DK" b="0" dirty="0" err="1"/>
              <a:t>mentions</a:t>
            </a:r>
            <a:r>
              <a:rPr lang="da-DK" b="0" dirty="0"/>
              <a:t> </a:t>
            </a:r>
            <a:r>
              <a:rPr lang="da-DK" b="0" dirty="0" err="1"/>
              <a:t>sys.stdout</a:t>
            </a:r>
            <a:r>
              <a:rPr lang="da-DK" b="0" dirty="0"/>
              <a:t> as default </a:t>
            </a:r>
            <a:r>
              <a:rPr lang="da-DK" b="0" dirty="0" err="1"/>
              <a:t>ouput</a:t>
            </a:r>
            <a:r>
              <a:rPr lang="da-DK" b="0"/>
              <a:t> file</a:t>
            </a:r>
            <a:endParaRPr lang="da-DK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006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EC60-1388-774A-4218-87179476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7A994-ACC4-AC00-85B9-163BC9620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EB414-E34B-3B23-59F4-AB153921E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3.13 experiment</a:t>
            </a:r>
          </a:p>
          <a:p>
            <a:r>
              <a:rPr lang="en-US" dirty="0"/>
              <a:t>Setting  </a:t>
            </a:r>
            <a:r>
              <a:rPr lang="en-US" dirty="0" err="1"/>
              <a:t>readline</a:t>
            </a:r>
            <a:r>
              <a:rPr lang="en-US" dirty="0"/>
              <a:t> = </a:t>
            </a:r>
            <a:r>
              <a:rPr lang="en-US" dirty="0" err="1"/>
              <a:t>sys.stdin.readline</a:t>
            </a:r>
            <a:r>
              <a:rPr lang="en-US" dirty="0"/>
              <a:t> avoids dictionary lookup in module and file object</a:t>
            </a:r>
          </a:p>
          <a:p>
            <a:r>
              <a:rPr lang="en-US" dirty="0"/>
              <a:t>Note </a:t>
            </a:r>
            <a:r>
              <a:rPr lang="en-US" dirty="0" err="1"/>
              <a:t>sys.stdin.read</a:t>
            </a:r>
            <a:r>
              <a:rPr lang="en-US" dirty="0"/>
              <a:t> does not split input to multiple lines</a:t>
            </a:r>
          </a:p>
          <a:p>
            <a:r>
              <a:rPr lang="en-US" dirty="0"/>
              <a:t>.read reads the full string into memory (can be </a:t>
            </a:r>
            <a:r>
              <a:rPr lang="en-US"/>
              <a:t>a problem for huge files)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E3E5C-1695-F36A-761A-96BCBCBDA7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33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be afraid to scan a file of 1 GB – just </a:t>
            </a:r>
            <a:r>
              <a:rPr lang="en-US" baseline="0" dirty="0"/>
              <a:t>process each line efficiently</a:t>
            </a:r>
          </a:p>
          <a:p>
            <a:endParaRPr lang="en-US" baseline="0" dirty="0"/>
          </a:p>
          <a:p>
            <a:r>
              <a:rPr lang="en-US" baseline="0" dirty="0"/>
              <a:t>Experiments on Lenovo T460s laptop 512 Gb SSD disk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721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using </a:t>
            </a:r>
            <a:r>
              <a:rPr lang="en-US" b="1" dirty="0"/>
              <a:t>reading</a:t>
            </a:r>
            <a:r>
              <a:rPr lang="en-US" b="1" baseline="0" dirty="0"/>
              <a:t> a file</a:t>
            </a:r>
            <a:r>
              <a:rPr lang="en-US" baseline="0" dirty="0"/>
              <a:t>, </a:t>
            </a:r>
            <a:r>
              <a:rPr lang="en-US" b="1" baseline="0" dirty="0"/>
              <a:t>and user defined exception</a:t>
            </a:r>
            <a:r>
              <a:rPr lang="en-US" baseline="0" dirty="0"/>
              <a:t> for returning recursive found solution</a:t>
            </a:r>
          </a:p>
          <a:p>
            <a:endParaRPr lang="en-US" baseline="0" dirty="0"/>
          </a:p>
          <a:p>
            <a:r>
              <a:rPr lang="en-US" baseline="0" dirty="0" err="1"/>
              <a:t>find_free</a:t>
            </a:r>
            <a:r>
              <a:rPr lang="en-US" baseline="0" dirty="0"/>
              <a:t>(): return an empty cell</a:t>
            </a:r>
          </a:p>
          <a:p>
            <a:r>
              <a:rPr lang="en-US" baseline="0" dirty="0"/>
              <a:t>unused(</a:t>
            </a:r>
            <a:r>
              <a:rPr lang="en-US" baseline="0" dirty="0" err="1"/>
              <a:t>i,j</a:t>
            </a:r>
            <a:r>
              <a:rPr lang="en-US" baseline="0" dirty="0"/>
              <a:t>): return set of values possible for cell(</a:t>
            </a:r>
            <a:r>
              <a:rPr lang="en-US" baseline="0" dirty="0" err="1"/>
              <a:t>i,j</a:t>
            </a:r>
            <a:r>
              <a:rPr lang="en-US" baseline="0" dirty="0"/>
              <a:t>)</a:t>
            </a:r>
          </a:p>
          <a:p>
            <a:endParaRPr lang="en-US" baseline="0" dirty="0"/>
          </a:p>
          <a:p>
            <a:r>
              <a:rPr lang="en-US" baseline="0" dirty="0"/>
              <a:t>sudoku_histogram.py : report number of recursive calls, and distribution over the recursion depth</a:t>
            </a:r>
          </a:p>
          <a:p>
            <a:endParaRPr lang="en-US" baseline="0" dirty="0"/>
          </a:p>
          <a:p>
            <a:r>
              <a:rPr lang="en-US" dirty="0"/>
              <a:t>sudoku_histogram_smallest_unused.py : Recurse on cell with the minimum number of</a:t>
            </a:r>
            <a:r>
              <a:rPr lang="en-US" baseline="0" dirty="0"/>
              <a:t> candidate numbers left </a:t>
            </a:r>
            <a:br>
              <a:rPr lang="en-US" baseline="0" dirty="0"/>
            </a:br>
            <a:r>
              <a:rPr lang="en-US" baseline="0" dirty="0"/>
              <a:t>(heuristic to reduce search space; but fails miserably when “for value in unused(</a:t>
            </a:r>
            <a:r>
              <a:rPr lang="en-US" baseline="0" dirty="0" err="1"/>
              <a:t>i,j</a:t>
            </a:r>
            <a:r>
              <a:rPr lang="en-US" baseline="0" dirty="0"/>
              <a:t>)” is replaced by “sorted(unused(</a:t>
            </a:r>
            <a:r>
              <a:rPr lang="en-US" baseline="0" dirty="0" err="1"/>
              <a:t>i,j</a:t>
            </a:r>
            <a:r>
              <a:rPr lang="en-US" baseline="0" dirty="0"/>
              <a:t>))” where the search space visited increased by factor &gt;= 1000)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038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repr</a:t>
            </a:r>
            <a:r>
              <a:rPr lang="en-US" dirty="0"/>
              <a:t> ensures quotes will be printed around strings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32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exception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ev/peps/pep-0008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typecontextmanage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os.path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ys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mrb.wisc.edu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herlock-holm.es/stories/plain-text/cano.txt" TargetMode="External"/><Relationship Id="rId5" Type="http://schemas.openxmlformats.org/officeDocument/2006/relationships/hyperlink" Target="http://www.bmrb.wisc.edu/ftp/pub/bmrb/relational_tables/nmr-star3.1/Atom_chem_shift.csv" TargetMode="External"/><Relationship Id="rId4" Type="http://schemas.openxmlformats.org/officeDocument/2006/relationships/hyperlink" Target="https://sherlock-holm.es/ascii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31" y="2920558"/>
            <a:ext cx="11659591" cy="1325563"/>
          </a:xfrm>
        </p:spPr>
        <p:txBody>
          <a:bodyPr/>
          <a:lstStyle/>
          <a:p>
            <a:pPr algn="r"/>
            <a:r>
              <a:rPr lang="da-DK" dirty="0" err="1"/>
              <a:t>Exceptions</a:t>
            </a:r>
            <a:r>
              <a:rPr lang="da-DK" dirty="0"/>
              <a:t> and file input/output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8347" y="3920647"/>
            <a:ext cx="7053065" cy="29373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try-raise-except-finally</a:t>
            </a:r>
          </a:p>
          <a:p>
            <a:r>
              <a:rPr lang="en-US" dirty="0"/>
              <a:t>Exception </a:t>
            </a:r>
          </a:p>
          <a:p>
            <a:r>
              <a:rPr lang="en-US" dirty="0"/>
              <a:t>control flow</a:t>
            </a:r>
          </a:p>
          <a:p>
            <a:r>
              <a:rPr lang="en-US" dirty="0"/>
              <a:t>file open/read/write</a:t>
            </a:r>
          </a:p>
          <a:p>
            <a:r>
              <a:rPr lang="en-US" dirty="0" err="1"/>
              <a:t>sys.stdin</a:t>
            </a:r>
            <a:r>
              <a:rPr lang="en-US" dirty="0"/>
              <a:t>, </a:t>
            </a:r>
            <a:r>
              <a:rPr lang="en-US" dirty="0" err="1"/>
              <a:t>sys.stdout</a:t>
            </a:r>
            <a:r>
              <a:rPr lang="en-US" dirty="0"/>
              <a:t>, </a:t>
            </a:r>
            <a:r>
              <a:rPr lang="en-US" dirty="0" err="1"/>
              <a:t>sys.stderr</a:t>
            </a:r>
            <a:endParaRPr lang="en-US" dirty="0"/>
          </a:p>
          <a:p>
            <a:r>
              <a:rPr lang="en-US" dirty="0"/>
              <a:t>context manager</a:t>
            </a:r>
          </a:p>
          <a:p>
            <a:r>
              <a:rPr lang="en-US" dirty="0"/>
              <a:t>match - case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16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Exceptions</a:t>
            </a:r>
            <a:r>
              <a:rPr lang="da-DK" dirty="0"/>
              <a:t> – </a:t>
            </a:r>
            <a:r>
              <a:rPr lang="da-DK" dirty="0" err="1"/>
              <a:t>Error</a:t>
            </a:r>
            <a:r>
              <a:rPr lang="da-DK" dirty="0"/>
              <a:t> handling and </a:t>
            </a:r>
            <a:r>
              <a:rPr lang="da-DK" dirty="0" err="1"/>
              <a:t>control</a:t>
            </a:r>
            <a:r>
              <a:rPr lang="da-DK" dirty="0"/>
              <a:t>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03391"/>
            <a:ext cx="10515600" cy="3187809"/>
          </a:xfrm>
        </p:spPr>
        <p:txBody>
          <a:bodyPr/>
          <a:lstStyle/>
          <a:p>
            <a:r>
              <a:rPr lang="da-DK" dirty="0" err="1">
                <a:solidFill>
                  <a:srgbClr val="C00000"/>
                </a:solidFill>
              </a:rPr>
              <a:t>Exceptions</a:t>
            </a:r>
            <a:r>
              <a:rPr lang="da-DK" dirty="0"/>
              <a:t> is a </a:t>
            </a:r>
            <a:r>
              <a:rPr lang="da-DK" dirty="0" err="1"/>
              <a:t>widespread</a:t>
            </a:r>
            <a:r>
              <a:rPr lang="da-DK" dirty="0"/>
              <a:t> </a:t>
            </a:r>
            <a:r>
              <a:rPr lang="da-DK" dirty="0" err="1"/>
              <a:t>technique</a:t>
            </a:r>
            <a:r>
              <a:rPr lang="da-DK" dirty="0"/>
              <a:t> to handle </a:t>
            </a:r>
            <a:r>
              <a:rPr lang="da-DK" dirty="0" err="1"/>
              <a:t>run-time</a:t>
            </a:r>
            <a:r>
              <a:rPr lang="da-DK" dirty="0"/>
              <a:t> </a:t>
            </a:r>
            <a:r>
              <a:rPr lang="da-DK" b="1" dirty="0" err="1"/>
              <a:t>errors</a:t>
            </a:r>
            <a:r>
              <a:rPr lang="da-DK" dirty="0"/>
              <a:t> / </a:t>
            </a:r>
            <a:r>
              <a:rPr lang="da-DK" dirty="0" err="1"/>
              <a:t>abnormal</a:t>
            </a:r>
            <a:r>
              <a:rPr lang="da-DK" dirty="0"/>
              <a:t> </a:t>
            </a:r>
            <a:r>
              <a:rPr lang="da-DK" dirty="0" err="1"/>
              <a:t>behaviour</a:t>
            </a:r>
            <a:r>
              <a:rPr lang="da-DK" dirty="0"/>
              <a:t> (</a:t>
            </a:r>
            <a:r>
              <a:rPr lang="da-DK" dirty="0" err="1"/>
              <a:t>e.g</a:t>
            </a:r>
            <a:r>
              <a:rPr lang="da-DK" dirty="0"/>
              <a:t>. in </a:t>
            </a:r>
            <a:r>
              <a:rPr lang="da-DK" dirty="0" err="1"/>
              <a:t>Python</a:t>
            </a:r>
            <a:r>
              <a:rPr lang="da-DK" dirty="0"/>
              <a:t>, Java,  C++, JavaScript, C#)</a:t>
            </a:r>
            <a:endParaRPr lang="en-US" dirty="0"/>
          </a:p>
          <a:p>
            <a:endParaRPr lang="da-DK" dirty="0"/>
          </a:p>
          <a:p>
            <a:r>
              <a:rPr lang="da-DK" dirty="0" err="1">
                <a:solidFill>
                  <a:srgbClr val="C00000"/>
                </a:solidFill>
              </a:rPr>
              <a:t>Exceptions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used</a:t>
            </a:r>
            <a:r>
              <a:rPr lang="da-DK" dirty="0"/>
              <a:t> as an </a:t>
            </a:r>
            <a:r>
              <a:rPr lang="da-DK" b="1" dirty="0" err="1"/>
              <a:t>advanced</a:t>
            </a:r>
            <a:r>
              <a:rPr lang="da-DK" b="1" dirty="0"/>
              <a:t> </a:t>
            </a:r>
            <a:r>
              <a:rPr lang="da-DK" b="1" dirty="0" err="1"/>
              <a:t>control</a:t>
            </a:r>
            <a:r>
              <a:rPr lang="da-DK" b="1" dirty="0"/>
              <a:t> flow </a:t>
            </a:r>
            <a:r>
              <a:rPr lang="da-DK" b="1" dirty="0" err="1"/>
              <a:t>mechanism</a:t>
            </a:r>
            <a:r>
              <a:rPr lang="da-DK" b="1" dirty="0"/>
              <a:t> </a:t>
            </a:r>
            <a:r>
              <a:rPr lang="da-DK" dirty="0"/>
              <a:t>(</a:t>
            </a:r>
            <a:r>
              <a:rPr lang="da-DK" dirty="0" err="1"/>
              <a:t>e.g</a:t>
            </a:r>
            <a:r>
              <a:rPr lang="da-DK" dirty="0"/>
              <a:t>. in </a:t>
            </a:r>
            <a:r>
              <a:rPr lang="da-DK" dirty="0" err="1"/>
              <a:t>Python</a:t>
            </a:r>
            <a:r>
              <a:rPr lang="da-DK" dirty="0"/>
              <a:t>, Java, JavaScript)</a:t>
            </a:r>
          </a:p>
          <a:p>
            <a:pPr lvl="1"/>
            <a:endParaRPr lang="da-DK" dirty="0"/>
          </a:p>
          <a:p>
            <a:pPr lvl="1"/>
            <a:r>
              <a:rPr lang="da-DK" i="1" dirty="0"/>
              <a:t>Problem: How to perform a ”break” in a </a:t>
            </a:r>
            <a:r>
              <a:rPr lang="da-DK" i="1" dirty="0" err="1"/>
              <a:t>recursive</a:t>
            </a:r>
            <a:r>
              <a:rPr lang="da-DK" i="1" dirty="0"/>
              <a:t> </a:t>
            </a:r>
            <a:r>
              <a:rPr lang="da-DK" i="1" dirty="0" err="1"/>
              <a:t>function</a:t>
            </a:r>
            <a:r>
              <a:rPr lang="da-DK" i="1" dirty="0"/>
              <a:t> 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50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905274"/>
              </p:ext>
            </p:extLst>
          </p:nvPr>
        </p:nvGraphicFramePr>
        <p:xfrm>
          <a:off x="1073626" y="-64305"/>
          <a:ext cx="10044748" cy="6955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69193">
                  <a:extLst>
                    <a:ext uri="{9D8B030D-6E8A-4147-A177-3AD203B41FA5}">
                      <a16:colId xmlns:a16="http://schemas.microsoft.com/office/drawing/2014/main" val="79341772"/>
                    </a:ext>
                  </a:extLst>
                </a:gridCol>
                <a:gridCol w="5075555">
                  <a:extLst>
                    <a:ext uri="{9D8B030D-6E8A-4147-A177-3AD203B41FA5}">
                      <a16:colId xmlns:a16="http://schemas.microsoft.com/office/drawing/2014/main" val="2603044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BaseException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SystemExit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KeyboardInterrupt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GeneratorExit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+-- Exception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StopIteration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StopAsyncIteration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ArithmeticError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FloatingPointError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OverflowError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ZeroDivisionError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AttributeError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BufferError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EOFError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ModuleNotFoundError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LookupError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IndexError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KeyError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MemoryError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NameError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UnboundLocalError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ValueError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UnicodeError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UnicodeDecodeError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UnicodeEncodeError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UnicodeTranslateError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BlockingIOError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ChildProcessError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BrokenPipeError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ConnectionAbortedError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ConnectionRefusedError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ConnectionResetError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FileExistsError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FileNotFoundError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InterruptedError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IsADirectoryError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NotADirectoryError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PermissionError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ProcessLookupError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TimeoutError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ReferenceError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RuntimeError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NotImplementedError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RecursionError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SyntaxError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IndentationError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TabError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SystemError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Warning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DeprecationWarning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PendingDeprecationWarning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RuntimeWarning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SyntaxWarning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UserWarning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FutureWarning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ImportWarning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UnicodeWarning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BytesWarning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ResourceWarning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1332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626" y="0"/>
            <a:ext cx="9441974" cy="1325563"/>
          </a:xfrm>
        </p:spPr>
        <p:txBody>
          <a:bodyPr/>
          <a:lstStyle/>
          <a:p>
            <a:r>
              <a:rPr lang="da-DK" dirty="0" err="1"/>
              <a:t>Built</a:t>
            </a:r>
            <a:r>
              <a:rPr lang="da-DK" dirty="0"/>
              <a:t>-in </a:t>
            </a:r>
            <a:r>
              <a:rPr lang="da-DK" dirty="0" err="1"/>
              <a:t>exceptions</a:t>
            </a:r>
            <a:br>
              <a:rPr lang="da-DK" dirty="0"/>
            </a:br>
            <a:r>
              <a:rPr lang="da-DK" dirty="0"/>
              <a:t>		(</a:t>
            </a:r>
            <a:r>
              <a:rPr lang="da-DK" dirty="0" err="1"/>
              <a:t>class</a:t>
            </a:r>
            <a:r>
              <a:rPr lang="da-DK" dirty="0"/>
              <a:t> </a:t>
            </a:r>
            <a:r>
              <a:rPr lang="da-DK" dirty="0" err="1"/>
              <a:t>hierarchy</a:t>
            </a:r>
            <a:r>
              <a:rPr lang="da-DK" dirty="0"/>
              <a:t>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9668683" y="3423011"/>
            <a:ext cx="4281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3"/>
              </a:rPr>
              <a:t>docs.python.org/3/library/exceptions.html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246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471746"/>
              </p:ext>
            </p:extLst>
          </p:nvPr>
        </p:nvGraphicFramePr>
        <p:xfrm>
          <a:off x="4111829" y="439694"/>
          <a:ext cx="7575868" cy="5978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8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39811">
                <a:tc>
                  <a:txBody>
                    <a:bodyPr/>
                    <a:lstStyle/>
                    <a:p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368113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 / 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4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ZeroDivisionError</a:t>
                      </a: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division by zero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int('42x')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ValueError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invalid literal for </a:t>
                      </a: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with base 10: '42x'</a:t>
                      </a:r>
                      <a:endParaRPr lang="pt-BR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NameError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name 'y' is not defined</a:t>
                      </a:r>
                      <a:endParaRPr lang="pt-BR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 = [1] * 10_000_000_000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4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MemoryError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2.5 ** 1000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OverflowError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(34, 'Result too large')</a:t>
                      </a:r>
                      <a:endParaRPr lang="pt-BR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da-DK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 = (3, 4)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t[0] = 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'tuple' object does not support item assignment</a:t>
                      </a:r>
                      <a:endParaRPr lang="pt-BR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t[3]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IndexError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tuple index out of range</a:t>
                      </a:r>
                      <a:endParaRPr lang="pt-BR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t.x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AttributeError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'tuple' object has no attribute 'x'</a:t>
                      </a:r>
                      <a:endParaRPr lang="pt-BR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{}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x['foo']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4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KeyError</a:t>
                      </a: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'foo'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f(x): f(x + 1)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da-DK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f(0)</a:t>
                      </a:r>
                      <a:endParaRPr lang="en-US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RecursionError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maximum recursion depth exceeded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f(): x = x + 1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da-DK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f()</a:t>
                      </a:r>
                      <a:endParaRPr lang="en-US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UnboundLocalError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local variable 'x' referenced before assignment</a:t>
                      </a:r>
                      <a:endParaRPr lang="pt-BR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0942" y="381964"/>
            <a:ext cx="2939969" cy="6107735"/>
          </a:xfrm>
        </p:spPr>
        <p:txBody>
          <a:bodyPr anchor="t">
            <a:normAutofit/>
          </a:bodyPr>
          <a:lstStyle/>
          <a:p>
            <a:pPr algn="ctr"/>
            <a:r>
              <a:rPr lang="da-DK" dirty="0" err="1"/>
              <a:t>Typical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 err="1"/>
              <a:t>built</a:t>
            </a:r>
            <a:r>
              <a:rPr lang="da-DK" dirty="0"/>
              <a:t>-in </a:t>
            </a:r>
            <a:r>
              <a:rPr lang="da-DK" dirty="0" err="1"/>
              <a:t>exceptions</a:t>
            </a:r>
            <a:br>
              <a:rPr lang="da-DK" dirty="0"/>
            </a:br>
            <a:br>
              <a:rPr lang="da-DK" dirty="0"/>
            </a:br>
            <a:r>
              <a:rPr lang="da-DK" sz="2800" dirty="0"/>
              <a:t>and </a:t>
            </a:r>
            <a:r>
              <a:rPr lang="da-DK" sz="2800" dirty="0" err="1"/>
              <a:t>unhandled</a:t>
            </a:r>
            <a:r>
              <a:rPr lang="da-DK" sz="2800" dirty="0"/>
              <a:t> </a:t>
            </a:r>
            <a:r>
              <a:rPr lang="da-DK" sz="2800" dirty="0" err="1"/>
              <a:t>behaviour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923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Catching</a:t>
            </a:r>
            <a:r>
              <a:rPr lang="da-DK" dirty="0"/>
              <a:t> </a:t>
            </a:r>
            <a:r>
              <a:rPr lang="da-DK" dirty="0" err="1"/>
              <a:t>exceptions</a:t>
            </a:r>
            <a:r>
              <a:rPr lang="da-DK" dirty="0"/>
              <a:t> – </a:t>
            </a:r>
            <a:r>
              <a:rPr lang="da-DK" dirty="0" err="1"/>
              <a:t>Fractions</a:t>
            </a:r>
            <a:r>
              <a:rPr lang="da-DK" dirty="0"/>
              <a:t> (I)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053168"/>
              </p:ext>
            </p:extLst>
          </p:nvPr>
        </p:nvGraphicFramePr>
        <p:xfrm>
          <a:off x="2386647" y="1945282"/>
          <a:ext cx="741870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87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fraction1.py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numerator = int(input('Numerator = '))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denominator = int(input('Denominator = '))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result = 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numerator / denominator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print(f'{numerator} / {denominator} = {result}')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Numerator = 10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Denominator =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 / 3 = 3.3333333333333335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Numerator = 20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Denominator = 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ZeroDivisionError</a:t>
                      </a: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division by zero</a:t>
                      </a:r>
                      <a:endParaRPr lang="en-US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43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2584"/>
            <a:ext cx="10515600" cy="915035"/>
          </a:xfrm>
        </p:spPr>
        <p:txBody>
          <a:bodyPr/>
          <a:lstStyle/>
          <a:p>
            <a:r>
              <a:rPr lang="da-DK" dirty="0" err="1"/>
              <a:t>Catching</a:t>
            </a:r>
            <a:r>
              <a:rPr lang="da-DK" dirty="0"/>
              <a:t> </a:t>
            </a:r>
            <a:r>
              <a:rPr lang="da-DK" dirty="0" err="1"/>
              <a:t>exceptions</a:t>
            </a:r>
            <a:r>
              <a:rPr lang="da-DK" dirty="0"/>
              <a:t> – </a:t>
            </a:r>
            <a:r>
              <a:rPr lang="da-DK" dirty="0" err="1"/>
              <a:t>Fractions</a:t>
            </a:r>
            <a:r>
              <a:rPr lang="da-DK" dirty="0"/>
              <a:t> (II)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858818"/>
              </p:ext>
            </p:extLst>
          </p:nvPr>
        </p:nvGraphicFramePr>
        <p:xfrm>
          <a:off x="1828802" y="1077619"/>
          <a:ext cx="9057005" cy="5656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70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44468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fraction2.py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numerator = 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(input('Numerator = '))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denominator = int(input('Denominator = '))</a:t>
                      </a:r>
                    </a:p>
                    <a:p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try: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result = numerator / denominator</a:t>
                      </a:r>
                    </a:p>
                    <a:p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except ZeroDivisionError:</a:t>
                      </a:r>
                    </a:p>
                    <a:p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print('cannot divide by zero')</a:t>
                      </a:r>
                    </a:p>
                    <a:p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continue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print(f'{numerator} / {denominator} = {result}')</a:t>
                      </a:r>
                      <a:endParaRPr lang="pt-BR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Numerator = 10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Denominator = 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cannot divide by zero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Numerator = 20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Denominator =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 / 3 = 6.666666666666667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Numerator = 42x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ValueError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invalid literal for </a:t>
                      </a:r>
                      <a:r>
                        <a:rPr lang="en-US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with base 10: '42x'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3" name="Right Arrow 2"/>
          <p:cNvSpPr/>
          <p:nvPr/>
        </p:nvSpPr>
        <p:spPr>
          <a:xfrm>
            <a:off x="497709" y="2792374"/>
            <a:ext cx="1597308" cy="12914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catch</a:t>
            </a:r>
            <a:r>
              <a:rPr lang="da-DK" dirty="0"/>
              <a:t> </a:t>
            </a:r>
            <a:r>
              <a:rPr lang="da-DK" dirty="0" err="1"/>
              <a:t>exception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488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5758"/>
            <a:ext cx="10515600" cy="1325563"/>
          </a:xfrm>
        </p:spPr>
        <p:txBody>
          <a:bodyPr/>
          <a:lstStyle/>
          <a:p>
            <a:r>
              <a:rPr lang="da-DK" dirty="0" err="1"/>
              <a:t>Catching</a:t>
            </a:r>
            <a:r>
              <a:rPr lang="da-DK" dirty="0"/>
              <a:t> </a:t>
            </a:r>
            <a:r>
              <a:rPr lang="da-DK" dirty="0" err="1"/>
              <a:t>exceptions</a:t>
            </a:r>
            <a:r>
              <a:rPr lang="da-DK" dirty="0"/>
              <a:t> – </a:t>
            </a:r>
            <a:r>
              <a:rPr lang="da-DK" dirty="0" err="1"/>
              <a:t>Fractions</a:t>
            </a:r>
            <a:r>
              <a:rPr lang="da-DK" dirty="0"/>
              <a:t> (III)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959342"/>
              </p:ext>
            </p:extLst>
          </p:nvPr>
        </p:nvGraphicFramePr>
        <p:xfrm>
          <a:off x="1805652" y="1142718"/>
          <a:ext cx="9057005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70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76313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fraction3.py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486818"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try: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numerator = int(input('Numerator = '))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denominator = int(input('Denominator = '))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 ValueError: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print('input not a valid integer')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continue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try: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result = numerator / denominator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except ZeroDivisionError: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print('cannot divide by zero')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continue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print(f'{numerator} / {denominator} = {result}')</a:t>
                      </a:r>
                      <a:endParaRPr lang="pt-BR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76313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281088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Numerator = 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Denominator = 2x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 not a valid integer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Numerator = 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Denominator =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 / 2 = 2.5</a:t>
                      </a:r>
                      <a:endParaRPr lang="pt-BR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3" name="Right Arrow 2"/>
          <p:cNvSpPr/>
          <p:nvPr/>
        </p:nvSpPr>
        <p:spPr>
          <a:xfrm>
            <a:off x="405114" y="3533153"/>
            <a:ext cx="1597308" cy="12914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catch</a:t>
            </a:r>
            <a:r>
              <a:rPr lang="da-DK" dirty="0"/>
              <a:t> </a:t>
            </a:r>
            <a:r>
              <a:rPr lang="da-DK" dirty="0" err="1"/>
              <a:t>exception</a:t>
            </a:r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405114" y="2235357"/>
            <a:ext cx="1597308" cy="12914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catch</a:t>
            </a:r>
            <a:r>
              <a:rPr lang="da-DK" dirty="0"/>
              <a:t> </a:t>
            </a:r>
            <a:r>
              <a:rPr lang="da-DK" dirty="0" err="1"/>
              <a:t>exception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041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902786"/>
              </p:ext>
            </p:extLst>
          </p:nvPr>
        </p:nvGraphicFramePr>
        <p:xfrm>
          <a:off x="1805652" y="744152"/>
          <a:ext cx="9057005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70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76313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fraction3.py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486818"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try: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numerator = int(input('Numerator = '))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denominator = int(input('Denominator = '))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 ValueError: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print('input not a valid integer')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continue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try: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result = numerator / denominator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print(f'{numerator} / {denominator} = {result}')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except ZeroDivisionError: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print('cannot divide by zero')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76313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281088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Numerator = 1000000000000000000000000000000000000000000000000000000000</a:t>
                      </a:r>
                    </a:p>
                    <a:p>
                      <a:pPr marL="274638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000000000000000000000000000000000000000000000000000000000000000000000000000000000000000000000000000000000000000000000000000000000000000000000000000000000000000000000000000000000000000000000000000000000000000000000000000000000000000000000000000000000000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Denominator =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OverflowError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integer division result too large for a float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3" name="Right Arrow 2"/>
          <p:cNvSpPr/>
          <p:nvPr/>
        </p:nvSpPr>
        <p:spPr>
          <a:xfrm>
            <a:off x="171768" y="5420224"/>
            <a:ext cx="1597308" cy="12914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exception</a:t>
            </a:r>
            <a:r>
              <a:rPr lang="da-DK" dirty="0"/>
              <a:t> not </a:t>
            </a:r>
            <a:r>
              <a:rPr lang="da-DK" dirty="0" err="1"/>
              <a:t>caught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186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Catching</a:t>
            </a:r>
            <a:r>
              <a:rPr lang="da-DK" dirty="0"/>
              <a:t> </a:t>
            </a:r>
            <a:r>
              <a:rPr lang="da-DK" dirty="0" err="1"/>
              <a:t>exceptions</a:t>
            </a:r>
            <a:r>
              <a:rPr lang="da-DK" dirty="0"/>
              <a:t> – </a:t>
            </a:r>
            <a:r>
              <a:rPr lang="da-DK" dirty="0" err="1"/>
              <a:t>Fractions</a:t>
            </a:r>
            <a:r>
              <a:rPr lang="da-DK" dirty="0"/>
              <a:t> (IV)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574842"/>
              </p:ext>
            </p:extLst>
          </p:nvPr>
        </p:nvGraphicFramePr>
        <p:xfrm>
          <a:off x="1805652" y="1432085"/>
          <a:ext cx="9057005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70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76313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fraction4.py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486818"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try: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numerator = int(input('Numerator = '))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denominator = int(input('Denominator = '))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result = numerator / denominator</a:t>
                      </a:r>
                    </a:p>
                    <a:p>
                      <a:r>
                        <a:rPr lang="pt-BR" sz="16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print(f'{numerator} / {denominator} = {result}')</a:t>
                      </a:r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except ValueError: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print('input not a valid integer')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except ZeroDivisionError:</a:t>
                      </a: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print('cannot divide by zero')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76313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281088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Numerator =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Denominator = 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cannot divide by zero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Numerator = 3x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 not a valid integer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Numerator = 4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Denominator =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 / 2 = 2.0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5" name="Right Arrow 4"/>
          <p:cNvSpPr/>
          <p:nvPr/>
        </p:nvSpPr>
        <p:spPr>
          <a:xfrm>
            <a:off x="370390" y="2999286"/>
            <a:ext cx="1597308" cy="12914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catch</a:t>
            </a:r>
            <a:r>
              <a:rPr lang="da-DK" dirty="0"/>
              <a:t> </a:t>
            </a:r>
            <a:r>
              <a:rPr lang="da-DK" dirty="0" err="1"/>
              <a:t>exceptions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19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Keyboard </a:t>
            </a:r>
            <a:r>
              <a:rPr lang="da-DK" dirty="0" err="1"/>
              <a:t>interrupt</a:t>
            </a:r>
            <a:r>
              <a:rPr lang="da-DK" dirty="0"/>
              <a:t> (</a:t>
            </a:r>
            <a:r>
              <a:rPr lang="da-DK" i="1" dirty="0" err="1"/>
              <a:t>Ctrl</a:t>
            </a:r>
            <a:r>
              <a:rPr lang="da-DK" i="1" dirty="0"/>
              <a:t>-c</a:t>
            </a:r>
            <a:r>
              <a:rPr lang="da-DK" dirty="0"/>
              <a:t>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11897"/>
              </p:ext>
            </p:extLst>
          </p:nvPr>
        </p:nvGraphicFramePr>
        <p:xfrm>
          <a:off x="7421366" y="2317563"/>
          <a:ext cx="409448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44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03242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infinite-loop2.py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88097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print('starting infinite loop')</a:t>
                      </a:r>
                    </a:p>
                    <a:p>
                      <a:endParaRPr 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0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while True: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x = x + 1</a:t>
                      </a:r>
                    </a:p>
                    <a:p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 </a:t>
                      </a:r>
                      <a:r>
                        <a:rPr lang="en-US" sz="16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KeyboardInterrupt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pass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f'done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({x = })')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input('type enter to exit')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303242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806691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starting infinite loop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done (x = 23890363)  </a:t>
                      </a:r>
                      <a:r>
                        <a:rPr lang="en-US" sz="1600" b="1" i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Ctrl-c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 enter to exit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591203"/>
              </p:ext>
            </p:extLst>
          </p:nvPr>
        </p:nvGraphicFramePr>
        <p:xfrm>
          <a:off x="591137" y="2317563"/>
          <a:ext cx="63169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69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76313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infinite-loop1.py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7138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print('starting infinite loop')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0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x + 1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f'done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({x = })')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input('type enter to exit')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76313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281088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starting infinite loop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Traceback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(most recent call last):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File 'infinite-loop1.py', line 4, in &lt;module&gt;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x + 1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KeyboardInterrupt</a:t>
                      </a:r>
                      <a:endParaRPr lang="en-US" sz="1600" b="1" baseline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572911"/>
            <a:ext cx="10515600" cy="626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 err="1"/>
              <a:t>throws</a:t>
            </a:r>
            <a:r>
              <a:rPr lang="da-DK" dirty="0"/>
              <a:t> </a:t>
            </a:r>
            <a:r>
              <a:rPr lang="da-DK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KeyboardInterrupt</a:t>
            </a:r>
            <a:r>
              <a:rPr lang="da-DK" dirty="0"/>
              <a:t> </a:t>
            </a:r>
            <a:r>
              <a:rPr lang="da-DK" dirty="0" err="1"/>
              <a:t>exception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205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572910"/>
            <a:ext cx="10515600" cy="528508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Be </a:t>
            </a:r>
            <a:r>
              <a:rPr lang="da-DK" dirty="0" err="1"/>
              <a:t>aware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likely</a:t>
            </a:r>
            <a:r>
              <a:rPr lang="da-DK" dirty="0"/>
              <a:t> </a:t>
            </a:r>
            <a:r>
              <a:rPr lang="da-DK" dirty="0" err="1"/>
              <a:t>would</a:t>
            </a:r>
            <a:r>
              <a:rPr lang="da-DK" dirty="0"/>
              <a:t> </a:t>
            </a:r>
            <a:r>
              <a:rPr lang="da-DK" dirty="0" err="1"/>
              <a:t>like</a:t>
            </a:r>
            <a:r>
              <a:rPr lang="da-DK" dirty="0"/>
              <a:t> to </a:t>
            </a:r>
            <a:r>
              <a:rPr lang="da-DK" dirty="0" err="1"/>
              <a:t>leave</a:t>
            </a:r>
            <a:r>
              <a:rPr lang="da-DK" dirty="0"/>
              <a:t> the </a:t>
            </a:r>
            <a:r>
              <a:rPr lang="da-DK" i="1" dirty="0" err="1"/>
              <a:t>Ctrl</a:t>
            </a:r>
            <a:r>
              <a:rPr lang="da-DK" i="1" dirty="0"/>
              <a:t>-c</a:t>
            </a:r>
            <a:r>
              <a:rPr lang="da-DK" dirty="0"/>
              <a:t> </a:t>
            </a:r>
            <a:r>
              <a:rPr lang="da-DK" dirty="0" err="1"/>
              <a:t>generated</a:t>
            </a:r>
            <a:r>
              <a:rPr lang="da-DK" dirty="0"/>
              <a:t> </a:t>
            </a:r>
            <a:r>
              <a:rPr lang="da-DK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KeyboardInterrupt</a:t>
            </a:r>
            <a:r>
              <a:rPr lang="da-DK" dirty="0"/>
              <a:t> </a:t>
            </a:r>
            <a:r>
              <a:rPr lang="da-DK" dirty="0" err="1"/>
              <a:t>exception</a:t>
            </a:r>
            <a:r>
              <a:rPr lang="da-DK" dirty="0"/>
              <a:t> </a:t>
            </a:r>
            <a:r>
              <a:rPr lang="da-DK" dirty="0" err="1"/>
              <a:t>unhandled</a:t>
            </a:r>
            <a:r>
              <a:rPr lang="da-DK" dirty="0"/>
              <a:t>, </a:t>
            </a:r>
            <a:r>
              <a:rPr lang="da-DK" dirty="0" err="1"/>
              <a:t>except</a:t>
            </a:r>
            <a:r>
              <a:rPr lang="da-DK" dirty="0"/>
              <a:t>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stated</a:t>
            </a:r>
            <a:r>
              <a:rPr lang="da-DK" dirty="0"/>
              <a:t> </a:t>
            </a:r>
            <a:r>
              <a:rPr lang="da-DK" dirty="0" err="1"/>
              <a:t>explicitly</a:t>
            </a:r>
            <a:br>
              <a:rPr lang="da-DK" dirty="0"/>
            </a:br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(</a:t>
            </a:r>
            <a:r>
              <a:rPr lang="da-DK" dirty="0" err="1"/>
              <a:t>left</a:t>
            </a:r>
            <a:r>
              <a:rPr lang="da-DK" dirty="0"/>
              <a:t>)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KeyboardInterrupt</a:t>
            </a:r>
            <a:r>
              <a:rPr lang="da-DK" dirty="0"/>
              <a:t> is </a:t>
            </a:r>
            <a:r>
              <a:rPr lang="da-DK" dirty="0" err="1"/>
              <a:t>unhandled</a:t>
            </a:r>
            <a:r>
              <a:rPr lang="da-DK" dirty="0"/>
              <a:t> (right) it is </a:t>
            </a:r>
            <a:r>
              <a:rPr lang="da-DK" dirty="0" err="1"/>
              <a:t>handled</a:t>
            </a:r>
            <a:r>
              <a:rPr lang="da-DK" dirty="0"/>
              <a:t> (</a:t>
            </a:r>
            <a:r>
              <a:rPr lang="da-DK" dirty="0" err="1"/>
              <a:t>intentionally</a:t>
            </a:r>
            <a:r>
              <a:rPr lang="da-DK" dirty="0"/>
              <a:t>?)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Keyboard </a:t>
            </a:r>
            <a:r>
              <a:rPr lang="da-DK" dirty="0" err="1"/>
              <a:t>interrupt</a:t>
            </a:r>
            <a:r>
              <a:rPr lang="da-DK" dirty="0"/>
              <a:t> (</a:t>
            </a:r>
            <a:r>
              <a:rPr lang="da-DK" i="1" dirty="0" err="1"/>
              <a:t>Ctrl</a:t>
            </a:r>
            <a:r>
              <a:rPr lang="da-DK" i="1" dirty="0"/>
              <a:t>-c</a:t>
            </a:r>
            <a:r>
              <a:rPr lang="da-DK" dirty="0"/>
              <a:t>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31603"/>
              </p:ext>
            </p:extLst>
          </p:nvPr>
        </p:nvGraphicFramePr>
        <p:xfrm>
          <a:off x="6448129" y="2506287"/>
          <a:ext cx="4950143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1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03242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read-int2.py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970558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try: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x =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(input('An integer: '))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break</a:t>
                      </a:r>
                    </a:p>
                    <a:p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except:  # all exceptions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continue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print('The value is:', x)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303242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806691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de-DE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 integer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       </a:t>
                      </a:r>
                      <a:r>
                        <a:rPr lang="en-US" sz="1600" b="1" i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Ctrl-c</a:t>
                      </a:r>
                      <a:endParaRPr lang="de-DE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de-DE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 integer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       </a:t>
                      </a:r>
                      <a:r>
                        <a:rPr lang="en-US" sz="1600" b="1" i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Ctrl-c</a:t>
                      </a:r>
                      <a:endParaRPr lang="de-DE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de-DE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 integer:</a:t>
                      </a:r>
                      <a:endParaRPr lang="en-US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537512"/>
              </p:ext>
            </p:extLst>
          </p:nvPr>
        </p:nvGraphicFramePr>
        <p:xfrm>
          <a:off x="790937" y="2505855"/>
          <a:ext cx="5316855" cy="353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68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89086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read-int1.py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760798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try: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x =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(input('An integer: '))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break</a:t>
                      </a:r>
                    </a:p>
                    <a:p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except </a:t>
                      </a:r>
                      <a:r>
                        <a:rPr lang="en-US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ValueError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# only </a:t>
                      </a:r>
                      <a:r>
                        <a:rPr lang="en-US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ValueError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continue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print('The value is:', x)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89086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823392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 integer:              </a:t>
                      </a:r>
                      <a:r>
                        <a:rPr lang="en-US" sz="1600" b="1" i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Ctrl-c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KeyboardInterrupt</a:t>
                      </a:r>
                      <a:endParaRPr lang="en-US" sz="1600" b="1" baseline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 flipH="1">
            <a:off x="10140384" y="3589227"/>
            <a:ext cx="1850021" cy="848211"/>
          </a:xfrm>
          <a:prstGeom prst="rightArrow">
            <a:avLst>
              <a:gd name="adj1" fmla="val 66375"/>
              <a:gd name="adj2" fmla="val 6882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rIns="0" rtlCol="0" anchor="ctr"/>
          <a:lstStyle/>
          <a:p>
            <a:pPr algn="ctr"/>
            <a:r>
              <a:rPr lang="da-DK" sz="1400" dirty="0" err="1"/>
              <a:t>catches</a:t>
            </a:r>
            <a:r>
              <a:rPr lang="da-DK" sz="1400" dirty="0"/>
              <a:t> </a:t>
            </a:r>
            <a:r>
              <a:rPr lang="da-DK" sz="1400" dirty="0" err="1"/>
              <a:t>KeyboardInterrupt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26288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1308796" y="2940050"/>
            <a:ext cx="2886075" cy="2185986"/>
            <a:chOff x="1358900" y="2147095"/>
            <a:chExt cx="2886075" cy="2185986"/>
          </a:xfrm>
        </p:grpSpPr>
        <p:cxnSp>
          <p:nvCxnSpPr>
            <p:cNvPr id="12" name="Straight Connector 11"/>
            <p:cNvCxnSpPr>
              <a:stCxn id="6" idx="0"/>
              <a:endCxn id="5" idx="2"/>
            </p:cNvCxnSpPr>
            <p:nvPr/>
          </p:nvCxnSpPr>
          <p:spPr>
            <a:xfrm flipV="1">
              <a:off x="3365500" y="2343151"/>
              <a:ext cx="0" cy="33655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1358900" y="2147095"/>
              <a:ext cx="2006600" cy="728662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333428" y="3604419"/>
              <a:ext cx="911547" cy="728662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2486025" y="3604419"/>
              <a:ext cx="879475" cy="728662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6" idx="2"/>
              <a:endCxn id="8" idx="0"/>
            </p:cNvCxnSpPr>
            <p:nvPr/>
          </p:nvCxnSpPr>
          <p:spPr>
            <a:xfrm>
              <a:off x="3365500" y="3071813"/>
              <a:ext cx="0" cy="33655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Exception</a:t>
            </a:r>
            <a:r>
              <a:rPr lang="da-DK" dirty="0"/>
              <a:t> </a:t>
            </a:r>
            <a:r>
              <a:rPr lang="da-DK" dirty="0" err="1"/>
              <a:t>class</a:t>
            </a:r>
            <a:r>
              <a:rPr lang="da-DK" dirty="0"/>
              <a:t> </a:t>
            </a:r>
            <a:r>
              <a:rPr lang="da-DK" dirty="0" err="1"/>
              <a:t>hierarchy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502596" y="2743994"/>
            <a:ext cx="1625600" cy="392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BaseException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502596" y="3472656"/>
            <a:ext cx="1625600" cy="392112"/>
          </a:xfrm>
          <a:prstGeom prst="roundRect">
            <a:avLst/>
          </a:prstGeom>
          <a:solidFill>
            <a:srgbClr val="C0000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Exception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5496" y="3472656"/>
            <a:ext cx="2006600" cy="392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KeyboardInterrupt</a:t>
            </a:r>
            <a:endParaRPr lang="da-DK" dirty="0"/>
          </a:p>
        </p:txBody>
      </p:sp>
      <p:sp>
        <p:nvSpPr>
          <p:cNvPr id="8" name="Rounded Rectangle 7"/>
          <p:cNvSpPr/>
          <p:nvPr/>
        </p:nvSpPr>
        <p:spPr>
          <a:xfrm>
            <a:off x="2502596" y="4201318"/>
            <a:ext cx="1625600" cy="392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LookupError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623121" y="4929980"/>
            <a:ext cx="1625600" cy="392112"/>
          </a:xfrm>
          <a:prstGeom prst="roundRect">
            <a:avLst/>
          </a:prstGeom>
          <a:solidFill>
            <a:srgbClr val="C0000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IndexError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3382071" y="4929980"/>
            <a:ext cx="1625600" cy="392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KeyError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416692" y="3071176"/>
            <a:ext cx="1841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accent1">
                    <a:lumMod val="50000"/>
                  </a:schemeClr>
                </a:solidFill>
              </a:rPr>
              <a:t>...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22868" y="3750349"/>
            <a:ext cx="1841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accent1">
                    <a:lumMod val="50000"/>
                  </a:schemeClr>
                </a:solidFill>
              </a:rPr>
              <a:t>...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03704"/>
              </p:ext>
            </p:extLst>
          </p:nvPr>
        </p:nvGraphicFramePr>
        <p:xfrm>
          <a:off x="5706745" y="2045255"/>
          <a:ext cx="6053455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34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62057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except-twice1.py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5107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L[4]</a:t>
                      </a:r>
                    </a:p>
                    <a:p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 </a:t>
                      </a:r>
                      <a:r>
                        <a:rPr lang="en-US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IndexError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must be before Exception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IndexError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Exception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print('Fall back exception handler')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013380"/>
              </p:ext>
            </p:extLst>
          </p:nvPr>
        </p:nvGraphicFramePr>
        <p:xfrm>
          <a:off x="5706744" y="4339172"/>
          <a:ext cx="6053455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34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62057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except-twice2.py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5107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L[4]</a:t>
                      </a:r>
                    </a:p>
                    <a:p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Exception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and subclasses</a:t>
                      </a:r>
                      <a:r>
                        <a:rPr lang="en-US" sz="16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of Exception</a:t>
                      </a: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print('Fall back exception handler')</a:t>
                      </a:r>
                    </a:p>
                    <a:p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 </a:t>
                      </a:r>
                      <a:r>
                        <a:rPr lang="en-US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IndexError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IndexError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  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unreachable</a:t>
                      </a:r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3267" y="5776651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21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da-DK" dirty="0"/>
              <a:t> statement </a:t>
            </a:r>
            <a:r>
              <a:rPr lang="da-DK" dirty="0" err="1"/>
              <a:t>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35433" cy="51673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a-DK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da-DK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a-DK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a-DK" sz="2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endParaRPr lang="da-DK" sz="24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a-DK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ExceptionType1:</a:t>
            </a:r>
          </a:p>
          <a:p>
            <a:pPr marL="0" indent="0"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a-DK" sz="2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da-DK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executed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if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raised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endParaRPr lang="da-DK" sz="24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# ExceptionType1 (or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subclass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 ExceptionType1)</a:t>
            </a:r>
          </a:p>
          <a:p>
            <a:pPr marL="0" indent="0">
              <a:buNone/>
            </a:pPr>
            <a:r>
              <a:rPr lang="da-DK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a-DK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ExceptionType2:</a:t>
            </a:r>
          </a:p>
          <a:p>
            <a:pPr marL="0" indent="0"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a-DK" sz="2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executed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if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type matches and none of </a:t>
            </a:r>
          </a:p>
          <a:p>
            <a:pPr marL="0" indent="0">
              <a:buNone/>
            </a:pP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# the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previous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statements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matched</a:t>
            </a:r>
            <a:endParaRPr lang="da-DK" sz="2400" i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da-DK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a-DK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a-DK" sz="2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da-DK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only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executed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if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was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raised</a:t>
            </a:r>
            <a:endParaRPr lang="da-DK" sz="24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da-DK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a-DK" sz="2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da-DK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executed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independent of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exceptions</a:t>
            </a:r>
            <a:endParaRPr lang="da-DK" sz="24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#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typically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clean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up (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closing</a:t>
            </a:r>
            <a:r>
              <a:rPr lang="da-DK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files)</a:t>
            </a:r>
          </a:p>
        </p:txBody>
      </p:sp>
      <p:sp>
        <p:nvSpPr>
          <p:cNvPr id="4" name="Left Brace 3"/>
          <p:cNvSpPr/>
          <p:nvPr/>
        </p:nvSpPr>
        <p:spPr>
          <a:xfrm>
            <a:off x="525397" y="2467627"/>
            <a:ext cx="262003" cy="2342368"/>
          </a:xfrm>
          <a:prstGeom prst="leftBrace">
            <a:avLst>
              <a:gd name="adj1" fmla="val 40199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 rot="16200000">
            <a:off x="-1375858" y="3454145"/>
            <a:ext cx="334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arbitrary</a:t>
            </a:r>
            <a:r>
              <a:rPr lang="da-DK" dirty="0"/>
              <a:t> </a:t>
            </a:r>
            <a:r>
              <a:rPr lang="da-DK" dirty="0" err="1"/>
              <a:t>number</a:t>
            </a:r>
            <a:r>
              <a:rPr lang="da-DK" dirty="0"/>
              <a:t> of </a:t>
            </a:r>
            <a:r>
              <a:rPr lang="da-DK" dirty="0" err="1"/>
              <a:t>except</a:t>
            </a:r>
            <a:r>
              <a:rPr lang="da-DK" dirty="0"/>
              <a:t> cases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775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a-DK" dirty="0"/>
              <a:t> variations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944" y="1825624"/>
            <a:ext cx="1149705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a-DK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               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all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exceptions</a:t>
            </a:r>
            <a:r>
              <a:rPr lang="da-DK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endParaRPr lang="da-DK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a-DK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ExceptionType</a:t>
            </a:r>
            <a:r>
              <a:rPr lang="da-DK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only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exceptions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ExceptionType</a:t>
            </a:r>
            <a:b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# or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subclasses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ExceptionType</a:t>
            </a:r>
            <a:endParaRPr lang="da-DK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a-DK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a-DK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(ExceptionType</a:t>
            </a:r>
            <a:r>
              <a:rPr lang="da-DK" sz="20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a-DK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ExceptionType</a:t>
            </a:r>
            <a:r>
              <a:rPr lang="da-DK" sz="20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a-DK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..., </a:t>
            </a:r>
            <a:r>
              <a:rPr lang="da-DK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ExceptionType</a:t>
            </a:r>
            <a:r>
              <a:rPr lang="da-DK" sz="2000" b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da-DK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da-DK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     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 k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classes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(and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subclasses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#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paranthesis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cannot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omitted</a:t>
            </a:r>
            <a:endParaRPr lang="da-DK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a-DK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a-DK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ExceptionType</a:t>
            </a:r>
            <a:r>
              <a:rPr lang="da-DK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e:</a:t>
            </a:r>
          </a:p>
          <a:p>
            <a:pPr marL="0" indent="0">
              <a:buNone/>
            </a:pPr>
            <a:r>
              <a:rPr lang="da-DK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e</a:t>
            </a:r>
          </a:p>
          <a:p>
            <a:pPr marL="0" indent="0">
              <a:buNone/>
            </a:pP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#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e.args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arguments to the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raised</a:t>
            </a:r>
            <a:r>
              <a:rPr lang="da-DK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endParaRPr lang="da-DK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491" y="1825625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18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694499" cy="1325563"/>
          </a:xfrm>
        </p:spPr>
        <p:txBody>
          <a:bodyPr/>
          <a:lstStyle/>
          <a:p>
            <a:r>
              <a:rPr lang="en-US" dirty="0"/>
              <a:t>Raising exceptions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840844"/>
              </p:ext>
            </p:extLst>
          </p:nvPr>
        </p:nvGraphicFramePr>
        <p:xfrm>
          <a:off x="6838445" y="1294124"/>
          <a:ext cx="458343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34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abstract.py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A():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</a:t>
                      </a:r>
                      <a:r>
                        <a:rPr lang="en-US" sz="1600" b="1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f(self):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print('f')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600" b="1" baseline="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self.g</a:t>
                      </a:r>
                      <a:r>
                        <a:rPr lang="en-US" sz="1600" b="1" baseline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</a:t>
                      </a:r>
                      <a:r>
                        <a:rPr lang="en-US" sz="1600" b="1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raise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NotImplementedError</a:t>
                      </a:r>
                      <a:endParaRPr lang="en-US" sz="1600" b="1" baseline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B(A):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</a:t>
                      </a:r>
                      <a:r>
                        <a:rPr lang="en-US" sz="1600" b="1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g(self):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print('g')</a:t>
                      </a:r>
                      <a:endParaRPr lang="pt-BR" sz="1600" b="1" baseline="0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B().f()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A().f()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NotImplementedError</a:t>
                      </a:r>
                      <a:endParaRPr lang="en-US" sz="1600" b="1" baseline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21985" y="1805225"/>
            <a:ext cx="5363068" cy="303299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da-DK" sz="2400" dirty="0">
                <a:solidFill>
                  <a:srgbClr val="000000"/>
                </a:solidFill>
              </a:rPr>
              <a:t>An </a:t>
            </a:r>
            <a:r>
              <a:rPr lang="da-DK" sz="2400" dirty="0" err="1">
                <a:solidFill>
                  <a:srgbClr val="000000"/>
                </a:solidFill>
              </a:rPr>
              <a:t>exception</a:t>
            </a:r>
            <a:r>
              <a:rPr lang="da-DK" sz="2400" dirty="0">
                <a:solidFill>
                  <a:srgbClr val="000000"/>
                </a:solidFill>
              </a:rPr>
              <a:t> is </a:t>
            </a:r>
            <a:r>
              <a:rPr lang="da-DK" sz="2400" dirty="0" err="1">
                <a:solidFill>
                  <a:srgbClr val="000000"/>
                </a:solidFill>
              </a:rPr>
              <a:t>raised</a:t>
            </a:r>
            <a:r>
              <a:rPr lang="da-DK" sz="2400" dirty="0">
                <a:solidFill>
                  <a:srgbClr val="000000"/>
                </a:solidFill>
              </a:rPr>
              <a:t> (or </a:t>
            </a:r>
            <a:r>
              <a:rPr lang="da-DK" sz="2400" dirty="0" err="1">
                <a:solidFill>
                  <a:srgbClr val="000000"/>
                </a:solidFill>
              </a:rPr>
              <a:t>trown</a:t>
            </a:r>
            <a:r>
              <a:rPr lang="da-DK" sz="2400" dirty="0">
                <a:solidFill>
                  <a:srgbClr val="000000"/>
                </a:solidFill>
              </a:rPr>
              <a:t>) </a:t>
            </a:r>
            <a:r>
              <a:rPr lang="da-DK" sz="2400" dirty="0" err="1">
                <a:solidFill>
                  <a:srgbClr val="000000"/>
                </a:solidFill>
              </a:rPr>
              <a:t>using</a:t>
            </a:r>
            <a:r>
              <a:rPr lang="da-DK" sz="2400" dirty="0">
                <a:solidFill>
                  <a:srgbClr val="000000"/>
                </a:solidFill>
              </a:rPr>
              <a:t> </a:t>
            </a:r>
            <a:r>
              <a:rPr lang="da-DK" sz="2400" dirty="0" err="1">
                <a:solidFill>
                  <a:srgbClr val="000000"/>
                </a:solidFill>
              </a:rPr>
              <a:t>one</a:t>
            </a:r>
            <a:r>
              <a:rPr lang="da-DK" sz="2400" dirty="0">
                <a:solidFill>
                  <a:srgbClr val="000000"/>
                </a:solidFill>
              </a:rPr>
              <a:t> of the </a:t>
            </a:r>
            <a:r>
              <a:rPr lang="da-DK" sz="2400" dirty="0" err="1">
                <a:solidFill>
                  <a:srgbClr val="000000"/>
                </a:solidFill>
              </a:rPr>
              <a:t>following</a:t>
            </a:r>
            <a:r>
              <a:rPr lang="da-DK" sz="2400" dirty="0">
                <a:solidFill>
                  <a:srgbClr val="000000"/>
                </a:solidFill>
              </a:rPr>
              <a:t> (the </a:t>
            </a:r>
            <a:r>
              <a:rPr lang="da-DK" sz="2400" dirty="0" err="1">
                <a:solidFill>
                  <a:srgbClr val="000000"/>
                </a:solidFill>
              </a:rPr>
              <a:t>first</a:t>
            </a:r>
            <a:r>
              <a:rPr lang="da-DK" sz="2400" dirty="0">
                <a:solidFill>
                  <a:srgbClr val="000000"/>
                </a:solidFill>
              </a:rPr>
              <a:t> </a:t>
            </a:r>
            <a:r>
              <a:rPr lang="da-DK" sz="2400" dirty="0" err="1">
                <a:solidFill>
                  <a:srgbClr val="000000"/>
                </a:solidFill>
              </a:rPr>
              <a:t>being</a:t>
            </a:r>
            <a:r>
              <a:rPr lang="da-DK" sz="2400" dirty="0">
                <a:solidFill>
                  <a:srgbClr val="000000"/>
                </a:solidFill>
              </a:rPr>
              <a:t> an alias for the </a:t>
            </a:r>
            <a:r>
              <a:rPr lang="da-DK" sz="2400" dirty="0" err="1">
                <a:solidFill>
                  <a:srgbClr val="000000"/>
                </a:solidFill>
              </a:rPr>
              <a:t>second</a:t>
            </a:r>
            <a:r>
              <a:rPr lang="da-DK" sz="2400" dirty="0">
                <a:solidFill>
                  <a:srgbClr val="000000"/>
                </a:solidFill>
              </a:rPr>
              <a:t>):</a:t>
            </a:r>
            <a:endParaRPr lang="da-DK" sz="700" dirty="0">
              <a:solidFill>
                <a:srgbClr val="000000"/>
              </a:solidFill>
            </a:endParaRPr>
          </a:p>
          <a:p>
            <a:pPr marL="0" indent="0">
              <a:buNone/>
              <a:tabLst>
                <a:tab pos="355600" algn="l"/>
              </a:tabLst>
            </a:pPr>
            <a:r>
              <a:rPr lang="da-DK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a-DK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</a:t>
            </a:r>
            <a:r>
              <a:rPr lang="da-DK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ExceptionType</a:t>
            </a:r>
            <a:endParaRPr lang="da-DK" sz="2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55600" algn="l"/>
              </a:tabLst>
            </a:pPr>
            <a:r>
              <a:rPr lang="da-DK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a-DK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</a:t>
            </a:r>
            <a:r>
              <a:rPr lang="da-DK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ExceptionType</a:t>
            </a:r>
            <a:r>
              <a:rPr lang="da-DK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  <a:tabLst>
                <a:tab pos="355600" algn="l"/>
              </a:tabLst>
            </a:pPr>
            <a:r>
              <a:rPr lang="da-DK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a-DK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</a:t>
            </a:r>
            <a:r>
              <a:rPr lang="da-DK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ExceptionType</a:t>
            </a:r>
            <a:r>
              <a:rPr lang="da-DK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da-DK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  <a:tabLst>
                <a:tab pos="444500" algn="l"/>
              </a:tabLst>
            </a:pPr>
            <a:endParaRPr lang="da-DK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956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100" y="219665"/>
            <a:ext cx="5613400" cy="1325563"/>
          </a:xfrm>
        </p:spPr>
        <p:txBody>
          <a:bodyPr/>
          <a:lstStyle/>
          <a:p>
            <a:r>
              <a:rPr lang="da-DK" dirty="0"/>
              <a:t>User </a:t>
            </a:r>
            <a:r>
              <a:rPr lang="da-DK" dirty="0" err="1"/>
              <a:t>exceptions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183" y="1816800"/>
            <a:ext cx="5257800" cy="4778376"/>
          </a:xfrm>
        </p:spPr>
        <p:txBody>
          <a:bodyPr>
            <a:normAutofit/>
          </a:bodyPr>
          <a:lstStyle/>
          <a:p>
            <a:r>
              <a:rPr lang="da-DK" dirty="0"/>
              <a:t>New </a:t>
            </a:r>
            <a:r>
              <a:rPr lang="da-DK" dirty="0" err="1"/>
              <a:t>exception</a:t>
            </a:r>
            <a:r>
              <a:rPr lang="da-DK" dirty="0"/>
              <a:t> types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created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>
                <a:solidFill>
                  <a:schemeClr val="accent1">
                    <a:lumMod val="50000"/>
                  </a:schemeClr>
                </a:solidFill>
              </a:rPr>
              <a:t>class</a:t>
            </a:r>
            <a:r>
              <a:rPr lang="da-DK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a-DK" dirty="0" err="1">
                <a:solidFill>
                  <a:schemeClr val="accent1">
                    <a:lumMod val="50000"/>
                  </a:schemeClr>
                </a:solidFill>
              </a:rPr>
              <a:t>inheritance</a:t>
            </a:r>
            <a:r>
              <a:rPr lang="da-DK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a-DK" dirty="0"/>
              <a:t>from an </a:t>
            </a:r>
            <a:r>
              <a:rPr lang="da-DK" dirty="0" err="1"/>
              <a:t>existing</a:t>
            </a:r>
            <a:r>
              <a:rPr lang="da-DK" dirty="0"/>
              <a:t> </a:t>
            </a:r>
            <a:r>
              <a:rPr lang="da-DK" dirty="0" err="1"/>
              <a:t>exception</a:t>
            </a:r>
            <a:r>
              <a:rPr lang="da-DK" dirty="0"/>
              <a:t> type</a:t>
            </a:r>
            <a:br>
              <a:rPr lang="en-US" dirty="0"/>
            </a:br>
            <a:r>
              <a:rPr lang="en-US" dirty="0"/>
              <a:t>(possibly defining __</a:t>
            </a:r>
            <a:r>
              <a:rPr lang="en-US" dirty="0" err="1"/>
              <a:t>init</a:t>
            </a:r>
            <a:r>
              <a:rPr lang="en-US" dirty="0"/>
              <a:t>__)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315384"/>
              </p:ext>
            </p:extLst>
          </p:nvPr>
        </p:nvGraphicFramePr>
        <p:xfrm>
          <a:off x="5761999" y="466173"/>
          <a:ext cx="6172518" cy="597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251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tree-search.py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SolutionFound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(Exception)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new exception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pass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recursive_tree_search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tree):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(tree, tuple):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for child in tree: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6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recursive_tree_search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child)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== tree:</a:t>
                      </a:r>
                    </a:p>
                    <a:p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raise </a:t>
                      </a:r>
                      <a:r>
                        <a:rPr lang="en-US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SolutionFound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found x in tree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tree_search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tree):</a:t>
                      </a:r>
                    </a:p>
                    <a:p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try: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recursive_tree_search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tree)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except </a:t>
                      </a:r>
                      <a:r>
                        <a:rPr lang="en-US" sz="16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SolutionFound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print('found', x)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else: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print('search for', x, 'unsuccessful')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tree_search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(8, ((3,2),5,(7,(4,6))))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search for 8 unsuccessful</a:t>
                      </a:r>
                      <a:endParaRPr lang="pt-BR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tree_search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(7, ((3,2),5,(7,(4,6))))</a:t>
                      </a:r>
                      <a:endParaRPr lang="pt-BR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found 7</a:t>
                      </a:r>
                      <a:endParaRPr lang="pt-BR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70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PEP8 on </a:t>
            </a:r>
            <a:r>
              <a:rPr lang="da-DK" dirty="0" err="1"/>
              <a:t>exceptions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For all try/except clauses, limit the try clause to the absolute </a:t>
            </a:r>
            <a:r>
              <a:rPr lang="en-US" dirty="0">
                <a:solidFill>
                  <a:srgbClr val="C00000"/>
                </a:solidFill>
              </a:rPr>
              <a:t>minimum amount of code </a:t>
            </a:r>
            <a:r>
              <a:rPr lang="en-US" dirty="0"/>
              <a:t>necessary</a:t>
            </a:r>
          </a:p>
          <a:p>
            <a:r>
              <a:rPr lang="en-US" dirty="0"/>
              <a:t>The class naming convention applies (</a:t>
            </a:r>
            <a:r>
              <a:rPr lang="en-US" dirty="0" err="1">
                <a:solidFill>
                  <a:srgbClr val="C00000"/>
                </a:solidFill>
              </a:rPr>
              <a:t>CapWords</a:t>
            </a:r>
            <a:r>
              <a:rPr lang="en-US" dirty="0"/>
              <a:t>) </a:t>
            </a:r>
          </a:p>
          <a:p>
            <a:r>
              <a:rPr lang="en-US" dirty="0"/>
              <a:t>Use the</a:t>
            </a:r>
            <a:r>
              <a:rPr lang="en-US" dirty="0">
                <a:solidFill>
                  <a:srgbClr val="C00000"/>
                </a:solidFill>
              </a:rPr>
              <a:t> suffix "Error"</a:t>
            </a:r>
            <a:r>
              <a:rPr lang="en-US" dirty="0"/>
              <a:t> on your exception names</a:t>
            </a:r>
            <a:br>
              <a:rPr lang="en-US" dirty="0"/>
            </a:br>
            <a:r>
              <a:rPr lang="en-US" dirty="0"/>
              <a:t>(if the exception actually is an error)</a:t>
            </a:r>
          </a:p>
          <a:p>
            <a:r>
              <a:rPr lang="en-US" dirty="0"/>
              <a:t>A bare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except: </a:t>
            </a:r>
            <a:r>
              <a:rPr lang="en-US" dirty="0"/>
              <a:t>clause will catch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SystemExit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/>
              <a:t>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KeyboardInterrupt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exceptions, making it harder to interrupt a program with Control-C, and can disguise other problems. </a:t>
            </a:r>
            <a:br>
              <a:rPr lang="en-US" dirty="0"/>
            </a:br>
            <a:r>
              <a:rPr lang="en-US" dirty="0"/>
              <a:t>If you want to catch all exceptions that signal program errors, use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 Exception:</a:t>
            </a:r>
          </a:p>
        </p:txBody>
      </p:sp>
      <p:sp>
        <p:nvSpPr>
          <p:cNvPr id="11" name="Rectangle 10">
            <a:hlinkClick r:id="rId2"/>
          </p:cNvPr>
          <p:cNvSpPr/>
          <p:nvPr/>
        </p:nvSpPr>
        <p:spPr>
          <a:xfrm>
            <a:off x="8238700" y="6346350"/>
            <a:ext cx="3811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www.python.org/dev/peps/pep-0008/</a:t>
            </a:r>
          </a:p>
        </p:txBody>
      </p:sp>
    </p:spTree>
    <p:extLst>
      <p:ext uri="{BB962C8B-B14F-4D97-AF65-F5344CB8AC3E}">
        <p14:creationId xmlns:p14="http://schemas.microsoft.com/office/powerpoint/2010/main" val="2205391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396477"/>
            <a:ext cx="4622800" cy="1325563"/>
          </a:xfrm>
        </p:spPr>
        <p:txBody>
          <a:bodyPr/>
          <a:lstStyle/>
          <a:p>
            <a:r>
              <a:rPr lang="da-DK" dirty="0"/>
              <a:t>3 </a:t>
            </a:r>
            <a:r>
              <a:rPr lang="da-DK" dirty="0" err="1"/>
              <a:t>ways</a:t>
            </a:r>
            <a:r>
              <a:rPr lang="da-DK" dirty="0"/>
              <a:t> to </a:t>
            </a:r>
            <a:r>
              <a:rPr lang="da-DK" dirty="0" err="1"/>
              <a:t>read</a:t>
            </a:r>
            <a:r>
              <a:rPr lang="da-DK" dirty="0"/>
              <a:t> lines from a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729" y="2212824"/>
            <a:ext cx="5930462" cy="3808592"/>
          </a:xfrm>
        </p:spPr>
        <p:txBody>
          <a:bodyPr/>
          <a:lstStyle/>
          <a:p>
            <a:pPr marL="0" indent="0">
              <a:buNone/>
            </a:pPr>
            <a:r>
              <a:rPr lang="da-DK" b="1" dirty="0"/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Open file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Read lines from file </a:t>
            </a:r>
            <a:r>
              <a:rPr lang="da-DK" dirty="0" err="1"/>
              <a:t>using</a:t>
            </a:r>
            <a:endParaRPr lang="da-DK" dirty="0"/>
          </a:p>
          <a:p>
            <a:pPr marL="842962" lvl="1" indent="-514350">
              <a:buFont typeface="+mj-lt"/>
              <a:buAutoNum type="alphaLcParenR"/>
            </a:pPr>
            <a:r>
              <a:rPr lang="da-DK" sz="2000" dirty="0">
                <a:cs typeface="Courier New" panose="02070309020205020404" pitchFamily="49" charset="0"/>
              </a:rPr>
              <a:t> 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da-DK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a-DK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filehandler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842962" lvl="1" indent="-514350">
              <a:buFont typeface="+mj-lt"/>
              <a:buAutoNum type="alphaLcParenR"/>
            </a:pPr>
            <a:r>
              <a:rPr lang="da-DK" sz="2000" dirty="0">
                <a:cs typeface="Courier New" panose="02070309020205020404" pitchFamily="49" charset="0"/>
              </a:rPr>
              <a:t> </a:t>
            </a:r>
            <a:r>
              <a:rPr lang="da-DK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filehandler</a:t>
            </a:r>
            <a:r>
              <a:rPr lang="da-DK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.readlines</a:t>
            </a:r>
            <a:endParaRPr lang="da-DK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42962" lvl="1" indent="-514350">
              <a:buFont typeface="+mj-lt"/>
              <a:buAutoNum type="alphaLcParenR"/>
            </a:pPr>
            <a:r>
              <a:rPr lang="da-DK" sz="2000" dirty="0"/>
              <a:t> </a:t>
            </a:r>
            <a:r>
              <a:rPr lang="da-DK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filehandler</a:t>
            </a:r>
            <a:r>
              <a:rPr lang="da-DK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.readline</a:t>
            </a:r>
            <a:endParaRPr lang="da-DK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Close file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701652"/>
              </p:ext>
            </p:extLst>
          </p:nvPr>
        </p:nvGraphicFramePr>
        <p:xfrm>
          <a:off x="7759698" y="719295"/>
          <a:ext cx="417830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830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1278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reading-file1.py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97819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('reading-file1.py')</a:t>
                      </a:r>
                    </a:p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line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print('&gt; ', line, end='') </a:t>
                      </a:r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598420"/>
              </p:ext>
            </p:extLst>
          </p:nvPr>
        </p:nvGraphicFramePr>
        <p:xfrm>
          <a:off x="7759699" y="2480944"/>
          <a:ext cx="414210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21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1278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reading-file2.py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97819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open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('reading-file2.py')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lines = </a:t>
                      </a:r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readlines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b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line in lines:</a:t>
                      </a:r>
                    </a:p>
                    <a:p>
                      <a:r>
                        <a:rPr lang="en-US" sz="18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('&gt; ', line, end='')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205794"/>
              </p:ext>
            </p:extLst>
          </p:nvPr>
        </p:nvGraphicFramePr>
        <p:xfrm>
          <a:off x="7759700" y="4516913"/>
          <a:ext cx="417830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830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reading-file3.py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97819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('reading-file3.py')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 = </a:t>
                      </a:r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readline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line != '':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print('&gt; ', line, end='')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line = </a:t>
                      </a:r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readline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45526" y="18883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rgbClr val="C00000"/>
                </a:solidFill>
              </a:rPr>
              <a:t>filename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10253664" y="704850"/>
            <a:ext cx="173036" cy="500007"/>
          </a:xfrm>
          <a:prstGeom prst="straightConnector1">
            <a:avLst/>
          </a:prstGeom>
          <a:ln w="3175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0261600" y="558164"/>
            <a:ext cx="215900" cy="6267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99198" y="534629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rgbClr val="C00000"/>
                </a:solidFill>
              </a:rPr>
              <a:t>filehandle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289799" y="871531"/>
            <a:ext cx="526962" cy="3422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381549" y="2059650"/>
            <a:ext cx="312155" cy="46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97905" y="1722040"/>
            <a:ext cx="1383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dirty="0" err="1">
                <a:solidFill>
                  <a:srgbClr val="C00000"/>
                </a:solidFill>
              </a:rPr>
              <a:t>close</a:t>
            </a:r>
            <a:r>
              <a:rPr lang="da-DK" dirty="0">
                <a:solidFill>
                  <a:srgbClr val="C00000"/>
                </a:solidFill>
              </a:rPr>
              <a:t> file </a:t>
            </a:r>
            <a:r>
              <a:rPr lang="da-DK" dirty="0" err="1">
                <a:solidFill>
                  <a:srgbClr val="C00000"/>
                </a:solidFill>
              </a:rPr>
              <a:t>when</a:t>
            </a:r>
            <a:r>
              <a:rPr lang="da-DK" dirty="0">
                <a:solidFill>
                  <a:srgbClr val="C00000"/>
                </a:solidFill>
              </a:rPr>
              <a:t> done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8800548" y="704850"/>
            <a:ext cx="17474" cy="476472"/>
          </a:xfrm>
          <a:prstGeom prst="straightConnector1">
            <a:avLst/>
          </a:prstGeom>
          <a:ln w="3175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8800196" y="558164"/>
            <a:ext cx="25762" cy="6335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94286" y="-30621"/>
            <a:ext cx="1592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rgbClr val="C00000"/>
                </a:solidFill>
              </a:rPr>
              <a:t>try</a:t>
            </a:r>
            <a:r>
              <a:rPr lang="da-DK" dirty="0">
                <a:solidFill>
                  <a:srgbClr val="C00000"/>
                </a:solidFill>
              </a:rPr>
              <a:t> to open file for </a:t>
            </a:r>
            <a:r>
              <a:rPr lang="da-DK" dirty="0" err="1">
                <a:solidFill>
                  <a:srgbClr val="C00000"/>
                </a:solidFill>
              </a:rPr>
              <a:t>reading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7399106" y="1516904"/>
            <a:ext cx="312155" cy="46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15462" y="1126744"/>
            <a:ext cx="1383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dirty="0" err="1">
                <a:solidFill>
                  <a:srgbClr val="C00000"/>
                </a:solidFill>
              </a:rPr>
              <a:t>iterate</a:t>
            </a:r>
            <a:r>
              <a:rPr lang="da-DK" dirty="0">
                <a:solidFill>
                  <a:srgbClr val="C00000"/>
                </a:solidFill>
              </a:rPr>
              <a:t> over lines in file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7381549" y="3301277"/>
            <a:ext cx="312155" cy="46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97905" y="2837543"/>
            <a:ext cx="1383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dirty="0" err="1">
                <a:solidFill>
                  <a:srgbClr val="C00000"/>
                </a:solidFill>
              </a:rPr>
              <a:t>read</a:t>
            </a:r>
            <a:r>
              <a:rPr lang="da-DK" dirty="0">
                <a:solidFill>
                  <a:srgbClr val="C00000"/>
                </a:solidFill>
              </a:rPr>
              <a:t> all lines </a:t>
            </a:r>
            <a:r>
              <a:rPr lang="da-DK" dirty="0" err="1">
                <a:solidFill>
                  <a:srgbClr val="C00000"/>
                </a:solidFill>
              </a:rPr>
              <a:t>into</a:t>
            </a:r>
            <a:r>
              <a:rPr lang="da-DK" dirty="0">
                <a:solidFill>
                  <a:srgbClr val="C00000"/>
                </a:solidFill>
              </a:rPr>
              <a:t> a list of </a:t>
            </a:r>
            <a:r>
              <a:rPr lang="da-DK" dirty="0" err="1">
                <a:solidFill>
                  <a:srgbClr val="C00000"/>
                </a:solidFill>
              </a:rPr>
              <a:t>strings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7358643" y="5282477"/>
            <a:ext cx="312155" cy="46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28745" y="4922142"/>
            <a:ext cx="2029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dirty="0" err="1">
                <a:solidFill>
                  <a:srgbClr val="C00000"/>
                </a:solidFill>
              </a:rPr>
              <a:t>read</a:t>
            </a:r>
            <a:r>
              <a:rPr lang="da-DK" dirty="0">
                <a:solidFill>
                  <a:srgbClr val="C00000"/>
                </a:solidFill>
              </a:rPr>
              <a:t> single line (</a:t>
            </a:r>
            <a:r>
              <a:rPr lang="da-DK" dirty="0" err="1">
                <a:solidFill>
                  <a:srgbClr val="C00000"/>
                </a:solidFill>
              </a:rPr>
              <a:t>terminated</a:t>
            </a:r>
            <a:r>
              <a:rPr lang="da-DK" dirty="0">
                <a:solidFill>
                  <a:srgbClr val="C00000"/>
                </a:solidFill>
              </a:rPr>
              <a:t> by '\n')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381" y="5933454"/>
            <a:ext cx="503657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open ('filename.txt') </a:t>
            </a:r>
            <a:r>
              <a:rPr lang="en-US" sz="1400" dirty="0"/>
              <a:t>assumes the file to be in the same folder as your Python program, but you can also provide a full path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open('c:/Users/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gerth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/Documents/filename.txt')</a:t>
            </a:r>
          </a:p>
        </p:txBody>
      </p:sp>
    </p:spTree>
    <p:extLst>
      <p:ext uri="{BB962C8B-B14F-4D97-AF65-F5344CB8AC3E}">
        <p14:creationId xmlns:p14="http://schemas.microsoft.com/office/powerpoint/2010/main" val="337993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2737186"/>
            <a:ext cx="5327013" cy="3964556"/>
          </a:xfrm>
        </p:spPr>
        <p:txBody>
          <a:bodyPr>
            <a:normAutofit/>
          </a:bodyPr>
          <a:lstStyle/>
          <a:p>
            <a:r>
              <a:rPr lang="en-US" sz="2000" dirty="0"/>
              <a:t>Opening file: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open(</a:t>
            </a:r>
            <a:r>
              <a:rPr lang="da-DK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a-DK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mode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a-DK" sz="2000" dirty="0" err="1">
                <a:cs typeface="Courier New" panose="02070309020205020404" pitchFamily="49" charset="0"/>
              </a:rPr>
              <a:t>where</a:t>
            </a:r>
            <a:r>
              <a:rPr lang="da-DK" sz="2000" dirty="0">
                <a:cs typeface="Courier New" panose="02070309020205020404" pitchFamily="49" charset="0"/>
              </a:rPr>
              <a:t> </a:t>
            </a:r>
            <a:r>
              <a:rPr lang="da-DK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mode</a:t>
            </a:r>
            <a:r>
              <a:rPr lang="da-DK" sz="2000" dirty="0">
                <a:cs typeface="Courier New" panose="02070309020205020404" pitchFamily="49" charset="0"/>
              </a:rPr>
              <a:t> is a </a:t>
            </a:r>
            <a:r>
              <a:rPr lang="da-DK" sz="2000" dirty="0" err="1">
                <a:cs typeface="Courier New" panose="02070309020205020404" pitchFamily="49" charset="0"/>
              </a:rPr>
              <a:t>string</a:t>
            </a:r>
            <a:r>
              <a:rPr lang="da-DK" sz="2000" dirty="0">
                <a:cs typeface="Courier New" panose="02070309020205020404" pitchFamily="49" charset="0"/>
              </a:rPr>
              <a:t>, </a:t>
            </a:r>
            <a:r>
              <a:rPr lang="da-DK" sz="2000" dirty="0" err="1">
                <a:cs typeface="Courier New" panose="02070309020205020404" pitchFamily="49" charset="0"/>
              </a:rPr>
              <a:t>either</a:t>
            </a:r>
            <a:r>
              <a:rPr lang="da-DK" sz="2000" dirty="0">
                <a:cs typeface="Courier New" panose="02070309020205020404" pitchFamily="49" charset="0"/>
              </a:rPr>
              <a:t> 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'w'</a:t>
            </a:r>
            <a:r>
              <a:rPr lang="da-DK" sz="2000" dirty="0">
                <a:cs typeface="Courier New" panose="02070309020205020404" pitchFamily="49" charset="0"/>
              </a:rPr>
              <a:t> for </a:t>
            </a:r>
            <a:r>
              <a:rPr lang="da-DK" sz="2000" dirty="0" err="1">
                <a:cs typeface="Courier New" panose="02070309020205020404" pitchFamily="49" charset="0"/>
              </a:rPr>
              <a:t>opening</a:t>
            </a:r>
            <a:r>
              <a:rPr lang="da-DK" sz="2000" dirty="0">
                <a:cs typeface="Courier New" panose="02070309020205020404" pitchFamily="49" charset="0"/>
              </a:rPr>
              <a:t>  a new (or </a:t>
            </a:r>
            <a:r>
              <a:rPr lang="da-DK" sz="2000" dirty="0" err="1">
                <a:cs typeface="Courier New" panose="02070309020205020404" pitchFamily="49" charset="0"/>
              </a:rPr>
              <a:t>truncating</a:t>
            </a:r>
            <a:r>
              <a:rPr lang="da-DK" sz="2000" dirty="0">
                <a:cs typeface="Courier New" panose="02070309020205020404" pitchFamily="49" charset="0"/>
              </a:rPr>
              <a:t> an </a:t>
            </a:r>
            <a:r>
              <a:rPr lang="da-DK" sz="2000" dirty="0" err="1">
                <a:cs typeface="Courier New" panose="02070309020205020404" pitchFamily="49" charset="0"/>
              </a:rPr>
              <a:t>existing</a:t>
            </a:r>
            <a:r>
              <a:rPr lang="da-DK" sz="2000" dirty="0">
                <a:cs typeface="Courier New" panose="02070309020205020404" pitchFamily="49" charset="0"/>
              </a:rPr>
              <a:t> file) and 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da-DK" sz="2000" dirty="0">
                <a:cs typeface="Courier New" panose="02070309020205020404" pitchFamily="49" charset="0"/>
              </a:rPr>
              <a:t> for </a:t>
            </a:r>
            <a:r>
              <a:rPr lang="da-DK" sz="2000" dirty="0" err="1">
                <a:cs typeface="Courier New" panose="02070309020205020404" pitchFamily="49" charset="0"/>
              </a:rPr>
              <a:t>appending</a:t>
            </a:r>
            <a:r>
              <a:rPr lang="da-DK" sz="2000" dirty="0">
                <a:cs typeface="Courier New" panose="02070309020205020404" pitchFamily="49" charset="0"/>
              </a:rPr>
              <a:t> to an </a:t>
            </a:r>
            <a:r>
              <a:rPr lang="da-DK" sz="2000" dirty="0" err="1">
                <a:cs typeface="Courier New" panose="02070309020205020404" pitchFamily="49" charset="0"/>
              </a:rPr>
              <a:t>existing</a:t>
            </a:r>
            <a:r>
              <a:rPr lang="da-DK" sz="2000" dirty="0">
                <a:cs typeface="Courier New" panose="02070309020205020404" pitchFamily="49" charset="0"/>
              </a:rPr>
              <a:t> file</a:t>
            </a:r>
            <a:endParaRPr lang="en-US" sz="2000" dirty="0">
              <a:cs typeface="Courier New" panose="02070309020205020404" pitchFamily="49" charset="0"/>
            </a:endParaRPr>
          </a:p>
          <a:p>
            <a:r>
              <a:rPr lang="en-US" sz="2000" dirty="0"/>
              <a:t>Write single string: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filehandle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.write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cs typeface="Courier New" panose="02070309020205020404" pitchFamily="49" charset="0"/>
              </a:rPr>
              <a:t>Returns the number of characters written</a:t>
            </a:r>
          </a:p>
          <a:p>
            <a:r>
              <a:rPr lang="en-US" sz="2000" dirty="0"/>
              <a:t>Write list of strings :</a:t>
            </a:r>
            <a:br>
              <a:rPr lang="en-US" sz="2000" dirty="0"/>
            </a:br>
            <a:r>
              <a:rPr lang="en-US" sz="2000" dirty="0"/>
              <a:t>    </a:t>
            </a:r>
            <a:r>
              <a:rPr 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filehandle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.writelines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a-DK" sz="2000" dirty="0" err="1"/>
              <a:t>Newlines</a:t>
            </a:r>
            <a:r>
              <a:rPr lang="da-DK" sz="2000" dirty="0"/>
              <a:t> (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da-DK" sz="2000" dirty="0"/>
              <a:t>) must </a:t>
            </a:r>
            <a:r>
              <a:rPr lang="da-DK" sz="2000" dirty="0" err="1"/>
              <a:t>be</a:t>
            </a:r>
            <a:r>
              <a:rPr lang="da-DK" sz="2000" dirty="0"/>
              <a:t> </a:t>
            </a:r>
            <a:r>
              <a:rPr lang="da-DK" sz="2000" dirty="0" err="1"/>
              <a:t>written</a:t>
            </a:r>
            <a:r>
              <a:rPr lang="da-DK" sz="2000" dirty="0"/>
              <a:t> </a:t>
            </a:r>
            <a:r>
              <a:rPr lang="da-DK" sz="2000" dirty="0" err="1"/>
              <a:t>explicitly</a:t>
            </a:r>
            <a:endParaRPr lang="da-DK" sz="2000" dirty="0"/>
          </a:p>
          <a:p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a-DK" sz="2000" dirty="0"/>
              <a:t> </a:t>
            </a:r>
            <a:r>
              <a:rPr lang="da-DK" sz="2000" dirty="0" err="1"/>
              <a:t>can</a:t>
            </a:r>
            <a:r>
              <a:rPr lang="da-DK" sz="2000" dirty="0"/>
              <a:t> </a:t>
            </a:r>
            <a:r>
              <a:rPr lang="da-DK" sz="2000" dirty="0" err="1"/>
              <a:t>take</a:t>
            </a:r>
            <a:r>
              <a:rPr lang="da-DK" sz="2000" dirty="0"/>
              <a:t> an </a:t>
            </a:r>
            <a:r>
              <a:rPr lang="da-DK" sz="2000" dirty="0" err="1"/>
              <a:t>optional</a:t>
            </a:r>
            <a:r>
              <a:rPr lang="da-DK" sz="2000" dirty="0"/>
              <a:t> 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da-DK" sz="2000" dirty="0"/>
              <a:t> argument</a:t>
            </a:r>
            <a:endParaRPr lang="en-US" sz="20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30200" y="396477"/>
            <a:ext cx="49249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3 </a:t>
            </a:r>
            <a:r>
              <a:rPr lang="da-DK" dirty="0" err="1"/>
              <a:t>ways</a:t>
            </a:r>
            <a:r>
              <a:rPr lang="da-DK" dirty="0"/>
              <a:t> to </a:t>
            </a:r>
            <a:r>
              <a:rPr lang="da-DK" dirty="0" err="1"/>
              <a:t>write</a:t>
            </a:r>
            <a:r>
              <a:rPr lang="da-DK" dirty="0"/>
              <a:t> lines to a file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249555"/>
              </p:ext>
            </p:extLst>
          </p:nvPr>
        </p:nvGraphicFramePr>
        <p:xfrm>
          <a:off x="6347822" y="1394045"/>
          <a:ext cx="537083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08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write-file.py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('output-file.txt', 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'w'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write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('Text 1\n')</a:t>
                      </a:r>
                    </a:p>
                    <a:p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writelines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(['Text 2\n', 'Text 3 '])</a:t>
                      </a:r>
                    </a:p>
                    <a:p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endParaRPr lang="pt-BR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('output-file.txt', 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'a'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pt-BR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('Text 4', </a:t>
                      </a:r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file=g</a:t>
                      </a:r>
                      <a:r>
                        <a:rPr lang="pt-BR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writelines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(['Text 5 ', 'Text 6'])</a:t>
                      </a:r>
                    </a:p>
                    <a:p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8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output-file.txt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 1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 2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 3 Text 4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 5 Text 6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H="1">
            <a:off x="7234506" y="1385251"/>
            <a:ext cx="17474" cy="476472"/>
          </a:xfrm>
          <a:prstGeom prst="straightConnector1">
            <a:avLst/>
          </a:prstGeom>
          <a:ln w="3175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7234154" y="1238565"/>
            <a:ext cx="25762" cy="6335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28244" y="649780"/>
            <a:ext cx="1592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rgbClr val="C00000"/>
                </a:solidFill>
              </a:rPr>
              <a:t>try</a:t>
            </a:r>
            <a:r>
              <a:rPr lang="da-DK" dirty="0">
                <a:solidFill>
                  <a:srgbClr val="C00000"/>
                </a:solidFill>
              </a:rPr>
              <a:t> to open file for </a:t>
            </a:r>
            <a:r>
              <a:rPr lang="da-DK" dirty="0" err="1">
                <a:solidFill>
                  <a:srgbClr val="C00000"/>
                </a:solidFill>
              </a:rPr>
              <a:t>writing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0466918" y="1385251"/>
            <a:ext cx="17474" cy="476472"/>
          </a:xfrm>
          <a:prstGeom prst="straightConnector1">
            <a:avLst/>
          </a:prstGeom>
          <a:ln w="3175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0466566" y="1238565"/>
            <a:ext cx="25762" cy="6335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97596" y="870493"/>
            <a:ext cx="159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rgbClr val="C00000"/>
                </a:solidFill>
              </a:rPr>
              <a:t>write</a:t>
            </a:r>
            <a:r>
              <a:rPr lang="da-DK" dirty="0">
                <a:solidFill>
                  <a:srgbClr val="C00000"/>
                </a:solidFill>
              </a:rPr>
              <a:t> mode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6078556" y="1931930"/>
            <a:ext cx="315702" cy="2832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15522" y="1411622"/>
            <a:ext cx="1383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dirty="0" err="1">
                <a:solidFill>
                  <a:srgbClr val="C00000"/>
                </a:solidFill>
              </a:rPr>
              <a:t>write</a:t>
            </a:r>
            <a:r>
              <a:rPr lang="da-DK" dirty="0">
                <a:solidFill>
                  <a:srgbClr val="C00000"/>
                </a:solidFill>
              </a:rPr>
              <a:t> single </a:t>
            </a:r>
            <a:r>
              <a:rPr lang="da-DK" dirty="0" err="1">
                <a:solidFill>
                  <a:srgbClr val="C00000"/>
                </a:solidFill>
              </a:rPr>
              <a:t>string</a:t>
            </a:r>
            <a:r>
              <a:rPr lang="da-DK" dirty="0">
                <a:solidFill>
                  <a:srgbClr val="C00000"/>
                </a:solidFill>
              </a:rPr>
              <a:t> to file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4" name="Straight Arrow Connector 13"/>
          <p:cNvCxnSpPr>
            <a:stCxn id="16" idx="3"/>
          </p:cNvCxnSpPr>
          <p:nvPr/>
        </p:nvCxnSpPr>
        <p:spPr>
          <a:xfrm>
            <a:off x="6061259" y="2562527"/>
            <a:ext cx="329452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77615" y="2239361"/>
            <a:ext cx="1383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dirty="0" err="1">
                <a:solidFill>
                  <a:srgbClr val="C00000"/>
                </a:solidFill>
              </a:rPr>
              <a:t>write</a:t>
            </a:r>
            <a:r>
              <a:rPr lang="da-DK" dirty="0">
                <a:solidFill>
                  <a:srgbClr val="C00000"/>
                </a:solidFill>
              </a:rPr>
              <a:t> list of </a:t>
            </a:r>
            <a:r>
              <a:rPr lang="da-DK" dirty="0" err="1">
                <a:solidFill>
                  <a:srgbClr val="C00000"/>
                </a:solidFill>
              </a:rPr>
              <a:t>strings</a:t>
            </a:r>
            <a:r>
              <a:rPr lang="da-DK" dirty="0">
                <a:solidFill>
                  <a:srgbClr val="C00000"/>
                </a:solidFill>
              </a:rPr>
              <a:t> to file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10466566" y="3037491"/>
            <a:ext cx="127862" cy="19995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862314" y="2698605"/>
            <a:ext cx="228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rgbClr val="C00000"/>
                </a:solidFill>
              </a:rPr>
              <a:t>append</a:t>
            </a:r>
            <a:r>
              <a:rPr lang="da-DK" dirty="0">
                <a:solidFill>
                  <a:srgbClr val="C00000"/>
                </a:solidFill>
              </a:rPr>
              <a:t> to </a:t>
            </a:r>
            <a:r>
              <a:rPr lang="da-DK" dirty="0" err="1">
                <a:solidFill>
                  <a:srgbClr val="C00000"/>
                </a:solidFill>
              </a:rPr>
              <a:t>existing</a:t>
            </a:r>
            <a:r>
              <a:rPr lang="da-DK" dirty="0">
                <a:solidFill>
                  <a:srgbClr val="C00000"/>
                </a:solidFill>
              </a:rPr>
              <a:t> file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496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Exceptions</a:t>
            </a:r>
            <a:r>
              <a:rPr lang="da-DK" dirty="0"/>
              <a:t> </a:t>
            </a:r>
            <a:r>
              <a:rPr lang="da-DK" dirty="0" err="1"/>
              <a:t>while</a:t>
            </a:r>
            <a:r>
              <a:rPr lang="da-DK" dirty="0"/>
              <a:t> </a:t>
            </a:r>
            <a:r>
              <a:rPr lang="da-DK" dirty="0" err="1"/>
              <a:t>dealing</a:t>
            </a:r>
            <a:r>
              <a:rPr lang="da-DK" dirty="0"/>
              <a:t> with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1773" y="3038010"/>
            <a:ext cx="4974021" cy="1926568"/>
          </a:xfrm>
        </p:spPr>
        <p:txBody>
          <a:bodyPr/>
          <a:lstStyle/>
          <a:p>
            <a:r>
              <a:rPr lang="en-US" dirty="0"/>
              <a:t>When dealing with files one should be prepared to handle errors / raised exceptions, 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FileNotFoundError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1886021"/>
              </p:ext>
            </p:extLst>
          </p:nvPr>
        </p:nvGraphicFramePr>
        <p:xfrm>
          <a:off x="6587358" y="2401094"/>
          <a:ext cx="52757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57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91530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reading-file4.py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36252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try: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 = open('reading-file4.py')</a:t>
                      </a:r>
                    </a:p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 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FileNotFoundError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print('Could not open file')</a:t>
                      </a:r>
                    </a:p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try: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for line in f: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print('&gt; ', line, end='') 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finally: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f.close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759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Opening</a:t>
            </a:r>
            <a:r>
              <a:rPr lang="da-DK" dirty="0"/>
              <a:t> files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a-DK" dirty="0"/>
              <a:t> (</a:t>
            </a:r>
            <a:r>
              <a:rPr lang="da-DK" dirty="0" err="1"/>
              <a:t>recommended</a:t>
            </a:r>
            <a:r>
              <a:rPr lang="da-DK" dirty="0"/>
              <a:t> </a:t>
            </a:r>
            <a:r>
              <a:rPr lang="da-DK" dirty="0" err="1"/>
              <a:t>way</a:t>
            </a:r>
            <a:r>
              <a:rPr lang="da-DK" dirty="0"/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660625"/>
              </p:ext>
            </p:extLst>
          </p:nvPr>
        </p:nvGraphicFramePr>
        <p:xfrm>
          <a:off x="6608379" y="3445298"/>
          <a:ext cx="50977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77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91530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reading-file5.py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36252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with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('reading-file5.py')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line in </a:t>
                      </a:r>
                      <a:r>
                        <a:rPr 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print('&gt; ', line, end='')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575442" y="2432614"/>
            <a:ext cx="5920607" cy="3442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da-DK" sz="2400" dirty="0"/>
              <a:t>The Python </a:t>
            </a:r>
            <a:r>
              <a:rPr lang="da-DK" sz="2400" dirty="0" err="1"/>
              <a:t>keyword</a:t>
            </a:r>
            <a:r>
              <a:rPr lang="da-DK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with </a:t>
            </a:r>
            <a:r>
              <a:rPr lang="da-DK" sz="2400" dirty="0" err="1"/>
              <a:t>allows</a:t>
            </a:r>
            <a:r>
              <a:rPr lang="da-DK" sz="2400" dirty="0"/>
              <a:t> to </a:t>
            </a:r>
            <a:r>
              <a:rPr lang="da-DK" sz="2400" dirty="0" err="1"/>
              <a:t>create</a:t>
            </a:r>
            <a:r>
              <a:rPr lang="da-DK" sz="2400" dirty="0"/>
              <a:t> a </a:t>
            </a:r>
            <a:r>
              <a:rPr lang="da-DK" sz="2400" i="1" dirty="0" err="1">
                <a:solidFill>
                  <a:srgbClr val="C00000"/>
                </a:solidFill>
              </a:rPr>
              <a:t>context</a:t>
            </a:r>
            <a:r>
              <a:rPr lang="da-DK" sz="2400" i="1" dirty="0">
                <a:solidFill>
                  <a:srgbClr val="C00000"/>
                </a:solidFill>
              </a:rPr>
              <a:t> manager</a:t>
            </a:r>
            <a:r>
              <a:rPr lang="da-DK" sz="2400" dirty="0">
                <a:solidFill>
                  <a:srgbClr val="C00000"/>
                </a:solidFill>
              </a:rPr>
              <a:t> </a:t>
            </a:r>
            <a:r>
              <a:rPr lang="da-DK" sz="2400" dirty="0"/>
              <a:t>for handling files</a:t>
            </a:r>
          </a:p>
          <a:p>
            <a:pPr>
              <a:spcAft>
                <a:spcPts val="1200"/>
              </a:spcAft>
            </a:pPr>
            <a:r>
              <a:rPr lang="da-DK" sz="2400" dirty="0" err="1"/>
              <a:t>Filehandle</a:t>
            </a:r>
            <a:r>
              <a:rPr lang="da-DK" sz="2400" dirty="0"/>
              <a:t> </a:t>
            </a:r>
            <a:r>
              <a:rPr lang="da-DK" sz="2400" dirty="0" err="1"/>
              <a:t>will</a:t>
            </a:r>
            <a:r>
              <a:rPr lang="da-DK" sz="2400" dirty="0"/>
              <a:t> </a:t>
            </a:r>
            <a:r>
              <a:rPr lang="da-DK" sz="2400" dirty="0" err="1"/>
              <a:t>automatically</a:t>
            </a:r>
            <a:r>
              <a:rPr lang="da-DK" sz="2400" dirty="0"/>
              <a:t> </a:t>
            </a:r>
            <a:r>
              <a:rPr lang="da-DK" sz="2400" dirty="0" err="1"/>
              <a:t>be</a:t>
            </a:r>
            <a:r>
              <a:rPr lang="da-DK" sz="2400" dirty="0"/>
              <a:t> </a:t>
            </a:r>
            <a:r>
              <a:rPr lang="da-DK" sz="2400" dirty="0" err="1"/>
              <a:t>closed</a:t>
            </a:r>
            <a:r>
              <a:rPr lang="da-DK" sz="2400" dirty="0"/>
              <a:t>, </a:t>
            </a:r>
            <a:r>
              <a:rPr lang="da-DK" sz="2400" dirty="0" err="1"/>
              <a:t>also</a:t>
            </a:r>
            <a:r>
              <a:rPr lang="da-DK" sz="2400" dirty="0"/>
              <a:t> </a:t>
            </a:r>
            <a:r>
              <a:rPr lang="da-DK" sz="2400" dirty="0" err="1"/>
              <a:t>when</a:t>
            </a:r>
            <a:r>
              <a:rPr lang="da-DK" sz="2400" dirty="0"/>
              <a:t> </a:t>
            </a:r>
            <a:r>
              <a:rPr lang="da-DK" sz="2400" dirty="0" err="1"/>
              <a:t>exceptions</a:t>
            </a:r>
            <a:r>
              <a:rPr lang="da-DK" sz="2400" dirty="0"/>
              <a:t> </a:t>
            </a:r>
            <a:r>
              <a:rPr lang="da-DK" sz="2400" dirty="0" err="1"/>
              <a:t>occur</a:t>
            </a:r>
            <a:endParaRPr lang="da-DK" sz="2400" dirty="0"/>
          </a:p>
          <a:p>
            <a:pPr>
              <a:spcAft>
                <a:spcPts val="1200"/>
              </a:spcAft>
            </a:pPr>
            <a:r>
              <a:rPr lang="da-DK" sz="2400" dirty="0"/>
              <a:t>Under the hood: </a:t>
            </a:r>
            <a:r>
              <a:rPr lang="da-DK" sz="2400" dirty="0" err="1"/>
              <a:t>filehandles</a:t>
            </a:r>
            <a:r>
              <a:rPr lang="da-DK" sz="2400" dirty="0"/>
              <a:t> </a:t>
            </a:r>
            <a:r>
              <a:rPr lang="da-DK" sz="2400" dirty="0" err="1"/>
              <a:t>returned</a:t>
            </a:r>
            <a:br>
              <a:rPr lang="da-DK" sz="2400" dirty="0"/>
            </a:br>
            <a:r>
              <a:rPr lang="da-DK" sz="2400" dirty="0"/>
              <a:t>by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open </a:t>
            </a:r>
            <a:r>
              <a:rPr lang="da-DK" sz="2400" dirty="0"/>
              <a:t>support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__enter__ </a:t>
            </a:r>
            <a:r>
              <a:rPr lang="da-DK" sz="2400" dirty="0"/>
              <a:t>and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__exit__ </a:t>
            </a:r>
            <a:r>
              <a:rPr lang="da-DK" sz="2400" dirty="0" err="1"/>
              <a:t>methods</a:t>
            </a:r>
            <a:endParaRPr lang="en-US" sz="24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0929373" y="3424259"/>
            <a:ext cx="17474" cy="476472"/>
          </a:xfrm>
          <a:prstGeom prst="straightConnector1">
            <a:avLst/>
          </a:prstGeom>
          <a:ln w="3175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10929021" y="3277573"/>
            <a:ext cx="25762" cy="6335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05825" y="2415655"/>
            <a:ext cx="3536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>
                <a:solidFill>
                  <a:srgbClr val="C00000"/>
                </a:solidFill>
              </a:rPr>
              <a:t>f = </a:t>
            </a:r>
            <a:r>
              <a:rPr lang="da-DK" dirty="0" err="1">
                <a:solidFill>
                  <a:srgbClr val="C00000"/>
                </a:solidFill>
              </a:rPr>
              <a:t>result</a:t>
            </a:r>
            <a:r>
              <a:rPr lang="da-DK" dirty="0">
                <a:solidFill>
                  <a:srgbClr val="C00000"/>
                </a:solidFill>
              </a:rPr>
              <a:t> of </a:t>
            </a:r>
            <a:r>
              <a:rPr lang="da-DK" dirty="0" err="1">
                <a:solidFill>
                  <a:srgbClr val="C00000"/>
                </a:solidFill>
              </a:rPr>
              <a:t>calling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da-DK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</a:t>
            </a:r>
            <a:r>
              <a:rPr lang="da-DK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  <a:r>
              <a:rPr lang="da-DK" dirty="0">
                <a:solidFill>
                  <a:srgbClr val="C00000"/>
                </a:solidFill>
              </a:rPr>
              <a:t> on </a:t>
            </a:r>
            <a:r>
              <a:rPr lang="da-DK" dirty="0" err="1">
                <a:solidFill>
                  <a:srgbClr val="C00000"/>
                </a:solidFill>
              </a:rPr>
              <a:t>result</a:t>
            </a:r>
            <a:r>
              <a:rPr lang="da-DK" dirty="0">
                <a:solidFill>
                  <a:srgbClr val="C00000"/>
                </a:solidFill>
              </a:rPr>
              <a:t> of </a:t>
            </a:r>
            <a:r>
              <a:rPr lang="da-DK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expression</a:t>
            </a:r>
            <a:r>
              <a:rPr lang="da-DK" dirty="0">
                <a:solidFill>
                  <a:srgbClr val="C00000"/>
                </a:solidFill>
              </a:rPr>
              <a:t>, </a:t>
            </a:r>
            <a:r>
              <a:rPr lang="da-DK" dirty="0" err="1">
                <a:solidFill>
                  <a:srgbClr val="C00000"/>
                </a:solidFill>
              </a:rPr>
              <a:t>which</a:t>
            </a:r>
            <a:r>
              <a:rPr lang="da-DK" dirty="0">
                <a:solidFill>
                  <a:srgbClr val="C00000"/>
                </a:solidFill>
              </a:rPr>
              <a:t> is the file handle</a:t>
            </a: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03A0C6-1686-30B7-790B-EA7C3EC20FFE}"/>
              </a:ext>
            </a:extLst>
          </p:cNvPr>
          <p:cNvSpPr txBox="1"/>
          <p:nvPr/>
        </p:nvSpPr>
        <p:spPr>
          <a:xfrm>
            <a:off x="4750111" y="6367870"/>
            <a:ext cx="7292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a-DK" dirty="0">
                <a:hlinkClick r:id="rId3"/>
              </a:rPr>
              <a:t>docs.python.org/3/library/stdtypes.html#typecontextmanager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05942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Does</a:t>
            </a:r>
            <a:r>
              <a:rPr lang="da-DK" dirty="0"/>
              <a:t> a file </a:t>
            </a:r>
            <a:r>
              <a:rPr lang="da-DK" dirty="0" err="1"/>
              <a:t>exist</a:t>
            </a:r>
            <a:r>
              <a:rPr lang="da-DK" dirty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23804"/>
            <a:ext cx="4955005" cy="1295947"/>
          </a:xfrm>
        </p:spPr>
        <p:txBody>
          <a:bodyPr>
            <a:normAutofit/>
          </a:bodyPr>
          <a:lstStyle/>
          <a:p>
            <a:r>
              <a:rPr lang="da-DK" dirty="0" err="1"/>
              <a:t>Module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os.path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dirty="0" err="1"/>
              <a:t>contains</a:t>
            </a:r>
            <a:r>
              <a:rPr lang="da-DK" dirty="0"/>
              <a:t> a </a:t>
            </a:r>
            <a:r>
              <a:rPr lang="da-DK" dirty="0" err="1"/>
              <a:t>method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isfile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dirty="0"/>
              <a:t>to check if a file </a:t>
            </a:r>
            <a:r>
              <a:rPr lang="da-DK" dirty="0" err="1"/>
              <a:t>exists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607362"/>
              </p:ext>
            </p:extLst>
          </p:nvPr>
        </p:nvGraphicFramePr>
        <p:xfrm>
          <a:off x="6529070" y="2444445"/>
          <a:ext cx="4824730" cy="2454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47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checking-files.py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os.path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filename = input('Filename: ')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os.path.isfile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(filename):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print('file exists')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print('file does not exist')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Rectangle 5">
            <a:hlinkClick r:id="rId2"/>
          </p:cNvPr>
          <p:cNvSpPr/>
          <p:nvPr/>
        </p:nvSpPr>
        <p:spPr>
          <a:xfrm>
            <a:off x="8121208" y="6345129"/>
            <a:ext cx="3887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docs.python.org/3/library/os.path.html</a:t>
            </a:r>
          </a:p>
        </p:txBody>
      </p:sp>
    </p:spTree>
    <p:extLst>
      <p:ext uri="{BB962C8B-B14F-4D97-AF65-F5344CB8AC3E}">
        <p14:creationId xmlns:p14="http://schemas.microsoft.com/office/powerpoint/2010/main" val="1202853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module</a:t>
            </a: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8379372" cy="4351338"/>
          </a:xfrm>
        </p:spPr>
        <p:txBody>
          <a:bodyPr/>
          <a:lstStyle/>
          <a:p>
            <a:r>
              <a:rPr lang="da-DK" dirty="0" err="1"/>
              <a:t>Module</a:t>
            </a: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r>
              <a:rPr lang="da-DK" dirty="0"/>
              <a:t> </a:t>
            </a:r>
            <a:r>
              <a:rPr lang="da-DK" dirty="0" err="1"/>
              <a:t>contains</a:t>
            </a:r>
            <a:r>
              <a:rPr lang="da-DK" dirty="0"/>
              <a:t> the </a:t>
            </a:r>
            <a:r>
              <a:rPr lang="da-DK" dirty="0" err="1"/>
              <a:t>three</a:t>
            </a:r>
            <a:r>
              <a:rPr lang="da-DK" dirty="0"/>
              <a:t> standard file handles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sys.stdin</a:t>
            </a:r>
            <a:r>
              <a:rPr lang="en-US" dirty="0"/>
              <a:t> (used by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/>
              <a:t> function)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sys.stdout</a:t>
            </a:r>
            <a:r>
              <a:rPr lang="en-US" dirty="0"/>
              <a:t> (used by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/>
              <a:t> function)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sys.stderr</a:t>
            </a:r>
            <a:r>
              <a:rPr lang="en-US" dirty="0"/>
              <a:t> (error output from the Python interpreter)</a:t>
            </a:r>
          </a:p>
        </p:txBody>
      </p:sp>
      <p:sp>
        <p:nvSpPr>
          <p:cNvPr id="5" name="Rectangle 4">
            <a:hlinkClick r:id="rId3"/>
          </p:cNvPr>
          <p:cNvSpPr/>
          <p:nvPr/>
        </p:nvSpPr>
        <p:spPr>
          <a:xfrm>
            <a:off x="8563134" y="6380655"/>
            <a:ext cx="34658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docs.python.org/3/library/sys.html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070528"/>
              </p:ext>
            </p:extLst>
          </p:nvPr>
        </p:nvGraphicFramePr>
        <p:xfrm>
          <a:off x="3001010" y="3651021"/>
          <a:ext cx="61899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99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sys-test.py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sys</a:t>
                      </a:r>
                    </a:p>
                    <a:p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sys.stdout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.write('Input an integer: ')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int(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.readline())</a:t>
                      </a:r>
                    </a:p>
                    <a:p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sys.stdout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.write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(f'{x} square is {x ** 2}')</a:t>
                      </a:r>
                      <a:endParaRPr lang="pt-BR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 an integer: 10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 square is 100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004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238"/>
          </a:xfrm>
        </p:spPr>
        <p:txBody>
          <a:bodyPr/>
          <a:lstStyle/>
          <a:p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print(..., file=</a:t>
            </a:r>
            <a:r>
              <a:rPr lang="da-DK" i="1" dirty="0">
                <a:latin typeface="Courier New" panose="02070309020205020404" pitchFamily="49" charset="0"/>
                <a:cs typeface="Courier New" panose="02070309020205020404" pitchFamily="49" charset="0"/>
              </a:rPr>
              <a:t>output file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205176"/>
              </p:ext>
            </p:extLst>
          </p:nvPr>
        </p:nvGraphicFramePr>
        <p:xfrm>
          <a:off x="2154078" y="1362102"/>
          <a:ext cx="7883843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38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sys-print-file.py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</a:t>
                      </a:r>
                    </a:p>
                    <a:p>
                      <a:r>
                        <a:rPr lang="en-US" sz="16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complicated_function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('Hello world',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print to file or STDOUT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file_name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input('Output file (empty for STDOUT): ')</a:t>
                      </a:r>
                    </a:p>
                    <a:p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file_name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== '':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sys.stdout</a:t>
                      </a:r>
                      <a:endParaRPr 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break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else: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try: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file_name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'w')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break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except Exception: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pass    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complicated_function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file !=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sys.stdout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file.close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417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2A00-079A-F0F1-AF17-BED1827A2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3043-CC40-B57B-3459-60612813E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63" y="409655"/>
            <a:ext cx="5002835" cy="923845"/>
          </a:xfrm>
        </p:spPr>
        <p:txBody>
          <a:bodyPr>
            <a:normAutofit/>
          </a:bodyPr>
          <a:lstStyle/>
          <a:p>
            <a:r>
              <a:rPr lang="en-US" dirty="0"/>
              <a:t>Input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647D0-71E6-5120-EF3B-FA797DEB2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82" y="1608649"/>
            <a:ext cx="7254818" cy="5236651"/>
          </a:xfrm>
        </p:spPr>
        <p:txBody>
          <a:bodyPr>
            <a:normAutofit/>
          </a:bodyPr>
          <a:lstStyle/>
          <a:p>
            <a:r>
              <a:rPr lang="en-US" dirty="0"/>
              <a:t>Reading 10.000.000 short lines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Note: Time difference up to a factor 10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DB784C-D612-34E4-0A37-66CE80B06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175150"/>
              </p:ext>
            </p:extLst>
          </p:nvPr>
        </p:nvGraphicFramePr>
        <p:xfrm>
          <a:off x="930779" y="2461674"/>
          <a:ext cx="6047423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2480">
                  <a:extLst>
                    <a:ext uri="{9D8B030D-6E8A-4147-A177-3AD203B41FA5}">
                      <a16:colId xmlns:a16="http://schemas.microsoft.com/office/drawing/2014/main" val="2721328640"/>
                    </a:ext>
                  </a:extLst>
                </a:gridCol>
                <a:gridCol w="1444943">
                  <a:extLst>
                    <a:ext uri="{9D8B030D-6E8A-4147-A177-3AD203B41FA5}">
                      <a16:colId xmlns:a16="http://schemas.microsoft.com/office/drawing/2014/main" val="1040404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2.2 sec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92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sys.stdin.r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eadlines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0.65 sec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58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sys.stdin.</a:t>
                      </a:r>
                      <a:r>
                        <a:rPr lang="da-DK" sz="20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2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eadline()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0.65 sec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249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eadline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sz="2000" dirty="0"/>
                        <a:t> alias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0.50 sec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630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line in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0.39 sec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04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sys.stdin.r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ead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400" dirty="0"/>
                        <a:t>0.18 sec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81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sys.stdin.r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ead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().split('\n')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400" dirty="0"/>
                        <a:t>0.53 sec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13376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B9F700-5C92-7F12-EDC7-0E6EBCB29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615917"/>
              </p:ext>
            </p:extLst>
          </p:nvPr>
        </p:nvGraphicFramePr>
        <p:xfrm>
          <a:off x="7850492" y="125730"/>
          <a:ext cx="4192351" cy="6606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2351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05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input_performance.py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time import time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sys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 = 10_000_000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 = 'numbers.txt'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test_input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i in range(n):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line = </a:t>
                      </a: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test_stdin_readline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i in range(n):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line = </a:t>
                      </a:r>
                      <a:r>
                        <a:rPr lang="en-US" sz="105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sys.stdin.readline</a:t>
                      </a: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test_stdin_readline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05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readline</a:t>
                      </a: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05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sys.stdin.readline</a:t>
                      </a:r>
                      <a:endParaRPr lang="en-US" sz="105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i in range(n):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line = </a:t>
                      </a:r>
                      <a:r>
                        <a:rPr lang="en-US" sz="105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readline</a:t>
                      </a: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test_stdin_readlines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lines = </a:t>
                      </a:r>
                      <a:r>
                        <a:rPr lang="en-US" sz="105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sys.stdin.readlines</a:t>
                      </a: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test_stdin_read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text = </a:t>
                      </a:r>
                      <a:r>
                        <a:rPr lang="en-US" sz="105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sys.stdin.read</a:t>
                      </a: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test_for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line in </a:t>
                      </a:r>
                      <a:r>
                        <a:rPr lang="en-US" sz="105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pass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create_test_input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with open(data, 'w') as file: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for i in range(n):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print(i, file=file)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create_test_input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_ in range(5):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name, value in list(vars().items()):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name.startswith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('test_'):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with open(data) as file: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original_stdin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</a:t>
                      </a:r>
                      <a:endParaRPr lang="en-US" sz="105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file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start = time()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value()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end = time()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sys.stdin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original_stdin</a:t>
                      </a:r>
                      <a:endParaRPr lang="en-US" sz="105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print(f'{name} {end - start:.2} sec')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727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63" y="409655"/>
            <a:ext cx="5002835" cy="1325563"/>
          </a:xfrm>
        </p:spPr>
        <p:txBody>
          <a:bodyPr/>
          <a:lstStyle/>
          <a:p>
            <a:r>
              <a:rPr lang="en-US" dirty="0"/>
              <a:t>Performance of scanning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082" y="2154749"/>
            <a:ext cx="5093330" cy="4576251"/>
          </a:xfrm>
        </p:spPr>
        <p:txBody>
          <a:bodyPr>
            <a:normAutofit/>
          </a:bodyPr>
          <a:lstStyle/>
          <a:p>
            <a:r>
              <a:rPr lang="en-US" dirty="0"/>
              <a:t>Python can efficiently scan through quite big files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The first search finds all lines related to ThrB12-DKP-insulin (Entry ID 6203) in a chemical database available from </a:t>
            </a:r>
            <a:r>
              <a:rPr lang="en-US" sz="1600" dirty="0">
                <a:hlinkClick r:id="rId3"/>
              </a:rPr>
              <a:t>www.bmrb.wisc.edu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The second search finds all occurrences of “Germany” in Conan Doyle's complete Sherlock Holmes available at </a:t>
            </a:r>
            <a:r>
              <a:rPr lang="en-US" sz="1600" dirty="0">
                <a:hlinkClick r:id="rId4"/>
              </a:rPr>
              <a:t>sherlock-holm.es</a:t>
            </a:r>
            <a:endParaRPr lang="en-US" sz="16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565482"/>
              </p:ext>
            </p:extLst>
          </p:nvPr>
        </p:nvGraphicFramePr>
        <p:xfrm>
          <a:off x="395356" y="3254154"/>
          <a:ext cx="4823651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63991">
                  <a:extLst>
                    <a:ext uri="{9D8B030D-6E8A-4147-A177-3AD203B41FA5}">
                      <a16:colId xmlns:a16="http://schemas.microsoft.com/office/drawing/2014/main" val="2721328640"/>
                    </a:ext>
                  </a:extLst>
                </a:gridCol>
                <a:gridCol w="1222693">
                  <a:extLst>
                    <a:ext uri="{9D8B030D-6E8A-4147-A177-3AD203B41FA5}">
                      <a16:colId xmlns:a16="http://schemas.microsoft.com/office/drawing/2014/main" val="2700074924"/>
                    </a:ext>
                  </a:extLst>
                </a:gridCol>
                <a:gridCol w="1136967">
                  <a:extLst>
                    <a:ext uri="{9D8B030D-6E8A-4147-A177-3AD203B41FA5}">
                      <a16:colId xmlns:a16="http://schemas.microsoft.com/office/drawing/2014/main" val="1040404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File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Size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Time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080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hlinkClick r:id="rId5"/>
                        </a:rPr>
                        <a:t>Atom_chem_shift.csv</a:t>
                      </a:r>
                      <a:endParaRPr lang="en-US" sz="2000" dirty="0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≈ 750 MB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≈ 8 sec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92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hlinkClick r:id="rId6"/>
                        </a:rPr>
                        <a:t>cano.txt</a:t>
                      </a:r>
                      <a:endParaRPr lang="en-US" sz="2000" dirty="0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≈ 3.7 MB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≈ 0.1 sec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66593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290218"/>
              </p:ext>
            </p:extLst>
          </p:nvPr>
        </p:nvGraphicFramePr>
        <p:xfrm>
          <a:off x="6156685" y="307871"/>
          <a:ext cx="5713730" cy="62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37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1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file-scanning.py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time import time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filename, query in [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('Atom_chem_shift.csv', ',6203,'),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('cano.txt', 'Germany')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]: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count = 0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matches = []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start = time()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with open(filename) as f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i, line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enumerate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start=1):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count += 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if query in line: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matches.append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((i, line))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end = time()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i, line in matches: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print(i, ':', line, end='')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print('Duration:', end - start)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(matches), 'of', count, 'lines match')</a:t>
                      </a:r>
                      <a:endParaRPr lang="pt-BR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1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1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1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1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3057752 : 195,,2,2,30,30,THR,HB,H,1,4.22,0.02,,1,,,,,,,,,,,,,,,,,,,,,228896,6203,2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3057753 : 196,,2,2,30,30,THR,HG21,H,1,1.18,0.02,,1,,,,,,,,,,,,,,,,,,,,,228896,6203,2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3057754 : 197,,2,2,30,30,THR,HG22,H,1,1.18,0.02,,1,,,,,,,,,,,,,,,,,,,,,228896,6203,2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3057755 : 198,,2,2,30,30,THR,HG23,H,1,1.18,0.02,,1,,,,,,,,,,,,,,,,,,,,,228896,6203,2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Duration: 7.760039329528809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 of 9758361 lines match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57557 :      "Well, then, to the West, or to England, or to Germany, where father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66515 :      kind master. He wanted me to go with his wife to Germany yesterday,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66642 :      of business in Germany in the past and my name is probably familiar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73273 :      associates with Germany. This he placed in his instrument cupboard.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Duration: 0.07700657844543457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 of 76764 lines match</a:t>
                      </a:r>
                      <a:endParaRPr lang="pt-BR" sz="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338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744095"/>
              </p:ext>
            </p:extLst>
          </p:nvPr>
        </p:nvGraphicFramePr>
        <p:xfrm>
          <a:off x="153680" y="279781"/>
          <a:ext cx="6140440" cy="6322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044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sudoku.py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6063107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Sudoku: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1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__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</a:t>
                      </a:r>
                      <a:r>
                        <a:rPr lang="en-US" sz="11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puzzle):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1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.puzzle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puzzle</a:t>
                      </a:r>
                    </a:p>
                    <a:p>
                      <a:endParaRPr lang="en-US" sz="11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1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solve(</a:t>
                      </a:r>
                      <a:r>
                        <a:rPr lang="en-US" sz="11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1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find_free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for i in range(9):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for j in range(9):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if </a:t>
                      </a:r>
                      <a:r>
                        <a:rPr lang="en-US" sz="11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.puzzle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[i][j] == 0: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 (i, j)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None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1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unused(i, j):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i_, j_ = i // 3 * 3, j // 3 * 3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cells  = {(i, k) for k in range(9)}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cells |= {(k, j) for k in range(9)}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cells |= {(i, j) for i in range(i_, i_ + 3)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for j in range(j_, j_ + 3)}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set(range(1, 10)) - {</a:t>
                      </a:r>
                      <a:r>
                        <a:rPr lang="en-US" sz="11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.puzzle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[i][j] for i, j in cells}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1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SolutionFound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Exception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pass</a:t>
                      </a:r>
                    </a:p>
                    <a:p>
                      <a:endParaRPr lang="en-US" sz="11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1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recursive_solve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cell = 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find_free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if not cell: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raise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SolutionFound</a:t>
                      </a:r>
                      <a:endParaRPr lang="en-US" sz="11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i, j = cell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for value in unused(i, j):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1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.puzzle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[i][j] = value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recursive_solve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</a:t>
                      </a:r>
                      <a:r>
                        <a:rPr lang="en-US" sz="11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.puzzle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[i][j] = 0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recursive_solve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SolutionFound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pass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538258"/>
              </p:ext>
            </p:extLst>
          </p:nvPr>
        </p:nvGraphicFramePr>
        <p:xfrm>
          <a:off x="6489055" y="279781"/>
          <a:ext cx="5520065" cy="632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006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5612">
                <a:tc>
                  <a:txBody>
                    <a:bodyPr/>
                    <a:lstStyle/>
                    <a:p>
                      <a:r>
                        <a:rPr lang="da-DK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sudoku.py (</a:t>
                      </a:r>
                      <a:r>
                        <a:rPr lang="da-DK" sz="1100" b="1" i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continued</a:t>
                      </a:r>
                      <a:r>
                        <a:rPr lang="da-DK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506730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1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print(</a:t>
                      </a:r>
                      <a:r>
                        <a:rPr lang="en-US" sz="11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i, row in enumerate(</a:t>
                      </a:r>
                      <a:r>
                        <a:rPr lang="en-US" sz="11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.puzzle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cells = [f' {c} ' if c else ' . ' for c in row]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print('|'.join([''.join(cells[j:j+3]) for j in (0,3,6)]))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if i in (2, 5):</a:t>
                      </a:r>
                    </a:p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print('---------+---------+---------')</a:t>
                      </a:r>
                    </a:p>
                    <a:p>
                      <a:endParaRPr lang="en-US" sz="11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with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open('sudoku.txt') </a:t>
                      </a: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 = Sudoku([[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 for x in </a:t>
                      </a:r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line.strip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()] </a:t>
                      </a: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line </a:t>
                      </a: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f])</a:t>
                      </a:r>
                    </a:p>
                    <a:p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A.solve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1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A.print</a:t>
                      </a:r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85612">
                <a:tc>
                  <a:txBody>
                    <a:bodyPr/>
                    <a:lstStyle/>
                    <a:p>
                      <a:r>
                        <a:rPr lang="da-DK" sz="11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sudoku.txt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620745"/>
                  </a:ext>
                </a:extLst>
              </a:tr>
              <a:tr h="1146425">
                <a:tc>
                  <a:txBody>
                    <a:bodyPr/>
                    <a:lstStyle/>
                    <a:p>
                      <a:r>
                        <a:rPr lang="da-DK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517600034</a:t>
                      </a:r>
                    </a:p>
                    <a:p>
                      <a:r>
                        <a:rPr lang="da-DK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289004000</a:t>
                      </a:r>
                    </a:p>
                    <a:p>
                      <a:r>
                        <a:rPr lang="da-DK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346205090</a:t>
                      </a:r>
                    </a:p>
                    <a:p>
                      <a:r>
                        <a:rPr lang="da-DK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602000010</a:t>
                      </a:r>
                    </a:p>
                    <a:p>
                      <a:r>
                        <a:rPr lang="da-DK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038006047</a:t>
                      </a:r>
                    </a:p>
                    <a:p>
                      <a:r>
                        <a:rPr lang="da-DK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000000000</a:t>
                      </a:r>
                    </a:p>
                    <a:p>
                      <a:r>
                        <a:rPr lang="da-DK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090000078</a:t>
                      </a:r>
                    </a:p>
                    <a:p>
                      <a:r>
                        <a:rPr lang="da-DK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703400560</a:t>
                      </a:r>
                    </a:p>
                    <a:p>
                      <a:r>
                        <a:rPr lang="da-DK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849975"/>
                  </a:ext>
                </a:extLst>
              </a:tr>
              <a:tr h="185612">
                <a:tc>
                  <a:txBody>
                    <a:bodyPr/>
                    <a:lstStyle/>
                    <a:p>
                      <a:r>
                        <a:rPr lang="da-DK" sz="11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1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1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1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411413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  1  7 | 6  9  8 | 2  3  4 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2  8  9 | 1  3  4 | 7  5  6 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3  4  6 | 2  7  5 | 8  9  1 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---------+---------+---------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6  7  2 | 8  4  9 | 3  1  5 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  3  8 | 5  2  6 | 9  4  7 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9  5  4 | 7  1  3 | 6  8  2 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---------+---------+---------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4  9  5 | 3  6  2 | 1  7  8 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7  2  3 | 4  8  1 | 5  6  9 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8  6  1 | 9  5  7 | 4  2  3</a:t>
                      </a:r>
                      <a:endParaRPr lang="pt-BR" sz="11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920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099" y="219665"/>
            <a:ext cx="8541349" cy="1325563"/>
          </a:xfrm>
        </p:spPr>
        <p:txBody>
          <a:bodyPr/>
          <a:lstStyle/>
          <a:p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da-DK" dirty="0"/>
              <a:t> –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a-DK" dirty="0"/>
              <a:t> (</a:t>
            </a:r>
            <a:r>
              <a:rPr lang="da-DK" dirty="0" err="1"/>
              <a:t>since</a:t>
            </a:r>
            <a:r>
              <a:rPr lang="da-DK" dirty="0"/>
              <a:t> Python 3.10)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2139" y="2956026"/>
          <a:ext cx="5072380" cy="336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23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72311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match-case.py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658619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7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== 1: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print('x is one')</a:t>
                      </a:r>
                    </a:p>
                    <a:p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== 2: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print('x is two')</a:t>
                      </a:r>
                    </a:p>
                    <a:p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== 3 or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== 4 or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== 5: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print('x is three, four or five')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print(x, 'is not in the range 1-5')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72311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314574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 is not in the range 1-5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A481A4-9355-47B1-B133-39B2CD357848}"/>
              </a:ext>
            </a:extLst>
          </p:cNvPr>
          <p:cNvGraphicFramePr>
            <a:graphicFrameLocks noGrp="1"/>
          </p:cNvGraphicFramePr>
          <p:nvPr/>
        </p:nvGraphicFramePr>
        <p:xfrm>
          <a:off x="5466792" y="2956026"/>
          <a:ext cx="6503069" cy="3682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306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82525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match-case.py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1959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7</a:t>
                      </a:r>
                    </a:p>
                    <a:p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match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</a:t>
                      </a:r>
                      <a:r>
                        <a:rPr lang="en-US" sz="1600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match expression</a:t>
                      </a: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print('x is one')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2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print('x is two')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3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4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match any of the cases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print('x is three, four or five')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value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else, value = variable name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print(value, 'is not in the range 1-5')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82525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0570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 is not in the range 1-5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30EC32-55F0-49D5-8E09-EF677A939BA1}"/>
              </a:ext>
            </a:extLst>
          </p:cNvPr>
          <p:cNvSpPr txBox="1">
            <a:spLocks/>
          </p:cNvSpPr>
          <p:nvPr/>
        </p:nvSpPr>
        <p:spPr>
          <a:xfrm>
            <a:off x="364043" y="1411358"/>
            <a:ext cx="11487062" cy="1325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 err="1"/>
              <a:t>Assume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to do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things</a:t>
            </a:r>
            <a:r>
              <a:rPr lang="da-DK" dirty="0"/>
              <a:t> </a:t>
            </a:r>
            <a:r>
              <a:rPr lang="da-DK" dirty="0" err="1"/>
              <a:t>depending</a:t>
            </a:r>
            <a:r>
              <a:rPr lang="da-DK" dirty="0"/>
              <a:t> on the </a:t>
            </a:r>
            <a:r>
              <a:rPr lang="da-DK" dirty="0" err="1"/>
              <a:t>value</a:t>
            </a:r>
            <a:r>
              <a:rPr lang="da-DK" dirty="0"/>
              <a:t> of an </a:t>
            </a:r>
            <a:r>
              <a:rPr lang="da-DK" dirty="0" err="1"/>
              <a:t>expression</a:t>
            </a:r>
            <a:r>
              <a:rPr lang="da-DK" dirty="0"/>
              <a:t> (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i="1" dirty="0"/>
              <a:t>cases</a:t>
            </a:r>
            <a:r>
              <a:rPr lang="da-DK" dirty="0"/>
              <a:t>)</a:t>
            </a:r>
          </a:p>
          <a:p>
            <a:r>
              <a:rPr lang="da-DK" dirty="0"/>
              <a:t>Can </a:t>
            </a:r>
            <a:r>
              <a:rPr lang="da-DK" dirty="0" err="1"/>
              <a:t>be</a:t>
            </a:r>
            <a:r>
              <a:rPr lang="da-DK" dirty="0"/>
              <a:t> done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a-DK" dirty="0"/>
              <a:t>, but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da-DK" dirty="0"/>
              <a:t> –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a-DK" dirty="0"/>
              <a:t>, </a:t>
            </a:r>
            <a:r>
              <a:rPr lang="da-DK" dirty="0" err="1"/>
              <a:t>that</a:t>
            </a:r>
            <a:r>
              <a:rPr lang="da-DK" dirty="0"/>
              <a:t> is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evaluated</a:t>
            </a:r>
            <a:r>
              <a:rPr lang="da-DK" dirty="0"/>
              <a:t> top-</a:t>
            </a:r>
            <a:r>
              <a:rPr lang="da-DK" dirty="0" err="1"/>
              <a:t>down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871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6A75348-9395-4855-8417-5D974901E868}"/>
              </a:ext>
            </a:extLst>
          </p:cNvPr>
          <p:cNvGraphicFramePr>
            <a:graphicFrameLocks noGrp="1"/>
          </p:cNvGraphicFramePr>
          <p:nvPr/>
        </p:nvGraphicFramePr>
        <p:xfrm>
          <a:off x="251810" y="4223814"/>
          <a:ext cx="36753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53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2858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match-case.py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4573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Color: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RED   = 'ff0000'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GREEN = '00ff00'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BLUE  = '0000ff'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Point: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05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match_args</a:t>
                      </a: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 </a:t>
                      </a: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('x', 'y')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__</a:t>
                      </a:r>
                      <a:r>
                        <a:rPr lang="en-US" sz="105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__(self, x, y):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05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self.x</a:t>
                      </a: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x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05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self.y</a:t>
                      </a: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y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__</a:t>
                      </a:r>
                      <a:r>
                        <a:rPr lang="en-US" sz="105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repr</a:t>
                      </a: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05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f'Point</a:t>
                      </a: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</a:t>
                      </a:r>
                      <a:r>
                        <a:rPr lang="en-US" sz="105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self.x</a:t>
                      </a: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}, {</a:t>
                      </a:r>
                      <a:r>
                        <a:rPr lang="en-US" sz="105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self.y</a:t>
                      </a:r>
                      <a:r>
                        <a:rPr lang="en-US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})'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228525"/>
              </p:ext>
            </p:extLst>
          </p:nvPr>
        </p:nvGraphicFramePr>
        <p:xfrm>
          <a:off x="4199064" y="30480"/>
          <a:ext cx="7947343" cy="679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73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503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match-case.py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0572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f(x):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match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42: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'the integer 42'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2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3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4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'integer in range(1, 6)'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1, 2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'sequence containing the elements 1 and 2'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2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'sequence of length 2, last=2, first=' + str(x)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+ y == 7: 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400" b="1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guard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'sequence with two values with sum 7'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0, 1,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x is list of remaining elements in sequence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'sequence starting with 0 and 1, and tail ' + str(x)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'a'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7, 'b'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 dictionary containing at </a:t>
                      </a:r>
                      <a:r>
                        <a:rPr lang="en-US" sz="1400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least two keys</a:t>
                      </a:r>
                      <a:endParaRPr lang="en-US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'dictionary "a" -&gt; 7, "b" -&gt; ' + str(x)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'a'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'b'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'c' | 'd'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'tuple length 2, first "a" or "b", last "c" or "d"'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'x'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'y'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fst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'x'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'y'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snd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'(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fst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snd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where 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fst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 + str(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fst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+ ', 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snd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 + str(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snd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test on </a:t>
                      </a:r>
                      <a:r>
                        <a:rPr lang="en-US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builtin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type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'a float ' + str(value)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RED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class or object attribute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'the color red'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Point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7, </a:t>
                      </a: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Point object with attributes x and y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'a Point object with x=7, and y=' + str(value)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Point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requires __</a:t>
                      </a:r>
                      <a:r>
                        <a:rPr lang="en-US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match_args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 in class Point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'a point Point(' + str(x) + ', ' + str(y) + ')'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  using the </a:t>
                      </a:r>
                      <a:r>
                        <a:rPr lang="en-US" sz="1400" b="1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wildcard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_ would not bind to a variable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'cannot match ' + 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repr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(e)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7737FDD-DF5B-4C54-9737-182C49F01611}"/>
              </a:ext>
            </a:extLst>
          </p:cNvPr>
          <p:cNvCxnSpPr>
            <a:cxnSpLocks/>
          </p:cNvCxnSpPr>
          <p:nvPr/>
        </p:nvCxnSpPr>
        <p:spPr>
          <a:xfrm flipH="1" flipV="1">
            <a:off x="2836239" y="5542119"/>
            <a:ext cx="1459039" cy="3774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C3EB954-9B43-4116-B9AA-74E3C87986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429" y="6340642"/>
            <a:ext cx="258178" cy="21489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09251D-D62B-4408-8D3E-9669B9B398E0}"/>
              </a:ext>
            </a:extLst>
          </p:cNvPr>
          <p:cNvCxnSpPr>
            <a:cxnSpLocks/>
          </p:cNvCxnSpPr>
          <p:nvPr/>
        </p:nvCxnSpPr>
        <p:spPr>
          <a:xfrm flipH="1" flipV="1">
            <a:off x="1961151" y="4794584"/>
            <a:ext cx="2334128" cy="2767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0F5EA7B3-224C-47DD-BF5D-AD37DF2E1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94" y="66284"/>
            <a:ext cx="3598780" cy="818038"/>
          </a:xfrm>
        </p:spPr>
        <p:txBody>
          <a:bodyPr>
            <a:normAutofit fontScale="90000"/>
          </a:bodyPr>
          <a:lstStyle/>
          <a:p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da-DK" dirty="0"/>
              <a:t> –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39C6EA6-78C2-4D8F-82B7-6DC15D0BBD6D}"/>
              </a:ext>
            </a:extLst>
          </p:cNvPr>
          <p:cNvSpPr txBox="1">
            <a:spLocks/>
          </p:cNvSpPr>
          <p:nvPr/>
        </p:nvSpPr>
        <p:spPr>
          <a:xfrm>
            <a:off x="400525" y="829213"/>
            <a:ext cx="3257075" cy="328535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dirty="0"/>
              <a:t>Can match…</a:t>
            </a:r>
          </a:p>
          <a:p>
            <a:r>
              <a:rPr lang="da-DK" dirty="0"/>
              <a:t>simple </a:t>
            </a:r>
            <a:r>
              <a:rPr lang="da-DK" dirty="0" err="1"/>
              <a:t>values</a:t>
            </a:r>
            <a:endParaRPr lang="da-DK" dirty="0"/>
          </a:p>
          <a:p>
            <a:r>
              <a:rPr lang="da-DK" dirty="0" err="1"/>
              <a:t>named</a:t>
            </a:r>
            <a:r>
              <a:rPr lang="da-DK" dirty="0"/>
              <a:t> variable </a:t>
            </a:r>
            <a:r>
              <a:rPr lang="da-DK" dirty="0" err="1"/>
              <a:t>values</a:t>
            </a:r>
            <a:r>
              <a:rPr lang="da-DK" dirty="0"/>
              <a:t> </a:t>
            </a:r>
          </a:p>
          <a:p>
            <a:r>
              <a:rPr lang="da-DK" dirty="0" err="1"/>
              <a:t>guards</a:t>
            </a:r>
            <a:r>
              <a:rPr lang="da-DK" dirty="0"/>
              <a:t> (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a-DK" dirty="0"/>
              <a:t>)</a:t>
            </a:r>
          </a:p>
          <a:p>
            <a:r>
              <a:rPr lang="da-DK" dirty="0" err="1"/>
              <a:t>sequences</a:t>
            </a:r>
            <a:r>
              <a:rPr lang="da-DK" dirty="0"/>
              <a:t> of </a:t>
            </a:r>
            <a:r>
              <a:rPr lang="da-DK" dirty="0" err="1"/>
              <a:t>values</a:t>
            </a:r>
            <a:endParaRPr lang="da-DK" dirty="0"/>
          </a:p>
          <a:p>
            <a:r>
              <a:rPr lang="da-DK" dirty="0" err="1"/>
              <a:t>dictionaries</a:t>
            </a:r>
            <a:endParaRPr lang="da-DK" dirty="0"/>
          </a:p>
          <a:p>
            <a:r>
              <a:rPr lang="da-DK" dirty="0" err="1"/>
              <a:t>builtin</a:t>
            </a:r>
            <a:r>
              <a:rPr lang="da-DK" dirty="0"/>
              <a:t> types</a:t>
            </a:r>
          </a:p>
          <a:p>
            <a:r>
              <a:rPr lang="da-DK" dirty="0"/>
              <a:t>user </a:t>
            </a:r>
            <a:r>
              <a:rPr lang="da-DK" dirty="0" err="1"/>
              <a:t>defined</a:t>
            </a:r>
            <a:r>
              <a:rPr lang="da-DK" dirty="0"/>
              <a:t> </a:t>
            </a:r>
            <a:r>
              <a:rPr lang="da-DK" dirty="0" err="1"/>
              <a:t>classes</a:t>
            </a:r>
            <a:endParaRPr lang="da-DK" dirty="0"/>
          </a:p>
          <a:p>
            <a:r>
              <a:rPr lang="da-DK" dirty="0" err="1"/>
              <a:t>nested</a:t>
            </a:r>
            <a:r>
              <a:rPr lang="da-DK" dirty="0"/>
              <a:t> </a:t>
            </a:r>
            <a:r>
              <a:rPr lang="da-DK" dirty="0" err="1"/>
              <a:t>structures</a:t>
            </a:r>
            <a:r>
              <a:rPr lang="da-DK" dirty="0"/>
              <a:t> of the </a:t>
            </a:r>
            <a:r>
              <a:rPr lang="da-DK" dirty="0" err="1"/>
              <a:t>above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28740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79346D-4580-4415-A8DF-89103609571D}"/>
              </a:ext>
            </a:extLst>
          </p:cNvPr>
          <p:cNvGraphicFramePr>
            <a:graphicFrameLocks noGrp="1"/>
          </p:cNvGraphicFramePr>
          <p:nvPr/>
        </p:nvGraphicFramePr>
        <p:xfrm>
          <a:off x="444165" y="1097280"/>
          <a:ext cx="11303669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366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348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</a:t>
                      </a:r>
                      <a:r>
                        <a:rPr lang="da-DK" sz="14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r>
                        <a:rPr lang="da-DK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(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match-case.py</a:t>
                      </a:r>
                      <a:r>
                        <a:rPr lang="da-DK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400" b="1" i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continued</a:t>
                      </a:r>
                      <a:r>
                        <a:rPr lang="da-DK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da-DK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3029335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x in [42, 1, [1, 2], [7, 2], range(3, 5), (3, (5, 7)), (0, 1, 2, 3, 4, 5), {'a':7, 'b':42, 'c':1}, </a:t>
                      </a:r>
                      <a:b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('b', 'c'), ('y', 'x'), 3.14, 'ff0000', Point(7, 42), Point(3, 5), '</a:t>
                      </a: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']:</a:t>
                      </a:r>
                      <a:b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print('f(' + </a:t>
                      </a: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repr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 + ') = ' + </a:t>
                      </a: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repr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(f(x)))</a:t>
                      </a:r>
                      <a:endParaRPr lang="pt-BR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f(42) = 'the integer 42'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f(1) = 'integer in range(1, 6)'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f([1, 2]) = 'sequence containing the elements 1 and 2'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f([7, 2]) = 'sequence of length 2, last=2, first=7'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f(range(3, 5)) = 'sequence with two values with sum 7'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f((3, (5, 7))) = 'a triplet (3, (5, 7))'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f((0, 1, 2, 3, 4, 5)) = 'sequence starting with 0 and 1, and tail [2, 3, 4, 5]'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f({'a': 7, 'b': 42, 'c': 1}) = 'dictionary "a" -&gt; 7, "b" -&gt; 42'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f(('b', 'c')) = 'tuple length 2, first "a" or "b", last "c" or "d"'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f(('y', 'x')) = '(</a:t>
                      </a: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fst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snd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where </a:t>
                      </a: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fst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=y, </a:t>
                      </a: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snd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=x'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f(3.14) = 'a float 3.14'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f('ff0000') = 'the color red'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f(Point(7, 42)) = 'a Point object with x=7, and y=42'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f(Point(3, 5)) = 'a point Point(3, 5)'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f('</a:t>
                      </a: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 = "cannot match '</a:t>
                      </a: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'"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840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39278</TotalTime>
  <Words>5735</Words>
  <Application>Microsoft Office PowerPoint</Application>
  <PresentationFormat>Widescreen</PresentationFormat>
  <Paragraphs>858</Paragraphs>
  <Slides>30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Wingdings</vt:lpstr>
      <vt:lpstr>Office Theme</vt:lpstr>
      <vt:lpstr>Exceptions and file input/output</vt:lpstr>
      <vt:lpstr>Exceptions – Error handling and control flow</vt:lpstr>
      <vt:lpstr>Built-in exceptions   (class hierarchy)</vt:lpstr>
      <vt:lpstr>Typical  built-in exceptions  and unhandled behaviour</vt:lpstr>
      <vt:lpstr>Catching exceptions – Fractions (I)</vt:lpstr>
      <vt:lpstr>Catching exceptions – Fractions (II)</vt:lpstr>
      <vt:lpstr>Catching exceptions – Fractions (III)</vt:lpstr>
      <vt:lpstr>PowerPoint Presentation</vt:lpstr>
      <vt:lpstr>Catching exceptions – Fractions (IV)</vt:lpstr>
      <vt:lpstr>Keyboard interrupt (Ctrl-c)</vt:lpstr>
      <vt:lpstr>Keyboard interrupt (Ctrl-c)</vt:lpstr>
      <vt:lpstr>Exception class hierarchy</vt:lpstr>
      <vt:lpstr>try statement syntax</vt:lpstr>
      <vt:lpstr>except variations</vt:lpstr>
      <vt:lpstr>Raising exceptions</vt:lpstr>
      <vt:lpstr>User exceptions</vt:lpstr>
      <vt:lpstr>PEP8 on exceptions</vt:lpstr>
      <vt:lpstr>3 ways to read lines from a file</vt:lpstr>
      <vt:lpstr>PowerPoint Presentation</vt:lpstr>
      <vt:lpstr>Exceptions while dealing with files</vt:lpstr>
      <vt:lpstr>Opening files using with (recommended way)</vt:lpstr>
      <vt:lpstr>Does a file exist?</vt:lpstr>
      <vt:lpstr>module sys</vt:lpstr>
      <vt:lpstr>print(..., file=output file)</vt:lpstr>
      <vt:lpstr>Input performance</vt:lpstr>
      <vt:lpstr>Performance of scanning a file</vt:lpstr>
      <vt:lpstr>PowerPoint Presentation</vt:lpstr>
      <vt:lpstr>match – case (since Python 3.10)</vt:lpstr>
      <vt:lpstr>match – case</vt:lpstr>
      <vt:lpstr>PowerPoint Presentation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1359</cp:revision>
  <dcterms:created xsi:type="dcterms:W3CDTF">2017-10-19T06:54:16Z</dcterms:created>
  <dcterms:modified xsi:type="dcterms:W3CDTF">2026-03-09T06:25:57Z</dcterms:modified>
</cp:coreProperties>
</file>