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484" r:id="rId2"/>
    <p:sldId id="739" r:id="rId3"/>
    <p:sldId id="740" r:id="rId4"/>
    <p:sldId id="741" r:id="rId5"/>
    <p:sldId id="745" r:id="rId6"/>
    <p:sldId id="761" r:id="rId7"/>
    <p:sldId id="752" r:id="rId8"/>
    <p:sldId id="753" r:id="rId9"/>
    <p:sldId id="755" r:id="rId10"/>
    <p:sldId id="757" r:id="rId11"/>
    <p:sldId id="743" r:id="rId12"/>
    <p:sldId id="744" r:id="rId13"/>
    <p:sldId id="746" r:id="rId14"/>
    <p:sldId id="747" r:id="rId15"/>
    <p:sldId id="748" r:id="rId16"/>
    <p:sldId id="742" r:id="rId17"/>
    <p:sldId id="749" r:id="rId18"/>
    <p:sldId id="763" r:id="rId19"/>
    <p:sldId id="750" r:id="rId20"/>
    <p:sldId id="751" r:id="rId21"/>
    <p:sldId id="553" r:id="rId22"/>
    <p:sldId id="762" r:id="rId23"/>
    <p:sldId id="754" r:id="rId24"/>
    <p:sldId id="758" r:id="rId25"/>
    <p:sldId id="759" r:id="rId26"/>
    <p:sldId id="760" r:id="rId27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FF"/>
    <a:srgbClr val="FFF2CC"/>
    <a:srgbClr val="FFA7A7"/>
    <a:srgbClr val="DEEBF7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5E3571-507B-471A-9D2B-B43BFC98C308}" v="3" dt="2026-04-22T06:38:13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88" autoAdjust="0"/>
    <p:restoredTop sz="66667" autoAdjust="0"/>
  </p:normalViewPr>
  <p:slideViewPr>
    <p:cSldViewPr snapToGrid="0">
      <p:cViewPr varScale="1">
        <p:scale>
          <a:sx n="39" d="100"/>
          <a:sy n="39" d="100"/>
        </p:scale>
        <p:origin x="1388" y="28"/>
      </p:cViewPr>
      <p:guideLst/>
    </p:cSldViewPr>
  </p:slideViewPr>
  <p:outlineViewPr>
    <p:cViewPr>
      <p:scale>
        <a:sx n="33" d="100"/>
        <a:sy n="33" d="100"/>
      </p:scale>
      <p:origin x="0" y="-68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undo custSel modSld">
      <pc:chgData name="Gerth Stølting Brodal" userId="04ef4784-6591-4f86-a140-f5c3b108582a" providerId="ADAL" clId="{73BAC7D6-516A-44B5-B4B0-C7B08CA8B392}" dt="2026-04-22T07:29:47.136" v="103" actId="478"/>
      <pc:docMkLst>
        <pc:docMk/>
      </pc:docMkLst>
      <pc:sldChg chg="modSp mod">
        <pc:chgData name="Gerth Stølting Brodal" userId="04ef4784-6591-4f86-a140-f5c3b108582a" providerId="ADAL" clId="{73BAC7D6-516A-44B5-B4B0-C7B08CA8B392}" dt="2026-04-22T05:56:30.990" v="1" actId="790"/>
        <pc:sldMkLst>
          <pc:docMk/>
          <pc:sldMk cId="2166717285" sldId="484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166717285" sldId="48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166717285" sldId="484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22T05:56:30.990" v="1" actId="790"/>
        <pc:sldMkLst>
          <pc:docMk/>
          <pc:sldMk cId="3173404384" sldId="553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173404384" sldId="55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173404384" sldId="553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173404384" sldId="553"/>
            <ac:spMk id="10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3173404384" sldId="553"/>
            <ac:graphicFrameMk id="6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22T05:56:43.610" v="2" actId="790"/>
        <pc:sldMkLst>
          <pc:docMk/>
          <pc:sldMk cId="239214263" sldId="739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39214263" sldId="739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239214263" sldId="739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239214263" sldId="739"/>
            <ac:graphicFrameMk id="5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22T06:19:35.134" v="38" actId="20577"/>
        <pc:sldMkLst>
          <pc:docMk/>
          <pc:sldMk cId="3608733085" sldId="740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608733085" sldId="74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608733085" sldId="740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6:19:35.134" v="38" actId="20577"/>
          <ac:spMkLst>
            <pc:docMk/>
            <pc:sldMk cId="3608733085" sldId="740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608733085" sldId="740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608733085" sldId="740"/>
            <ac:spMk id="10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3608733085" sldId="740"/>
            <ac:graphicFrameMk id="7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22T05:57:14.294" v="4" actId="790"/>
        <pc:sldMkLst>
          <pc:docMk/>
          <pc:sldMk cId="304124644" sldId="741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04124644" sldId="74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04124644" sldId="741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04124644" sldId="741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304124644" sldId="741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304124644" sldId="741"/>
            <ac:graphicFrameMk id="5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22T05:59:11.681" v="16" actId="790"/>
        <pc:sldMkLst>
          <pc:docMk/>
          <pc:sldMk cId="3625384155" sldId="742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625384155" sldId="74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625384155" sldId="742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625384155" sldId="742"/>
            <ac:spMk id="4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3625384155" sldId="742"/>
            <ac:graphicFrameMk id="6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2T05:56:30.990" v="1" actId="790"/>
        <pc:sldMkLst>
          <pc:docMk/>
          <pc:sldMk cId="3034808351" sldId="743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034808351" sldId="74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034808351" sldId="743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034808351" sldId="743"/>
            <ac:spMk id="5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22T06:48:23.989" v="100" actId="313"/>
        <pc:sldMkLst>
          <pc:docMk/>
          <pc:sldMk cId="101745355" sldId="744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101745355" sldId="744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6:48:23.989" v="100" actId="313"/>
          <ac:graphicFrameMkLst>
            <pc:docMk/>
            <pc:sldMk cId="101745355" sldId="744"/>
            <ac:graphicFrameMk id="5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101745355" sldId="744"/>
            <ac:graphicFrameMk id="6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22T05:57:25.919" v="6" actId="20577"/>
        <pc:sldMkLst>
          <pc:docMk/>
          <pc:sldMk cId="4265023066" sldId="745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4265023066" sldId="745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4265023066" sldId="745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4265023066" sldId="745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2T05:56:30.990" v="1" actId="790"/>
        <pc:sldMkLst>
          <pc:docMk/>
          <pc:sldMk cId="2568885646" sldId="746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568885646" sldId="74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568885646" sldId="746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568885646" sldId="746"/>
            <ac:spMk id="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568885646" sldId="746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568885646" sldId="746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568885646" sldId="746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568885646" sldId="746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568885646" sldId="746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568885646" sldId="746"/>
            <ac:spMk id="1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568885646" sldId="746"/>
            <ac:spMk id="14" creationId="{00000000-0000-0000-0000-000000000000}"/>
          </ac:spMkLst>
        </pc:spChg>
      </pc:sldChg>
      <pc:sldChg chg="modSp mod modNotesTx">
        <pc:chgData name="Gerth Stølting Brodal" userId="04ef4784-6591-4f86-a140-f5c3b108582a" providerId="ADAL" clId="{73BAC7D6-516A-44B5-B4B0-C7B08CA8B392}" dt="2026-04-22T05:58:48.843" v="12" actId="790"/>
        <pc:sldMkLst>
          <pc:docMk/>
          <pc:sldMk cId="3276024500" sldId="747"/>
        </pc:sldMkLst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3276024500" sldId="747"/>
            <ac:graphicFrameMk id="4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22T05:59:01.202" v="15" actId="790"/>
        <pc:sldMkLst>
          <pc:docMk/>
          <pc:sldMk cId="442516600" sldId="748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442516600" sldId="748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442516600" sldId="748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442516600" sldId="748"/>
            <ac:graphicFrameMk id="5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442516600" sldId="748"/>
            <ac:graphicFrameMk id="6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2T05:56:30.990" v="1" actId="790"/>
        <pc:sldMkLst>
          <pc:docMk/>
          <pc:sldMk cId="2127691251" sldId="749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127691251" sldId="74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127691251" sldId="749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127691251" sldId="749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2127691251" sldId="749"/>
            <ac:graphicFrameMk id="5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22T06:00:19.752" v="23" actId="20577"/>
        <pc:sldMkLst>
          <pc:docMk/>
          <pc:sldMk cId="1162371961" sldId="750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1162371961" sldId="75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1162371961" sldId="750"/>
            <ac:spMk id="3" creationId="{00000000-0000-0000-0000-000000000000}"/>
          </ac:spMkLst>
        </pc:spChg>
      </pc:sldChg>
      <pc:sldChg chg="modSp mod modNotesTx">
        <pc:chgData name="Gerth Stølting Brodal" userId="04ef4784-6591-4f86-a140-f5c3b108582a" providerId="ADAL" clId="{73BAC7D6-516A-44B5-B4B0-C7B08CA8B392}" dt="2026-04-22T06:00:29.089" v="24" actId="790"/>
        <pc:sldMkLst>
          <pc:docMk/>
          <pc:sldMk cId="2552353221" sldId="751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552353221" sldId="75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552353221" sldId="751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552353221" sldId="751"/>
            <ac:spMk id="10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2552353221" sldId="751"/>
            <ac:graphicFrameMk id="6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22T05:57:52.649" v="9" actId="790"/>
        <pc:sldMkLst>
          <pc:docMk/>
          <pc:sldMk cId="996186609" sldId="752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996186609" sldId="75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996186609" sldId="752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996186609" sldId="752"/>
            <ac:graphicFrameMk id="4" creationId="{00000000-0000-0000-0000-000000000000}"/>
          </ac:graphicFrameMkLst>
        </pc:graphicFrameChg>
      </pc:sldChg>
      <pc:sldChg chg="addSp modSp mod modNotesTx">
        <pc:chgData name="Gerth Stølting Brodal" userId="04ef4784-6591-4f86-a140-f5c3b108582a" providerId="ADAL" clId="{73BAC7D6-516A-44B5-B4B0-C7B08CA8B392}" dt="2026-04-22T06:38:18.835" v="94" actId="1076"/>
        <pc:sldMkLst>
          <pc:docMk/>
          <pc:sldMk cId="3331187803" sldId="753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331187803" sldId="75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331187803" sldId="753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331187803" sldId="753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331187803" sldId="753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331187803" sldId="753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331187803" sldId="753"/>
            <ac:spMk id="1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331187803" sldId="753"/>
            <ac:spMk id="14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331187803" sldId="753"/>
            <ac:spMk id="1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331187803" sldId="753"/>
            <ac:spMk id="1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3331187803" sldId="753"/>
            <ac:graphicFrameMk id="5" creationId="{00000000-0000-0000-0000-000000000000}"/>
          </ac:graphicFrameMkLst>
        </pc:graphicFrameChg>
        <pc:picChg chg="add mod">
          <ac:chgData name="Gerth Stølting Brodal" userId="04ef4784-6591-4f86-a140-f5c3b108582a" providerId="ADAL" clId="{73BAC7D6-516A-44B5-B4B0-C7B08CA8B392}" dt="2026-04-22T06:38:18.835" v="94" actId="1076"/>
          <ac:picMkLst>
            <pc:docMk/>
            <pc:sldMk cId="3331187803" sldId="753"/>
            <ac:picMk id="4" creationId="{292F9082-3261-2C75-A833-30D597752C5D}"/>
          </ac:picMkLst>
        </pc:picChg>
      </pc:sldChg>
      <pc:sldChg chg="modSp mod">
        <pc:chgData name="Gerth Stølting Brodal" userId="04ef4784-6591-4f86-a140-f5c3b108582a" providerId="ADAL" clId="{73BAC7D6-516A-44B5-B4B0-C7B08CA8B392}" dt="2026-04-22T05:56:30.990" v="1" actId="790"/>
        <pc:sldMkLst>
          <pc:docMk/>
          <pc:sldMk cId="307534449" sldId="754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07534449" sldId="75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07534449" sldId="754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07534449" sldId="754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07534449" sldId="754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07534449" sldId="754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307534449" sldId="754"/>
            <ac:spMk id="1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307534449" sldId="754"/>
            <ac:graphicFrameMk id="13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22T05:58:13.212" v="11" actId="790"/>
        <pc:sldMkLst>
          <pc:docMk/>
          <pc:sldMk cId="687059020" sldId="755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687059020" sldId="755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687059020" sldId="755"/>
            <ac:graphicFrameMk id="5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687059020" sldId="755"/>
            <ac:graphicFrameMk id="1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2T05:56:30.990" v="1" actId="790"/>
        <pc:sldMkLst>
          <pc:docMk/>
          <pc:sldMk cId="1845448441" sldId="757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1845448441" sldId="75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1845448441" sldId="757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1845448441" sldId="757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1845448441" sldId="757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2T05:56:30.990" v="1" actId="790"/>
        <pc:sldMkLst>
          <pc:docMk/>
          <pc:sldMk cId="2288104617" sldId="758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288104617" sldId="75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288104617" sldId="758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288104617" sldId="758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2288104617" sldId="758"/>
            <ac:graphicFrameMk id="5" creationId="{00000000-0000-0000-0000-000000000000}"/>
          </ac:graphicFrameMkLst>
        </pc:graphicFrameChg>
      </pc:sldChg>
      <pc:sldChg chg="addSp delSp modSp mod">
        <pc:chgData name="Gerth Stølting Brodal" userId="04ef4784-6591-4f86-a140-f5c3b108582a" providerId="ADAL" clId="{73BAC7D6-516A-44B5-B4B0-C7B08CA8B392}" dt="2026-04-22T07:29:47.136" v="103" actId="478"/>
        <pc:sldMkLst>
          <pc:docMk/>
          <pc:sldMk cId="2125857501" sldId="759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2125857501" sldId="759"/>
            <ac:spMk id="2" creationId="{00000000-0000-0000-0000-000000000000}"/>
          </ac:spMkLst>
        </pc:spChg>
        <pc:spChg chg="add del mod">
          <ac:chgData name="Gerth Stølting Brodal" userId="04ef4784-6591-4f86-a140-f5c3b108582a" providerId="ADAL" clId="{73BAC7D6-516A-44B5-B4B0-C7B08CA8B392}" dt="2026-04-22T07:29:47.136" v="103" actId="478"/>
          <ac:spMkLst>
            <pc:docMk/>
            <pc:sldMk cId="2125857501" sldId="759"/>
            <ac:spMk id="6" creationId="{6D4F78E5-54B3-1DEA-2602-AA47EDCD7862}"/>
          </ac:spMkLst>
        </pc:spChg>
        <pc:graphicFrameChg chg="add del modGraphic">
          <ac:chgData name="Gerth Stølting Brodal" userId="04ef4784-6591-4f86-a140-f5c3b108582a" providerId="ADAL" clId="{73BAC7D6-516A-44B5-B4B0-C7B08CA8B392}" dt="2026-04-22T07:29:47.136" v="103" actId="478"/>
          <ac:graphicFrameMkLst>
            <pc:docMk/>
            <pc:sldMk cId="2125857501" sldId="759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22T05:56:30.990" v="1" actId="790"/>
        <pc:sldMkLst>
          <pc:docMk/>
          <pc:sldMk cId="1254553076" sldId="760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1254553076" sldId="760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1254553076" sldId="760"/>
            <ac:graphicFrameMk id="4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22T06:24:38.870" v="92" actId="20577"/>
        <pc:sldMkLst>
          <pc:docMk/>
          <pc:sldMk cId="1862523078" sldId="761"/>
        </pc:sldMkLst>
        <pc:spChg chg="mod">
          <ac:chgData name="Gerth Stølting Brodal" userId="04ef4784-6591-4f86-a140-f5c3b108582a" providerId="ADAL" clId="{73BAC7D6-516A-44B5-B4B0-C7B08CA8B392}" dt="2026-04-22T05:57:34.617" v="7" actId="790"/>
          <ac:spMkLst>
            <pc:docMk/>
            <pc:sldMk cId="1862523078" sldId="761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7:34.617" v="7" actId="790"/>
          <ac:spMkLst>
            <pc:docMk/>
            <pc:sldMk cId="1862523078" sldId="761"/>
            <ac:spMk id="1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7:34.617" v="7" actId="790"/>
          <ac:graphicFrameMkLst>
            <pc:docMk/>
            <pc:sldMk cId="1862523078" sldId="761"/>
            <ac:graphicFrameMk id="9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22T06:01:05.681" v="27" actId="20577"/>
        <pc:sldMkLst>
          <pc:docMk/>
          <pc:sldMk cId="4027195530" sldId="762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4027195530" sldId="76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4027195530" sldId="762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22T05:56:30.990" v="1" actId="790"/>
          <ac:graphicFrameMkLst>
            <pc:docMk/>
            <pc:sldMk cId="4027195530" sldId="762"/>
            <ac:graphicFrameMk id="4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22T05:59:43.459" v="19" actId="20577"/>
        <pc:sldMkLst>
          <pc:docMk/>
          <pc:sldMk cId="1398081635" sldId="763"/>
        </pc:sldMkLst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1398081635" sldId="763"/>
            <ac:spMk id="2" creationId="{5D5692E9-C863-4B34-BF4E-DC6FACE6D270}"/>
          </ac:spMkLst>
        </pc:spChg>
        <pc:spChg chg="mod">
          <ac:chgData name="Gerth Stølting Brodal" userId="04ef4784-6591-4f86-a140-f5c3b108582a" providerId="ADAL" clId="{73BAC7D6-516A-44B5-B4B0-C7B08CA8B392}" dt="2026-04-22T05:56:30.990" v="1" actId="790"/>
          <ac:spMkLst>
            <pc:docMk/>
            <pc:sldMk cId="1398081635" sldId="763"/>
            <ac:spMk id="6" creationId="{37C283FB-615B-498A-B261-FD0628F2FF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Python has support for many different file types</a:t>
            </a:r>
          </a:p>
          <a:p>
            <a:r>
              <a:rPr lang="en-US" noProof="0" dirty="0"/>
              <a:t>.csv is a .xml file format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86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Pillow is a new branch</a:t>
            </a:r>
            <a:r>
              <a:rPr lang="en-US" baseline="0" dirty="0"/>
              <a:t> of the old “PIL” module</a:t>
            </a:r>
          </a:p>
          <a:p>
            <a:endParaRPr lang="en-US" baseline="0" dirty="0"/>
          </a:p>
          <a:p>
            <a:r>
              <a:rPr lang="en-US" baseline="0" dirty="0"/>
              <a:t>The original Python Image Library was called PIL but stopped being developed in 2009. https://www.pythonware.com/products/pil/</a:t>
            </a:r>
          </a:p>
          <a:p>
            <a:r>
              <a:rPr lang="en-US" baseline="0" dirty="0"/>
              <a:t>Pillow is a fork of PIL that is updated regularly ("</a:t>
            </a:r>
            <a:r>
              <a:rPr lang="en-US" dirty="0"/>
              <a:t>Pillow is released quarterly on January 2nd, April 1st, July 1st and October 15th.")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35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CSV files can have a nonuniform</a:t>
            </a:r>
            <a:r>
              <a:rPr lang="en-US" baseline="0" noProof="0" dirty="0"/>
              <a:t> number of columns in the rows</a:t>
            </a:r>
          </a:p>
          <a:p>
            <a:r>
              <a:rPr lang="en-US" baseline="0" noProof="0" dirty="0"/>
              <a:t>Recall with-as closes the file automatically</a:t>
            </a:r>
          </a:p>
          <a:p>
            <a:r>
              <a:rPr lang="en-US" b="1" baseline="0" noProof="0" dirty="0" err="1"/>
              <a:t>Numpy</a:t>
            </a:r>
            <a:r>
              <a:rPr lang="en-US" b="1" baseline="0" noProof="0" dirty="0"/>
              <a:t> </a:t>
            </a:r>
            <a:r>
              <a:rPr lang="en-US" baseline="0" noProof="0" dirty="0"/>
              <a:t>and </a:t>
            </a:r>
            <a:r>
              <a:rPr lang="en-US" b="1" baseline="0" noProof="0" dirty="0"/>
              <a:t>Pandas</a:t>
            </a:r>
            <a:r>
              <a:rPr lang="en-US" baseline="0" noProof="0" dirty="0"/>
              <a:t> support reading tables directly, so no </a:t>
            </a:r>
            <a:r>
              <a:rPr lang="en-US" baseline="0" noProof="0" dirty="0" err="1"/>
              <a:t>nead</a:t>
            </a:r>
            <a:r>
              <a:rPr lang="en-US" baseline="0" noProof="0" dirty="0"/>
              <a:t> to use the CSV module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2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Sometimes “.csv” files that are tab-separated are called “.</a:t>
            </a:r>
            <a:r>
              <a:rPr lang="en-US" noProof="0" dirty="0" err="1"/>
              <a:t>tsv</a:t>
            </a:r>
            <a:r>
              <a:rPr lang="en-US" noProof="0" dirty="0"/>
              <a:t>” files</a:t>
            </a:r>
          </a:p>
          <a:p>
            <a:r>
              <a:rPr lang="en-US" noProof="0" dirty="0"/>
              <a:t>It is common that fields using “;” as separator are also called “.csv” files (confusing!)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41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Fun fact: Saving “comma” separated in</a:t>
            </a:r>
            <a:r>
              <a:rPr lang="en-US" baseline="0" noProof="0" dirty="0"/>
              <a:t> Excel uses semi-colon </a:t>
            </a:r>
            <a:r>
              <a:rPr lang="en-US" baseline="0" noProof="0" dirty="0">
                <a:sym typeface="Wingdings" panose="05000000000000000000" pitchFamily="2" charset="2"/>
              </a:rPr>
              <a:t></a:t>
            </a:r>
          </a:p>
          <a:p>
            <a:r>
              <a:rPr lang="en-US" baseline="0" noProof="0" dirty="0">
                <a:sym typeface="Wingdings" panose="05000000000000000000" pitchFamily="2" charset="2"/>
              </a:rPr>
              <a:t>Often the first line of a CSV file is header line</a:t>
            </a:r>
          </a:p>
          <a:p>
            <a:r>
              <a:rPr lang="en-US" baseline="0" noProof="0" dirty="0">
                <a:sym typeface="Wingdings" panose="05000000000000000000" pitchFamily="2" charset="2"/>
              </a:rPr>
              <a:t>grade : remember to convert to int</a:t>
            </a:r>
          </a:p>
          <a:p>
            <a:r>
              <a:rPr lang="en-US" baseline="0" noProof="0" dirty="0">
                <a:sym typeface="Wingdings" panose="05000000000000000000" pitchFamily="2" charset="2"/>
              </a:rPr>
              <a:t>Use ”.get” to allow undefined entries and get a default value (could also have used a "</a:t>
            </a:r>
            <a:r>
              <a:rPr lang="en-US" baseline="0" noProof="0" dirty="0" err="1">
                <a:sym typeface="Wingdings" panose="05000000000000000000" pitchFamily="2" charset="2"/>
              </a:rPr>
              <a:t>defaultdict</a:t>
            </a:r>
            <a:r>
              <a:rPr lang="en-US" baseline="0" noProof="0" dirty="0">
                <a:sym typeface="Wingdings" panose="05000000000000000000" pitchFamily="2" charset="2"/>
              </a:rPr>
              <a:t>")</a:t>
            </a:r>
          </a:p>
          <a:p>
            <a:endParaRPr lang="en-US" baseline="0" noProof="0" dirty="0">
              <a:sym typeface="Wingdings" panose="05000000000000000000" pitchFamily="2" charset="2"/>
            </a:endParaRPr>
          </a:p>
          <a:p>
            <a:r>
              <a:rPr lang="en-US" baseline="0" noProof="0" dirty="0">
                <a:sym typeface="Wingdings" panose="05000000000000000000" pitchFamily="2" charset="2"/>
              </a:rPr>
              <a:t>Excel &gt; File &gt; Options &gt; Advanced 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36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Since</a:t>
            </a:r>
            <a:r>
              <a:rPr lang="en-US" baseline="0" noProof="0" dirty="0"/>
              <a:t> the columns in csv files have a given type by the application using the csv file, it might not be a problem not to be able to differentiate between numbers and strings containing numbers</a:t>
            </a:r>
          </a:p>
          <a:p>
            <a:endParaRPr lang="en-US" baseline="0" noProof="0" dirty="0"/>
          </a:p>
          <a:p>
            <a:r>
              <a:rPr lang="en-US" baseline="0" noProof="0" dirty="0" err="1"/>
              <a:t>csv.QUOTE</a:t>
            </a:r>
            <a:r>
              <a:rPr lang="en-US" baseline="0" noProof="0" dirty="0"/>
              <a:t>_... are just integers</a:t>
            </a:r>
          </a:p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37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Notepad on Windows can e.g. tell you a file encoding when you select ”Save as”</a:t>
            </a:r>
          </a:p>
          <a:p>
            <a:r>
              <a:rPr lang="en-US" noProof="0" dirty="0"/>
              <a:t>Online tools can also do it</a:t>
            </a:r>
          </a:p>
          <a:p>
            <a:r>
              <a:rPr lang="en-US" noProof="0" dirty="0"/>
              <a:t>Python packages</a:t>
            </a:r>
            <a:r>
              <a:rPr lang="en-US" baseline="0" noProof="0" dirty="0"/>
              <a:t> also exist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Longer string ”Æ </a:t>
            </a:r>
            <a:r>
              <a:rPr lang="en-US" noProof="0" dirty="0" err="1"/>
              <a:t>Æ</a:t>
            </a:r>
            <a:r>
              <a:rPr lang="en-US" noProof="0" dirty="0"/>
              <a:t> U Å Æ Ø I Æ Å, Æ</a:t>
            </a:r>
            <a:r>
              <a:rPr lang="en-US" baseline="0" noProof="0" dirty="0"/>
              <a:t> </a:t>
            </a:r>
            <a:r>
              <a:rPr lang="en-US" baseline="0" noProof="0" dirty="0" err="1"/>
              <a:t>Æ</a:t>
            </a:r>
            <a:r>
              <a:rPr lang="en-US" baseline="0" noProof="0" dirty="0"/>
              <a:t>!”</a:t>
            </a:r>
          </a:p>
          <a:p>
            <a:endParaRPr lang="en-US" baseline="0" noProof="0" dirty="0"/>
          </a:p>
          <a:p>
            <a:r>
              <a:rPr lang="en-US" baseline="0" noProof="0" dirty="0"/>
              <a:t>EMACS:</a:t>
            </a:r>
          </a:p>
          <a:p>
            <a:r>
              <a:rPr lang="en-US" baseline="0" noProof="0" dirty="0"/>
              <a:t>Ctrl-h v </a:t>
            </a:r>
            <a:r>
              <a:rPr lang="en-US" noProof="0" dirty="0"/>
              <a:t>buffer-file-coding-system </a:t>
            </a:r>
            <a:r>
              <a:rPr lang="en-US" baseline="0" noProof="0" dirty="0"/>
              <a:t> (describe current buffers encoding)</a:t>
            </a:r>
            <a:endParaRPr lang="en-US" noProof="0" dirty="0"/>
          </a:p>
          <a:p>
            <a:pPr algn="l"/>
            <a:r>
              <a:rPr lang="en-US" noProof="0" dirty="0"/>
              <a:t>M-x set-buffer-file-coding-system  (before saving)</a:t>
            </a:r>
            <a:r>
              <a:rPr lang="en-US" baseline="0" noProof="0" dirty="0"/>
              <a:t> </a:t>
            </a:r>
            <a:endParaRPr lang="en-US" noProof="0" dirty="0"/>
          </a:p>
          <a:p>
            <a:pPr algn="l"/>
            <a:r>
              <a:rPr lang="en-US" noProof="0" dirty="0"/>
              <a:t>M-x revert-buffer-with-coding-system  (on already open buffer,</a:t>
            </a:r>
            <a:r>
              <a:rPr lang="en-US" baseline="0" noProof="0" dirty="0"/>
              <a:t> but with wrong encoding)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89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list('</a:t>
            </a:r>
            <a:r>
              <a:rPr lang="en-US" noProof="0" dirty="0" err="1"/>
              <a:t>abc</a:t>
            </a:r>
            <a:r>
              <a:rPr lang="en-US" noProof="0" dirty="0"/>
              <a:t>') vs</a:t>
            </a:r>
            <a:r>
              <a:rPr lang="en-US" baseline="0" noProof="0" dirty="0"/>
              <a:t> list(</a:t>
            </a:r>
            <a:r>
              <a:rPr lang="en-US" b="1" baseline="0" noProof="0" dirty="0" err="1"/>
              <a:t>b</a:t>
            </a:r>
            <a:r>
              <a:rPr lang="en-US" baseline="0" noProof="0" dirty="0" err="1"/>
              <a:t>'abc</a:t>
            </a:r>
            <a:r>
              <a:rPr lang="en-US" baseline="0" noProof="0" dirty="0"/>
              <a:t>'), to create byte array </a:t>
            </a:r>
            <a:r>
              <a:rPr lang="en-US" b="1" baseline="0" noProof="0" dirty="0"/>
              <a:t>bytes</a:t>
            </a:r>
            <a:r>
              <a:rPr lang="en-US" baseline="0" noProof="0" dirty="0"/>
              <a:t>([97, 98, 99])</a:t>
            </a:r>
          </a:p>
          <a:p>
            <a:r>
              <a:rPr lang="en-US" baseline="0" noProof="0" dirty="0"/>
              <a:t>”Æ” requires two bytes in utf-8 but only one in windows1252</a:t>
            </a:r>
          </a:p>
          <a:p>
            <a:endParaRPr lang="en-US" baseline="0" noProof="0" dirty="0"/>
          </a:p>
          <a:p>
            <a:r>
              <a:rPr lang="en-US" noProof="0" dirty="0"/>
              <a:t>&gt;&gt;&gt; 'Æ' &lt; 'Å'</a:t>
            </a:r>
          </a:p>
          <a:p>
            <a:r>
              <a:rPr lang="en-US" noProof="0" dirty="0"/>
              <a:t>False</a:t>
            </a:r>
          </a:p>
          <a:p>
            <a:r>
              <a:rPr lang="en-US" noProof="0" dirty="0"/>
              <a:t>&gt;&gt;&gt; 'Æ' &gt; 'Å'</a:t>
            </a:r>
          </a:p>
          <a:p>
            <a:r>
              <a:rPr lang="en-US" noProof="0" dirty="0"/>
              <a:t>True</a:t>
            </a:r>
          </a:p>
          <a:p>
            <a:r>
              <a:rPr lang="en-US" noProof="0" dirty="0"/>
              <a:t>&gt;&gt;&gt;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62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57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import sys</a:t>
            </a:r>
          </a:p>
          <a:p>
            <a:r>
              <a:rPr lang="da-DK" dirty="0"/>
              <a:t>import </a:t>
            </a:r>
            <a:r>
              <a:rPr lang="da-DK" dirty="0" err="1"/>
              <a:t>json</a:t>
            </a:r>
            <a:endParaRPr lang="da-DK" dirty="0"/>
          </a:p>
          <a:p>
            <a:r>
              <a:rPr lang="en-US" dirty="0" err="1"/>
              <a:t>json.dump</a:t>
            </a:r>
            <a:r>
              <a:rPr lang="en-US" dirty="0"/>
              <a:t>({'a':42, 42:'a'}, </a:t>
            </a:r>
            <a:r>
              <a:rPr lang="en-US" dirty="0" err="1"/>
              <a:t>sys.stdout</a:t>
            </a:r>
            <a:r>
              <a:rPr lang="en-US" dirty="0"/>
              <a:t>, indent=1, </a:t>
            </a:r>
            <a:r>
              <a:rPr lang="en-US" dirty="0" err="1"/>
              <a:t>sort_keys</a:t>
            </a:r>
            <a:r>
              <a:rPr lang="en-US" dirty="0"/>
              <a:t>=True)</a:t>
            </a:r>
          </a:p>
          <a:p>
            <a:endParaRPr lang="en-US" dirty="0"/>
          </a:p>
          <a:p>
            <a:r>
              <a:rPr lang="en-US" dirty="0"/>
              <a:t>(In </a:t>
            </a:r>
            <a:r>
              <a:rPr lang="en-US" dirty="0" err="1"/>
              <a:t>Javascript</a:t>
            </a:r>
            <a:r>
              <a:rPr lang="en-US" dirty="0"/>
              <a:t> None is called “null”, and “true” and “false” are not capitalized, no line breaks in strings)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07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street maps exported from https://www.openstreetmap.org are XML files (have extension ".</a:t>
            </a:r>
            <a:r>
              <a:rPr lang="en-US" dirty="0" err="1"/>
              <a:t>osm</a:t>
            </a:r>
            <a:r>
              <a:rPr lang="en-US" dirty="0"/>
              <a:t>")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2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.iter takes tag type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59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above</a:t>
            </a:r>
            <a:r>
              <a:rPr lang="en-US" baseline="0" noProof="0" dirty="0"/>
              <a:t> ”.get()” is used instead of ”</a:t>
            </a:r>
            <a:r>
              <a:rPr lang="en-US" baseline="0" noProof="0" dirty="0" err="1"/>
              <a:t>attrib</a:t>
            </a:r>
            <a:r>
              <a:rPr lang="en-US" baseline="0" noProof="0" dirty="0"/>
              <a:t>[]”. </a:t>
            </a:r>
          </a:p>
          <a:p>
            <a:r>
              <a:rPr lang="en-US" baseline="0" noProof="0" dirty="0"/>
              <a:t>.</a:t>
            </a:r>
            <a:r>
              <a:rPr lang="en-US" baseline="0" noProof="0" dirty="0" err="1"/>
              <a:t>attrib</a:t>
            </a:r>
            <a:r>
              <a:rPr lang="en-US" baseline="0" noProof="0" dirty="0"/>
              <a:t> is a dictionary (type </a:t>
            </a:r>
            <a:r>
              <a:rPr lang="en-US" baseline="0" noProof="0" dirty="0" err="1"/>
              <a:t>dict</a:t>
            </a:r>
            <a:r>
              <a:rPr lang="en-US" baseline="0" noProof="0" dirty="0"/>
              <a:t>)</a:t>
            </a:r>
          </a:p>
          <a:p>
            <a:r>
              <a:rPr lang="en-US" baseline="0" noProof="0" dirty="0"/>
              <a:t>.get returns default value (None) if attribute does not exist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601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An .xlsx file is really a zip file containing a folder with a lot of xml files</a:t>
            </a:r>
          </a:p>
          <a:p>
            <a:r>
              <a:rPr lang="en-US" noProof="0" dirty="0"/>
              <a:t>EXCEL files allow formatting opposed to a simple .csv file</a:t>
            </a:r>
          </a:p>
          <a:p>
            <a:r>
              <a:rPr lang="en-US" noProof="0" dirty="0"/>
              <a:t>Example: </a:t>
            </a:r>
            <a:r>
              <a:rPr lang="en-US" noProof="0" dirty="0" err="1"/>
              <a:t>openpyxl</a:t>
            </a:r>
            <a:r>
              <a:rPr lang="en-US" noProof="0" dirty="0"/>
              <a:t>-example/xl/worksheets/sheet1.xml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420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Python 3.10.8 vs 3.9.7 timings: 3.9 had quadratic time on ”bad example”</a:t>
            </a:r>
          </a:p>
          <a:p>
            <a:r>
              <a:rPr lang="en-US" noProof="0" dirty="0"/>
              <a:t>Python 3.9 was released in 2020, but already back in 1977 (Knuth-Morris-Pratt) it was known how to support find in worst-case linear time – but the Python developers had prioritized typical performance over worst-case performance. </a:t>
            </a:r>
          </a:p>
          <a:p>
            <a:r>
              <a:rPr lang="en-US" noProof="0" dirty="0"/>
              <a:t>Timings below 10</a:t>
            </a:r>
            <a:r>
              <a:rPr lang="en-US" baseline="30000" noProof="0" dirty="0"/>
              <a:t>-1</a:t>
            </a:r>
            <a:r>
              <a:rPr lang="en-US" noProof="0" dirty="0"/>
              <a:t> seconds noisy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764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Example: find substring that is part of word (i.e., letters before and after)</a:t>
            </a:r>
          </a:p>
          <a:p>
            <a:endParaRPr lang="en-US" noProof="0" dirty="0"/>
          </a:p>
          <a:p>
            <a:r>
              <a:rPr lang="en-US" noProof="0" dirty="0"/>
              <a:t>Regular expressions, e.g., also supported by overleaf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717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raw string</a:t>
            </a:r>
            <a:r>
              <a:rPr lang="en-US" baseline="0" noProof="0" dirty="0"/>
              <a:t> literals do not need to escape \ to get a \</a:t>
            </a:r>
          </a:p>
          <a:p>
            <a:endParaRPr lang="en-US" baseline="0" noProof="0" dirty="0"/>
          </a:p>
          <a:p>
            <a:r>
              <a:rPr lang="en-US" noProof="0" dirty="0"/>
              <a:t>&gt; '\s\n', r'\s\n'</a:t>
            </a:r>
          </a:p>
          <a:p>
            <a:r>
              <a:rPr lang="en-US" noProof="0" dirty="0"/>
              <a:t>('\\s\n', '\\s\\n’)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717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Regular expression substitution is useful when </a:t>
            </a:r>
            <a:r>
              <a:rPr lang="en-US" dirty="0" err="1"/>
              <a:t>str.replace</a:t>
            </a:r>
            <a:r>
              <a:rPr lang="en-US" dirty="0"/>
              <a:t> is to restricted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'</a:t>
            </a:r>
            <a:r>
              <a:rPr lang="en-US" dirty="0" err="1"/>
              <a:t>abcd</a:t>
            </a:r>
            <a:r>
              <a:rPr lang="en-US" dirty="0"/>
              <a:t>'.replace('</a:t>
            </a:r>
            <a:r>
              <a:rPr lang="en-US" dirty="0" err="1"/>
              <a:t>bc</a:t>
            </a:r>
            <a:r>
              <a:rPr lang="en-US" dirty="0"/>
              <a:t>', 'BC')</a:t>
            </a:r>
          </a:p>
          <a:p>
            <a:endParaRPr lang="en-US" dirty="0"/>
          </a:p>
          <a:p>
            <a:r>
              <a:rPr lang="en-US" dirty="0" err="1"/>
              <a:t>re.sub</a:t>
            </a:r>
            <a:r>
              <a:rPr lang="en-US" dirty="0"/>
              <a:t> can take a </a:t>
            </a:r>
            <a:r>
              <a:rPr lang="en-US" i="1" dirty="0"/>
              <a:t>callable</a:t>
            </a:r>
            <a:r>
              <a:rPr lang="en-US" dirty="0"/>
              <a:t> as the replace argument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60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Many text editing systems allow the usage of regular expressions to some extent: </a:t>
            </a:r>
            <a:r>
              <a:rPr lang="en-US" b="1" noProof="0" dirty="0"/>
              <a:t>overleaf</a:t>
            </a:r>
            <a:r>
              <a:rPr lang="en-US" noProof="0" dirty="0"/>
              <a:t>, </a:t>
            </a:r>
            <a:r>
              <a:rPr lang="en-US" b="1" noProof="0" dirty="0"/>
              <a:t>emacs</a:t>
            </a:r>
            <a:r>
              <a:rPr lang="en-US" noProof="0" dirty="0"/>
              <a:t>, </a:t>
            </a:r>
            <a:r>
              <a:rPr lang="en-US" b="1" noProof="0" dirty="0" err="1"/>
              <a:t>microsoft</a:t>
            </a:r>
            <a:r>
              <a:rPr lang="en-US" b="1" baseline="0" noProof="0" dirty="0"/>
              <a:t> word </a:t>
            </a:r>
            <a:r>
              <a:rPr lang="en-US" baseline="0" noProof="0" dirty="0"/>
              <a:t>(although with own nonstandard syntax), </a:t>
            </a:r>
            <a:r>
              <a:rPr lang="en-US" b="1" baseline="0" noProof="0" dirty="0"/>
              <a:t>google docs</a:t>
            </a:r>
            <a:endParaRPr lang="en-US" b="1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492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922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125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</a:t>
            </a:r>
            <a:r>
              <a:rPr lang="en-US" baseline="0" dirty="0"/>
              <a:t> “Tree” each “[“ starts a new path with a new color...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40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pi.org/project/pillow/" TargetMode="External"/><Relationship Id="rId5" Type="http://schemas.openxmlformats.org/officeDocument/2006/relationships/hyperlink" Target="https://pypi.org/project/opencv-python/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csv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haracter_encod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json.org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xml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pyxl.readthedocs.io/en/stable/tutorial.html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stdtypes.html#textseq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whatsnew/3.10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re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.6/library/re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ython.org/3/library/re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re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-system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632" y="2920558"/>
            <a:ext cx="11522780" cy="1325563"/>
          </a:xfrm>
        </p:spPr>
        <p:txBody>
          <a:bodyPr/>
          <a:lstStyle/>
          <a:p>
            <a:pPr algn="r"/>
            <a:r>
              <a:rPr lang="en-US" noProof="0" dirty="0"/>
              <a:t>Working with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355" y="3920647"/>
            <a:ext cx="3995057" cy="2937353"/>
          </a:xfrm>
        </p:spPr>
        <p:txBody>
          <a:bodyPr>
            <a:normAutofit/>
          </a:bodyPr>
          <a:lstStyle/>
          <a:p>
            <a:r>
              <a:rPr lang="en-US" noProof="0" dirty="0"/>
              <a:t>file formats</a:t>
            </a:r>
          </a:p>
          <a:p>
            <a:r>
              <a:rPr lang="en-US" noProof="0" dirty="0"/>
              <a:t>CSV, JSON, XML, Excel</a:t>
            </a:r>
          </a:p>
          <a:p>
            <a:r>
              <a:rPr lang="en-US" noProof="0" dirty="0"/>
              <a:t>regular expressions</a:t>
            </a:r>
          </a:p>
          <a:p>
            <a:r>
              <a:rPr lang="en-US" noProof="0" dirty="0"/>
              <a:t>module re, </a:t>
            </a:r>
            <a:r>
              <a:rPr lang="en-US" noProof="0" dirty="0" err="1"/>
              <a:t>finditer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66717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Some file formats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736314"/>
              </p:ext>
            </p:extLst>
          </p:nvPr>
        </p:nvGraphicFramePr>
        <p:xfrm>
          <a:off x="271077" y="2202639"/>
          <a:ext cx="5687137" cy="35661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646060">
                  <a:extLst>
                    <a:ext uri="{9D8B030D-6E8A-4147-A177-3AD203B41FA5}">
                      <a16:colId xmlns:a16="http://schemas.microsoft.com/office/drawing/2014/main" val="1594685662"/>
                    </a:ext>
                  </a:extLst>
                </a:gridCol>
                <a:gridCol w="4041077">
                  <a:extLst>
                    <a:ext uri="{9D8B030D-6E8A-4147-A177-3AD203B41FA5}">
                      <a16:colId xmlns:a16="http://schemas.microsoft.com/office/drawing/2014/main" val="783888469"/>
                    </a:ext>
                  </a:extLst>
                </a:gridCol>
              </a:tblGrid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File extension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Content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628081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.html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 err="1"/>
                        <a:t>HyperText</a:t>
                      </a:r>
                      <a:r>
                        <a:rPr lang="en-US" sz="2000" noProof="0" dirty="0"/>
                        <a:t> Markup Language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8801518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.mp3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Audio File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88149196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.</a:t>
                      </a:r>
                      <a:r>
                        <a:rPr lang="en-US" sz="2000" noProof="0" dirty="0" err="1"/>
                        <a:t>png</a:t>
                      </a:r>
                      <a:r>
                        <a:rPr lang="en-US" sz="2000" baseline="0" noProof="0" dirty="0"/>
                        <a:t> .jpeg .jpg </a:t>
                      </a:r>
                      <a:endParaRPr lang="en-US" sz="2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Image files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13733105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.</a:t>
                      </a:r>
                      <a:r>
                        <a:rPr lang="en-US" sz="2000" noProof="0" dirty="0" err="1"/>
                        <a:t>svg</a:t>
                      </a:r>
                      <a:endParaRPr lang="en-US" sz="2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Scalable Vector Graphics file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7269453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.</a:t>
                      </a:r>
                      <a:r>
                        <a:rPr lang="en-US" sz="2000" noProof="0" dirty="0" err="1"/>
                        <a:t>json</a:t>
                      </a:r>
                      <a:endParaRPr lang="en-US" sz="2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JavaScript Object Notation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82812551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.csv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Comma separated values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2193700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.xml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 err="1"/>
                        <a:t>eXtensible</a:t>
                      </a:r>
                      <a:r>
                        <a:rPr lang="en-US" sz="2000" noProof="0" dirty="0"/>
                        <a:t> Markup Language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5692815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.</a:t>
                      </a:r>
                      <a:r>
                        <a:rPr lang="en-US" sz="2000" noProof="0" dirty="0" err="1"/>
                        <a:t>xlmx</a:t>
                      </a:r>
                      <a:endParaRPr lang="en-US" sz="2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 err="1"/>
                        <a:t>Micosoft</a:t>
                      </a:r>
                      <a:r>
                        <a:rPr lang="en-US" sz="2000" baseline="0" noProof="0" dirty="0"/>
                        <a:t> </a:t>
                      </a:r>
                      <a:r>
                        <a:rPr lang="en-US" sz="2000" noProof="0" dirty="0"/>
                        <a:t>Excel 2010/2007 Workbook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3301905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841553"/>
              </p:ext>
            </p:extLst>
          </p:nvPr>
        </p:nvGraphicFramePr>
        <p:xfrm>
          <a:off x="6220940" y="2202639"/>
          <a:ext cx="5696390" cy="35661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693418">
                  <a:extLst>
                    <a:ext uri="{9D8B030D-6E8A-4147-A177-3AD203B41FA5}">
                      <a16:colId xmlns:a16="http://schemas.microsoft.com/office/drawing/2014/main" val="1594685662"/>
                    </a:ext>
                  </a:extLst>
                </a:gridCol>
                <a:gridCol w="4002972">
                  <a:extLst>
                    <a:ext uri="{9D8B030D-6E8A-4147-A177-3AD203B41FA5}">
                      <a16:colId xmlns:a16="http://schemas.microsoft.com/office/drawing/2014/main" val="783888469"/>
                    </a:ext>
                  </a:extLst>
                </a:gridCol>
              </a:tblGrid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File extension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Description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628081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noProof="0" dirty="0"/>
                        <a:t>.exe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Windows</a:t>
                      </a:r>
                      <a:r>
                        <a:rPr lang="en-US" sz="2000" baseline="0" noProof="0" dirty="0"/>
                        <a:t> </a:t>
                      </a:r>
                      <a:r>
                        <a:rPr lang="en-US" sz="2000" noProof="0" dirty="0"/>
                        <a:t>executable</a:t>
                      </a:r>
                      <a:r>
                        <a:rPr lang="en-US" sz="2000" baseline="0" noProof="0" dirty="0"/>
                        <a:t> file</a:t>
                      </a:r>
                      <a:endParaRPr lang="en-US" sz="2000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1636709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noProof="0" dirty="0"/>
                        <a:t>.app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Max OS X Application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4239850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.</a:t>
                      </a:r>
                      <a:r>
                        <a:rPr lang="en-US" sz="2000" noProof="0" dirty="0" err="1"/>
                        <a:t>py</a:t>
                      </a:r>
                      <a:endParaRPr lang="en-US" sz="2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Python</a:t>
                      </a:r>
                      <a:r>
                        <a:rPr lang="en-US" sz="2000" baseline="0" noProof="0" dirty="0"/>
                        <a:t> program</a:t>
                      </a:r>
                      <a:endParaRPr lang="en-US" sz="2000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0561087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.</a:t>
                      </a:r>
                      <a:r>
                        <a:rPr lang="en-US" sz="2000" noProof="0" dirty="0" err="1"/>
                        <a:t>pyc</a:t>
                      </a:r>
                      <a:endParaRPr lang="en-US" sz="2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Python compiled</a:t>
                      </a:r>
                      <a:r>
                        <a:rPr lang="en-US" sz="2000" baseline="0" noProof="0" dirty="0"/>
                        <a:t> file</a:t>
                      </a:r>
                      <a:endParaRPr lang="en-US" sz="2000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437624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.java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Java program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7655297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.</a:t>
                      </a:r>
                      <a:r>
                        <a:rPr lang="en-US" sz="2000" noProof="0" dirty="0" err="1"/>
                        <a:t>cpp</a:t>
                      </a:r>
                      <a:endParaRPr lang="en-US" sz="20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C++</a:t>
                      </a:r>
                      <a:r>
                        <a:rPr lang="en-US" sz="2000" baseline="0" noProof="0" dirty="0"/>
                        <a:t> program </a:t>
                      </a:r>
                      <a:endParaRPr lang="en-US" sz="2000" noProof="0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1285574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.c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C program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7004966"/>
                  </a:ext>
                </a:extLst>
              </a:tr>
              <a:tr h="280222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.txt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Raw text file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8125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14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PIL – the Python Imaging Library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917" y="1186809"/>
            <a:ext cx="1714500" cy="1714500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967" y="3609540"/>
            <a:ext cx="2438400" cy="24384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848508" y="1606686"/>
            <a:ext cx="7278666" cy="5059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pip install Pillow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For many file types there exist Python packages handling such files, e.g. for images Pillow supports 40+ different file formats</a:t>
            </a:r>
          </a:p>
          <a:p>
            <a:r>
              <a:rPr lang="en-US" noProof="0" dirty="0"/>
              <a:t>For more advanced computer vision tasks you should consider </a:t>
            </a:r>
            <a:r>
              <a:rPr lang="en-US" noProof="0" dirty="0">
                <a:hlinkClick r:id="rId5"/>
              </a:rPr>
              <a:t>OpenCV</a:t>
            </a:r>
            <a:endParaRPr lang="en-US" noProof="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671920"/>
              </p:ext>
            </p:extLst>
          </p:nvPr>
        </p:nvGraphicFramePr>
        <p:xfrm>
          <a:off x="1542372" y="2267375"/>
          <a:ext cx="5890937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0937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rotate_image.py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PIL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Image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img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Image.open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('Python-Logo.png')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img_out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img.rotate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(45, expand=True)</a:t>
                      </a:r>
                    </a:p>
                    <a:p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img_out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.save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('Python-rotated.png')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20218" y="6410222"/>
            <a:ext cx="2458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6"/>
              </a:rPr>
              <a:t>pypi.org/project/pillow/</a:t>
            </a:r>
            <a:endParaRPr lang="en-US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9308273" y="2976248"/>
            <a:ext cx="191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Python-Logo.png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7968" y="6127234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Python-rotated.png</a:t>
            </a:r>
          </a:p>
        </p:txBody>
      </p:sp>
    </p:spTree>
    <p:extLst>
      <p:ext uri="{BB962C8B-B14F-4D97-AF65-F5344CB8AC3E}">
        <p14:creationId xmlns:p14="http://schemas.microsoft.com/office/powerpoint/2010/main" val="3608733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CSV files - Comma Separated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96" y="1523228"/>
            <a:ext cx="4358833" cy="5181599"/>
          </a:xfrm>
        </p:spPr>
        <p:txBody>
          <a:bodyPr>
            <a:normAutofit/>
          </a:bodyPr>
          <a:lstStyle/>
          <a:p>
            <a:r>
              <a:rPr lang="en-US" sz="2400" noProof="0" dirty="0"/>
              <a:t>Simple 2D tables are stored as rows in a file, with values separated by comma</a:t>
            </a:r>
          </a:p>
          <a:p>
            <a:r>
              <a:rPr lang="en-US" sz="2400" noProof="0" dirty="0"/>
              <a:t>Strings stored are quoted if necessary</a:t>
            </a:r>
          </a:p>
          <a:p>
            <a:r>
              <a:rPr lang="en-US" sz="2400" noProof="0" dirty="0"/>
              <a:t>Values read are strings</a:t>
            </a:r>
          </a:p>
          <a:p>
            <a:r>
              <a:rPr lang="en-US" sz="2400" noProof="0" dirty="0"/>
              <a:t>The </a:t>
            </a:r>
            <a:r>
              <a:rPr lang="en-US" sz="2400" noProof="0" dirty="0" err="1"/>
              <a:t>deliminator</a:t>
            </a:r>
            <a:r>
              <a:rPr lang="en-US" sz="2400" noProof="0" dirty="0"/>
              <a:t> (default comma) can be changed by keyword argument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delimiter</a:t>
            </a:r>
            <a:r>
              <a:rPr lang="en-US" sz="2400" noProof="0" dirty="0"/>
              <a:t>.</a:t>
            </a:r>
            <a:br>
              <a:rPr lang="en-US" sz="2400" noProof="0" dirty="0"/>
            </a:br>
            <a:r>
              <a:rPr lang="en-US" sz="2400" noProof="0" dirty="0"/>
              <a:t>Other typical </a:t>
            </a:r>
            <a:r>
              <a:rPr lang="en-US" sz="2400" noProof="0" dirty="0" err="1"/>
              <a:t>deliminators</a:t>
            </a:r>
            <a:r>
              <a:rPr lang="en-US" sz="2400" noProof="0" dirty="0"/>
              <a:t> are tabs '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\t</a:t>
            </a:r>
            <a:r>
              <a:rPr lang="en-US" sz="2400" noProof="0" dirty="0"/>
              <a:t>', and semicolon '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400" noProof="0" dirty="0"/>
              <a:t>'</a:t>
            </a:r>
            <a:endParaRPr lang="en-US" sz="2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423681"/>
              </p:ext>
            </p:extLst>
          </p:nvPr>
        </p:nvGraphicFramePr>
        <p:xfrm>
          <a:off x="4997885" y="1523228"/>
          <a:ext cx="7027102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710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csv-example.py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 = 'csv-data.csv'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 = [[1, 2, 3],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['a', '</a:t>
                      </a:r>
                      <a:r>
                        <a:rPr lang="en-US" sz="18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sz="18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'],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[1.0, ['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x',"y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"], 'd']]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with open(FILE, 'w', newline='') as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outfile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csv_out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csv.writer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outfile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row in data: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csv_out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.writerow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(row)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with open(FILE, 'r', newline='') as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infile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row in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csv.reader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infile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print(row)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['1', '2', '3']</a:t>
                      </a:r>
                      <a:b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['a', '</a:t>
                      </a:r>
                      <a:r>
                        <a:rPr lang="en-US" sz="18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sz="18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</a:t>
                      </a:r>
                      <a:b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['1.0', "['x', 'y']", 'd']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400821"/>
              </p:ext>
            </p:extLst>
          </p:nvPr>
        </p:nvGraphicFramePr>
        <p:xfrm>
          <a:off x="9104806" y="5286882"/>
          <a:ext cx="277685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68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csv-data.csv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1,2,3</a:t>
                      </a:r>
                    </a:p>
                    <a:p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a,"</a:t>
                      </a:r>
                      <a:r>
                        <a:rPr lang="en-US" sz="18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""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sz="18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""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1.0,"['x', 'y']",d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47747" y="6335495"/>
            <a:ext cx="34580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hlinkClick r:id="rId3"/>
              </a:rPr>
              <a:t>docs.python.org/3/library/csv.html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4124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CSV files - Tab Separated Values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306854"/>
              </p:ext>
            </p:extLst>
          </p:nvPr>
        </p:nvGraphicFramePr>
        <p:xfrm>
          <a:off x="2842365" y="2099426"/>
          <a:ext cx="702710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7102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csv-tab-separated.py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 = 'tab-separated.csv'</a:t>
                      </a:r>
                    </a:p>
                    <a:p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with open(FILE) as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infile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row in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csv.reader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infile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delimiter='\t'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print(row)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['1', '2', '3']</a:t>
                      </a:r>
                      <a:b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['4', '5', '6']</a:t>
                      </a:r>
                      <a:b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['7', '8', '9']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095440"/>
              </p:ext>
            </p:extLst>
          </p:nvPr>
        </p:nvGraphicFramePr>
        <p:xfrm>
          <a:off x="6950330" y="4297326"/>
          <a:ext cx="277685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68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tab-separated.csv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	2	3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	5	6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	8	9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5023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73779" y="163366"/>
            <a:ext cx="2857500" cy="3133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779" y="4147100"/>
            <a:ext cx="2857500" cy="2547534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056662"/>
              </p:ext>
            </p:extLst>
          </p:nvPr>
        </p:nvGraphicFramePr>
        <p:xfrm>
          <a:off x="403964" y="1634954"/>
          <a:ext cx="8160068" cy="505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00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average.py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</a:t>
                      </a:r>
                    </a:p>
                    <a:p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with open('grades.csv') as file: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csv.reader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(file,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delimiter=';'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data = iterator over the rows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header =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next(data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                 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['Name', 'Course', 'Grade']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count = {}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total = {}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row in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                     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iterate over data rows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course = row[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header.index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('Course')]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grade  = int(row[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header.index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('Grade')])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count[course] 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count.get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(course, 0) + 1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total[course] 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total.get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(course, 0) + grade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print('Average grades:')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width = max(map(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count))  </a:t>
                      </a:r>
                      <a:r>
                        <a:rPr lang="en-US" sz="14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maximum course name length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course in count: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print(f'{course:&gt;{width}s} : {total[course] / count[course]:.2f}')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Average grades: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Analysis : 1.67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Programming : 1.50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Statistics : 2.50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964" y="255946"/>
            <a:ext cx="8160068" cy="1325563"/>
          </a:xfrm>
        </p:spPr>
        <p:txBody>
          <a:bodyPr>
            <a:normAutofit/>
          </a:bodyPr>
          <a:lstStyle/>
          <a:p>
            <a:r>
              <a:rPr lang="en-US" noProof="0" dirty="0"/>
              <a:t>Reading an Excel generated CSV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3779" y="3333797"/>
            <a:ext cx="27856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Saving a file in Excel as </a:t>
            </a:r>
            <a:br>
              <a:rPr lang="en-US" sz="1200" noProof="0" dirty="0"/>
            </a:br>
            <a:r>
              <a:rPr lang="en-US" sz="1200" b="1" noProof="0" dirty="0"/>
              <a:t>CSV (Comma delimited) (*.csv)</a:t>
            </a:r>
          </a:p>
          <a:p>
            <a:pPr algn="ctr"/>
            <a:r>
              <a:rPr lang="en-US" sz="1200" noProof="0" dirty="0"/>
              <a:t>Sometimes use ‘;’ as default separator, </a:t>
            </a:r>
            <a:br>
              <a:rPr lang="en-US" sz="1200" noProof="0" dirty="0"/>
            </a:br>
            <a:r>
              <a:rPr lang="en-US" sz="1200" noProof="0" dirty="0"/>
              <a:t>determined by Windows Regional settings</a:t>
            </a:r>
          </a:p>
        </p:txBody>
      </p:sp>
    </p:spTree>
    <p:extLst>
      <p:ext uri="{BB962C8B-B14F-4D97-AF65-F5344CB8AC3E}">
        <p14:creationId xmlns:p14="http://schemas.microsoft.com/office/powerpoint/2010/main" val="186252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108767" cy="1325563"/>
          </a:xfrm>
        </p:spPr>
        <p:txBody>
          <a:bodyPr>
            <a:normAutofit/>
          </a:bodyPr>
          <a:lstStyle/>
          <a:p>
            <a:r>
              <a:rPr lang="en-US" noProof="0" dirty="0"/>
              <a:t>CSV files </a:t>
            </a:r>
            <a:br>
              <a:rPr lang="en-US" noProof="0" dirty="0"/>
            </a:br>
            <a:r>
              <a:rPr lang="en-US" noProof="0" dirty="0"/>
              <a:t>- Quoting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418254"/>
              </p:ext>
            </p:extLst>
          </p:nvPr>
        </p:nvGraphicFramePr>
        <p:xfrm>
          <a:off x="4197695" y="365125"/>
          <a:ext cx="7734618" cy="614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461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csv-quoting.py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csv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 = [[1, 1.0, '1.0'], ['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'"', '\t"', ',']]</a:t>
                      </a:r>
                    </a:p>
                    <a:p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quoting_options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[(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csv.QUOTE_MINIMAL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   'QUOTE_MINIMAL'),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(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csv.QUOTE_ALL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       'QUOTE_ALL'),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(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csv.QUOTE_NONNUMERIC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'QUOTE_NONNUMERIC'),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(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csv.QUOTE_NONE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      'QUOTE_NONE')]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quoting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name in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quoting_options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print(name)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csv_out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csv.writer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sys.stdout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quoting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quoting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escapechar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</a:t>
                      </a:r>
                      <a:r>
                        <a:rPr lang="en-US" sz="14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\\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row in data: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csv_out.writerow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(row)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QUOTE_MINIMAL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cannot distinguish 1.0 and "1.0"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1,1.0,1.0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""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""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QUOTE_ALL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cannot distinguish 1.0 and "1.0"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""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""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QUOTE_NONNUMERIC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1,1.0,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""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""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QUOTE_NONE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cannot distinguish 1.0 and "1.0"</a:t>
                      </a:r>
                      <a:endParaRPr lang="en-US" sz="14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1,1.0,1.0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",	</a:t>
                      </a:r>
                      <a:r>
                        <a:rPr lang="en-US" sz="14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",</a:t>
                      </a:r>
                      <a:r>
                        <a:rPr lang="en-US" sz="14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38530" y="1916768"/>
            <a:ext cx="3733801" cy="4692376"/>
          </a:xfrm>
        </p:spPr>
        <p:txBody>
          <a:bodyPr>
            <a:normAutofit/>
          </a:bodyPr>
          <a:lstStyle/>
          <a:p>
            <a:r>
              <a:rPr lang="en-US" sz="2400" noProof="0" dirty="0"/>
              <a:t>The amount of quoting is controlled with keyword argument </a:t>
            </a:r>
            <a:r>
              <a:rPr lang="en-US" sz="2400" b="1" noProof="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quoting</a:t>
            </a:r>
            <a:r>
              <a:rPr lang="en-US" sz="2400" noProof="0" dirty="0"/>
              <a:t> </a:t>
            </a:r>
          </a:p>
          <a:p>
            <a:r>
              <a:rPr lang="en-US" sz="2400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csv.QUOTE_MINIMAL</a:t>
            </a:r>
            <a:r>
              <a:rPr lang="en-US" sz="2400" noProof="0" dirty="0" err="1"/>
              <a:t>etc</a:t>
            </a:r>
            <a:r>
              <a:rPr lang="en-US" sz="2400" noProof="0" dirty="0"/>
              <a:t>. can be used to select the quoting level</a:t>
            </a:r>
          </a:p>
          <a:p>
            <a:r>
              <a:rPr lang="en-US" sz="2400" noProof="0" dirty="0"/>
              <a:t>Depending on choice of quoting, numeric values and strings cannot be distinguished in CSV file (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csv.reader</a:t>
            </a:r>
            <a:r>
              <a:rPr lang="en-US" sz="2400" noProof="0" dirty="0"/>
              <a:t> will read all as strings anyway)</a:t>
            </a:r>
          </a:p>
        </p:txBody>
      </p:sp>
    </p:spTree>
    <p:extLst>
      <p:ext uri="{BB962C8B-B14F-4D97-AF65-F5344CB8AC3E}">
        <p14:creationId xmlns:p14="http://schemas.microsoft.com/office/powerpoint/2010/main" val="996186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84" y="355935"/>
            <a:ext cx="4416706" cy="1325563"/>
          </a:xfrm>
        </p:spPr>
        <p:txBody>
          <a:bodyPr>
            <a:normAutofit/>
          </a:bodyPr>
          <a:lstStyle/>
          <a:p>
            <a:r>
              <a:rPr lang="en-US" noProof="0" dirty="0"/>
              <a:t>File encodings...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38530" y="1916768"/>
            <a:ext cx="11801538" cy="4692376"/>
          </a:xfrm>
        </p:spPr>
        <p:txBody>
          <a:bodyPr>
            <a:normAutofit/>
          </a:bodyPr>
          <a:lstStyle/>
          <a:p>
            <a:r>
              <a:rPr lang="en-US" sz="2400" noProof="0" dirty="0"/>
              <a:t>Text files can be </a:t>
            </a:r>
            <a:r>
              <a:rPr lang="en-US" sz="2400" i="1" noProof="0" dirty="0"/>
              <a:t>encoded</a:t>
            </a:r>
            <a:r>
              <a:rPr lang="en-US" sz="2400" noProof="0" dirty="0"/>
              <a:t> using many different encodings (UTF-8, UTF-16, UTF-32, Windows-1252, ANSI, ASCII, ISO-8859-1, ...)</a:t>
            </a:r>
          </a:p>
          <a:p>
            <a:r>
              <a:rPr lang="en-US" sz="2400" noProof="0" dirty="0"/>
              <a:t>Different encodings can result in different file sizes, in particular when containing</a:t>
            </a:r>
            <a:br>
              <a:rPr lang="en-US" sz="2400" noProof="0" dirty="0"/>
            </a:br>
            <a:r>
              <a:rPr lang="en-US" sz="2400" noProof="0" dirty="0"/>
              <a:t>non-ASCII symbols</a:t>
            </a:r>
          </a:p>
          <a:p>
            <a:r>
              <a:rPr lang="en-US" sz="2400" noProof="0" dirty="0"/>
              <a:t>Programs often try to predict the encoding of text files (often with success, but not always)</a:t>
            </a:r>
          </a:p>
          <a:p>
            <a:r>
              <a:rPr lang="en-US" sz="2400" noProof="0" dirty="0"/>
              <a:t>Opening files assuming wrong encoding can give strange results....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387335"/>
              </p:ext>
            </p:extLst>
          </p:nvPr>
        </p:nvGraphicFramePr>
        <p:xfrm>
          <a:off x="5380987" y="163663"/>
          <a:ext cx="6660604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0604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river-utf8.py  (size 17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bytes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encoding UTF-8)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Æ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Æ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 I Æ 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244684"/>
              </p:ext>
            </p:extLst>
          </p:nvPr>
        </p:nvGraphicFramePr>
        <p:xfrm>
          <a:off x="5370598" y="884733"/>
          <a:ext cx="6670993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09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river-windows1252.py  (size 13</a:t>
                      </a:r>
                      <a:r>
                        <a:rPr lang="en-US" sz="14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bytes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encoding Windows-1252)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Æ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Æ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 I Æ 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956487" y="6424478"/>
            <a:ext cx="41835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hlinkClick r:id="rId3"/>
              </a:rPr>
              <a:t>en.wikipedia.org/wiki/</a:t>
            </a:r>
            <a:r>
              <a:rPr lang="en-US" noProof="0" dirty="0" err="1">
                <a:hlinkClick r:id="rId3"/>
              </a:rPr>
              <a:t>Character_encoding</a:t>
            </a:r>
            <a:endParaRPr lang="en-US" noProof="0" dirty="0"/>
          </a:p>
        </p:txBody>
      </p:sp>
      <p:sp>
        <p:nvSpPr>
          <p:cNvPr id="8" name="Down Arrow 7"/>
          <p:cNvSpPr/>
          <p:nvPr/>
        </p:nvSpPr>
        <p:spPr>
          <a:xfrm rot="10800000">
            <a:off x="7738482" y="492045"/>
            <a:ext cx="163502" cy="169557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Down Arrow 8"/>
          <p:cNvSpPr/>
          <p:nvPr/>
        </p:nvSpPr>
        <p:spPr>
          <a:xfrm rot="10800000">
            <a:off x="8478276" y="1280289"/>
            <a:ext cx="163502" cy="169557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369" y="4611424"/>
            <a:ext cx="3781425" cy="11715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149" y="4611424"/>
            <a:ext cx="4562475" cy="1181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1819369" y="5782999"/>
            <a:ext cx="3781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C00000"/>
                </a:solidFill>
              </a:rPr>
              <a:t>Opening UTF-8 encoded file but trying to decode using Windows-1252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9076" y="5778147"/>
            <a:ext cx="367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C00000"/>
                </a:solidFill>
              </a:rPr>
              <a:t>Opening Windows-1252 encoded file but trying to decode using UTF-8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8307" y="4668890"/>
            <a:ext cx="563174" cy="1756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/>
          <p:cNvSpPr/>
          <p:nvPr/>
        </p:nvSpPr>
        <p:spPr>
          <a:xfrm>
            <a:off x="6704590" y="4668890"/>
            <a:ext cx="563174" cy="1756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2F9082-3261-2C75-A833-30D597752C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021" y="3967671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87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945020"/>
              </p:ext>
            </p:extLst>
          </p:nvPr>
        </p:nvGraphicFramePr>
        <p:xfrm>
          <a:off x="214225" y="237304"/>
          <a:ext cx="11772143" cy="6398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21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encoding.py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filename in ['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river-utf8.txt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river-windows1252.txt</a:t>
                      </a:r>
                      <a:r>
                        <a:rPr lang="en-US" sz="1600" b="1" noProof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print(filename)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 = open(filename, '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sz="1600" b="1" noProof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open input in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binary mode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default = text mode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't'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line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f.readline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  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type(line) =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bytes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immutable list of integers in 0..255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print(line)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     # byte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literals l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ook like strings,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prefixed '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endParaRPr lang="en-US" sz="16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print(list(line))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print bytes as list of integers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 = open(filename, 'r', encoding='utf-8')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try to open file as UTF-8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line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f.readline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# fails if input line is not utf-8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print(line)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363078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river-utf8.txt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'\xc3\x86 \xc3\x86 U I \xc3\x86 \xc3\x85\r\n'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\x = hexadecimal value follows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[195, 134, 32, 195, 134, 32, 85, 32, 73, 32, 195, 134, 32, 195, 133, 13, 10]</a:t>
                      </a:r>
                    </a:p>
                    <a:p>
                      <a:pPr marL="266700" indent="-266700"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Æ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Æ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 I Æ Å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river-windows1252.txt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'\xc6 \xc6 U I \xc6 \xc5\r\n'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[198, 32, 198, 32, 85, 32, 73, 32, 198, 32, 197, 13, 10]</a:t>
                      </a:r>
                    </a:p>
                    <a:p>
                      <a:pPr marL="266700" indent="-266700"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UnicodeDecodeError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'utf-8' codec can't decode byte 0xc6 in position 0: invalid continuation byte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'Æ </a:t>
                      </a: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Æ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 I Æ </a:t>
                      </a: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Å'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.encode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('utf8')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convert string to (an immutable array of) bytes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'\xc3\x86 \xc3\x86 U I \xc3\x86 \xc3\x85'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'Æ </a:t>
                      </a: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Æ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 I Æ </a:t>
                      </a: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Å'.encode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('utf8')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.decode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('Windows-1252')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decode bytes to string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'Ã† Ã† U I Ã† Ã…'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361809"/>
              </p:ext>
            </p:extLst>
          </p:nvPr>
        </p:nvGraphicFramePr>
        <p:xfrm>
          <a:off x="9993213" y="381013"/>
          <a:ext cx="1671955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9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river-utf8.py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Æ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Æ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U I Æ Å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059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Reading CSV files with specific encoding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923914"/>
              </p:ext>
            </p:extLst>
          </p:nvPr>
        </p:nvGraphicFramePr>
        <p:xfrm>
          <a:off x="722895" y="2172494"/>
          <a:ext cx="8374380" cy="31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43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read_shopping.py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with open('shopping.csv',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encoding='Windows-1252'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as file: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article, amount in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csv.reader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(file):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print('Buy', amount, article)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Buy 2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æbler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Buy 4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pærer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Buy 3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jordbær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Buy 10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gulerødder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331629"/>
              </p:ext>
            </p:extLst>
          </p:nvPr>
        </p:nvGraphicFramePr>
        <p:xfrm>
          <a:off x="9668705" y="2935504"/>
          <a:ext cx="195770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7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shopping.csv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æbler,2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pærer,4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jordbær,3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gulerødder,10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408543" y="4489984"/>
            <a:ext cx="2670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C00000"/>
                </a:solidFill>
              </a:rPr>
              <a:t>CSV file saved with</a:t>
            </a:r>
            <a:br>
              <a:rPr lang="en-US" noProof="0" dirty="0">
                <a:solidFill>
                  <a:srgbClr val="C00000"/>
                </a:solidFill>
              </a:rPr>
            </a:br>
            <a:r>
              <a:rPr lang="en-US" noProof="0" dirty="0">
                <a:solidFill>
                  <a:srgbClr val="C00000"/>
                </a:solidFill>
              </a:rPr>
              <a:t>Windows-1252 encoding</a:t>
            </a:r>
          </a:p>
        </p:txBody>
      </p:sp>
    </p:spTree>
    <p:extLst>
      <p:ext uri="{BB962C8B-B14F-4D97-AF65-F5344CB8AC3E}">
        <p14:creationId xmlns:p14="http://schemas.microsoft.com/office/powerpoint/2010/main" val="1845448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i="1" noProof="0" dirty="0"/>
              <a:t>“</a:t>
            </a:r>
            <a:r>
              <a:rPr lang="en-US" b="1" i="1" noProof="0" dirty="0"/>
              <a:t>JSON</a:t>
            </a:r>
            <a:r>
              <a:rPr lang="en-US" i="1" noProof="0" dirty="0"/>
              <a:t> (</a:t>
            </a:r>
            <a:r>
              <a:rPr lang="en-US" b="1" i="1" noProof="0" dirty="0"/>
              <a:t>J</a:t>
            </a:r>
            <a:r>
              <a:rPr lang="en-US" i="1" noProof="0" dirty="0"/>
              <a:t>ava</a:t>
            </a:r>
            <a:r>
              <a:rPr lang="en-US" b="1" i="1" noProof="0" dirty="0"/>
              <a:t>S</a:t>
            </a:r>
            <a:r>
              <a:rPr lang="en-US" i="1" noProof="0" dirty="0"/>
              <a:t>cript </a:t>
            </a:r>
            <a:r>
              <a:rPr lang="en-US" b="1" i="1" noProof="0" dirty="0"/>
              <a:t>O</a:t>
            </a:r>
            <a:r>
              <a:rPr lang="en-US" i="1" noProof="0" dirty="0"/>
              <a:t>bject </a:t>
            </a:r>
            <a:r>
              <a:rPr lang="en-US" b="1" i="1" noProof="0" dirty="0"/>
              <a:t>N</a:t>
            </a:r>
            <a:r>
              <a:rPr lang="en-US" i="1" noProof="0" dirty="0"/>
              <a:t>otation) is a lightweight data-interchange format. It is easy for humans to read and write. It is easy for machines to parse and generate. It is based on a subset of the </a:t>
            </a:r>
            <a:r>
              <a:rPr lang="en-US" i="1" noProof="0" dirty="0">
                <a:solidFill>
                  <a:srgbClr val="C00000"/>
                </a:solidFill>
              </a:rPr>
              <a:t>JavaScript</a:t>
            </a:r>
            <a:r>
              <a:rPr lang="en-US" i="1" noProof="0" dirty="0"/>
              <a:t> Programming Language, Standard ECMA-262 3rd Edition - December 1999. JSON is an ideal data-interchange language.”</a:t>
            </a:r>
          </a:p>
          <a:p>
            <a:pPr marL="0" indent="0" algn="r">
              <a:spcBef>
                <a:spcPts val="0"/>
              </a:spcBef>
              <a:buNone/>
            </a:pPr>
            <a:r>
              <a:rPr lang="en-US" noProof="0" dirty="0">
                <a:hlinkClick r:id="rId2"/>
              </a:rPr>
              <a:t>www.json.org</a:t>
            </a:r>
            <a:endParaRPr lang="en-US" noProof="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4784941"/>
            <a:ext cx="10668000" cy="18325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Human readable file format</a:t>
            </a:r>
          </a:p>
          <a:p>
            <a:r>
              <a:rPr lang="en-US" noProof="0" dirty="0"/>
              <a:t>Easy way to save a Python expression to a file</a:t>
            </a:r>
          </a:p>
          <a:p>
            <a:r>
              <a:rPr lang="en-US" noProof="0" dirty="0"/>
              <a:t>Does </a:t>
            </a:r>
            <a:r>
              <a:rPr lang="en-US" i="1" noProof="0" dirty="0"/>
              <a:t>not</a:t>
            </a:r>
            <a:r>
              <a:rPr lang="en-US" noProof="0" dirty="0"/>
              <a:t> support all Python types, e.g. sets are not supported, and tuples are saved (and later loaded) as lists</a:t>
            </a:r>
          </a:p>
        </p:txBody>
      </p:sp>
    </p:spTree>
    <p:extLst>
      <p:ext uri="{BB962C8B-B14F-4D97-AF65-F5344CB8AC3E}">
        <p14:creationId xmlns:p14="http://schemas.microsoft.com/office/powerpoint/2010/main" val="3034808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061" y="562928"/>
            <a:ext cx="10515600" cy="1325563"/>
          </a:xfrm>
        </p:spPr>
        <p:txBody>
          <a:bodyPr/>
          <a:lstStyle/>
          <a:p>
            <a:r>
              <a:rPr lang="en-US" noProof="0" dirty="0"/>
              <a:t>JSON example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407881"/>
              </p:ext>
            </p:extLst>
          </p:nvPr>
        </p:nvGraphicFramePr>
        <p:xfrm>
          <a:off x="447061" y="2330768"/>
          <a:ext cx="852157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157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json-example.py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json</a:t>
                      </a:r>
                      <a:b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 = '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json-data.json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 = ((None, True), (42.7, (42,)), [3, 2, 4], (5, 6, 7),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{'b': 'banana', 'a': 'apple', 'c': 'coconut'})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with open(FILE, 'w') as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outfile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json.dump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(data,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outfile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indent=2, 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sort_keys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=True)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with open(FILE) as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infile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>
                        <a:spcAft>
                          <a:spcPts val="12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indata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json.load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infile</a:t>
                      </a:r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indata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[[None, True], [42.7, [42]], [3, 2, 4], [5, 6, 7], {'a': 'apple', 'b': 'banana', 'c': 'coconut'}]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863188"/>
              </p:ext>
            </p:extLst>
          </p:nvPr>
        </p:nvGraphicFramePr>
        <p:xfrm>
          <a:off x="9131474" y="562928"/>
          <a:ext cx="2613465" cy="615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46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json-data.json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[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null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42.7,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42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[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3,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2,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4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],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5,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6,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7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{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"a": "apple",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"b": "banana",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"c": "coconut"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}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45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XML - </a:t>
            </a:r>
            <a:r>
              <a:rPr lang="en-US" noProof="0" dirty="0" err="1"/>
              <a:t>eXtensible</a:t>
            </a:r>
            <a:r>
              <a:rPr lang="en-US" noProof="0" dirty="0"/>
              <a:t> Markup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60601"/>
            <a:ext cx="5677237" cy="1635011"/>
          </a:xfrm>
        </p:spPr>
        <p:txBody>
          <a:bodyPr/>
          <a:lstStyle/>
          <a:p>
            <a:r>
              <a:rPr lang="en-US" noProof="0" dirty="0"/>
              <a:t>XML is a widespread used data format to store hierarchical data with </a:t>
            </a:r>
            <a:r>
              <a:rPr lang="en-US" noProof="0" dirty="0">
                <a:solidFill>
                  <a:srgbClr val="C00000"/>
                </a:solidFill>
              </a:rPr>
              <a:t>tags</a:t>
            </a:r>
            <a:r>
              <a:rPr lang="en-US" noProof="0" dirty="0"/>
              <a:t> and </a:t>
            </a:r>
            <a:r>
              <a:rPr lang="en-US" noProof="0" dirty="0">
                <a:solidFill>
                  <a:schemeClr val="accent1">
                    <a:lumMod val="50000"/>
                  </a:schemeClr>
                </a:solidFill>
              </a:rPr>
              <a:t>attributes</a:t>
            </a:r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8447558" y="4253438"/>
            <a:ext cx="35294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/>
              <a:t>docs.python.org/3/library/xml.html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1302907" y="4095770"/>
            <a:ext cx="9300288" cy="2627453"/>
            <a:chOff x="1753534" y="1470770"/>
            <a:chExt cx="9300288" cy="2627453"/>
          </a:xfrm>
        </p:grpSpPr>
        <p:grpSp>
          <p:nvGrpSpPr>
            <p:cNvPr id="33" name="Group 32"/>
            <p:cNvGrpSpPr/>
            <p:nvPr/>
          </p:nvGrpSpPr>
          <p:grpSpPr>
            <a:xfrm>
              <a:off x="2743905" y="1690688"/>
              <a:ext cx="6990404" cy="2060294"/>
              <a:chOff x="2755480" y="3495554"/>
              <a:chExt cx="6990404" cy="2060294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 flipV="1">
                <a:off x="3779103" y="3495554"/>
                <a:ext cx="2338086" cy="1006998"/>
              </a:xfrm>
              <a:prstGeom prst="line">
                <a:avLst/>
              </a:prstGeom>
              <a:ln w="571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6117189" y="3495554"/>
                <a:ext cx="2219231" cy="1006998"/>
              </a:xfrm>
              <a:prstGeom prst="line">
                <a:avLst/>
              </a:prstGeom>
              <a:ln w="571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8336420" y="4502552"/>
                <a:ext cx="1409464" cy="1053296"/>
              </a:xfrm>
              <a:prstGeom prst="line">
                <a:avLst/>
              </a:prstGeom>
              <a:ln w="571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flipV="1">
                <a:off x="7245752" y="4502552"/>
                <a:ext cx="1090668" cy="1053296"/>
              </a:xfrm>
              <a:prstGeom prst="line">
                <a:avLst/>
              </a:prstGeom>
              <a:ln w="571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H="1" flipV="1">
                <a:off x="3779104" y="4502552"/>
                <a:ext cx="1163286" cy="1053296"/>
              </a:xfrm>
              <a:prstGeom prst="line">
                <a:avLst/>
              </a:prstGeom>
              <a:ln w="571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 flipV="1">
                <a:off x="2755480" y="4502552"/>
                <a:ext cx="1023623" cy="1053296"/>
              </a:xfrm>
              <a:prstGeom prst="line">
                <a:avLst/>
              </a:prstGeom>
              <a:ln w="571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Rectangle 4"/>
            <p:cNvSpPr/>
            <p:nvPr/>
          </p:nvSpPr>
          <p:spPr>
            <a:xfrm>
              <a:off x="5539543" y="1470770"/>
              <a:ext cx="1089764" cy="4514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world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1753534" y="3433326"/>
              <a:ext cx="1932972" cy="6648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city</a:t>
              </a:r>
            </a:p>
            <a:p>
              <a:pPr algn="ctr"/>
              <a: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{name: 'Aarhus', </a:t>
              </a:r>
              <a:b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pop: '264716'}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743905" y="2434544"/>
              <a:ext cx="2047245" cy="54122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country</a:t>
              </a:r>
            </a:p>
            <a:p>
              <a:pPr algn="ctr"/>
              <a: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{name: 'Denmark'}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366363" y="2434544"/>
              <a:ext cx="1916963" cy="54122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country</a:t>
              </a:r>
            </a:p>
            <a:p>
              <a:pPr algn="ctr"/>
              <a: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{name: 'USA'}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767528" y="3433326"/>
              <a:ext cx="2338086" cy="6648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city</a:t>
              </a:r>
            </a:p>
            <a:p>
              <a:pPr algn="ctr"/>
              <a: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{name: 'Copenhagen', </a:t>
              </a:r>
              <a:b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pop: '1295686'}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186636" y="3431006"/>
              <a:ext cx="2138209" cy="6610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city</a:t>
              </a:r>
            </a:p>
            <a:p>
              <a:pPr algn="ctr"/>
              <a: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{name: 'New York', </a:t>
              </a:r>
              <a:b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pop: '8622698'}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405867" y="3431007"/>
              <a:ext cx="2647955" cy="6610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noProof="0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city</a:t>
              </a:r>
            </a:p>
            <a:p>
              <a:pPr algn="ctr"/>
              <a: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{name: 'San Francisco', </a:t>
              </a:r>
              <a:b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1400" noProof="0" dirty="0">
                  <a:solidFill>
                    <a:schemeClr val="accent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pop: '884363'}</a:t>
              </a:r>
            </a:p>
          </p:txBody>
        </p:sp>
      </p:grp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451328"/>
              </p:ext>
            </p:extLst>
          </p:nvPr>
        </p:nvGraphicFramePr>
        <p:xfrm>
          <a:off x="6897399" y="1442796"/>
          <a:ext cx="50755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55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cities.xml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&lt;?xml version="1.0"?&gt;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world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&lt;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country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name="Denmark"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&lt;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name="Aarhus" pop="264716"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/&gt;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&lt;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name="Copenhagen" pop="1295686"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/&gt;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&lt;/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country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&lt;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country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name="USA"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&lt;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name="New York" pop="8622698"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/&gt;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&lt;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name="San Francisco" pop="884363"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/&gt;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&lt;/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country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&lt;/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world</a:t>
                      </a:r>
                      <a:r>
                        <a:rPr lang="en-US" sz="14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885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523097"/>
              </p:ext>
            </p:extLst>
          </p:nvPr>
        </p:nvGraphicFramePr>
        <p:xfrm>
          <a:off x="307355" y="371434"/>
          <a:ext cx="11568270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6827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xml-example.py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xml.etree.ElementTree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ET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 = 'cities.xml'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tree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ET.parse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(FILE)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parse XML file to internal representation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root =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tree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.getroot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get root element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country in root: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city in country: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.attrib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['name'],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get value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of attribute for an element</a:t>
                      </a:r>
                      <a:endParaRPr lang="en-US" sz="18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'in',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country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.attrib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['name'],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'has a population of',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.attrib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['pop'])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root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.tag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root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[0][1].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attrib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the tag &amp; indexing the children of an element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print([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.attrib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['name'] for city in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root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.iter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('city')])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.iter finds elements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Aarhus in Denmark has a population of 264716</a:t>
                      </a:r>
                      <a:b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Copenhagen in Denmark has a population of 1295686</a:t>
                      </a:r>
                      <a:b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 York in USA has a population of 8622698</a:t>
                      </a:r>
                      <a:b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San Francisco in USA has a population of 884363</a:t>
                      </a:r>
                      <a:b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world {'name': 'Copenhagen', 'pop': '1295686'}</a:t>
                      </a:r>
                      <a:b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['Aarhus', 'Copenhagen', 'New York', 'San Francisco']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222" t="700" b="1"/>
          <a:stretch/>
        </p:blipFill>
        <p:spPr>
          <a:xfrm>
            <a:off x="8505825" y="4831531"/>
            <a:ext cx="3568188" cy="194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024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668" y="156781"/>
            <a:ext cx="10515600" cy="1325563"/>
          </a:xfrm>
        </p:spPr>
        <p:txBody>
          <a:bodyPr/>
          <a:lstStyle/>
          <a:p>
            <a:r>
              <a:rPr lang="en-US" noProof="0" dirty="0"/>
              <a:t>XML tags with text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916055"/>
              </p:ext>
            </p:extLst>
          </p:nvPr>
        </p:nvGraphicFramePr>
        <p:xfrm>
          <a:off x="992822" y="1482344"/>
          <a:ext cx="1020635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63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96588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city-descriptions.xml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&lt;?xml version="1.0"?&gt;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&lt;world&gt;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&lt;country name="Denmark"&gt;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&lt;city name="Aarhus" pop="264716"&gt;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 capital of Jutland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&lt;/city&gt;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&lt;city name="Copenhagen" pop="1295686"&gt;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The capital of Denmark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&lt;/city&gt;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&lt;/country&gt;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&lt;country name="USA"&gt;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&lt;city name="New York" pop="8622698"&gt;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Known as Big Apple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&lt;/city&gt;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&lt;city name="San Francisco" pop="884363"&gt;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Home of the Golden Gate Bridge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&lt;/city&gt;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&lt;/country&gt;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&lt;/world&gt;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065387"/>
              </p:ext>
            </p:extLst>
          </p:nvPr>
        </p:nvGraphicFramePr>
        <p:xfrm>
          <a:off x="133734" y="4758338"/>
          <a:ext cx="5607308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730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xml-descriptions.py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xml.etree.ElementTree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ET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 = 'city-descriptions.xml'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tree =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ET.parse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(FILE)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root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tree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.getroot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city in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root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.iter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('city'):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.get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('name'), '-',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city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.text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805965"/>
              </p:ext>
            </p:extLst>
          </p:nvPr>
        </p:nvGraphicFramePr>
        <p:xfrm>
          <a:off x="5892141" y="4758338"/>
          <a:ext cx="6137814" cy="1969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7814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32205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1633754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Aarhus - The capital of Jutland</a:t>
                      </a:r>
                      <a:b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Copenhagen - The capital of Denmark</a:t>
                      </a:r>
                      <a:b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New York - Known as Big Apple</a:t>
                      </a:r>
                      <a:b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San Francisco - Home of the Golden Gate Bridge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516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Openpyxl</a:t>
            </a:r>
            <a:r>
              <a:rPr lang="en-US" noProof="0" dirty="0"/>
              <a:t> - Microsoft Excel 2010 manipulation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023493"/>
              </p:ext>
            </p:extLst>
          </p:nvPr>
        </p:nvGraphicFramePr>
        <p:xfrm>
          <a:off x="564558" y="1679898"/>
          <a:ext cx="102063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63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1914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openpyxl-example.py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800663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openpyxl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Workbook</a:t>
                      </a:r>
                    </a:p>
                    <a:p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openpyxl.styles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en-US" sz="16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Font, 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PatternFill</a:t>
                      </a:r>
                      <a:endParaRPr lang="en-US" sz="1600" b="1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6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wb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Workbook()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# create workbook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ws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wb.active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sz="16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active worksheet</a:t>
                      </a:r>
                    </a:p>
                    <a:p>
                      <a:endParaRPr lang="en-US" sz="16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ws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['A1'] = 42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ws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['B3'] = 7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ws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['C2'] =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ws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['A1'].value +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ws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['B3'].value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ws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['D3'] = '=A1+B3+C2'</a:t>
                      </a:r>
                    </a:p>
                    <a:p>
                      <a:endParaRPr lang="en-US" sz="16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ws.title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'My test sheet'</a:t>
                      </a:r>
                    </a:p>
                    <a:p>
                      <a:endParaRPr lang="en-US" sz="16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ws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['A1'].fill =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PatternFill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('solid', </a:t>
                      </a:r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fgColor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='ffff00')</a:t>
                      </a:r>
                    </a:p>
                    <a:p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ws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['C2'].font = Font(bold=True)</a:t>
                      </a:r>
                    </a:p>
                    <a:p>
                      <a:endParaRPr lang="en-US" sz="1600" b="1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6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wb.save</a:t>
                      </a:r>
                      <a:r>
                        <a:rPr lang="en-US" sz="16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('openpyxl-example.xlsx')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525" y="3201328"/>
            <a:ext cx="7448550" cy="34004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8352" y="6399486"/>
            <a:ext cx="4746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hlinkClick r:id="rId4"/>
              </a:rPr>
              <a:t>openpyxl.readthedocs.io/</a:t>
            </a:r>
            <a:r>
              <a:rPr lang="en-US" noProof="0" dirty="0" err="1">
                <a:hlinkClick r:id="rId4"/>
              </a:rPr>
              <a:t>en</a:t>
            </a:r>
            <a:r>
              <a:rPr lang="en-US" noProof="0" dirty="0">
                <a:hlinkClick r:id="rId4"/>
              </a:rPr>
              <a:t>/stable/tutorial.html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25384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String searching using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690688"/>
            <a:ext cx="11442700" cy="2110227"/>
          </a:xfrm>
        </p:spPr>
        <p:txBody>
          <a:bodyPr>
            <a:normAutofit/>
          </a:bodyPr>
          <a:lstStyle/>
          <a:p>
            <a:r>
              <a:rPr lang="en-US" sz="2400" noProof="0" dirty="0"/>
              <a:t>Search for first </a:t>
            </a:r>
            <a:r>
              <a:rPr lang="en-US" sz="2400" noProof="0" dirty="0" err="1"/>
              <a:t>occurence</a:t>
            </a:r>
            <a:r>
              <a:rPr lang="en-US" sz="2400" noProof="0" dirty="0"/>
              <a:t> of </a:t>
            </a:r>
            <a:r>
              <a:rPr lang="en-US" sz="24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US" sz="2400" noProof="0" dirty="0"/>
              <a:t> in </a:t>
            </a:r>
            <a:r>
              <a:rPr lang="en-US" sz="24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4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sz="2400" i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2400" i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.find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substring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[, </a:t>
            </a:r>
            <a:r>
              <a:rPr lang="en-US" sz="24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[, </a:t>
            </a:r>
            <a:r>
              <a:rPr lang="en-US" sz="2400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]])</a:t>
            </a:r>
          </a:p>
          <a:p>
            <a:r>
              <a:rPr lang="en-US" sz="2400" noProof="0" dirty="0"/>
              <a:t>Returns -1 if no </a:t>
            </a:r>
            <a:r>
              <a:rPr lang="en-US" sz="2400" noProof="0" dirty="0" err="1"/>
              <a:t>occurence</a:t>
            </a:r>
            <a:r>
              <a:rPr lang="en-US" sz="2400" noProof="0" dirty="0"/>
              <a:t> found.</a:t>
            </a:r>
          </a:p>
          <a:p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.index</a:t>
            </a:r>
            <a:r>
              <a:rPr lang="en-US" sz="2400" noProof="0" dirty="0"/>
              <a:t> similar as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.find</a:t>
            </a:r>
            <a:r>
              <a:rPr lang="en-US" sz="2400" noProof="0" dirty="0"/>
              <a:t>, except raises </a:t>
            </a:r>
            <a:r>
              <a:rPr lang="en-US" sz="2400" noProof="0" dirty="0" err="1"/>
              <a:t>ValueError</a:t>
            </a:r>
            <a:r>
              <a:rPr lang="en-US" sz="2400" noProof="0" dirty="0"/>
              <a:t> exception if substring not found</a:t>
            </a:r>
          </a:p>
          <a:p>
            <a:endParaRPr lang="en-US" sz="2400" noProof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430630"/>
              </p:ext>
            </p:extLst>
          </p:nvPr>
        </p:nvGraphicFramePr>
        <p:xfrm>
          <a:off x="2926464" y="3800915"/>
          <a:ext cx="6872605" cy="26877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26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93484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string-search.py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57414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 = 'th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 string - a l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 of characters'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pattern = '</a:t>
                      </a:r>
                      <a:r>
                        <a:rPr lang="en-US" sz="16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</a:p>
                    <a:p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.find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(pattern)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&gt;= 0: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end=' ')</a:t>
                      </a:r>
                    </a:p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</a:t>
                      </a:r>
                      <a:r>
                        <a:rPr lang="en-US" sz="16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.find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(pattern, </a:t>
                      </a:r>
                      <a:r>
                        <a:rPr lang="en-US" sz="16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293484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386513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2 5 22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Rectangle 5">
            <a:hlinkClick r:id="rId2"/>
          </p:cNvPr>
          <p:cNvSpPr/>
          <p:nvPr/>
        </p:nvSpPr>
        <p:spPr>
          <a:xfrm>
            <a:off x="7406138" y="6488668"/>
            <a:ext cx="4785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/>
              <a:t>docs.python.org/3/library/</a:t>
            </a:r>
            <a:r>
              <a:rPr lang="en-US" noProof="0" dirty="0" err="1"/>
              <a:t>stdtypes.html#textseq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7691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692E9-C863-4B34-BF4E-DC6FACE6D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28" y="215900"/>
            <a:ext cx="5742871" cy="1325563"/>
          </a:xfrm>
        </p:spPr>
        <p:txBody>
          <a:bodyPr/>
          <a:lstStyle/>
          <a:p>
            <a:r>
              <a:rPr lang="en-US" noProof="0" dirty="0"/>
              <a:t>Is </a:t>
            </a:r>
            <a:r>
              <a:rPr lang="en-US" i="1" noProof="0" dirty="0" err="1"/>
              <a:t>str</a:t>
            </a:r>
            <a:r>
              <a:rPr lang="en-US" noProof="0" dirty="0" err="1"/>
              <a:t>.find</a:t>
            </a:r>
            <a:r>
              <a:rPr lang="en-US" noProof="0" dirty="0"/>
              <a:t> fast?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7C283FB-615B-498A-B261-FD0628F2FFCC}"/>
              </a:ext>
            </a:extLst>
          </p:cNvPr>
          <p:cNvSpPr txBox="1">
            <a:spLocks/>
          </p:cNvSpPr>
          <p:nvPr/>
        </p:nvSpPr>
        <p:spPr>
          <a:xfrm>
            <a:off x="353129" y="1485900"/>
            <a:ext cx="6149271" cy="49657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Typically linear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Until Python 3.9 in some cases </a:t>
            </a:r>
            <a:r>
              <a:rPr lang="en-US" noProof="0" dirty="0" err="1"/>
              <a:t>quadractic</a:t>
            </a:r>
            <a:br>
              <a:rPr lang="en-US" noProof="0" dirty="0"/>
            </a:br>
            <a:endParaRPr lang="en-US" noProof="0" dirty="0"/>
          </a:p>
          <a:p>
            <a:pPr marL="0" indent="0" algn="ctr">
              <a:buNone/>
            </a:pP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"A</a:t>
            </a:r>
            <a:r>
              <a:rPr lang="en-US" baseline="30000" noProof="0" dirty="0"/>
              <a:t>2</a:t>
            </a:r>
            <a:r>
              <a:rPr lang="en-US" i="1" baseline="30000" noProof="0" dirty="0"/>
              <a:t>n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BA</a:t>
            </a:r>
            <a:r>
              <a:rPr lang="en-US" i="1" baseline="30000" noProof="0" dirty="0"/>
              <a:t>n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".find("A</a:t>
            </a:r>
            <a:r>
              <a:rPr lang="en-US" i="1" baseline="30000" noProof="0" dirty="0"/>
              <a:t>n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BA</a:t>
            </a:r>
            <a:r>
              <a:rPr lang="en-US" i="1" baseline="30000" noProof="0" dirty="0"/>
              <a:t>n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 algn="ctr">
              <a:buNone/>
            </a:pPr>
            <a:endParaRPr lang="en-US" i="1" baseline="30000" noProof="0" dirty="0"/>
          </a:p>
          <a:p>
            <a:r>
              <a:rPr lang="en-US" noProof="0" dirty="0">
                <a:hlinkClick r:id="rId3"/>
              </a:rPr>
              <a:t>docs.python.org/3/</a:t>
            </a:r>
            <a:r>
              <a:rPr lang="en-US" noProof="0" dirty="0" err="1">
                <a:hlinkClick r:id="rId3"/>
              </a:rPr>
              <a:t>whatsnew</a:t>
            </a:r>
            <a:r>
              <a:rPr lang="en-US" noProof="0" dirty="0">
                <a:hlinkClick r:id="rId3"/>
              </a:rPr>
              <a:t>/3.10.html</a:t>
            </a:r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”</a:t>
            </a:r>
            <a:r>
              <a:rPr lang="en-US" i="1" noProof="0" dirty="0"/>
              <a:t>Substring search functions such as str1 in str2 and str2.find(str1) now sometimes use </a:t>
            </a:r>
            <a:r>
              <a:rPr lang="en-US" i="1" noProof="0" dirty="0" err="1"/>
              <a:t>Crochemore</a:t>
            </a:r>
            <a:r>
              <a:rPr lang="en-US" i="1" noProof="0" dirty="0"/>
              <a:t> &amp; Perrin’s “Two-Way” string searching algorithm to avoid quadratic behavior on long strings.”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4C2F6D-BEFF-4FB7-BE56-98004B4CCD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6" t="7221" r="1725" b="10926"/>
          <a:stretch/>
        </p:blipFill>
        <p:spPr>
          <a:xfrm>
            <a:off x="6663477" y="660400"/>
            <a:ext cx="5175394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81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140" y="99476"/>
            <a:ext cx="11353800" cy="1325563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Regular expression </a:t>
            </a:r>
            <a:br>
              <a:rPr lang="en-US" noProof="0" dirty="0"/>
            </a:br>
            <a:r>
              <a:rPr lang="en-US" noProof="0" dirty="0"/>
              <a:t>	– A powerful language to describe sets of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140" y="1520041"/>
            <a:ext cx="11435938" cy="5527963"/>
          </a:xfrm>
        </p:spPr>
        <p:txBody>
          <a:bodyPr>
            <a:normAutofit lnSpcReduction="10000"/>
          </a:bodyPr>
          <a:lstStyle/>
          <a:p>
            <a:r>
              <a:rPr lang="en-US" b="1" noProof="0" dirty="0"/>
              <a:t>Examples</a:t>
            </a:r>
            <a:endParaRPr lang="en-US" noProof="0" dirty="0"/>
          </a:p>
          <a:p>
            <a:pPr lvl="1"/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US" noProof="0" dirty="0"/>
              <a:t>   denotes a string of letters</a:t>
            </a:r>
          </a:p>
          <a:p>
            <a:pPr lvl="1"/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ab</a:t>
            </a:r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noProof="0" dirty="0"/>
              <a:t>   any string starting with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noProof="0" dirty="0"/>
              <a:t>, followed by an arbitrary number of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noProof="0" dirty="0"/>
              <a:t>s and terminated by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noProof="0" dirty="0">
                <a:cs typeface="Courier New" panose="02070309020205020404" pitchFamily="49" charset="0"/>
              </a:rPr>
              <a:t>, i.e. {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ac</a:t>
            </a:r>
            <a:r>
              <a:rPr lang="en-US" noProof="0" dirty="0">
                <a:cs typeface="Courier New" panose="02070309020205020404" pitchFamily="49" charset="0"/>
              </a:rPr>
              <a:t>,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US" noProof="0" dirty="0">
                <a:cs typeface="Courier New" panose="02070309020205020404" pitchFamily="49" charset="0"/>
              </a:rPr>
              <a:t>,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abbc</a:t>
            </a:r>
            <a:r>
              <a:rPr lang="en-US" noProof="0" dirty="0">
                <a:cs typeface="Courier New" panose="02070309020205020404" pitchFamily="49" charset="0"/>
              </a:rPr>
              <a:t>,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abbbc</a:t>
            </a:r>
            <a:r>
              <a:rPr lang="en-US" noProof="0" dirty="0">
                <a:cs typeface="Courier New" panose="02070309020205020404" pitchFamily="49" charset="0"/>
              </a:rPr>
              <a:t>, 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abbbbc</a:t>
            </a:r>
            <a:r>
              <a:rPr lang="en-US" noProof="0" dirty="0">
                <a:cs typeface="Courier New" panose="02070309020205020404" pitchFamily="49" charset="0"/>
              </a:rPr>
              <a:t>, ...}</a:t>
            </a:r>
          </a:p>
          <a:p>
            <a:pPr lvl="1"/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</a:t>
            </a:r>
            <a:r>
              <a:rPr lang="en-US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noProof="0" dirty="0"/>
              <a:t>   equivalent to 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abb</a:t>
            </a:r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noProof="0" dirty="0"/>
              <a:t>, i.e. there must be at least one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pPr lvl="1"/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noProof="0" dirty="0"/>
              <a:t>   any three letter string, starting with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noProof="0" dirty="0"/>
              <a:t> and ending with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noProof="0" dirty="0"/>
              <a:t>, where second character is any character in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[a-zA-Z0-9_]</a:t>
            </a:r>
          </a:p>
          <a:p>
            <a:pPr lvl="1"/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noProof="0" dirty="0"/>
              <a:t>   any three letter string, starting with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noProof="0" dirty="0"/>
              <a:t> and ending with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c,</a:t>
            </a:r>
            <a:r>
              <a:rPr lang="en-US" noProof="0" dirty="0"/>
              <a:t> where second character is either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noProof="0" dirty="0"/>
              <a:t>,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noProof="0" dirty="0"/>
              <a:t> or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</a:p>
          <a:p>
            <a:pPr lvl="1"/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[^</a:t>
            </a:r>
            <a:r>
              <a:rPr lang="en-US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  </a:t>
            </a:r>
            <a:r>
              <a:rPr lang="en-US" noProof="0" dirty="0"/>
              <a:t> any three letter string, starting with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noProof="0" dirty="0"/>
              <a:t> and ending with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c, </a:t>
            </a:r>
            <a:r>
              <a:rPr lang="en-US" noProof="0" dirty="0"/>
              <a:t> where second character is </a:t>
            </a:r>
            <a:r>
              <a:rPr lang="en-US" i="1" noProof="0" dirty="0"/>
              <a:t>none</a:t>
            </a:r>
            <a:r>
              <a:rPr lang="en-US" noProof="0" dirty="0"/>
              <a:t> of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noProof="0" dirty="0"/>
              <a:t>,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noProof="0" dirty="0"/>
              <a:t> or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endParaRPr lang="en-US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^</a:t>
            </a:r>
            <a:r>
              <a:rPr lang="en-US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noProof="0" dirty="0">
                <a:cs typeface="Courier New" panose="02070309020205020404" pitchFamily="49" charset="0"/>
              </a:rPr>
              <a:t>match at start of string (prefix)</a:t>
            </a:r>
          </a:p>
          <a:p>
            <a:pPr lvl="1"/>
            <a:r>
              <a:rPr lang="en-US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  </a:t>
            </a:r>
            <a:r>
              <a:rPr lang="en-US" noProof="0" dirty="0">
                <a:cs typeface="Courier New" panose="02070309020205020404" pitchFamily="49" charset="0"/>
              </a:rPr>
              <a:t>match at end of string (suffix)</a:t>
            </a:r>
          </a:p>
          <a:p>
            <a:pPr lvl="1"/>
            <a:r>
              <a:rPr lang="en-US" noProof="0" dirty="0">
                <a:cs typeface="Courier New" panose="02070309020205020404" pitchFamily="49" charset="0"/>
              </a:rPr>
              <a:t>...</a:t>
            </a:r>
            <a:endParaRPr lang="en-US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noProof="0" dirty="0">
                <a:cs typeface="Courier New" panose="02070309020205020404" pitchFamily="49" charset="0"/>
              </a:rPr>
              <a:t>See </a:t>
            </a:r>
            <a:r>
              <a:rPr lang="en-US" noProof="0" dirty="0">
                <a:cs typeface="Courier New" panose="02070309020205020404" pitchFamily="49" charset="0"/>
                <a:hlinkClick r:id="rId3"/>
              </a:rPr>
              <a:t>docs.python.org/3/library/re.html</a:t>
            </a:r>
            <a:r>
              <a:rPr lang="en-US" noProof="0" dirty="0">
                <a:cs typeface="Courier New" panose="02070309020205020404" pitchFamily="49" charset="0"/>
              </a:rPr>
              <a:t> for more</a:t>
            </a:r>
          </a:p>
        </p:txBody>
      </p:sp>
    </p:spTree>
    <p:extLst>
      <p:ext uri="{BB962C8B-B14F-4D97-AF65-F5344CB8AC3E}">
        <p14:creationId xmlns:p14="http://schemas.microsoft.com/office/powerpoint/2010/main" val="1162371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028" y="-150471"/>
            <a:ext cx="11705863" cy="1325563"/>
          </a:xfrm>
        </p:spPr>
        <p:txBody>
          <a:bodyPr/>
          <a:lstStyle/>
          <a:p>
            <a:r>
              <a:rPr lang="en-US" noProof="0" dirty="0"/>
              <a:t>String searching using regular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8362" y="842070"/>
            <a:ext cx="11488838" cy="2724284"/>
          </a:xfrm>
        </p:spPr>
        <p:txBody>
          <a:bodyPr>
            <a:normAutofit fontScale="92500"/>
          </a:bodyPr>
          <a:lstStyle/>
          <a:p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noProof="0" dirty="0"/>
              <a:t>find the first </a:t>
            </a:r>
            <a:r>
              <a:rPr lang="en-US" noProof="0" dirty="0" err="1"/>
              <a:t>occurence</a:t>
            </a:r>
            <a:r>
              <a:rPr lang="en-US" noProof="0" dirty="0"/>
              <a:t> of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lang="en-US" noProof="0" dirty="0"/>
              <a:t> in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noProof="0" dirty="0"/>
              <a:t> – returns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noProof="0" dirty="0"/>
              <a:t> or a </a:t>
            </a:r>
            <a:r>
              <a:rPr lang="en-US" i="1" noProof="0" dirty="0"/>
              <a:t>match object</a:t>
            </a:r>
          </a:p>
          <a:p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re.findall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noProof="0" dirty="0"/>
              <a:t>returns a list of non-overlapping </a:t>
            </a:r>
            <a:r>
              <a:rPr lang="en-US" noProof="0" dirty="0" err="1"/>
              <a:t>occurence</a:t>
            </a:r>
            <a:r>
              <a:rPr lang="en-US" noProof="0" dirty="0"/>
              <a:t> of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lang="en-US" noProof="0" dirty="0"/>
              <a:t> in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noProof="0" dirty="0"/>
              <a:t> – returns a list of substrings</a:t>
            </a:r>
          </a:p>
          <a:p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re.finditer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noProof="0" dirty="0"/>
              <a:t>iterator returning a match object for each non-overlapping </a:t>
            </a:r>
            <a:r>
              <a:rPr lang="en-US" noProof="0" dirty="0" err="1"/>
              <a:t>occurence</a:t>
            </a:r>
            <a:r>
              <a:rPr lang="en-US" noProof="0" dirty="0"/>
              <a:t> of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lang="en-US" noProof="0" dirty="0"/>
              <a:t> in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469344"/>
              </p:ext>
            </p:extLst>
          </p:nvPr>
        </p:nvGraphicFramePr>
        <p:xfrm>
          <a:off x="1276141" y="3528254"/>
          <a:ext cx="9733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32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624605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 = 'this is a string - a list of characters'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re.findall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r'i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\w*', text)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prefix with 'r' for raw string literal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['is', 'is',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ing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m in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re.finditer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r'a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[^at]*t', text):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 is a match object</a:t>
                      </a:r>
                      <a:b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f'text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[{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m.start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}, {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m.end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}] = {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m.group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}')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text[8, 12] = a st</a:t>
                      </a:r>
                      <a:b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text[19, 25] = a list</a:t>
                      </a:r>
                      <a:b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text[33, 36] = act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10" name="Rectangle 9">
            <a:hlinkClick r:id="rId3"/>
          </p:cNvPr>
          <p:cNvSpPr/>
          <p:nvPr/>
        </p:nvSpPr>
        <p:spPr>
          <a:xfrm>
            <a:off x="8695358" y="6424477"/>
            <a:ext cx="3385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hlinkClick r:id="rId4"/>
              </a:rPr>
              <a:t>docs.python.org/3/library/re.html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52353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137" y="365125"/>
            <a:ext cx="11705863" cy="1325563"/>
          </a:xfrm>
        </p:spPr>
        <p:txBody>
          <a:bodyPr/>
          <a:lstStyle/>
          <a:p>
            <a:r>
              <a:rPr lang="en-US" noProof="0" dirty="0"/>
              <a:t>Substitution and splitting using regular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59700"/>
          </a:xfrm>
        </p:spPr>
        <p:txBody>
          <a:bodyPr/>
          <a:lstStyle/>
          <a:p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re.sub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replacement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noProof="0" dirty="0"/>
              <a:t>replace any </a:t>
            </a:r>
            <a:r>
              <a:rPr lang="en-US" noProof="0" dirty="0" err="1"/>
              <a:t>occurence</a:t>
            </a:r>
            <a:r>
              <a:rPr lang="en-US" noProof="0" dirty="0"/>
              <a:t> of the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lang="en-US" noProof="0" dirty="0"/>
              <a:t> in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noProof="0" dirty="0"/>
              <a:t> by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replacement</a:t>
            </a:r>
            <a:r>
              <a:rPr lang="en-US" noProof="0" dirty="0"/>
              <a:t> </a:t>
            </a:r>
          </a:p>
          <a:p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re.split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noProof="0" dirty="0"/>
              <a:t>split </a:t>
            </a:r>
            <a:r>
              <a:rPr lang="en-US" i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noProof="0" dirty="0"/>
              <a:t> at all </a:t>
            </a:r>
            <a:r>
              <a:rPr lang="en-US" noProof="0" dirty="0" err="1"/>
              <a:t>occurences</a:t>
            </a:r>
            <a:r>
              <a:rPr lang="en-US" noProof="0" dirty="0"/>
              <a:t> of </a:t>
            </a:r>
            <a:r>
              <a:rPr lang="en-US" i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patern</a:t>
            </a:r>
            <a:r>
              <a:rPr lang="en-US" noProof="0" dirty="0"/>
              <a:t>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527464"/>
              </p:ext>
            </p:extLst>
          </p:nvPr>
        </p:nvGraphicFramePr>
        <p:xfrm>
          <a:off x="281785" y="3866181"/>
          <a:ext cx="1162843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84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624605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 = 'this is a string - a list of characters'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(r'\w*i\w*', 'X', text)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replace all words containing i by 'X'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'X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 X - a X of characters'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(r'\w*i\w*',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lambda m: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m.group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()[::-1], 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reverse words containing i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siht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si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gnirts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- a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tsil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of characters'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split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(r'[^\w]+a[^\w]+', text)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split around word 'a'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['this is', 'string', 'list of characters']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10" name="Rectangle 9">
            <a:hlinkClick r:id="rId3"/>
          </p:cNvPr>
          <p:cNvSpPr/>
          <p:nvPr/>
        </p:nvSpPr>
        <p:spPr>
          <a:xfrm>
            <a:off x="8643066" y="6424477"/>
            <a:ext cx="3385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hlinkClick r:id="rId3"/>
              </a:rPr>
              <a:t>docs.python.org/3/library/re.html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3404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Regular expression substitution: \b \w \1 \2 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857861"/>
          </a:xfrm>
        </p:spPr>
        <p:txBody>
          <a:bodyPr>
            <a:normAutofit lnSpcReduction="10000"/>
          </a:bodyPr>
          <a:lstStyle/>
          <a:p>
            <a:r>
              <a:rPr lang="en-US" noProof="0" dirty="0"/>
              <a:t>Assume we want to replace ”a” with ”an” in front of words starting with the vowels a, e, i, o and u.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697453"/>
              </p:ext>
            </p:extLst>
          </p:nvPr>
        </p:nvGraphicFramePr>
        <p:xfrm>
          <a:off x="478472" y="2671763"/>
          <a:ext cx="1123505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50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624605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txt = '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elephant, a zebra and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ape'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two places to correct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re.sub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('a', 'an', txt)            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same as </a:t>
                      </a:r>
                      <a:r>
                        <a:rPr lang="en-US" sz="18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txt.replace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('a', 'an')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'A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eleph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zebr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nd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replaces all letters 'a' with 'an'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re.sub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\b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'an', txt)       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raw string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\b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boundary of word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'A elephant,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zebra and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ape'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all lower 'a' replaced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re.sub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'\b[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]\b', 'an', txt)        </a:t>
                      </a:r>
                      <a:endParaRPr lang="en-US" sz="18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elephant,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zebra and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ape'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both 'a' and 'A' replaced by 'an'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re.sub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'\b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\b', </a:t>
                      </a:r>
                      <a:r>
                        <a:rPr lang="en-US" sz="18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\1</a:t>
                      </a:r>
                      <a:r>
                        <a:rPr lang="en-US" sz="1800" b="1" baseline="0" noProof="0" dirty="0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txt)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use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\1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to reinsert match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elephant,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zebra and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ape'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kept 'a' and 'A'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re.sub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'\b([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])\s+[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aeiou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]', </a:t>
                      </a:r>
                      <a:r>
                        <a:rPr lang="en-US" sz="18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'\1</a:t>
                      </a:r>
                      <a:r>
                        <a:rPr lang="en-US" sz="1800" b="1" baseline="0" noProof="0" dirty="0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txt) 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\s+ = one or more whitespace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 err="1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lephant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a zebra and 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 err="1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     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missing original whitespace + vowel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re.sub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'\b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)(</a:t>
                      </a: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\s+[</a:t>
                      </a:r>
                      <a:r>
                        <a:rPr lang="en-US" sz="18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aeiou</a:t>
                      </a: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</a:t>
                      </a:r>
                      <a:r>
                        <a:rPr lang="en-US" sz="1800" b="1" baseline="0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\1</a:t>
                      </a:r>
                      <a:r>
                        <a:rPr lang="en-US" sz="1800" b="1" baseline="0" noProof="0" dirty="0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\2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txt)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reinsert both () using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\1 \2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e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lephant, a zebra and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r>
                        <a:rPr lang="en-US" sz="1800" b="1" baseline="0" noProof="0" dirty="0">
                          <a:solidFill>
                            <a:schemeClr val="accent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pe'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195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472" y="189512"/>
            <a:ext cx="11539506" cy="1325563"/>
          </a:xfrm>
        </p:spPr>
        <p:txBody>
          <a:bodyPr>
            <a:normAutofit/>
          </a:bodyPr>
          <a:lstStyle/>
          <a:p>
            <a:r>
              <a:rPr lang="en-US" noProof="0" dirty="0"/>
              <a:t>Fun with strings: Lindenmayer systems (L-systems)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91231" y="6431302"/>
            <a:ext cx="3115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en.wikipedia.org/wiki/L-system</a:t>
            </a:r>
            <a:endParaRPr lang="en-US" noProof="0" dirty="0"/>
          </a:p>
        </p:txBody>
      </p:sp>
      <p:grpSp>
        <p:nvGrpSpPr>
          <p:cNvPr id="14" name="Group 13"/>
          <p:cNvGrpSpPr/>
          <p:nvPr/>
        </p:nvGrpSpPr>
        <p:grpSpPr>
          <a:xfrm>
            <a:off x="692927" y="1811385"/>
            <a:ext cx="3862724" cy="2359783"/>
            <a:chOff x="8056571" y="1634566"/>
            <a:chExt cx="3862724" cy="2359783"/>
          </a:xfrm>
        </p:grpSpPr>
        <p:grpSp>
          <p:nvGrpSpPr>
            <p:cNvPr id="12" name="Group 11"/>
            <p:cNvGrpSpPr/>
            <p:nvPr/>
          </p:nvGrpSpPr>
          <p:grpSpPr>
            <a:xfrm>
              <a:off x="8274190" y="1634566"/>
              <a:ext cx="3427486" cy="1938992"/>
              <a:chOff x="8623216" y="1496908"/>
              <a:chExt cx="3427486" cy="1938992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8623216" y="1496908"/>
                <a:ext cx="3427486" cy="193899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987425" algn="l"/>
                  </a:tabLst>
                </a:pPr>
                <a:r>
                  <a:rPr lang="en-US" sz="2400" b="1" noProof="0" dirty="0">
                    <a:solidFill>
                      <a:srgbClr val="C00000"/>
                    </a:solidFill>
                  </a:rPr>
                  <a:t>Axiom</a:t>
                </a:r>
                <a:r>
                  <a:rPr lang="en-US" sz="2400" noProof="0" dirty="0">
                    <a:solidFill>
                      <a:srgbClr val="C00000"/>
                    </a:solidFill>
                  </a:rPr>
                  <a:t> 	A</a:t>
                </a:r>
              </a:p>
              <a:p>
                <a:pPr>
                  <a:tabLst>
                    <a:tab pos="266700" algn="l"/>
                    <a:tab pos="987425" algn="l"/>
                  </a:tabLst>
                </a:pPr>
                <a:r>
                  <a:rPr lang="en-US" sz="2400" noProof="0" dirty="0"/>
                  <a:t>	(1) 	AB</a:t>
                </a:r>
              </a:p>
              <a:p>
                <a:pPr>
                  <a:tabLst>
                    <a:tab pos="266700" algn="l"/>
                    <a:tab pos="987425" algn="l"/>
                  </a:tabLst>
                </a:pPr>
                <a:r>
                  <a:rPr lang="en-US" sz="2400" noProof="0" dirty="0"/>
                  <a:t>	(2) 	ABA</a:t>
                </a:r>
              </a:p>
              <a:p>
                <a:pPr>
                  <a:tabLst>
                    <a:tab pos="266700" algn="l"/>
                    <a:tab pos="987425" algn="l"/>
                  </a:tabLst>
                </a:pPr>
                <a:r>
                  <a:rPr lang="en-US" sz="2400" noProof="0" dirty="0"/>
                  <a:t>	(3)	ABAAB</a:t>
                </a:r>
              </a:p>
              <a:p>
                <a:pPr>
                  <a:tabLst>
                    <a:tab pos="266700" algn="l"/>
                    <a:tab pos="987425" algn="l"/>
                  </a:tabLst>
                </a:pPr>
                <a:r>
                  <a:rPr lang="en-US" sz="2400" noProof="0" dirty="0"/>
                  <a:t>	(4)	ABAABABA</a:t>
                </a: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10736632" y="1618021"/>
                <a:ext cx="1180847" cy="120032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noProof="0" dirty="0">
                    <a:solidFill>
                      <a:srgbClr val="C00000"/>
                    </a:solidFill>
                  </a:rPr>
                  <a:t>Rules</a:t>
                </a:r>
              </a:p>
              <a:p>
                <a:pPr algn="ctr"/>
                <a:r>
                  <a:rPr lang="en-US" sz="2400" noProof="0" dirty="0">
                    <a:solidFill>
                      <a:srgbClr val="C00000"/>
                    </a:solidFill>
                  </a:rPr>
                  <a:t>A → AB</a:t>
                </a:r>
              </a:p>
              <a:p>
                <a:pPr algn="ctr"/>
                <a:r>
                  <a:rPr lang="en-US" sz="2400" noProof="0" dirty="0">
                    <a:solidFill>
                      <a:srgbClr val="C00000"/>
                    </a:solidFill>
                  </a:rPr>
                  <a:t>B → A</a:t>
                </a:r>
              </a:p>
            </p:txBody>
          </p:sp>
        </p:grpSp>
        <p:sp>
          <p:nvSpPr>
            <p:cNvPr id="11" name="Rectangle 10"/>
            <p:cNvSpPr/>
            <p:nvPr/>
          </p:nvSpPr>
          <p:spPr>
            <a:xfrm>
              <a:off x="8056571" y="3625017"/>
              <a:ext cx="38627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tabLst>
                  <a:tab pos="714375" algn="l"/>
                </a:tabLst>
              </a:pPr>
              <a:r>
                <a:rPr lang="en-US" noProof="0" dirty="0">
                  <a:solidFill>
                    <a:srgbClr val="C00000"/>
                  </a:solidFill>
                </a:rPr>
                <a:t>First four iterations of parallel rewriting</a:t>
              </a:r>
            </a:p>
          </p:txBody>
        </p:sp>
      </p:grp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303378"/>
              </p:ext>
            </p:extLst>
          </p:nvPr>
        </p:nvGraphicFramePr>
        <p:xfrm>
          <a:off x="5491329" y="1666699"/>
          <a:ext cx="6189980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99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L_system.py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 = 'A'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axiom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rules = {'A': 'AB', 'B': 'A'}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i in range(8):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 = ''.join(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rules.get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(c, c) for c in S)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print(S)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ABAAB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ABAABABA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ABAABABAABAAB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ABAABABAABAABABAABABA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ABAABABAABAABABAABABAABAABABAABAAB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2004" y="4791969"/>
            <a:ext cx="495148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i="1" noProof="0" dirty="0"/>
              <a:t>“L-systems were introduced and developed in 1968 by Aristid Lindenmayer, a Hungarian theoretical biologist and botanist at the University of Utrecht. Lindenmayer used L-systems to describe the </a:t>
            </a:r>
            <a:r>
              <a:rPr lang="en-US" i="1" noProof="0" dirty="0" err="1"/>
              <a:t>behaviour</a:t>
            </a:r>
            <a:r>
              <a:rPr lang="en-US" i="1" noProof="0" dirty="0"/>
              <a:t> of plant cells and to model the growth processes of plant development.”</a:t>
            </a:r>
          </a:p>
          <a:p>
            <a:pPr algn="r"/>
            <a:r>
              <a:rPr lang="en-US" noProof="0" dirty="0"/>
              <a:t>- Wikipedia</a:t>
            </a:r>
          </a:p>
        </p:txBody>
      </p:sp>
    </p:spTree>
    <p:extLst>
      <p:ext uri="{BB962C8B-B14F-4D97-AF65-F5344CB8AC3E}">
        <p14:creationId xmlns:p14="http://schemas.microsoft.com/office/powerpoint/2010/main" val="307534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58" y="104733"/>
            <a:ext cx="3497631" cy="1627177"/>
          </a:xfrm>
        </p:spPr>
        <p:txBody>
          <a:bodyPr>
            <a:normAutofit/>
          </a:bodyPr>
          <a:lstStyle/>
          <a:p>
            <a:pPr algn="ctr"/>
            <a:r>
              <a:rPr lang="en-US" noProof="0" dirty="0"/>
              <a:t>Heighway</a:t>
            </a:r>
            <a:br>
              <a:rPr lang="en-US" noProof="0" dirty="0"/>
            </a:br>
            <a:r>
              <a:rPr lang="en-US" noProof="0" dirty="0"/>
              <a:t>Dragon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57" y="1696952"/>
            <a:ext cx="3364991" cy="463232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317172"/>
              </p:ext>
            </p:extLst>
          </p:nvPr>
        </p:nvGraphicFramePr>
        <p:xfrm>
          <a:off x="4234886" y="230777"/>
          <a:ext cx="7734618" cy="56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461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dragon.py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math import sin, cos, radians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axiom = 'FX'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rules = {'X': 'X+YF+', 'Y': '-FX-Y'}</a:t>
                      </a:r>
                      <a:endParaRPr lang="en-US" sz="14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apply_rules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(axiom, rules, repeat):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_ in range(repeat):</a:t>
                      </a:r>
                    </a:p>
                    <a:p>
                      <a:r>
                        <a:rPr lang="en-US" sz="14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axiom = ''.join(</a:t>
                      </a:r>
                      <a:r>
                        <a:rPr lang="en-US" sz="140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rules.get</a:t>
                      </a:r>
                      <a:r>
                        <a:rPr lang="en-US" sz="140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(symbol, symbol) for symbol in axiom)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axiom</a:t>
                      </a:r>
                    </a:p>
                    <a:p>
                      <a:r>
                        <a:rPr lang="en-US" sz="14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walk(commands, position=(0, 0), angle=0, turn=90):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path = [position]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move in commands: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match move: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case 'F':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position = (position[0] + cos(radians(angle)),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           position[1] + sin(radians(angle)))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</a:t>
                      </a:r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path.append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(position)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case '-': angle -= turn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case '+': angle += turn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path</a:t>
                      </a:r>
                    </a:p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path = walk(</a:t>
                      </a:r>
                      <a:r>
                        <a:rPr lang="en-US" sz="14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apply_rules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axiom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rules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13))</a:t>
                      </a:r>
                    </a:p>
                    <a:p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(*zip(*path), '-')</a:t>
                      </a:r>
                    </a:p>
                    <a:p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plt.title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('Heighway dragon')</a:t>
                      </a:r>
                    </a:p>
                    <a:p>
                      <a:r>
                        <a:rPr lang="en-US" sz="14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92195" y="5909431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 err="1">
                <a:solidFill>
                  <a:srgbClr val="C00000"/>
                </a:solidFill>
              </a:rPr>
              <a:t>Interprete</a:t>
            </a:r>
            <a:r>
              <a:rPr lang="en-US" noProof="0" dirty="0">
                <a:solidFill>
                  <a:srgbClr val="C00000"/>
                </a:solidFill>
              </a:rPr>
              <a:t> the symbols of the resulting string as a walk where 'F' = draw line forward, and '+' and '-' are turn left and right 90° (X and Y are skipped)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-54890" y="6626097"/>
            <a:ext cx="14185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noProof="0" dirty="0"/>
              <a:t>FX+YF++-FX-YF++-FX+YF+--FX-YF++-FX+YF++-FX-YF+--FX+YF+--FX-YF++-FX+YF++-FX-YF++-FX+YF+--FX-YF+--FX+YF++-FX-YF+--FX+YF+--FX-YF++-FX+YF++-FX-YF++-FX+YF+--FX-YF++-FX+YF++-FX-YF+--FX+YF+--FX-YF+--FX+YF++-FX-YF++-FX+YF+--FX-YF+--FX+YF++-FX-YF+--FX+YF+--FX-YF++-FX+YF++-FX-YF++-FX+YF+--FX-YF++-FX+YF++-FX-Y</a:t>
            </a:r>
          </a:p>
        </p:txBody>
      </p:sp>
    </p:spTree>
    <p:extLst>
      <p:ext uri="{BB962C8B-B14F-4D97-AF65-F5344CB8AC3E}">
        <p14:creationId xmlns:p14="http://schemas.microsoft.com/office/powerpoint/2010/main" val="2288104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6875" r="66676"/>
          <a:stretch/>
        </p:blipFill>
        <p:spPr>
          <a:xfrm>
            <a:off x="0" y="1362816"/>
            <a:ext cx="2234527" cy="5410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847" y="135013"/>
            <a:ext cx="10515600" cy="1325563"/>
          </a:xfrm>
        </p:spPr>
        <p:txBody>
          <a:bodyPr/>
          <a:lstStyle/>
          <a:p>
            <a:r>
              <a:rPr lang="en-US" noProof="0" dirty="0"/>
              <a:t>More space filling curves...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65852"/>
          <a:stretch/>
        </p:blipFill>
        <p:spPr>
          <a:xfrm>
            <a:off x="7579430" y="1362816"/>
            <a:ext cx="2885034" cy="5410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34733" r="35163"/>
          <a:stretch/>
        </p:blipFill>
        <p:spPr>
          <a:xfrm>
            <a:off x="3450670" y="1362816"/>
            <a:ext cx="2543364" cy="5410200"/>
          </a:xfrm>
          <a:prstGeom prst="rect">
            <a:avLst/>
          </a:prstGeom>
        </p:spPr>
      </p:pic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0800058"/>
              </p:ext>
            </p:extLst>
          </p:nvPr>
        </p:nvGraphicFramePr>
        <p:xfrm>
          <a:off x="2021000" y="1854200"/>
          <a:ext cx="10171000" cy="48135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53267">
                  <a:extLst>
                    <a:ext uri="{9D8B030D-6E8A-4147-A177-3AD203B41FA5}">
                      <a16:colId xmlns:a16="http://schemas.microsoft.com/office/drawing/2014/main" val="15686440"/>
                    </a:ext>
                  </a:extLst>
                </a:gridCol>
                <a:gridCol w="4047066">
                  <a:extLst>
                    <a:ext uri="{9D8B030D-6E8A-4147-A177-3AD203B41FA5}">
                      <a16:colId xmlns:a16="http://schemas.microsoft.com/office/drawing/2014/main" val="457520223"/>
                    </a:ext>
                  </a:extLst>
                </a:gridCol>
                <a:gridCol w="2370667">
                  <a:extLst>
                    <a:ext uri="{9D8B030D-6E8A-4147-A177-3AD203B41FA5}">
                      <a16:colId xmlns:a16="http://schemas.microsoft.com/office/drawing/2014/main" val="1380051681"/>
                    </a:ext>
                  </a:extLst>
                </a:gridCol>
              </a:tblGrid>
              <a:tr h="1557867"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Axiom F-G-G</a:t>
                      </a: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 → F-G+F+G-F </a:t>
                      </a: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G→ GG</a:t>
                      </a:r>
                    </a:p>
                    <a:p>
                      <a:endParaRPr lang="en-US" sz="1400" noProof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Forward F and G</a:t>
                      </a: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Turns</a:t>
                      </a:r>
                      <a:r>
                        <a:rPr lang="en-US" sz="1400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120°</a:t>
                      </a:r>
                      <a:endParaRPr lang="en-US" sz="1400" noProof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Axiom A</a:t>
                      </a: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 → B-A-B</a:t>
                      </a: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 → A+B+A</a:t>
                      </a:r>
                    </a:p>
                    <a:p>
                      <a:endParaRPr lang="en-US" sz="1400" noProof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Forward A and B</a:t>
                      </a: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Turns</a:t>
                      </a:r>
                      <a:r>
                        <a:rPr lang="en-US" sz="1400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60°</a:t>
                      </a:r>
                      <a:endParaRPr lang="en-US" sz="1400" noProof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Axiom 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 → LFRFL-F-RFLFR+F+LFRFL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R→ RFLFR+F+LFRFL-F-RFLFR</a:t>
                      </a:r>
                    </a:p>
                    <a:p>
                      <a:endParaRPr lang="en-US" sz="1400" noProof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9514205"/>
                  </a:ext>
                </a:extLst>
              </a:tr>
              <a:tr h="1570427"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Axiom F</a:t>
                      </a: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X → X+YF+</a:t>
                      </a: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Y → -FX-Y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Axiom F</a:t>
                      </a: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 → F+F-F-F+F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Axiom L</a:t>
                      </a: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 → +RF-LFL-FR+</a:t>
                      </a: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R → -LF+RFR+FL-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57935"/>
                  </a:ext>
                </a:extLst>
              </a:tr>
              <a:tr h="1685244"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Axiom F-F-F-F-F</a:t>
                      </a: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 → F-F-F++F+F-F</a:t>
                      </a:r>
                    </a:p>
                    <a:p>
                      <a:b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Turns 72°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Axiom F</a:t>
                      </a: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 → F[+FF][-FF]F[-F][+F]F</a:t>
                      </a:r>
                    </a:p>
                    <a:p>
                      <a:b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Turns</a:t>
                      </a:r>
                      <a:r>
                        <a:rPr lang="en-US" sz="1400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36°</a:t>
                      </a:r>
                    </a:p>
                    <a:p>
                      <a:r>
                        <a:rPr lang="en-US" sz="1400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[ and ] return to start </a:t>
                      </a:r>
                      <a:br>
                        <a:rPr lang="en-US" sz="1400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en-US" sz="1400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point when done</a:t>
                      </a:r>
                      <a:endParaRPr lang="en-US" sz="1400" noProof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Axiom F</a:t>
                      </a:r>
                    </a:p>
                    <a:p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</a:t>
                      </a:r>
                      <a:r>
                        <a:rPr lang="en-US" sz="1400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→ F+F--F+F</a:t>
                      </a:r>
                    </a:p>
                    <a:p>
                      <a:b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en-US" sz="140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Turns 80°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257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8575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01261"/>
              </p:ext>
            </p:extLst>
          </p:nvPr>
        </p:nvGraphicFramePr>
        <p:xfrm>
          <a:off x="19665" y="1542156"/>
          <a:ext cx="12137195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72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  <a:gridCol w="8699940">
                  <a:extLst>
                    <a:ext uri="{9D8B030D-6E8A-4147-A177-3AD203B41FA5}">
                      <a16:colId xmlns:a16="http://schemas.microsoft.com/office/drawing/2014/main" val="3120727572"/>
                    </a:ext>
                  </a:extLst>
                </a:gridCol>
              </a:tblGrid>
              <a:tr h="141613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space-filling-L_systems.py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7370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matplotlib.pyplot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</a:t>
                      </a:r>
                      <a:endParaRPr lang="en-US" sz="105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math import sin, cos, radians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105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05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walk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(commands, </a:t>
                      </a:r>
                      <a:b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pos=(0, 0),</a:t>
                      </a:r>
                      <a:b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forward=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frozenset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('F'), </a:t>
                      </a:r>
                      <a:b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angle=0, </a:t>
                      </a:r>
                      <a:b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turn=90):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paths = [[pos]]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stack = []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for move in commands: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move in forward: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pos = (pos[0]+cos(radians(angle)),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pos[1]+sin(radians(angle)))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paths[-1].append(pos)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move == '-': angle -= turn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move == '+': angle += turn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move == '[':</a:t>
                      </a:r>
                      <a:b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stack.append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((pos, angle))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elif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move == ']':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pos, angle =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stack.pop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paths.append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([pos])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return paths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105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105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05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apply_rules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(axiom, rules, repeat=1):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_ in range(repeat):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axiom = ''.join(</a:t>
                      </a:r>
                      <a:r>
                        <a:rPr lang="en-US" sz="1050" b="1" noProof="0" dirty="0" err="1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rules.get</a:t>
                      </a:r>
                      <a:r>
                        <a:rPr lang="en-US" sz="1050" b="1" noProof="0" dirty="0">
                          <a:solidFill>
                            <a:srgbClr val="00B05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(symbol, symbol) for symbol in axiom)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axiom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105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curves = [  # Lindenmayer systems (L-systems)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('Sierpinski triangle', 'F-G-G', {'F': 'F-G+F+G-F', 'G': 'GG'}, 5, {'turn': 120, 'forward': {'F','G'}}),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('Sierpinski arrowhead curve', 'A', {'A': 'B-A-B', 'B': 'A+B+A'}, 5, {'turn': 60, 'forward': {'A','B'}}),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('Peano curve', 'L', {'L': 'LFRFL-F-RFLFR+F+LFRFL', 'R': 'RFLFR+F+LFRFL-F-RFLFR'}, 3, {}),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('Heighway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dragon','FX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', {'X': 'X+YF+', 'Y': '-FX-Y'}, 10, {}),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('Koch curve', 'F', {'F': 'F+F-F-F+F'}, 3, {}),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('Hilbert curve', 'L', {'L': '+RF-LFL-FR+', 'R': '-LF+RFR+FL-'}, 4, {}),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('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McWorter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Pentigree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curve', 'F-F-F-F-F', {'F': 'F-F-F++F+F-F'}, 3, {'turn': 72}),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('Tree', 'F', {'F': 'F[+FF][-FF]F[-F][+F]F'}, 3, {'turn': 36}),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('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Cesero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fractal', 'F', {'F': 'F+F--F+F'}, 5, {'turn': 80})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105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(title, axiom, rules, repeat,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walk_arg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in enumerate(curves, start=1):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paths = </a:t>
                      </a:r>
                      <a:r>
                        <a:rPr lang="en-US" sz="105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walk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05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apply_rules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(axiom, rules, repeat), **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walk_arg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ax =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plt.subplot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(3, 3,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aspect='equal')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ax.set_title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(title)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path in paths: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plt.plot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(*zip(*path), '-')    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plt.axis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('off')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05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plt.show</a:t>
                      </a:r>
                      <a:r>
                        <a:rPr lang="en-US" sz="105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marR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3847" y="135013"/>
            <a:ext cx="10515600" cy="1325563"/>
          </a:xfrm>
        </p:spPr>
        <p:txBody>
          <a:bodyPr/>
          <a:lstStyle/>
          <a:p>
            <a:r>
              <a:rPr lang="en-US" noProof="0" dirty="0"/>
              <a:t>More space filling curves... (source code)</a:t>
            </a:r>
          </a:p>
        </p:txBody>
      </p:sp>
    </p:spTree>
    <p:extLst>
      <p:ext uri="{BB962C8B-B14F-4D97-AF65-F5344CB8AC3E}">
        <p14:creationId xmlns:p14="http://schemas.microsoft.com/office/powerpoint/2010/main" val="1254553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52641</TotalTime>
  <Words>5652</Words>
  <Application>Microsoft Office PowerPoint</Application>
  <PresentationFormat>Widescreen</PresentationFormat>
  <Paragraphs>640</Paragraphs>
  <Slides>26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Wingdings</vt:lpstr>
      <vt:lpstr>Office Theme</vt:lpstr>
      <vt:lpstr>Working with text</vt:lpstr>
      <vt:lpstr>Some file formats</vt:lpstr>
      <vt:lpstr>PIL – the Python Imaging Library </vt:lpstr>
      <vt:lpstr>CSV files - Comma Separated Values</vt:lpstr>
      <vt:lpstr>CSV files - Tab Separated Values</vt:lpstr>
      <vt:lpstr>Reading an Excel generated CSV file</vt:lpstr>
      <vt:lpstr>CSV files  - Quoting</vt:lpstr>
      <vt:lpstr>File encodings...</vt:lpstr>
      <vt:lpstr>PowerPoint Presentation</vt:lpstr>
      <vt:lpstr>Reading CSV files with specific encoding</vt:lpstr>
      <vt:lpstr>JSON</vt:lpstr>
      <vt:lpstr>JSON example</vt:lpstr>
      <vt:lpstr>XML - eXtensible Markup Language</vt:lpstr>
      <vt:lpstr>PowerPoint Presentation</vt:lpstr>
      <vt:lpstr>XML tags with text</vt:lpstr>
      <vt:lpstr>Openpyxl - Microsoft Excel 2010 manipulation</vt:lpstr>
      <vt:lpstr>String searching using find</vt:lpstr>
      <vt:lpstr>Is str.find fast?</vt:lpstr>
      <vt:lpstr>Regular expression   – A powerful language to describe sets of strings</vt:lpstr>
      <vt:lpstr>String searching using regular expressions</vt:lpstr>
      <vt:lpstr>Substitution and splitting using regular expressions</vt:lpstr>
      <vt:lpstr>Regular expression substitution: \b \w \1 \2 ...</vt:lpstr>
      <vt:lpstr>Fun with strings: Lindenmayer systems (L-systems)</vt:lpstr>
      <vt:lpstr>Heighway Dragon</vt:lpstr>
      <vt:lpstr>More space filling curves...</vt:lpstr>
      <vt:lpstr>More space filling curves... (source code)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1855</cp:revision>
  <dcterms:created xsi:type="dcterms:W3CDTF">2017-10-19T06:54:16Z</dcterms:created>
  <dcterms:modified xsi:type="dcterms:W3CDTF">2026-04-22T07:29:52Z</dcterms:modified>
</cp:coreProperties>
</file>