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429" r:id="rId2"/>
    <p:sldId id="485" r:id="rId3"/>
    <p:sldId id="517" r:id="rId4"/>
    <p:sldId id="487" r:id="rId5"/>
    <p:sldId id="497" r:id="rId6"/>
    <p:sldId id="498" r:id="rId7"/>
    <p:sldId id="488" r:id="rId8"/>
    <p:sldId id="501" r:id="rId9"/>
    <p:sldId id="503" r:id="rId10"/>
    <p:sldId id="504" r:id="rId11"/>
    <p:sldId id="505" r:id="rId12"/>
    <p:sldId id="502" r:id="rId13"/>
    <p:sldId id="495" r:id="rId14"/>
    <p:sldId id="486" r:id="rId15"/>
    <p:sldId id="506" r:id="rId16"/>
    <p:sldId id="491" r:id="rId17"/>
    <p:sldId id="508" r:id="rId18"/>
    <p:sldId id="516" r:id="rId19"/>
    <p:sldId id="459" r:id="rId20"/>
    <p:sldId id="509" r:id="rId21"/>
    <p:sldId id="507" r:id="rId22"/>
    <p:sldId id="492" r:id="rId23"/>
    <p:sldId id="399" r:id="rId24"/>
    <p:sldId id="490" r:id="rId25"/>
    <p:sldId id="512" r:id="rId26"/>
    <p:sldId id="510" r:id="rId27"/>
    <p:sldId id="511" r:id="rId28"/>
    <p:sldId id="514" r:id="rId29"/>
    <p:sldId id="513" r:id="rId30"/>
    <p:sldId id="515" r:id="rId3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2CC"/>
    <a:srgbClr val="FFA7A7"/>
    <a:srgbClr val="DEEBF7"/>
    <a:srgbClr val="E2F0D9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69C976-1ADA-4DA8-9761-4E88C2A5DB41}" v="15" dt="2026-02-09T06:11:52.2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92" autoAdjust="0"/>
    <p:restoredTop sz="70839" autoAdjust="0"/>
  </p:normalViewPr>
  <p:slideViewPr>
    <p:cSldViewPr snapToGrid="0">
      <p:cViewPr varScale="1">
        <p:scale>
          <a:sx n="46" d="100"/>
          <a:sy n="46" d="100"/>
        </p:scale>
        <p:origin x="1196" y="28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2-09T06:39:03.480" v="745" actId="1038"/>
      <pc:docMkLst>
        <pc:docMk/>
      </pc:docMkLst>
      <pc:sldChg chg="modSp mod">
        <pc:chgData name="Gerth Stølting Brodal" userId="04ef4784-6591-4f86-a140-f5c3b108582a" providerId="ADAL" clId="{73BAC7D6-516A-44B5-B4B0-C7B08CA8B392}" dt="2026-02-03T19:00:34.261" v="538" actId="20577"/>
        <pc:sldMkLst>
          <pc:docMk/>
          <pc:sldMk cId="4087453366" sldId="399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087453366" sldId="39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9:00:34.261" v="538" actId="20577"/>
          <ac:spMkLst>
            <pc:docMk/>
            <pc:sldMk cId="4087453366" sldId="399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202730714" sldId="429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02730714" sldId="42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02730714" sldId="429"/>
            <ac:spMk id="3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2-03T18:57:15.263" v="531" actId="790"/>
        <pc:sldMkLst>
          <pc:docMk/>
          <pc:sldMk cId="1841815763" sldId="48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6" creationId="{0E4A98EC-37C4-8241-363F-9C13D1E2192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7" creationId="{8D20C749-0EA4-EE08-310F-908C6D123DF7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8" creationId="{B3655F76-172D-B724-498C-B3612ED83B27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9" creationId="{AD338455-2C15-3FC5-ABA3-C069BDEE3EF5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10" creationId="{162A923A-346C-3E8F-9319-CE1FD66BB7A6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11" creationId="{5347D277-0D30-4EBC-3D30-334A0CD87C84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12" creationId="{1A4C4B8A-3EAA-279A-8739-939276934ECA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488977922" sldId="486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88977922" sldId="48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88977922" sldId="48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88977922" sldId="486"/>
            <ac:spMk id="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488977922" sldId="486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580155105" sldId="48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580155105" sldId="48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580155105" sldId="48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580155105" sldId="487"/>
            <ac:spMk id="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580155105" sldId="487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569228172" sldId="488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69228172" sldId="48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69228172" sldId="48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69228172" sldId="488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569228172" sldId="488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9:03:02.829" v="602" actId="20577"/>
        <pc:sldMkLst>
          <pc:docMk/>
          <pc:sldMk cId="317541545" sldId="490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7541545" sldId="490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6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7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433855882" sldId="491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433855882" sldId="49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433855882" sldId="491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433855882" sldId="491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145035976" sldId="492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45035976" sldId="492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9T05:28:51.656" v="627" actId="20577"/>
        <pc:sldMkLst>
          <pc:docMk/>
          <pc:sldMk cId="3289563800" sldId="49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289563800" sldId="495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289563800" sldId="495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289563800" sldId="49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159351348" sldId="49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81736030" sldId="498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017082054" sldId="501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1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017082054" sldId="50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106979015" sldId="502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3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3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4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2106979015" sldId="502"/>
            <ac:graphicFrameMk id="22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2106979015" sldId="502"/>
            <ac:graphicFrameMk id="40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574681208" sldId="503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8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574681208" sldId="503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574681208" sldId="503"/>
            <ac:graphicFrameMk id="11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738210069" sldId="504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9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231878254" sldId="50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5" creationId="{7CADA278-923D-143B-3BB6-1FEE8AB4BB03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3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32" creationId="{00000000-0000-0000-0000-000000000000}"/>
          </ac:spMkLst>
        </pc:spChg>
      </pc:sldChg>
      <pc:sldChg chg="addSp modSp mod modAnim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4217757132" sldId="506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4" creationId="{00000000-0000-0000-0000-000000000000}"/>
          </ac:spMkLst>
        </pc:spChg>
        <pc:spChg chg="add 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6" creationId="{52B9FBC1-EB12-3D55-810C-775A517882B8}"/>
          </ac:spMkLst>
        </pc:spChg>
        <pc:grpChg chg="add mod">
          <ac:chgData name="Gerth Stølting Brodal" userId="04ef4784-6591-4f86-a140-f5c3b108582a" providerId="ADAL" clId="{73BAC7D6-516A-44B5-B4B0-C7B08CA8B392}" dt="2026-02-03T18:18:17.108" v="342" actId="14100"/>
          <ac:grpSpMkLst>
            <pc:docMk/>
            <pc:sldMk cId="4217757132" sldId="506"/>
            <ac:grpSpMk id="8" creationId="{E8624B39-ED7A-CE8E-BEF6-3FEA2EEDD219}"/>
          </ac:grpSpMkLst>
        </pc:grpChg>
        <pc:picChg chg="add mod">
          <ac:chgData name="Gerth Stølting Brodal" userId="04ef4784-6591-4f86-a140-f5c3b108582a" providerId="ADAL" clId="{73BAC7D6-516A-44B5-B4B0-C7B08CA8B392}" dt="2026-02-03T18:17:26.342" v="314" actId="164"/>
          <ac:picMkLst>
            <pc:docMk/>
            <pc:sldMk cId="4217757132" sldId="506"/>
            <ac:picMk id="7" creationId="{50709185-37BD-8884-1739-B2C19E767366}"/>
          </ac:picMkLst>
        </pc:pic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44530098" sldId="50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44530098" sldId="50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44530098" sldId="507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44530098" sldId="507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8:58:44.121" v="533" actId="113"/>
        <pc:sldMkLst>
          <pc:docMk/>
          <pc:sldMk cId="841188797" sldId="508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841188797" sldId="50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841188797" sldId="508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841188797" sldId="508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841188797" sldId="508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9T05:58:19.048" v="642" actId="20577"/>
        <pc:sldMkLst>
          <pc:docMk/>
          <pc:sldMk cId="1553393585" sldId="509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553393585" sldId="50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553393585" sldId="509"/>
            <ac:spMk id="3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2-09T06:12:15.290" v="699" actId="20577"/>
        <pc:sldMkLst>
          <pc:docMk/>
          <pc:sldMk cId="3648550906" sldId="510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648550906" sldId="510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648550906" sldId="510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648550906" sldId="510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254085997" sldId="511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54085997" sldId="511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54085997" sldId="511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2254085997" sldId="511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030751882" sldId="512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030751882" sldId="512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637895129" sldId="513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637895129" sldId="51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9T06:39:03.480" v="745" actId="1038"/>
        <pc:sldMkLst>
          <pc:docMk/>
          <pc:sldMk cId="2400466622" sldId="514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9T06:39:03.480" v="745" actId="1038"/>
          <ac:spMkLst>
            <pc:docMk/>
            <pc:sldMk cId="2400466622" sldId="514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794473685" sldId="51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94473685" sldId="51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94473685" sldId="515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94473685" sldId="515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794473685" sldId="515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68358073" sldId="516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68358073" sldId="516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8:58:21.442" v="532" actId="790"/>
        <pc:sldMkLst>
          <pc:docMk/>
          <pc:sldMk cId="1292498751" sldId="51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92498751" sldId="517"/>
            <ac:spMk id="2" creationId="{AFA20F19-C8FD-DDEA-BCA6-8C1F8460F61E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92498751" sldId="517"/>
            <ac:spMk id="3" creationId="{B64D2BE1-6836-D0C7-61BF-2C574E33EDC7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292498751" sldId="517"/>
            <ac:graphicFrameMk id="4" creationId="{BB38F82D-7DDE-BF97-A17E-6B6FF8E2C388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 err="1"/>
              <a:t>L.index</a:t>
            </a:r>
            <a:r>
              <a:rPr lang="en-US" noProof="0" dirty="0"/>
              <a:t>(e) results in a </a:t>
            </a:r>
            <a:r>
              <a:rPr lang="en-US" noProof="0" dirty="0" err="1"/>
              <a:t>ValueError</a:t>
            </a:r>
            <a:r>
              <a:rPr lang="en-US" noProof="0" dirty="0"/>
              <a:t> if e is not in 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0572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Python 3.12-3.14 get confused when the first element in the list is an integer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35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L.pop</a:t>
            </a:r>
            <a:r>
              <a:rPr lang="en-US" dirty="0"/>
              <a:t>() = </a:t>
            </a:r>
            <a:r>
              <a:rPr lang="en-US" dirty="0" err="1"/>
              <a:t>L.pop</a:t>
            </a:r>
            <a:r>
              <a:rPr lang="en-US" dirty="0"/>
              <a:t>(-1), i.e. removes the last element from the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39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Slicing creates a new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038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361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Pythontutor.com supports Python 3.6 and 3.11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36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pythonturor.com</a:t>
            </a:r>
          </a:p>
          <a:p>
            <a:endParaRPr lang="en-US" dirty="0"/>
          </a:p>
          <a:p>
            <a:r>
              <a:rPr lang="en-US" dirty="0"/>
              <a:t>a = [1]</a:t>
            </a:r>
          </a:p>
          <a:p>
            <a:r>
              <a:rPr lang="en-US" dirty="0"/>
              <a:t>b = a * 3</a:t>
            </a:r>
          </a:p>
          <a:p>
            <a:r>
              <a:rPr lang="en-US" dirty="0"/>
              <a:t>c = [b]</a:t>
            </a:r>
          </a:p>
          <a:p>
            <a:r>
              <a:rPr lang="en-US" dirty="0"/>
              <a:t>d = c * 3</a:t>
            </a:r>
          </a:p>
          <a:p>
            <a:r>
              <a:rPr lang="en-US" dirty="0"/>
              <a:t>d[0][0] = 42</a:t>
            </a:r>
          </a:p>
          <a:p>
            <a:r>
              <a:rPr lang="en-US" dirty="0"/>
              <a:t>print(d)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669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x in range(20):</a:t>
            </a:r>
          </a:p>
          <a:p>
            <a:r>
              <a:rPr lang="en-US" dirty="0"/>
              <a:t>    if x % 3 == 0:</a:t>
            </a:r>
          </a:p>
          <a:p>
            <a:r>
              <a:rPr lang="en-US" dirty="0"/>
              <a:t>        continue</a:t>
            </a:r>
          </a:p>
          <a:p>
            <a:r>
              <a:rPr lang="en-US" dirty="0"/>
              <a:t>    print(x)</a:t>
            </a:r>
          </a:p>
          <a:p>
            <a:r>
              <a:rPr lang="en-US" dirty="0"/>
              <a:t>    if x &gt; 12:</a:t>
            </a:r>
          </a:p>
          <a:p>
            <a:r>
              <a:rPr lang="en-US" dirty="0"/>
              <a:t>        break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816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</a:t>
            </a:r>
            <a:r>
              <a:rPr lang="en-US" b="1" dirty="0"/>
              <a:t>i</a:t>
            </a:r>
            <a:r>
              <a:rPr lang="en-US" dirty="0"/>
              <a:t> in 2</a:t>
            </a:r>
            <a:r>
              <a:rPr lang="en-US" baseline="30000" dirty="0"/>
              <a:t>nd</a:t>
            </a:r>
            <a:r>
              <a:rPr lang="en-US" dirty="0"/>
              <a:t> for-loop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457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i in </a:t>
            </a:r>
            <a:r>
              <a:rPr lang="en-US"/>
              <a:t>2</a:t>
            </a:r>
            <a:r>
              <a:rPr lang="en-US" baseline="30000"/>
              <a:t>nd</a:t>
            </a:r>
            <a:r>
              <a:rPr lang="en-US"/>
              <a:t> for-loop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40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BASIC</a:t>
            </a:r>
            <a:r>
              <a:rPr lang="en-US" baseline="0" dirty="0"/>
              <a:t> includes the last index in the range for the for-loop</a:t>
            </a:r>
          </a:p>
          <a:p>
            <a:r>
              <a:rPr lang="en-US" baseline="0" dirty="0"/>
              <a:t>Needs keyword NEXT to indicate where the FOR loop ends</a:t>
            </a:r>
          </a:p>
          <a:p>
            <a:r>
              <a:rPr lang="en-US" dirty="0"/>
              <a:t>https://vice.pokefinder.org/ run x64.exe</a:t>
            </a:r>
          </a:p>
          <a:p>
            <a:r>
              <a:rPr lang="en-US" dirty="0"/>
              <a:t>Alt-D toggle full</a:t>
            </a:r>
            <a:r>
              <a:rPr lang="en-US" baseline="0" dirty="0"/>
              <a:t> screen</a:t>
            </a:r>
          </a:p>
          <a:p>
            <a:r>
              <a:rPr lang="en-US" baseline="0" dirty="0"/>
              <a:t>LIST : show program</a:t>
            </a:r>
          </a:p>
          <a:p>
            <a:r>
              <a:rPr lang="en-US" baseline="0" dirty="0"/>
              <a:t>RUN : run program</a:t>
            </a:r>
          </a:p>
          <a:p>
            <a:r>
              <a:rPr lang="en-US" baseline="0" dirty="0"/>
              <a:t>Alt-F12 : Hardware reset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7442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Microsoft BASIC for 6502 [1978]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Bill Gates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Paul Allen, Monte Davidoff</a:t>
            </a:r>
            <a:endParaRPr lang="en-US" dirty="0"/>
          </a:p>
          <a:p>
            <a:r>
              <a:rPr lang="en-US" dirty="0"/>
              <a:t>https://www.pagetable.com/?p=774</a:t>
            </a:r>
          </a:p>
          <a:p>
            <a:r>
              <a:rPr lang="en-US" dirty="0"/>
              <a:t>(licensed by Commodore for the Commodore C64, released 1982)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4699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</a:t>
            </a:r>
            <a:r>
              <a:rPr lang="en-US" baseline="0" dirty="0"/>
              <a:t> of tested loops</a:t>
            </a:r>
          </a:p>
          <a:p>
            <a:r>
              <a:rPr lang="en-US" baseline="0" dirty="0" err="1"/>
              <a:t>Handin</a:t>
            </a:r>
            <a:r>
              <a:rPr lang="en-US" baseline="0" dirty="0"/>
              <a:t>: make a more efficient algorithm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806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Possible optimizations:</a:t>
            </a:r>
            <a:endParaRPr lang="en-US" baseline="0" dirty="0"/>
          </a:p>
          <a:p>
            <a:pPr marL="228600" indent="-228600">
              <a:buAutoNum type="arabicParenR"/>
            </a:pPr>
            <a:r>
              <a:rPr lang="en-US" baseline="0" dirty="0"/>
              <a:t>Skip j if </a:t>
            </a:r>
            <a:r>
              <a:rPr lang="en-US" b="1" baseline="0" dirty="0"/>
              <a:t>prime[j] == False</a:t>
            </a:r>
          </a:p>
          <a:p>
            <a:pPr marL="228600" indent="-228600">
              <a:buAutoNum type="arabicParenR"/>
            </a:pPr>
            <a:r>
              <a:rPr lang="en-US" baseline="0" dirty="0"/>
              <a:t>for i in range(2, </a:t>
            </a:r>
            <a:r>
              <a:rPr lang="en-US" b="1" baseline="0" dirty="0" err="1"/>
              <a:t>sqrt</a:t>
            </a:r>
            <a:r>
              <a:rPr lang="en-US" b="1" baseline="0" dirty="0"/>
              <a:t>(n)</a:t>
            </a:r>
            <a:r>
              <a:rPr lang="en-US" baseline="0" dirty="0"/>
              <a:t>)</a:t>
            </a:r>
          </a:p>
          <a:p>
            <a:pPr marL="228600" indent="-228600">
              <a:buAutoNum type="arabicParenR"/>
            </a:pPr>
            <a:r>
              <a:rPr lang="en-US" dirty="0"/>
              <a:t>for</a:t>
            </a:r>
            <a:r>
              <a:rPr lang="en-US" baseline="0" dirty="0"/>
              <a:t> j in range(</a:t>
            </a:r>
            <a:r>
              <a:rPr lang="en-US" b="1" baseline="0" dirty="0"/>
              <a:t>i * i</a:t>
            </a:r>
            <a:r>
              <a:rPr lang="en-US" baseline="0" dirty="0"/>
              <a:t>, n + 1, </a:t>
            </a:r>
            <a:r>
              <a:rPr lang="en-US" baseline="0" dirty="0" err="1"/>
              <a:t>i</a:t>
            </a:r>
            <a:r>
              <a:rPr lang="en-US" baseline="0" dirty="0"/>
              <a:t>)</a:t>
            </a:r>
          </a:p>
          <a:p>
            <a:pPr marL="0" indent="0">
              <a:buNone/>
            </a:pPr>
            <a:r>
              <a:rPr lang="en-US" baseline="0" dirty="0"/>
              <a:t>Run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9834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L.index</a:t>
            </a:r>
            <a:r>
              <a:rPr lang="en-US" dirty="0"/>
              <a:t>(x) can only be called if x in L, otherwise an exception is raised</a:t>
            </a:r>
          </a:p>
          <a:p>
            <a:r>
              <a:rPr lang="en-US" dirty="0"/>
              <a:t>Last version also scans L two times (“in” and </a:t>
            </a:r>
            <a:r>
              <a:rPr lang="en-US"/>
              <a:t>“.index”)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882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strings are immutable</a:t>
            </a:r>
          </a:p>
          <a:p>
            <a:endParaRPr lang="en-US" dirty="0"/>
          </a:p>
          <a:p>
            <a:r>
              <a:rPr lang="en-US" dirty="0"/>
              <a:t>Below allocates 1000 GB… but most garbage collected</a:t>
            </a:r>
          </a:p>
          <a:p>
            <a:r>
              <a:rPr lang="en-US" dirty="0"/>
              <a:t>s = ''</a:t>
            </a:r>
          </a:p>
          <a:p>
            <a:r>
              <a:rPr lang="en-US" dirty="0"/>
              <a:t>for x in range(1_000_000):</a:t>
            </a:r>
          </a:p>
          <a:p>
            <a:r>
              <a:rPr lang="en-US" dirty="0"/>
              <a:t>    s += 'x'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694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time.time</a:t>
            </a:r>
            <a:r>
              <a:rPr lang="da-DK" dirty="0"/>
              <a:t>() returns the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seconds</a:t>
            </a:r>
            <a:r>
              <a:rPr lang="da-DK" dirty="0"/>
              <a:t> </a:t>
            </a:r>
            <a:r>
              <a:rPr lang="da-DK" dirty="0" err="1"/>
              <a:t>since</a:t>
            </a:r>
            <a:r>
              <a:rPr lang="da-DK" dirty="0"/>
              <a:t> J</a:t>
            </a:r>
            <a:r>
              <a:rPr lang="en-US" dirty="0" err="1"/>
              <a:t>anuary</a:t>
            </a:r>
            <a:r>
              <a:rPr lang="en-US" dirty="0"/>
              <a:t> 1, 1970, 00:00:00 (UTC)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5454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source code</a:t>
            </a:r>
            <a:r>
              <a:rPr lang="en-US" baseline="0" dirty="0"/>
              <a:t> search for “&gt;&gt; 3”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7569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single run =&gt;</a:t>
            </a:r>
            <a:r>
              <a:rPr lang="en-US" baseline="0" dirty="0"/>
              <a:t> lot of noise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89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quence-types-list-tuple-rang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ahan_summation_algorith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quence-types-list-tuple-rang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numpy.or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eve_of_Eratosthene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thon/cpython/blob/master/Objects/listobject.c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8645722" cy="1325563"/>
          </a:xfrm>
        </p:spPr>
        <p:txBody>
          <a:bodyPr/>
          <a:lstStyle/>
          <a:p>
            <a:pPr algn="r"/>
            <a:r>
              <a:rPr lang="en-US" noProof="0" dirty="0"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36355" y="3920647"/>
            <a:ext cx="3995057" cy="2937353"/>
          </a:xfrm>
        </p:spPr>
        <p:txBody>
          <a:bodyPr>
            <a:normAutofit fontScale="92500" lnSpcReduction="20000"/>
          </a:bodyPr>
          <a:lstStyle/>
          <a:p>
            <a:r>
              <a:rPr lang="en-US" noProof="0" dirty="0"/>
              <a:t>List syntax </a:t>
            </a:r>
          </a:p>
          <a:p>
            <a:r>
              <a:rPr lang="en-US" noProof="0" dirty="0"/>
              <a:t>List operations</a:t>
            </a:r>
          </a:p>
          <a:p>
            <a:r>
              <a:rPr lang="en-US" noProof="0" dirty="0" err="1"/>
              <a:t>copy.deepcopy</a:t>
            </a:r>
            <a:endParaRPr lang="en-US" noProof="0" dirty="0"/>
          </a:p>
          <a:p>
            <a:r>
              <a:rPr lang="en-US" noProof="0" dirty="0"/>
              <a:t>range</a:t>
            </a:r>
          </a:p>
          <a:p>
            <a:r>
              <a:rPr lang="en-US" noProof="0" dirty="0"/>
              <a:t>while-else</a:t>
            </a:r>
          </a:p>
          <a:p>
            <a:r>
              <a:rPr lang="en-US" noProof="0" dirty="0"/>
              <a:t>for</a:t>
            </a:r>
          </a:p>
          <a:p>
            <a:r>
              <a:rPr lang="en-US" noProof="0" dirty="0"/>
              <a:t>for-break-continue-else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02730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6343073" cy="1325563"/>
          </a:xfrm>
        </p:spPr>
        <p:txBody>
          <a:bodyPr/>
          <a:lstStyle/>
          <a:p>
            <a:r>
              <a:rPr lang="en-US" noProof="0" dirty="0"/>
              <a:t>List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5137" y="1491471"/>
            <a:ext cx="10515600" cy="5379592"/>
          </a:xfrm>
        </p:spPr>
        <p:txBody>
          <a:bodyPr>
            <a:normAutofit fontScale="92500" lnSpcReduction="20000"/>
          </a:bodyPr>
          <a:lstStyle/>
          <a:p>
            <a:r>
              <a:rPr lang="en-US" noProof="0" dirty="0"/>
              <a:t>List syntax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0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...,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i="1" baseline="-25000" noProof="0" dirty="0">
                <a:cs typeface="Courier New" panose="02070309020205020404" pitchFamily="49" charset="0"/>
              </a:rPr>
              <a:t>k</a:t>
            </a:r>
            <a:r>
              <a:rPr lang="en-US" baseline="-25000" noProof="0" dirty="0">
                <a:cs typeface="Courier New" panose="02070309020205020404" pitchFamily="49" charset="0"/>
              </a:rPr>
              <a:t>-1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noProof="0" dirty="0"/>
              <a:t>List indexing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i="1" noProof="0" dirty="0">
                <a:cs typeface="Courier New" panose="02070309020205020404" pitchFamily="49" charset="0"/>
              </a:rPr>
              <a:t>index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L[-</a:t>
            </a:r>
            <a:r>
              <a:rPr lang="en-US" i="1" noProof="0" dirty="0">
                <a:cs typeface="Courier New" panose="02070309020205020404" pitchFamily="49" charset="0"/>
              </a:rPr>
              <a:t>index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noProof="0" dirty="0"/>
          </a:p>
          <a:p>
            <a:r>
              <a:rPr lang="en-US" noProof="0" dirty="0"/>
              <a:t>List </a:t>
            </a:r>
            <a:r>
              <a:rPr lang="en-US" noProof="0" dirty="0">
                <a:solidFill>
                  <a:srgbClr val="C00000"/>
                </a:solidFill>
              </a:rPr>
              <a:t>slices</a:t>
            </a: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i="1" noProof="0" dirty="0" err="1">
                <a:cs typeface="Courier New" panose="02070309020205020404" pitchFamily="49" charset="0"/>
              </a:rPr>
              <a:t>from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 err="1">
                <a:cs typeface="Courier New" panose="02070309020205020404" pitchFamily="49" charset="0"/>
              </a:rPr>
              <a:t>to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i="1" noProof="0" dirty="0" err="1">
                <a:cs typeface="Courier New" panose="02070309020205020404" pitchFamily="49" charset="0"/>
              </a:rPr>
              <a:t>from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 err="1">
                <a:cs typeface="Courier New" panose="02070309020205020404" pitchFamily="49" charset="0"/>
              </a:rPr>
              <a:t>to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 err="1">
                <a:cs typeface="Courier New" panose="02070309020205020404" pitchFamily="49" charset="0"/>
              </a:rPr>
              <a:t>step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 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L[slice(</a:t>
            </a:r>
            <a:r>
              <a:rPr lang="en-US" i="1" noProof="0" dirty="0" err="1">
                <a:cs typeface="Courier New" panose="02070309020205020404" pitchFamily="49" charset="0"/>
              </a:rPr>
              <a:t>from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i="1" noProof="0" dirty="0" err="1">
                <a:cs typeface="Courier New" panose="02070309020205020404" pitchFamily="49" charset="0"/>
              </a:rPr>
              <a:t>to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i="1" noProof="0" dirty="0" err="1">
                <a:cs typeface="Courier New" panose="02070309020205020404" pitchFamily="49" charset="0"/>
              </a:rPr>
              <a:t>step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  <a:endParaRPr lang="en-US" baseline="30000" noProof="0" dirty="0">
              <a:solidFill>
                <a:srgbClr val="C00000"/>
              </a:solidFill>
            </a:endParaRPr>
          </a:p>
          <a:p>
            <a:r>
              <a:rPr lang="en-US" noProof="0" dirty="0"/>
              <a:t>Creating a copy of a list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L[:]</a:t>
            </a:r>
            <a:r>
              <a:rPr lang="en-US" noProof="0" dirty="0">
                <a:cs typeface="Courier New" panose="02070309020205020404" pitchFamily="49" charset="0"/>
              </a:rPr>
              <a:t> or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L.copy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noProof="0" dirty="0"/>
          </a:p>
          <a:p>
            <a:r>
              <a:rPr lang="en-US" noProof="0" dirty="0"/>
              <a:t>List concatenation (creates new list)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 + Y</a:t>
            </a:r>
          </a:p>
          <a:p>
            <a:r>
              <a:rPr lang="en-US" noProof="0" dirty="0">
                <a:cs typeface="Courier New" panose="02070309020205020404" pitchFamily="49" charset="0"/>
              </a:rPr>
              <a:t>List repetition (repeated concatenation with itself)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42 * L</a:t>
            </a:r>
          </a:p>
          <a:p>
            <a:r>
              <a:rPr lang="en-US" noProof="0" dirty="0"/>
              <a:t>Length of list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(L)</a:t>
            </a:r>
          </a:p>
          <a:p>
            <a:r>
              <a:rPr lang="en-US" noProof="0" dirty="0"/>
              <a:t>Check if element is in list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e in L </a:t>
            </a:r>
            <a:r>
              <a:rPr lang="en-US" noProof="0" dirty="0"/>
              <a:t>(returns </a:t>
            </a:r>
            <a:r>
              <a:rPr lang="en-US" noProof="0" dirty="0">
                <a:latin typeface="Courier"/>
              </a:rPr>
              <a:t>True</a:t>
            </a:r>
            <a:r>
              <a:rPr lang="en-US" noProof="0" dirty="0"/>
              <a:t> or </a:t>
            </a:r>
            <a:r>
              <a:rPr lang="en-US" noProof="0" dirty="0">
                <a:latin typeface="Courier"/>
              </a:rPr>
              <a:t>False</a:t>
            </a:r>
            <a:r>
              <a:rPr lang="en-US" noProof="0" dirty="0"/>
              <a:t>)</a:t>
            </a:r>
            <a:endParaRPr lang="en-US" noProof="0" dirty="0">
              <a:latin typeface="Courier"/>
              <a:cs typeface="Courier New" panose="02070309020205020404" pitchFamily="49" charset="0"/>
            </a:endParaRPr>
          </a:p>
          <a:p>
            <a:r>
              <a:rPr lang="en-US" noProof="0" dirty="0"/>
              <a:t>Check if element is not in list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e not in L </a:t>
            </a:r>
            <a:r>
              <a:rPr lang="en-US" noProof="0" dirty="0"/>
              <a:t>(same as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not e in L</a:t>
            </a:r>
            <a:r>
              <a:rPr lang="en-US" noProof="0" dirty="0"/>
              <a:t>)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noProof="0" dirty="0"/>
              <a:t>Index of first occurrence of element in list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L.index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r>
              <a:rPr lang="en-US" noProof="0" dirty="0"/>
              <a:t>Number of occurrences of element in list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L.count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  <a:endParaRPr lang="en-US" noProof="0" dirty="0"/>
          </a:p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sum(L)  min(L)  max(L)</a:t>
            </a:r>
          </a:p>
          <a:p>
            <a:pPr marL="0" indent="0">
              <a:buNone/>
            </a:pPr>
            <a:r>
              <a:rPr lang="en-US" noProof="0" dirty="0">
                <a:cs typeface="Courier New" panose="02070309020205020404" pitchFamily="49" charset="0"/>
              </a:rPr>
              <a:t>          = creates new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779326" y="6396746"/>
            <a:ext cx="72842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3"/>
              </a:rPr>
              <a:t>stdtypes.html#sequence-types-list-tuple-range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8D20C749-0EA4-EE08-310F-908C6D123DF7}"/>
              </a:ext>
            </a:extLst>
          </p:cNvPr>
          <p:cNvSpPr/>
          <p:nvPr/>
        </p:nvSpPr>
        <p:spPr>
          <a:xfrm>
            <a:off x="568418" y="2304480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B3655F76-172D-B724-498C-B3612ED83B27}"/>
              </a:ext>
            </a:extLst>
          </p:cNvPr>
          <p:cNvSpPr/>
          <p:nvPr/>
        </p:nvSpPr>
        <p:spPr>
          <a:xfrm>
            <a:off x="568418" y="2706170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AD338455-2C15-3FC5-ABA3-C069BDEE3EF5}"/>
              </a:ext>
            </a:extLst>
          </p:cNvPr>
          <p:cNvSpPr/>
          <p:nvPr/>
        </p:nvSpPr>
        <p:spPr>
          <a:xfrm>
            <a:off x="568418" y="3107860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162A923A-346C-3E8F-9319-CE1FD66BB7A6}"/>
              </a:ext>
            </a:extLst>
          </p:cNvPr>
          <p:cNvSpPr/>
          <p:nvPr/>
        </p:nvSpPr>
        <p:spPr>
          <a:xfrm>
            <a:off x="568418" y="3509551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5347D277-0D30-4EBC-3D30-334A0CD87C84}"/>
              </a:ext>
            </a:extLst>
          </p:cNvPr>
          <p:cNvSpPr/>
          <p:nvPr/>
        </p:nvSpPr>
        <p:spPr>
          <a:xfrm>
            <a:off x="1300399" y="6362187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81D18-9BA3-35AB-B1A7-11A30B2297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788" y="223549"/>
            <a:ext cx="487666" cy="4059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A98EC-37C4-8241-363F-9C13D1E21920}"/>
              </a:ext>
            </a:extLst>
          </p:cNvPr>
          <p:cNvSpPr txBox="1"/>
          <p:nvPr/>
        </p:nvSpPr>
        <p:spPr>
          <a:xfrm>
            <a:off x="8418947" y="41566"/>
            <a:ext cx="3708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latin typeface="Courier"/>
              </a:rPr>
              <a:t>L[-</a:t>
            </a:r>
            <a:r>
              <a:rPr lang="en-US" sz="1400" i="1" noProof="0" dirty="0">
                <a:latin typeface="Courier"/>
              </a:rPr>
              <a:t>index</a:t>
            </a:r>
            <a:r>
              <a:rPr lang="en-US" sz="1400" noProof="0" dirty="0">
                <a:latin typeface="Courier"/>
              </a:rPr>
              <a:t>] == L[</a:t>
            </a:r>
            <a:r>
              <a:rPr lang="en-US" sz="1400" noProof="0" dirty="0" err="1">
                <a:latin typeface="Courier"/>
              </a:rPr>
              <a:t>len</a:t>
            </a:r>
            <a:r>
              <a:rPr lang="en-US" sz="1400" noProof="0" dirty="0">
                <a:latin typeface="Courier"/>
              </a:rPr>
              <a:t>(L)-</a:t>
            </a:r>
            <a:r>
              <a:rPr lang="en-US" sz="1400" i="1" noProof="0" dirty="0">
                <a:latin typeface="Courier"/>
              </a:rPr>
              <a:t>index</a:t>
            </a:r>
            <a:r>
              <a:rPr lang="en-US" sz="1400" noProof="0" dirty="0">
                <a:latin typeface="Courier"/>
              </a:rPr>
              <a:t>]</a:t>
            </a:r>
          </a:p>
          <a:p>
            <a:r>
              <a:rPr lang="en-US" sz="1400" noProof="0" dirty="0"/>
              <a:t>Negative indexing from the right is Python specific, and is e.g. not supported in Java, C, C++</a:t>
            </a:r>
          </a:p>
          <a:p>
            <a:endParaRPr lang="en-US" sz="1400" noProof="0" dirty="0">
              <a:latin typeface="Courier"/>
            </a:endParaRPr>
          </a:p>
        </p:txBody>
      </p:sp>
      <p:sp>
        <p:nvSpPr>
          <p:cNvPr id="12" name="Freeform 25">
            <a:extLst>
              <a:ext uri="{FF2B5EF4-FFF2-40B4-BE49-F238E27FC236}">
                <a16:creationId xmlns:a16="http://schemas.microsoft.com/office/drawing/2014/main" id="{1A4C4B8A-3EAA-279A-8739-939276934ECA}"/>
              </a:ext>
            </a:extLst>
          </p:cNvPr>
          <p:cNvSpPr/>
          <p:nvPr/>
        </p:nvSpPr>
        <p:spPr>
          <a:xfrm flipV="1">
            <a:off x="6068443" y="740287"/>
            <a:ext cx="3976101" cy="1325009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  <a:gd name="connsiteX0" fmla="*/ 164157 w 614553"/>
              <a:gd name="connsiteY0" fmla="*/ 0 h 1168822"/>
              <a:gd name="connsiteX1" fmla="*/ 612743 w 614553"/>
              <a:gd name="connsiteY1" fmla="*/ 733158 h 1168822"/>
              <a:gd name="connsiteX2" fmla="*/ 0 w 614553"/>
              <a:gd name="connsiteY2" fmla="*/ 1168822 h 1168822"/>
              <a:gd name="connsiteX0" fmla="*/ 164157 w 614651"/>
              <a:gd name="connsiteY0" fmla="*/ 0 h 1168822"/>
              <a:gd name="connsiteX1" fmla="*/ 612743 w 614651"/>
              <a:gd name="connsiteY1" fmla="*/ 733158 h 1168822"/>
              <a:gd name="connsiteX2" fmla="*/ 0 w 614651"/>
              <a:gd name="connsiteY2" fmla="*/ 1168822 h 1168822"/>
              <a:gd name="connsiteX0" fmla="*/ 142250 w 614105"/>
              <a:gd name="connsiteY0" fmla="*/ 0 h 1155839"/>
              <a:gd name="connsiteX1" fmla="*/ 612743 w 614105"/>
              <a:gd name="connsiteY1" fmla="*/ 720175 h 1155839"/>
              <a:gd name="connsiteX2" fmla="*/ 0 w 614105"/>
              <a:gd name="connsiteY2" fmla="*/ 1155839 h 1155839"/>
              <a:gd name="connsiteX0" fmla="*/ 142250 w 615257"/>
              <a:gd name="connsiteY0" fmla="*/ 0 h 1155839"/>
              <a:gd name="connsiteX1" fmla="*/ 612743 w 615257"/>
              <a:gd name="connsiteY1" fmla="*/ 720175 h 1155839"/>
              <a:gd name="connsiteX2" fmla="*/ 0 w 615257"/>
              <a:gd name="connsiteY2" fmla="*/ 1155839 h 1155839"/>
              <a:gd name="connsiteX0" fmla="*/ 0 w 542839"/>
              <a:gd name="connsiteY0" fmla="*/ 0 h 988686"/>
              <a:gd name="connsiteX1" fmla="*/ 470493 w 542839"/>
              <a:gd name="connsiteY1" fmla="*/ 720175 h 988686"/>
              <a:gd name="connsiteX2" fmla="*/ 411738 w 542839"/>
              <a:gd name="connsiteY2" fmla="*/ 988686 h 988686"/>
              <a:gd name="connsiteX0" fmla="*/ 0 w 411738"/>
              <a:gd name="connsiteY0" fmla="*/ 0 h 988686"/>
              <a:gd name="connsiteX1" fmla="*/ 411738 w 411738"/>
              <a:gd name="connsiteY1" fmla="*/ 988686 h 988686"/>
              <a:gd name="connsiteX0" fmla="*/ 0 w 411738"/>
              <a:gd name="connsiteY0" fmla="*/ 0 h 988686"/>
              <a:gd name="connsiteX1" fmla="*/ 411738 w 411738"/>
              <a:gd name="connsiteY1" fmla="*/ 988686 h 988686"/>
              <a:gd name="connsiteX0" fmla="*/ 0 w 515992"/>
              <a:gd name="connsiteY0" fmla="*/ 0 h 999133"/>
              <a:gd name="connsiteX1" fmla="*/ 515992 w 515992"/>
              <a:gd name="connsiteY1" fmla="*/ 999133 h 999133"/>
              <a:gd name="connsiteX0" fmla="*/ 0 w 515992"/>
              <a:gd name="connsiteY0" fmla="*/ 0 h 999133"/>
              <a:gd name="connsiteX1" fmla="*/ 515992 w 515992"/>
              <a:gd name="connsiteY1" fmla="*/ 999133 h 999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5992" h="999133">
                <a:moveTo>
                  <a:pt x="0" y="0"/>
                </a:moveTo>
                <a:cubicBezTo>
                  <a:pt x="297509" y="23113"/>
                  <a:pt x="503518" y="-23421"/>
                  <a:pt x="515992" y="999133"/>
                </a:cubicBezTo>
              </a:path>
            </a:pathLst>
          </a:custGeom>
          <a:noFill/>
          <a:ln>
            <a:solidFill>
              <a:srgbClr val="C0000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41815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20F19-C8FD-DDEA-BCA6-8C1F8460F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"/>
              </a:rPr>
              <a:t>sum(…)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38F82D-7DDE-BF97-A17E-6B6FF8E2C3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932657"/>
              </p:ext>
            </p:extLst>
          </p:nvPr>
        </p:nvGraphicFramePr>
        <p:xfrm>
          <a:off x="674414" y="1690688"/>
          <a:ext cx="11235055" cy="498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50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50784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81373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1 - 1/3 - 1 + 1/3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mathematically should be zero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but floats are imprecise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[1, -1/3, -1, 1/3]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-0.3333333333333333, -1, 0.3333333333333333]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mix of int and float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([1.0, -1/3, -1.0, 1/3])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all floats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>
                          <a:solidFill>
                            <a:srgbClr val="0070C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3.11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([1.0, -1/3, -1.0, 1/3])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>
                          <a:solidFill>
                            <a:srgbClr val="0070C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3.12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uses "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  <a:hlinkClick r:id="rId3"/>
                        </a:rPr>
                        <a:t>Neumaier summation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 to improve accuracy for floats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-1/3, -1, 1/3])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>
                          <a:solidFill>
                            <a:srgbClr val="0070C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3.12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looses accuracy when mixing int and float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math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math.fsum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-1/3, -1, 1/3])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math.fsum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more accurate float sums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DF8A1D1-4174-CABE-7ABE-225B907432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87" y="4324050"/>
            <a:ext cx="487666" cy="4059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09DE5D-49B3-95A8-0758-03AE97249DB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87" y="4868341"/>
            <a:ext cx="487666" cy="4059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F79C85-DF1B-098F-0B68-2D13BFB3308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7" y="5412632"/>
            <a:ext cx="487666" cy="405904"/>
          </a:xfrm>
          <a:prstGeom prst="rect">
            <a:avLst/>
          </a:prstGeom>
        </p:spPr>
      </p:pic>
      <p:sp>
        <p:nvSpPr>
          <p:cNvPr id="3" name="Star: 16 Points 2">
            <a:extLst>
              <a:ext uri="{FF2B5EF4-FFF2-40B4-BE49-F238E27FC236}">
                <a16:creationId xmlns:a16="http://schemas.microsoft.com/office/drawing/2014/main" id="{B64D2BE1-6836-D0C7-61BF-2C574E33EDC7}"/>
              </a:ext>
            </a:extLst>
          </p:cNvPr>
          <p:cNvSpPr/>
          <p:nvPr/>
        </p:nvSpPr>
        <p:spPr>
          <a:xfrm rot="1022386">
            <a:off x="9220663" y="165845"/>
            <a:ext cx="2834641" cy="1325564"/>
          </a:xfrm>
          <a:prstGeom prst="star16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400" noProof="0" dirty="0">
                <a:solidFill>
                  <a:schemeClr val="tx1"/>
                </a:solidFill>
              </a:rPr>
              <a:t>Python 3.12 change</a:t>
            </a:r>
          </a:p>
        </p:txBody>
      </p:sp>
    </p:spTree>
    <p:extLst>
      <p:ext uri="{BB962C8B-B14F-4D97-AF65-F5344CB8AC3E}">
        <p14:creationId xmlns:p14="http://schemas.microsoft.com/office/powerpoint/2010/main" val="1292498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List modifiers (lists are mutable)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66282"/>
            <a:ext cx="8630714" cy="4830464"/>
          </a:xfrm>
        </p:spPr>
        <p:txBody>
          <a:bodyPr>
            <a:normAutofit/>
          </a:bodyPr>
          <a:lstStyle/>
          <a:p>
            <a:r>
              <a:rPr lang="en-US" sz="2400" noProof="0" dirty="0"/>
              <a:t>Append an element to a list 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 </a:t>
            </a:r>
            <a:r>
              <a:rPr lang="en-US" sz="2400" noProof="0" dirty="0"/>
              <a:t>is modified)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L.append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(42)</a:t>
            </a:r>
          </a:p>
          <a:p>
            <a:r>
              <a:rPr lang="en-US" sz="2400" noProof="0" dirty="0"/>
              <a:t>Extend list with elements 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 </a:t>
            </a:r>
            <a:r>
              <a:rPr lang="en-US" sz="2400" noProof="0" dirty="0"/>
              <a:t>is modified)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X.extend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r>
              <a:rPr lang="en-US" sz="2400" noProof="0" dirty="0"/>
              <a:t>Replace </a:t>
            </a:r>
            <a:r>
              <a:rPr lang="en-US" sz="2400" noProof="0" dirty="0" err="1"/>
              <a:t>sublist</a:t>
            </a:r>
            <a:r>
              <a:rPr lang="en-US" sz="2400" noProof="0" dirty="0"/>
              <a:t> by another list (length can differ)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X[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i:j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 = Y</a:t>
            </a:r>
          </a:p>
          <a:p>
            <a:r>
              <a:rPr lang="en-US" sz="2400" noProof="0" dirty="0">
                <a:cs typeface="Courier New" panose="02070309020205020404" pitchFamily="49" charset="0"/>
              </a:rPr>
              <a:t>Delete elements from list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del L[i] </a:t>
            </a:r>
            <a:r>
              <a:rPr lang="en-US" sz="2400" noProof="0" dirty="0">
                <a:cs typeface="Courier New" panose="02070309020205020404" pitchFamily="49" charset="0"/>
              </a:rPr>
              <a:t>or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del L[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i:j:k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2400" noProof="0" dirty="0">
                <a:cs typeface="Courier New" panose="02070309020205020404" pitchFamily="49" charset="0"/>
              </a:rPr>
              <a:t>Remove &amp; return element at position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L.pop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en-US" sz="2400" noProof="0" dirty="0">
                <a:cs typeface="Courier New" panose="02070309020205020404" pitchFamily="49" charset="0"/>
              </a:rPr>
              <a:t>Remove first occurrence of element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L.remove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  <a:endParaRPr lang="en-US" sz="2400" noProof="0" dirty="0"/>
          </a:p>
          <a:p>
            <a:r>
              <a:rPr lang="en-US" sz="2400" noProof="0" dirty="0">
                <a:cs typeface="Courier New" panose="02070309020205020404" pitchFamily="49" charset="0"/>
              </a:rPr>
              <a:t>Reverse list</a:t>
            </a:r>
            <a:r>
              <a:rPr lang="en-US" sz="2400" noProof="0" dirty="0"/>
              <a:t> 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 </a:t>
            </a:r>
            <a:r>
              <a:rPr lang="en-US" sz="2400" noProof="0" dirty="0"/>
              <a:t>is modified)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L.reverse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 *= 42</a:t>
            </a:r>
          </a:p>
          <a:p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L.insert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(i, x)</a:t>
            </a:r>
            <a:r>
              <a:rPr lang="en-US" sz="2400" noProof="0" dirty="0">
                <a:cs typeface="Courier New" panose="02070309020205020404" pitchFamily="49" charset="0"/>
              </a:rPr>
              <a:t> same as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i:i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 = [x]</a:t>
            </a:r>
            <a:endParaRPr lang="en-US" sz="2400" noProof="0" dirty="0"/>
          </a:p>
        </p:txBody>
      </p:sp>
      <p:sp>
        <p:nvSpPr>
          <p:cNvPr id="4" name="Rectangle 3"/>
          <p:cNvSpPr/>
          <p:nvPr/>
        </p:nvSpPr>
        <p:spPr>
          <a:xfrm>
            <a:off x="4779326" y="6396746"/>
            <a:ext cx="72842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3"/>
              </a:rPr>
              <a:t>stdtypes.html#sequence-types-list-tuple-range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643883"/>
              </p:ext>
            </p:extLst>
          </p:nvPr>
        </p:nvGraphicFramePr>
        <p:xfrm>
          <a:off x="8205849" y="3486076"/>
          <a:ext cx="3616066" cy="2693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606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56011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33813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[1, 2, 3, 4, 5]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x[2:4] = [10, 11, 12]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10, 11, 12, 5]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[1, 2, 11, 5, 8]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x[1:4:2] = ['a', 'b']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'a', 11, 'b', 8]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0155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 dirty="0"/>
              <a:t>Questions – What is </a:t>
            </a:r>
            <a:r>
              <a:rPr lang="en-US" sz="3600" b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noProof="0" dirty="0"/>
              <a:t> ?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2321013" y="3210020"/>
            <a:ext cx="7992657" cy="3507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[1,2,'a','b',5,6,7,8,9,10]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[1,'a',3,4,5,6,7,'b',9,10]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[1,2,3,4,5,6,7,'a','b']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[1,2,'a',4,5,'b',7,8,9,10]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 err="1"/>
              <a:t>ValueError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1729146" y="4963582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angle 2"/>
          <p:cNvSpPr/>
          <p:nvPr/>
        </p:nvSpPr>
        <p:spPr>
          <a:xfrm>
            <a:off x="3048000" y="1690688"/>
            <a:ext cx="78105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noProof="0" dirty="0">
                <a:latin typeface="Courier"/>
              </a:rPr>
              <a:t>x = [1,2,3,4,5,6,7,8,9,10]</a:t>
            </a:r>
          </a:p>
          <a:p>
            <a:r>
              <a:rPr lang="en-US" sz="3200" noProof="0" dirty="0">
                <a:latin typeface="Courier"/>
              </a:rPr>
              <a:t>x[2:8:3] = ['a', 'b']</a:t>
            </a:r>
          </a:p>
        </p:txBody>
      </p:sp>
    </p:spTree>
    <p:extLst>
      <p:ext uri="{BB962C8B-B14F-4D97-AF65-F5344CB8AC3E}">
        <p14:creationId xmlns:p14="http://schemas.microsoft.com/office/powerpoint/2010/main" val="315935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 dirty="0"/>
              <a:t>Questions – What is </a:t>
            </a:r>
            <a:r>
              <a:rPr lang="en-US" sz="3600" b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noProof="0" dirty="0"/>
              <a:t> ?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2321013" y="3210020"/>
            <a:ext cx="7992657" cy="3507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[3,6,9,12,15]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[7,13]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[1,9]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[4,7,10,13,2,4]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 err="1"/>
              <a:t>TypeError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1725465" y="3843442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angle 2"/>
          <p:cNvSpPr/>
          <p:nvPr/>
        </p:nvSpPr>
        <p:spPr>
          <a:xfrm>
            <a:off x="400050" y="1496246"/>
            <a:ext cx="1160145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noProof="0" dirty="0">
                <a:latin typeface="Courier"/>
              </a:rPr>
              <a:t>y = [1,2,3,4,5,6,7,8,9,10,11,12,13,14,15,16,17,18,19]</a:t>
            </a:r>
          </a:p>
          <a:p>
            <a:r>
              <a:rPr lang="en-US" sz="2800" noProof="0" dirty="0">
                <a:latin typeface="Courier"/>
              </a:rPr>
              <a:t>y = y[3:15:3][1:4:2]</a:t>
            </a:r>
          </a:p>
        </p:txBody>
      </p:sp>
    </p:spTree>
    <p:extLst>
      <p:ext uri="{BB962C8B-B14F-4D97-AF65-F5344CB8AC3E}">
        <p14:creationId xmlns:p14="http://schemas.microsoft.com/office/powerpoint/2010/main" val="28173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Nested lists (multi-dimensional lists)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1010" y="1825625"/>
            <a:ext cx="5482590" cy="4117976"/>
          </a:xfrm>
        </p:spPr>
        <p:txBody>
          <a:bodyPr>
            <a:normAutofit/>
          </a:bodyPr>
          <a:lstStyle/>
          <a:p>
            <a:r>
              <a:rPr lang="en-US" noProof="0" dirty="0"/>
              <a:t>Lists can contain lists as elements, that can contain lists as elements, that ...</a:t>
            </a:r>
          </a:p>
          <a:p>
            <a:r>
              <a:rPr lang="en-US" noProof="0" dirty="0"/>
              <a:t>Can e.g. be used to store multi-dimensional data (list lengths can be non-uniform)</a:t>
            </a:r>
          </a:p>
          <a:p>
            <a:endParaRPr lang="en-US" noProof="0" dirty="0"/>
          </a:p>
          <a:p>
            <a:pPr marL="0" indent="0" algn="ctr">
              <a:buNone/>
            </a:pPr>
            <a:r>
              <a:rPr lang="en-US" b="1" noProof="0" dirty="0"/>
              <a:t>Note</a:t>
            </a:r>
            <a:r>
              <a:rPr lang="en-US" noProof="0" dirty="0"/>
              <a:t>: For dealing with matrices the </a:t>
            </a:r>
            <a:br>
              <a:rPr lang="en-US" noProof="0" dirty="0"/>
            </a:br>
            <a:r>
              <a:rPr lang="en-US" noProof="0" dirty="0"/>
              <a:t>      </a:t>
            </a:r>
            <a:r>
              <a:rPr lang="en-US" noProof="0" dirty="0">
                <a:hlinkClick r:id="rId2"/>
              </a:rPr>
              <a:t>NumPy</a:t>
            </a:r>
            <a:r>
              <a:rPr lang="en-US" noProof="0" dirty="0"/>
              <a:t> module is a better choice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373674"/>
              </p:ext>
            </p:extLst>
          </p:nvPr>
        </p:nvGraphicFramePr>
        <p:xfrm>
          <a:off x="6096000" y="1690688"/>
          <a:ext cx="558352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352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multidimensional-lists.py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list1d = [1, 3,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2]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list2d = [[1, 2, 3, 4],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[5, 6,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9],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[0, 8, 2, 3]]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list3d = [[[5,6], [4,2], [1,7], [2,4]],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[[1,2], [6,3], [2,5], [7,5]],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[[3,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[1,5], [4,3], [2,4]]]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print(list1d[2])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print(list2d[1][2])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print(list3d[2][0][1])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AutoShape 2" descr="data:image/jpeg;base64,/9j/4AAQSkZJRgABAQAAAQABAAD/2wCEAAkGBwgHBgkIBwgKCgkLDRYPDQwMDRsUFRAWIB0iIiAdHx8kKDQsJCYxJx8fLT0tMTU3Ojo6Iys/RD84QzQ5OjcBCgoKDQwNGg8PGjclHyU3Nzc3Nzc3Nzc3Nzc3Nzc3Nzc3Nzc3Nzc3Nzc3Nzc3Nzc3Nzc3Nzc3Nzc3Nzc3Nzc3N//AABEIAH0BPAMBEQACEQEDEQH/xAAbAAEAAQUBAAAAAAAAAAAAAAAABgECBAUHA//EAEwQAAEDAwMBBAYECgcECwAAAAEAAgMEBREGEiExBxNBUSIyYXGBkRQzcrEIFSM1QlKhssHRJDRic3R14RclwvA3Q0RTY2SCg5KTov/EABoBAQACAwEAAAAAAAAAAAAAAAADBAECBQb/xAA4EQACAQMDAQYDBgYBBQAAAAAAAQIDBBESITFBBRMiMlFxM4GxFEJhocHRIzRykeHwJRUkQ1Lx/9oADAMBAAIRAxEAPwDuKAICjuiA0d6vrKQugpsPqB1Pgw/zU9Kg5by4NJTwRZ1TO6Z0pml7wnlwcQT8Vc0RSxg0yZUV3uEJGKqQ+x+HLV0YPoZ1MzKfVM7JNlSxkhxwGjByo3bLGwUzPi1RTn62nkZ7WnKidtL1N9aM2G/W6XA7/YfJ7SFo6M10GpGfFNFK0PikY9ruhaQVG00bZPVYBTIQDI80BVAEAQBAEAQBAEAQBAEAQBAEAQBAEAQBAEAQBAEAQBAEAQBAUJAGT0QEfueomQyd1RtbKQfSefV9wViFvlZkaOeCI11wM9bNJJGGlzs4aeArkaWEsEEt2eYqoyOchZ0tGuWVlma2F5Y8buMZ94SKedzZNmNTOJqGknPXnPsW8nhGqkZ+cqPKN9aPOecRNxjLitorJnJWCR0kTHPcS4ZAz4BJJI2RmQ1tXD9VVStA8A84+S0cIvlGcszYtSVlO9onkbIMj0XNGT8uiidvFoa2Z0WqX5/K0owf1XrT7L6MzrM2HUlC/wBcSRn2tyo3bz6GdaNlR11NWhxppN+3G7gjHzUUoShybJpmStTIQBAEAQBAEAQBAEAQBAEAQBAEAQBAEAQBAEAQBAEBbJI2Nhe9wa1oySTwESzwCL6kvNPNSsjpKn1nkPABGQrVGlJPLRFUlhbEca5ruQ4Eq1lkWtmuqT+XeSPFSp7GmvLPB0ng3j2rbBnKDnNcwjxOOvvWTORESHgg9FhmMGS2qkZ47lq4JjB5zzuc8EhbKKNjIp6lrYwHNx7lHKDNdzIbPGRncFqk8mybMIP3SAl2TxypHwMmyyosmdaKt5QySXR59KrHhhn/ABKrddCSBJVVJAgCAIAgCAIAgCAIAgCAIAgCAIAgCAIAgCAIAgCAICH3eW5V7siEinGCGMOc+/zW9K7tI7OWH+IlSqehHbjBIyJu+KRpDvFpXQpVqc3mMk/mQTjJcowP0fJTkZ5PcC44WyRhpHkeqYMOKK7chYwa6fQN9ErODMcl2SOiMy3gpvPisJjWj0a/0eizyZyhuHisGcotByRg9PJbAyonnvB6RwfaomkYZs2DwzyPao0bw4JJo/16vzIZ/wASq3XQmgSZVTcIAgCAIAgCAIAgCAIAgCAIAgCAIAgCAIAgCAIAgCA0EH9Xi+yPuXnqyxUlj1f1L0eEeVcPyXU9eijilky9yF37IrABwNo4C9d2U27d5fU5l3lSNZyulkp6mBwmTOvcvzwsm5bnlZGVkqOeiw2GHBZwMIdAgwgBnqsMxpyUHB4Cwa4aeD1y4bSPBZ6G7MuCacu2sO7Ps6KPCwbQzgmOjXHdUscBv2tJcPjwqV10ZNAlKqEgQBAEAQBAEAQBAEAQBAEAQBAEAQBAEAQBAEAQBAEBHe9ZFCxpcM4AAC4FZPvZe7+peg9kYk9RI9vpAbc+SwooyRW/uzWN4/RXp+yP5d+5y7zzGsK6ZTLc5KBcl/gtiTBZ4rBF1L4fXA8zhay8rJKfJsqamimnax7eD1xx4Lm3NepTpOUWXIQjKWGZb7NA71HSNPzVCPa9aK3WSZ2sehppWd1K6POdpIJXoKUtcFP1KMliTRY0+kpCP7xkRnLmjwz0WrNzaxNDSdoA9wUSZvHckOkP61Uf3Y+9VrnhEkCVKmSBAEAQBAEAQBAEAQBAEAQBAEAQBAEAQBAEAQBAEAQEVmtcMznSkytlccue13Vc6XaFaM5Rwmk3yvxJ40YtJpmHV22aGMOhq3DBHD25SN5bz+JS/szLp1FxIj9ypqqSoa1+2SXbn0cDhdmzr20KLlHKjnqU61OpKWHua+SlqY/rIXtH2SrsLihU8k0yvKjNco8ehxtPyUxppafBdnhGZbZahoXw/WN96xLys3p8m8oKeTe2UjDR4nxXAvriGju+WdGlCWdRslxy1gjFXxVS/aK9la/Ah7I5VTzsx/0gp8kX3jJje0EZ46LV5M5NnFNGScPCiSZvB7Ek0gCaid7QdmwDd7cqrdcIlgScv2jLiAPeqe5IU7xv6zfms4YLgTnrwgLkBY97WkbnAe9AUMjRn02/MJuYyi9pyMoZKoAgCAIAgCAIAgCA83ODeXOAGfcgK94zwePmmGMooZGDq9vzCYYyg2VjsbXtOfI5RproMl4QFUAQBAEBo2eXgvP1/jS92XoeVHhWnMJUceTZ8Eembi7w/wB0V16b/wCxl7r6FV/GXsZYzjqVziwzxnijMbi5jScHkgKejUnGaw2RTimnsRXq0Z8l7M5RZ4rGTTO+5fCdkjXYz7FrPDg0bQlvsbqO6THAdSk+GGLhVOzKWNUamPc6EbiXWJ7C6wNOJmSxH+2w4Vf/AKZVe9NqXszdXEVzlGmqHB88j28sc4lp816G3TjRjCS3SKNRpzbR44y5TEP3j17vpjHxTJtjJlwUbyfTw0ezxWmo2jHBLNHNDKmdjfV7scfFU7rhE0De3W2UV3o3UdzpmVFM4gmOQcEjkKrCpKnLVB4ZI1k4B2jaZitOrKxlio3xU0FNFVuEXWDJwXDyGQPcvS2Nw6tBd4922t+pUqJp+E6p2Xa0GprcaSucG3WkbiQeEzfB4/j/AKrj39n3E9UV4X/uCanUU0TpUCU1d8sNqvsccV3oYqpkZJYJB6pPiFJTr1KO8Hgw0mcv7OtGWOtvGpYrhb4qmOhrnU8DJOQ1oc79vAXWvbutGnT0yxlEMILLOxRNayNrGjDWjAHkuLnO7Jy5AEAQBAEAQBAEAQGFcrfSXWiko7jTx1FLJjfHIMtdggj9oBWYzlB6og4N2yaetdgvFI200cVPHNTOe5jRxkHGQvSdl16lWEtb4KtZYaOlaf7ONKC0Uj5rTFNJLAx7nSkuJJaCVya/aFw6j8RNGmsEf192b0drtc970sZaGppGmWSKKUt3MHUtIOQQMn2q1Z38pzVKtun+HU1nDCyjZ9j+sKy/09TbLpL3tXSNa9kzvWkjJxz7QR19oUXadpGjJThsn9TNGepbnSB0XLRKVQBAEBEq25NhlkiEcgaHHEgbgHlUZ9nTnNyhJPPTJPGvFJJpmC6sp3M3OkDTnq/0fvUUrG5j9x/Lf6G/fU31MR7mvucJY4OHdu5Byp4xlGxmpLG6I206qa9DNd1XOW5YZ5vI2n3Fbw8y9zWS2ZE17Y47Zb4rBF1Lo/rFh8M3p8m2o/61H9pcm6+DIvU/Mbk4IwcEeRGV55PG6LmMkYrhismGMAO4HkvYWbbt4exy6vnZjZ9IKyQ/eMqPORngcLVm5tWexQI2gSDSR/ps4/8AD/iFBc+VEsCVqmSECjjZN2u3GORgex9lY1zSMgjeeF0M4sY4/wDb9DT75zvWNhruz3VEN3sxcKF8hdTyfosJ9aJ/sx09nuXUtq9O8o93V56/uiCcXTlqR2XR+pKPU9mjr6N2D6s0RPpRP8Wn7wfEFcK4t5W9TRL/AOliMlJZN2cFVzYgXZr+e9Z/5xJ97l0b74dL+lEcOZG61FrOyadqHQXKeds4YH7I6aR/onOPSA2+B8VBQtKtfyL8zaUkuTy0drOk1bJW/QKaeOGlLR3k2AX59gzj5rNzZztsa3yYhNT4Nnfb9brDTMnucz443u2s2QPkJPXo0HHTqeFBTozqvEfrg2bwR6x9pFqv2oYLTa6aqf3ge4zytDAA32Hn7lbrdnVKNLvJs0VRSeCR3u+W6xU7J7nK+ONztrSyF8hJ9zQSqtOjKq8RW5u3gjNr7TrNdr7Ba6CGpcJN5dUTNEbGBrSSeefDxwrVXs6rTp95LHyNFVi3g1127W6Gkmk/Ftpra+mYcGraNkTva0kcj2qWn2XKS8Ukn6GJVMdDf6O11adVCRlLup6uJu99PNjO39YHoQq9zZVLfndeptCopmlvPatbqOaVlsttZc4ojh1TCMRE+x3Off0U9LsypJeOSj+HX+xq6uDa6N7QbTquY0kIkpq4N3CCXncPEtPQ4UN1YVbfxPdepmFRSJiqT4JDh34QP53tn+Ek/eXoOxvJL3K1flHYrER+Jrfz/wBli/dC4dT4j92WVwazX90prTpC51NS5uHQOijaf+se4Ya35n5ZKmtKUqleMV6ms2lF5Oe9iloqaC33PUJpJpu8iENLEzAfMBy4t3EDk4A58Cuj2rWU5RpZ9yKhFqOpkhqO1e1Ula6hq7VdoatrwwwuhaHZPQesq0ezKko6lJNGzqpPBMbPX1FxgfLUWyroCHYDKnZlwx19Fx/aqNWnoeE0/YkTyaDUeuodNyPN0s1zbTtk2MqmxsMT/cd3HuOFYoWbr+Waz6GspqPKPaj1ZV3CmZVUembu6CQZY5/dM3Dzw54OFiVrGLw6kfz/AGGt+hnDxBJzkj9pXlrjatL3OhDyrJiXClgkgJdCw4Iydq2pXNaO0ZsxKnF8oh96ijpZWMpmbARk4Xpuza869OTqPO/oc+5iqcvDsYcddVR4DJ34/tcqzOzt58wRCrioupktvNUAWvEbh7sKs+yrfOY5RJ9tlwzB2ucM4XRbWcZIHFy3LSCDytkjXQ0XRcygBYltHc2gvESWlohD6bzuk/YF5O4vJVfDHaJ1adJRWTJ+B+SpkpG7iP6bN9or11j/AC0PY5db4jMToVayQNvUezZHAjoEwbMzYqx2AC1rvvUek2gyU6Pdvq5dzXNcYuB4YyFVuV4UTQJd4KkSEFpf+mKu/wAnj/fKvv8AkF/V+hp98lV6tVLebZPQXCISQTNwR4g+BHtCp06kqUlKJs1lYZwqhqLp2XaxfT1DXy0cvrbelRDnhzf7Qz88+YXopxpdoUMx2a+pVWaUvwO9W2vprlQwVtFK2WmmaHxvb0IK85OEoScZcotJ53Ib2bfnzWf+cP8Avcr998Ol/SjSHMiU6kj7zT9zaQCDSS9fslUaPxI+6N5cHN/wfmj6BeSP++iA/wDiV1u2X44ENvwdZxweMrik5xLRUIh7arqxvQTVjunm8H+K79089nx+X0K9P4jO3YK4G5YOC0dpprh20VlDUsBpzVyvfGOA8bM7T7MkZHivSTqyh2epLnBVUf4p3VsEYh7gRsEONvdgDbjywvOZlqznctYWMHAqqwwQdrn4lp90FFUVQDo4nbcxOZuczjwOCMeS9JGvKVj3r3aRV0/xMI77DTRQU7aeCJkcLRtbG1oDQPLC825NvL5LRw7UdHFYe2a2Ntze4bNV0smGcAd4/Y/4EZ+a9DQn3thLXvhP8kVpLFRYO8LzrLJw78IH87Wz/CP/AHl6HsbyS9ytW5R05tBcK2zWl1uustA6OlZuDY2vbJlreoPl7PNcfXCM5ao53J8ZRq5Oz5lyrYqrU12rLv3JzHTyYjhafstUyvnTg40YqOf7mNGeSZQwshibFCxscbAA1rRgAeQVF5byzc4/26WZ1NVUGoaVgDi4QTO8nj0mE/Ij4BdzsmsmpUpe/wC5XrR4kdQ0vdo73p+huMbs99C0u9jvEfPK5FxSdKrKD6E8XlZIlrSE6n1jZtMsOaWlzcK/HkOGN+OTx7R5K7avuLedbq/Cv1NJeJ4J82MNaGtaA0DAGOgXNz6ki2NM9zW73O4Ae77yuBcfGl7l6HlRh1VUHxlrWkc9VoomSLajcHSx+Zb5L0vYyapS9/0Ode8o0+F1znlPFAZtP9UPeqtbGsu0+Dd0rGvpYw9oPHiMrzlzKUK8tLwXqaTitjBvFPDEyN0UTWkvwcLo9lV6s5yjOWdivcwillIxoISZWMimkiyf0SrleqlTcpxUsEcYtvCeDYfR6+P6urY/+8auV9os5+elj2ZZ01Y8SNRV7xUy98QZN3pFvTK79ro7mOjjGxRqt63k8BjcrBC/Me7Q04GB1WDdmygpo2O3AYOFFq6G0MEh0mf94vz4wn7wq1z5USwJcqRIQOke3/bLXDPP4ojH/wCsq+0/sC/qNPvk7KoG5HNb6UptU2d1LLtZVR5dTT4+rd/I+IVm1upW89S46mk46lg5V2eaqqNF3mfT+oGugo++2vDzxTSfrfYPBz05z5rsXtsrqmq1LnH9/wDJBTk4S0yJ32aEG9aycCCHXd5BHlkrn33w6X9JLT5kS2//AJhuX+El/dKo0nipH3RI+Dmf4Pz2ihvDCee9jPw2ldftlPXAgt+Dre4Lilg4foadtR20XOaJwdG+es2uByCN/B/YvQXccWEU+dvoV4fEZ3Erz5YOJWJ4/wBu9Yf1qiZo/wDrH8l3qy/42Psiun/FO2ZXALBxO5PA7eqY+VRG34mIrv01/wAa/b9Sv/5TtwXAXBYOIdori3tgs7sYxJRc/wDvL0Fl/Iz+f0K1T4iO3nouAWTh34QJ/wB720f+Tk/eXf7G8kvcrV+UdisX5lt/+Fj/AHQuHV+JL3ZYXBnrQyEBpdX2dl/07X2x+MzxHuyf0Xjlp+BAU1vVdGrGaNZRyjm/YpqEUcN0sdycYvoodVRh/wCgAcSt+BwfifJdXtWhqcasOu37EVGWMpkx7PqZ9RFXakqWkVN5l71m7qyBvEbfZxz8Vz7ySTjRjxH69SSPqTFVDci1ZR1EtTK+Kp2N3uxGW5HUrn1Li3U3GpT46p7liMJtZTMGop7jDGXbYpfYHYWI/YZ8OUflkN1kuMkeu75pHMM8LoXAYwTnK7XZtOnCEu7nqX+ClcylPGVg1w64XRwVNLLTwsmGsG0tlI+oYD6seeXFcu/uo0ZY5ZfoU3JG8YxsTAxucDp4rzs5ucnKXUvRWlGvvf8AV4z5SfwXU7I+NJfgV7peFe54UMbn1LXAei08lWLucY0mn1I6SbkbgrgF1EauI/p032l6+w3toexy6y/iMxcHcFbIceIyGjGDnpytWbG3i6fBQmYG50qcXMjzjKgufKTQJJdauqpKJ01Db5K+cEBsEcrIy7nn0nEDhVKajKWJPCN28HN6aDWcOvajUjtKSGGaEQfR/p8G5rQAB6W/rkE9PFdVu1dsqPebp5zh/sRYnrzg6XbqioqaOKWro30czhl8D5GvLD72kgrlSUU8ReSZGSRlaggXahoUalpRXW2Nv42gbgDIaJ2fqE/cV0bC9+zvTN+EiqU9SMTsbs90slNdqe70U9LI6ZjmiXkO9E8hwyD8Ctu061OrKHdvKx+pilFxymdEmhZUQSQyjLJGljh7CMFcxNp5Jjh9Fp/Wugb7PNZrc6vpXnbuiG9szM8Zbnc13/OSvQVK9peU8VHhlZRnB7E4tcmstTDu7zQssVuI/K91JmeYeLRySwe3g+XmudUVrQ3pvVL8v8ksdT5IhYtJam05rua7UOnXTW5k87YY46uBv5Fzjsxl/HG3gq9VuqFa2VOU/Ft0f7EahKM8o6nPdLo22R1MOn6mSqc4h1H9Iha5g8y7dt+RXIVOnr0ue3rhk2X6HKbbp3WdFrx2pn6bc5rqmWV0ArIAdrwQBnf1AI+S7M69rO27nvOi6P8AYgUJqerB1Y3O6C0CqGn6k1e/b9C+kw7wPPdu2/tXEVOGvGrb1wyxvg5VWad1pPrxup26bcGiqjmEBrYMhrQBjO/qQD81243FtG17nX09H+xBom56sHXrPW1dZSmS4W2W3zBxHcyTMkOPPLCQuHUjGLxF5J1k5h2haU1Lctdw3i02o1VPAIHNd9IiYHFjt2MOcCuvZXVCFs6c5Ybz0fVY9CGdOTmmjocV3uz7VUVL9OVMdZG4NjozVQl0uSMkODtoxk9SOi5bhTU1HXt64ZNl+hzDtB0/rPWFzhqm6ZfTRwwmJjTW07icnOT6a69lWtbaLXeZz+D/AGIKsJzxhE+0rcdRMjoLfeNMS0rGRiN9WKyF7RtbwS1riecAfFc24hQ8U4Tz+GGTRzw0SwHKqGxVAUwgOH6w0lM/tRhoqIujhuw7x5YcYjwRKD7MD9q79tcpWblLmO37FaUH3mx2yCFkEMcMQDY42hrWjwAXBbbeWWT1WAaV31kn23fvFcK6+PL/AHoXafkR5zR97EWZx7VXTw8m5F9U0rmdy7cD1C9H2JNOM/kc+9XBoI43lxAbnhduTOcslXxEPG4Y96wmG2eraiaE4ie5g8geFpUoUqu845LEak48MyI7pUtblxbJjwcFSn2XbS4yvmSq7milRcHVkQY+JrSHZyD/AAW1tYRt5ucZCdx3iwzPhudI1obtkjA82LmVezLqT1ZUvmWY16a2MltZTPI2zM58zj71TnZ3EOYP+xKqsHwzR17d9dMRyM9QeF6Wx2to5OfWw6jwWxUznZwW/EqxJ45IMZZ6GmkaPVyPYcrOpG7ibugtdZUyiJsL2cAl0jSAB5qtKrCKybQiyY2y2QUEeIxukI9J56lUp1HPknSwZu0KPBkYWQAMFAVQFCMoBt5zlYwCo6LIKAYQDaFjAKbQmAVwmAMBZAwsYAwsgYQFNoWAV2hZAwgGFjAAGFkAn5IC0v2gk8ADJKAh+lT+PtR3TUzvSp2f0C3nzjafyjx9p3H/AKT5q5cfw6UaPXl/Pj8jSO7yTNUzcIDSytcyR+5rhlxOSMDqfFci6oVHVlJRb/1FulNacMt3A+I+apSi487EqafDNDqwEwRY5IPC7vYmPH8ijecI0lNAY3F7up4x5LtyeTnIyD6oBAPvWDJhVjGibhvUDgKWL2N2Xw0zHR8tIcfatJS3NGtyho8fprMZmYx3MiljLqmEYBy8cY6rnXDxSl7MuQXiRuai1xSYMlMPfhcKF7Xh5ZsuOlB8oj9dC2CpfFG0hoK9PZVJVaEZy5OdWSjNpF9H0fzzx/FTyIupubbbZ7hJiMbYh6zz0Hu8yoalSNMmSyTiNobG1oOdowufzuSl6AIAgCAIAgCAIAgCAIAgCAIAgCAIAgCAIAgPOff3bu7xv2nbnplOu4OU0ej+0CpEtvud/hprZLI50phmMjy1xJLWZaCBz4nj9i68rqzhicIZl+JCoT9Tp9rt9NbLfT0NHH3cEEYYxo8guVOcqknOXLJUsLBlrUyEBTAQFroY3+tG0+8IDEqrVR1EZZJCMHxBwR7ikH3bbiuRLxcmrm0rTHmGolYfJwDh/NWFcS6ohdFdDCm0tVN+qmhkHty3+a3VxHqaui+hgVWn66J7JHwulOORGMgfxUqrxawJQkYkkUsfEkbmO/tNP8llb8Mjaa5LBz1WyMw5NpabXIXRVM52hpDms8T715+9vo4dKG/4nSpUn5mb1cYskbu0bXVsmWg9F6zsxv7NE51x8Rmy07ZaaphmlqYCGlzdhBxn/RS16rTSTNIwRKooo4mBkbQ1regAVVtvdkiWC9YAQBAEAQBAEAQBAEAQBAEAQBAEAQBAEAQBAEAQFMDyQFUAQBAEAQBAEAQBAUc1rhhzQR5EIDHdQUjnh5p4tw6HaFnXLjJjCPH6DFu2sc9nxz96qTtqLe8SVVZI8amlfBGZO9a4N8Czn55UUuz4Pyto3VdmutlBBcauWpnBwwgCPwJXQoZo0FBFefilkkjWhrQ0AAAcABYMlyAIAgCAIAgCAIAgCAIAgCAIAgCAIAgCAIAgCAIAgCAIAgCA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152"/>
          <a:stretch/>
        </p:blipFill>
        <p:spPr>
          <a:xfrm>
            <a:off x="460375" y="5273040"/>
            <a:ext cx="555013" cy="580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228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aliasing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570551"/>
              </p:ext>
            </p:extLst>
          </p:nvPr>
        </p:nvGraphicFramePr>
        <p:xfrm>
          <a:off x="8222422" y="1278734"/>
          <a:ext cx="2327050" cy="48342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1612054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b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2161904" y="2982492"/>
            <a:ext cx="4770120" cy="1980021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>
                <a:latin typeface="Courier"/>
              </a:rPr>
              <a:t>a = [13, 27, 7, 42]</a:t>
            </a:r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a[2] = 12  </a:t>
            </a:r>
          </a:p>
          <a:p>
            <a:pPr marL="0" indent="0">
              <a:buNone/>
            </a:pPr>
            <a:endParaRPr lang="en-US" noProof="0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508274" y="3457303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508274" y="3161211"/>
            <a:ext cx="574766" cy="1872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86721" y="3996868"/>
            <a:ext cx="79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12-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2422" y="2922117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1708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noProof="0" dirty="0">
                <a:latin typeface="Courier"/>
              </a:rPr>
              <a:t>y = x  </a:t>
            </a:r>
            <a:r>
              <a:rPr lang="en-US" b="0" noProof="0" dirty="0"/>
              <a:t>vs</a:t>
            </a:r>
            <a:r>
              <a:rPr lang="en-US" b="0" noProof="0" dirty="0">
                <a:latin typeface="Courier"/>
              </a:rPr>
              <a:t>  y = x[:]</a:t>
            </a:r>
            <a:endParaRPr lang="en-US" b="0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072320"/>
              </p:ext>
            </p:extLst>
          </p:nvPr>
        </p:nvGraphicFramePr>
        <p:xfrm>
          <a:off x="3647253" y="1868918"/>
          <a:ext cx="2327050" cy="48342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1612054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b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82659" y="2342474"/>
            <a:ext cx="3746400" cy="1980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>
                <a:latin typeface="Courier"/>
              </a:rPr>
              <a:t>a = [13, 27, 7, 42]</a:t>
            </a:r>
          </a:p>
          <a:p>
            <a:pPr marL="0" indent="0"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a[2] = 12  </a:t>
            </a:r>
          </a:p>
          <a:p>
            <a:pPr marL="0" indent="0">
              <a:buNone/>
            </a:pPr>
            <a:endParaRPr lang="en-US" sz="2400" noProof="0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3933105" y="4047487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933105" y="3751395"/>
            <a:ext cx="574766" cy="1872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406842" y="4589317"/>
            <a:ext cx="79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12-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47253" y="3512301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9" name="Content Placeholder 5"/>
          <p:cNvSpPr txBox="1">
            <a:spLocks/>
          </p:cNvSpPr>
          <p:nvPr/>
        </p:nvSpPr>
        <p:spPr>
          <a:xfrm>
            <a:off x="6665632" y="2340636"/>
            <a:ext cx="4770120" cy="19800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400" noProof="0" dirty="0">
                <a:latin typeface="Courier"/>
              </a:rPr>
              <a:t>a = [13, 27, 7, 42]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b = a[:]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sz="2400" noProof="0" dirty="0">
                <a:latin typeface="Courier"/>
              </a:rPr>
              <a:t>a[2] = 12  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sz="2400" noProof="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7077473"/>
              </p:ext>
            </p:extLst>
          </p:nvPr>
        </p:nvGraphicFramePr>
        <p:xfrm>
          <a:off x="9552957" y="1755056"/>
          <a:ext cx="2327050" cy="49096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88633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59404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74428801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4911084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>
            <a:off x="9816148" y="3199635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9816148" y="5053060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552957" y="486839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2655" y="3733234"/>
            <a:ext cx="79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12-</a:t>
            </a:r>
          </a:p>
        </p:txBody>
      </p:sp>
    </p:spTree>
    <p:extLst>
      <p:ext uri="{BB962C8B-B14F-4D97-AF65-F5344CB8AC3E}">
        <p14:creationId xmlns:p14="http://schemas.microsoft.com/office/powerpoint/2010/main" val="57468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noProof="0" dirty="0">
                <a:latin typeface="Courier"/>
              </a:rPr>
              <a:t>x[:]</a:t>
            </a:r>
            <a:r>
              <a:rPr lang="en-US" b="0" noProof="0" dirty="0">
                <a:latin typeface="+mn-lt"/>
              </a:rPr>
              <a:t> vs nested structures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5714150" y="2494155"/>
            <a:ext cx="3771506" cy="29280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>
                <a:latin typeface="Courier"/>
              </a:rPr>
              <a:t>a = [[3,5],[7,11]]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c = a[:]</a:t>
            </a:r>
          </a:p>
          <a:p>
            <a:pPr marL="0" indent="0"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a[0][1] = 4</a:t>
            </a:r>
            <a:br>
              <a:rPr lang="en-US" sz="2400" noProof="0" dirty="0">
                <a:solidFill>
                  <a:srgbClr val="C00000"/>
                </a:solidFill>
                <a:latin typeface="Courier"/>
              </a:rPr>
            </a:b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c[1] = b[0]</a:t>
            </a:r>
            <a:r>
              <a:rPr lang="en-US" sz="2400" noProof="0" dirty="0">
                <a:latin typeface="Courier"/>
              </a:rPr>
              <a:t>  </a:t>
            </a:r>
          </a:p>
          <a:p>
            <a:pPr marL="0" indent="0">
              <a:buNone/>
            </a:pPr>
            <a:endParaRPr lang="en-US" sz="2400" noProof="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261014"/>
              </p:ext>
            </p:extLst>
          </p:nvPr>
        </p:nvGraphicFramePr>
        <p:xfrm>
          <a:off x="9468116" y="892504"/>
          <a:ext cx="2327050" cy="52132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44327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569616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45603393"/>
                  </a:ext>
                </a:extLst>
              </a:tr>
              <a:tr h="380842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82255387"/>
                  </a:ext>
                </a:extLst>
              </a:tr>
              <a:tr h="359404">
                <a:tc row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5469498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 flipV="1">
            <a:off x="9731307" y="2011859"/>
            <a:ext cx="574766" cy="2411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9731307" y="1909221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468116" y="2068341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4" name="Freeform 3"/>
          <p:cNvSpPr/>
          <p:nvPr/>
        </p:nvSpPr>
        <p:spPr>
          <a:xfrm flipV="1">
            <a:off x="10637570" y="1903373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/>
          <p:cNvSpPr/>
          <p:nvPr/>
        </p:nvSpPr>
        <p:spPr>
          <a:xfrm>
            <a:off x="10595641" y="186737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Oval 18"/>
          <p:cNvSpPr/>
          <p:nvPr/>
        </p:nvSpPr>
        <p:spPr>
          <a:xfrm>
            <a:off x="10592816" y="22180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Oval 19"/>
          <p:cNvSpPr/>
          <p:nvPr/>
        </p:nvSpPr>
        <p:spPr>
          <a:xfrm>
            <a:off x="10592816" y="519850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 21"/>
          <p:cNvSpPr/>
          <p:nvPr/>
        </p:nvSpPr>
        <p:spPr>
          <a:xfrm>
            <a:off x="10637570" y="3066800"/>
            <a:ext cx="614039" cy="2171249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3" name="Freeform 22"/>
          <p:cNvSpPr/>
          <p:nvPr/>
        </p:nvSpPr>
        <p:spPr>
          <a:xfrm flipH="1" flipV="1">
            <a:off x="10006023" y="2253006"/>
            <a:ext cx="609170" cy="1830426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Freeform 23"/>
          <p:cNvSpPr/>
          <p:nvPr/>
        </p:nvSpPr>
        <p:spPr>
          <a:xfrm flipH="1">
            <a:off x="9959418" y="4161934"/>
            <a:ext cx="678150" cy="137226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9731307" y="5198509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10628816" y="3024298"/>
            <a:ext cx="1166350" cy="2517622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  <a:gd name="connsiteX0" fmla="*/ 164157 w 614553"/>
              <a:gd name="connsiteY0" fmla="*/ 0 h 1168822"/>
              <a:gd name="connsiteX1" fmla="*/ 612743 w 614553"/>
              <a:gd name="connsiteY1" fmla="*/ 733158 h 1168822"/>
              <a:gd name="connsiteX2" fmla="*/ 0 w 614553"/>
              <a:gd name="connsiteY2" fmla="*/ 1168822 h 1168822"/>
              <a:gd name="connsiteX0" fmla="*/ 164157 w 614651"/>
              <a:gd name="connsiteY0" fmla="*/ 0 h 1168822"/>
              <a:gd name="connsiteX1" fmla="*/ 612743 w 614651"/>
              <a:gd name="connsiteY1" fmla="*/ 733158 h 1168822"/>
              <a:gd name="connsiteX2" fmla="*/ 0 w 614651"/>
              <a:gd name="connsiteY2" fmla="*/ 1168822 h 1168822"/>
              <a:gd name="connsiteX0" fmla="*/ 142250 w 614105"/>
              <a:gd name="connsiteY0" fmla="*/ 0 h 1155839"/>
              <a:gd name="connsiteX1" fmla="*/ 612743 w 614105"/>
              <a:gd name="connsiteY1" fmla="*/ 720175 h 1155839"/>
              <a:gd name="connsiteX2" fmla="*/ 0 w 614105"/>
              <a:gd name="connsiteY2" fmla="*/ 1155839 h 1155839"/>
              <a:gd name="connsiteX0" fmla="*/ 142250 w 615257"/>
              <a:gd name="connsiteY0" fmla="*/ 0 h 1155839"/>
              <a:gd name="connsiteX1" fmla="*/ 612743 w 615257"/>
              <a:gd name="connsiteY1" fmla="*/ 720175 h 1155839"/>
              <a:gd name="connsiteX2" fmla="*/ 0 w 615257"/>
              <a:gd name="connsiteY2" fmla="*/ 1155839 h 1155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5257" h="1155839">
                <a:moveTo>
                  <a:pt x="142250" y="0"/>
                </a:moveTo>
                <a:cubicBezTo>
                  <a:pt x="493519" y="66518"/>
                  <a:pt x="636451" y="527535"/>
                  <a:pt x="612743" y="720175"/>
                </a:cubicBezTo>
                <a:cubicBezTo>
                  <a:pt x="589035" y="912815"/>
                  <a:pt x="270235" y="1143480"/>
                  <a:pt x="0" y="1155839"/>
                </a:cubicBezTo>
              </a:path>
            </a:pathLst>
          </a:custGeom>
          <a:noFill/>
          <a:ln>
            <a:solidFill>
              <a:srgbClr val="C0000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Oval 20"/>
          <p:cNvSpPr/>
          <p:nvPr/>
        </p:nvSpPr>
        <p:spPr>
          <a:xfrm>
            <a:off x="10601570" y="550173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10344709" y="316821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0177" y="4750154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0" name="TextBox 29"/>
          <p:cNvSpPr txBox="1"/>
          <p:nvPr/>
        </p:nvSpPr>
        <p:spPr>
          <a:xfrm rot="1028239">
            <a:off x="9867032" y="4463733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 rot="18656753">
            <a:off x="9891707" y="507920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38210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29" grpId="0"/>
      <p:bldP spid="30" grpId="0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noProof="0" dirty="0">
                <a:latin typeface="+mn-lt"/>
              </a:rPr>
              <a:t>Question – what is </a:t>
            </a:r>
            <a:r>
              <a:rPr lang="en-US" b="0" noProof="0" dirty="0">
                <a:latin typeface="Courier"/>
              </a:rPr>
              <a:t>c</a:t>
            </a:r>
            <a:r>
              <a:rPr lang="en-US" b="0" noProof="0" dirty="0">
                <a:latin typeface="+mn-lt"/>
              </a:rPr>
              <a:t> 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5714150" y="2494155"/>
            <a:ext cx="3771506" cy="29280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>
                <a:latin typeface="Courier"/>
              </a:rPr>
              <a:t>a = [[3,5],[7,11]]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c = a[:]</a:t>
            </a:r>
          </a:p>
          <a:p>
            <a:pPr marL="0" indent="0"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a[0][1] = 4</a:t>
            </a:r>
            <a:br>
              <a:rPr lang="en-US" sz="2400" noProof="0" dirty="0">
                <a:solidFill>
                  <a:srgbClr val="C00000"/>
                </a:solidFill>
                <a:latin typeface="Courier"/>
              </a:rPr>
            </a:b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c[1] = b[0]</a:t>
            </a:r>
            <a:r>
              <a:rPr lang="en-US" sz="2400" noProof="0" dirty="0">
                <a:latin typeface="Courier"/>
              </a:rPr>
              <a:t>  </a:t>
            </a:r>
          </a:p>
          <a:p>
            <a:pPr marL="0" indent="0">
              <a:buNone/>
            </a:pPr>
            <a:endParaRPr lang="en-US" sz="2400" noProof="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7202495"/>
              </p:ext>
            </p:extLst>
          </p:nvPr>
        </p:nvGraphicFramePr>
        <p:xfrm>
          <a:off x="9468116" y="892504"/>
          <a:ext cx="2327050" cy="52132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44327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569616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45603393"/>
                  </a:ext>
                </a:extLst>
              </a:tr>
              <a:tr h="380842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82255387"/>
                  </a:ext>
                </a:extLst>
              </a:tr>
              <a:tr h="359404">
                <a:tc row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5469498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 flipV="1">
            <a:off x="9731307" y="2011859"/>
            <a:ext cx="574766" cy="2411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9731307" y="1909221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468116" y="2068341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4" name="Freeform 3"/>
          <p:cNvSpPr/>
          <p:nvPr/>
        </p:nvSpPr>
        <p:spPr>
          <a:xfrm flipV="1">
            <a:off x="10637570" y="1903373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/>
          <p:cNvSpPr/>
          <p:nvPr/>
        </p:nvSpPr>
        <p:spPr>
          <a:xfrm>
            <a:off x="10595641" y="186737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Oval 18"/>
          <p:cNvSpPr/>
          <p:nvPr/>
        </p:nvSpPr>
        <p:spPr>
          <a:xfrm>
            <a:off x="10592816" y="22180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Oval 19"/>
          <p:cNvSpPr/>
          <p:nvPr/>
        </p:nvSpPr>
        <p:spPr>
          <a:xfrm>
            <a:off x="10592816" y="519850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 21"/>
          <p:cNvSpPr/>
          <p:nvPr/>
        </p:nvSpPr>
        <p:spPr>
          <a:xfrm>
            <a:off x="10637570" y="3066800"/>
            <a:ext cx="614039" cy="2171249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3" name="Freeform 22"/>
          <p:cNvSpPr/>
          <p:nvPr/>
        </p:nvSpPr>
        <p:spPr>
          <a:xfrm flipH="1" flipV="1">
            <a:off x="10006023" y="2253006"/>
            <a:ext cx="609170" cy="1830426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Freeform 23"/>
          <p:cNvSpPr/>
          <p:nvPr/>
        </p:nvSpPr>
        <p:spPr>
          <a:xfrm flipH="1">
            <a:off x="9959418" y="4161934"/>
            <a:ext cx="678150" cy="137226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9731307" y="5198509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10628816" y="3024298"/>
            <a:ext cx="1166350" cy="2517622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  <a:gd name="connsiteX0" fmla="*/ 164157 w 614553"/>
              <a:gd name="connsiteY0" fmla="*/ 0 h 1168822"/>
              <a:gd name="connsiteX1" fmla="*/ 612743 w 614553"/>
              <a:gd name="connsiteY1" fmla="*/ 733158 h 1168822"/>
              <a:gd name="connsiteX2" fmla="*/ 0 w 614553"/>
              <a:gd name="connsiteY2" fmla="*/ 1168822 h 1168822"/>
              <a:gd name="connsiteX0" fmla="*/ 164157 w 614651"/>
              <a:gd name="connsiteY0" fmla="*/ 0 h 1168822"/>
              <a:gd name="connsiteX1" fmla="*/ 612743 w 614651"/>
              <a:gd name="connsiteY1" fmla="*/ 733158 h 1168822"/>
              <a:gd name="connsiteX2" fmla="*/ 0 w 614651"/>
              <a:gd name="connsiteY2" fmla="*/ 1168822 h 1168822"/>
              <a:gd name="connsiteX0" fmla="*/ 142250 w 614105"/>
              <a:gd name="connsiteY0" fmla="*/ 0 h 1155839"/>
              <a:gd name="connsiteX1" fmla="*/ 612743 w 614105"/>
              <a:gd name="connsiteY1" fmla="*/ 720175 h 1155839"/>
              <a:gd name="connsiteX2" fmla="*/ 0 w 614105"/>
              <a:gd name="connsiteY2" fmla="*/ 1155839 h 1155839"/>
              <a:gd name="connsiteX0" fmla="*/ 142250 w 615257"/>
              <a:gd name="connsiteY0" fmla="*/ 0 h 1155839"/>
              <a:gd name="connsiteX1" fmla="*/ 612743 w 615257"/>
              <a:gd name="connsiteY1" fmla="*/ 720175 h 1155839"/>
              <a:gd name="connsiteX2" fmla="*/ 0 w 615257"/>
              <a:gd name="connsiteY2" fmla="*/ 1155839 h 1155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5257" h="1155839">
                <a:moveTo>
                  <a:pt x="142250" y="0"/>
                </a:moveTo>
                <a:cubicBezTo>
                  <a:pt x="493519" y="66518"/>
                  <a:pt x="636451" y="527535"/>
                  <a:pt x="612743" y="720175"/>
                </a:cubicBezTo>
                <a:cubicBezTo>
                  <a:pt x="589035" y="912815"/>
                  <a:pt x="270235" y="1143480"/>
                  <a:pt x="0" y="1155839"/>
                </a:cubicBezTo>
              </a:path>
            </a:pathLst>
          </a:custGeom>
          <a:noFill/>
          <a:ln>
            <a:solidFill>
              <a:srgbClr val="C0000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Oval 20"/>
          <p:cNvSpPr/>
          <p:nvPr/>
        </p:nvSpPr>
        <p:spPr>
          <a:xfrm>
            <a:off x="10601570" y="550173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10344709" y="316821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0177" y="4750154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0" name="TextBox 29"/>
          <p:cNvSpPr txBox="1"/>
          <p:nvPr/>
        </p:nvSpPr>
        <p:spPr>
          <a:xfrm rot="1028239">
            <a:off x="9867032" y="4463733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 rot="18656753">
            <a:off x="9891707" y="507920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28" name="Content Placeholder 2"/>
          <p:cNvSpPr txBox="1">
            <a:spLocks/>
          </p:cNvSpPr>
          <p:nvPr/>
        </p:nvSpPr>
        <p:spPr>
          <a:xfrm>
            <a:off x="816452" y="1599322"/>
            <a:ext cx="7992657" cy="3507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[[3,5],[7,11]]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[[3,5],[3,5]]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[[3,4],[3,5]]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[[3,4],[3,4]]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Don’t know</a:t>
            </a:r>
          </a:p>
        </p:txBody>
      </p:sp>
      <p:sp>
        <p:nvSpPr>
          <p:cNvPr id="32" name="Smiley Face 31" descr="QuizAnswer"/>
          <p:cNvSpPr/>
          <p:nvPr/>
        </p:nvSpPr>
        <p:spPr>
          <a:xfrm>
            <a:off x="353952" y="3395669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DA278-923D-143B-3BB6-1FEE8AB4BB03}"/>
              </a:ext>
            </a:extLst>
          </p:cNvPr>
          <p:cNvSpPr txBox="1"/>
          <p:nvPr/>
        </p:nvSpPr>
        <p:spPr>
          <a:xfrm>
            <a:off x="9833595" y="6440056"/>
            <a:ext cx="22416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/>
              <a:t>Try </a:t>
            </a:r>
            <a:r>
              <a:rPr lang="en-US" noProof="0" dirty="0">
                <a:hlinkClick r:id="rId3"/>
              </a:rPr>
              <a:t>pythontutor.com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31878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copy.deepcopy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858028" cy="4351338"/>
          </a:xfrm>
        </p:spPr>
        <p:txBody>
          <a:bodyPr/>
          <a:lstStyle/>
          <a:p>
            <a:r>
              <a:rPr lang="en-US" noProof="0" dirty="0"/>
              <a:t>To make a copy of all parts of a composite value use the function </a:t>
            </a:r>
            <a:r>
              <a:rPr lang="en-US" noProof="0" dirty="0" err="1">
                <a:solidFill>
                  <a:srgbClr val="C00000"/>
                </a:solidFill>
              </a:rPr>
              <a:t>deepcopy</a:t>
            </a:r>
            <a:r>
              <a:rPr lang="en-US" noProof="0" dirty="0">
                <a:solidFill>
                  <a:srgbClr val="C00000"/>
                </a:solidFill>
              </a:rPr>
              <a:t> </a:t>
            </a:r>
            <a:r>
              <a:rPr lang="en-US" noProof="0" dirty="0"/>
              <a:t>from module copy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361957"/>
              </p:ext>
            </p:extLst>
          </p:nvPr>
        </p:nvGraphicFramePr>
        <p:xfrm>
          <a:off x="9468116" y="892504"/>
          <a:ext cx="2327050" cy="52132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44327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569616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45603393"/>
                  </a:ext>
                </a:extLst>
              </a:tr>
              <a:tr h="380842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82255387"/>
                  </a:ext>
                </a:extLst>
              </a:tr>
              <a:tr h="359404">
                <a:tc row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5469498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24" name="Straight Arrow Connector 23"/>
          <p:cNvCxnSpPr/>
          <p:nvPr/>
        </p:nvCxnSpPr>
        <p:spPr>
          <a:xfrm>
            <a:off x="9731307" y="1909221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9468116" y="3910907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26" name="Freeform 25"/>
          <p:cNvSpPr/>
          <p:nvPr/>
        </p:nvSpPr>
        <p:spPr>
          <a:xfrm flipV="1">
            <a:off x="10637570" y="1903373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Oval 26"/>
          <p:cNvSpPr/>
          <p:nvPr/>
        </p:nvSpPr>
        <p:spPr>
          <a:xfrm>
            <a:off x="10595641" y="186737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9731307" y="4095573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597659" y="40713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6" name="TextBox 35"/>
          <p:cNvSpPr txBox="1"/>
          <p:nvPr/>
        </p:nvSpPr>
        <p:spPr>
          <a:xfrm>
            <a:off x="10344709" y="2810006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4-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916992"/>
              </p:ext>
            </p:extLst>
          </p:nvPr>
        </p:nvGraphicFramePr>
        <p:xfrm>
          <a:off x="2305579" y="3350097"/>
          <a:ext cx="426019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019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608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304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copy import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deepcopy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[[3, 5], 7]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deepcopy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a[0][0] = 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[[4,5],7]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[[3,5],7]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41" name="Freeform 40"/>
          <p:cNvSpPr/>
          <p:nvPr/>
        </p:nvSpPr>
        <p:spPr>
          <a:xfrm flipV="1">
            <a:off x="10644799" y="4109712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06979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Initializing a 2-dimensional list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644409"/>
              </p:ext>
            </p:extLst>
          </p:nvPr>
        </p:nvGraphicFramePr>
        <p:xfrm>
          <a:off x="2612796" y="1549286"/>
          <a:ext cx="6966408" cy="296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6640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[1] * 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1, 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[[1] * 3] * 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1, 1], [1, 1, 1], [1, 1, 1], [1, 1, 1]]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y[0][0]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535736"/>
              </p:ext>
            </p:extLst>
          </p:nvPr>
        </p:nvGraphicFramePr>
        <p:xfrm>
          <a:off x="2612796" y="4609855"/>
          <a:ext cx="6966408" cy="1919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6640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2976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532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range(4):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([1] *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y[0][0]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[1, 1, 1], [1, 1, 1], [1, 1, 1]]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3311" y="274436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56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138854" cy="1325563"/>
          </a:xfrm>
        </p:spPr>
        <p:txBody>
          <a:bodyPr/>
          <a:lstStyle/>
          <a:p>
            <a:r>
              <a:rPr lang="en-US" noProof="0" dirty="0"/>
              <a:t>range(</a:t>
            </a:r>
            <a:r>
              <a:rPr lang="en-US" i="1" noProof="0" dirty="0"/>
              <a:t>from</a:t>
            </a:r>
            <a:r>
              <a:rPr lang="en-US" noProof="0" dirty="0"/>
              <a:t>, </a:t>
            </a:r>
            <a:r>
              <a:rPr lang="en-US" i="1" noProof="0" dirty="0"/>
              <a:t>to</a:t>
            </a:r>
            <a:r>
              <a:rPr lang="en-US" noProof="0" dirty="0"/>
              <a:t>, </a:t>
            </a:r>
            <a:r>
              <a:rPr lang="en-US" i="1" noProof="0" dirty="0"/>
              <a:t>step</a:t>
            </a:r>
            <a:r>
              <a:rPr lang="en-US" noProof="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3925" y="1953528"/>
            <a:ext cx="10892246" cy="4200138"/>
          </a:xfrm>
        </p:spPr>
        <p:txBody>
          <a:bodyPr>
            <a:noAutofit/>
          </a:bodyPr>
          <a:lstStyle/>
          <a:p>
            <a:r>
              <a:rPr lang="en-US" sz="2400" noProof="0" dirty="0">
                <a:latin typeface="Courier"/>
              </a:rPr>
              <a:t>range(</a:t>
            </a:r>
            <a:r>
              <a:rPr lang="en-US" sz="2400" i="1" noProof="0" dirty="0"/>
              <a:t>from</a:t>
            </a:r>
            <a:r>
              <a:rPr lang="en-US" sz="2400" noProof="0" dirty="0">
                <a:latin typeface="Courier"/>
              </a:rPr>
              <a:t>,</a:t>
            </a:r>
            <a:r>
              <a:rPr lang="en-US" sz="2400" i="1" noProof="0" dirty="0"/>
              <a:t> to</a:t>
            </a:r>
            <a:r>
              <a:rPr lang="en-US" sz="2400" noProof="0" dirty="0">
                <a:latin typeface="Courier"/>
              </a:rPr>
              <a:t>,</a:t>
            </a:r>
            <a:r>
              <a:rPr lang="en-US" sz="2400" noProof="0" dirty="0"/>
              <a:t> </a:t>
            </a:r>
            <a:r>
              <a:rPr lang="en-US" sz="2400" i="1" noProof="0" dirty="0"/>
              <a:t>else</a:t>
            </a:r>
            <a:r>
              <a:rPr lang="en-US" sz="2400" noProof="0" dirty="0">
                <a:latin typeface="Courier"/>
              </a:rPr>
              <a:t>)</a:t>
            </a:r>
            <a:r>
              <a:rPr lang="en-US" sz="2400" noProof="0" dirty="0"/>
              <a:t> represents the </a:t>
            </a:r>
            <a:r>
              <a:rPr lang="en-US" sz="2400" noProof="0" dirty="0">
                <a:solidFill>
                  <a:srgbClr val="C00000"/>
                </a:solidFill>
              </a:rPr>
              <a:t>sequence</a:t>
            </a:r>
            <a:r>
              <a:rPr lang="en-US" sz="2400" noProof="0" dirty="0"/>
              <a:t> of numbers starting with </a:t>
            </a:r>
            <a:r>
              <a:rPr lang="en-US" sz="2400" i="1" noProof="0" dirty="0"/>
              <a:t>from</a:t>
            </a:r>
            <a:r>
              <a:rPr lang="en-US" sz="2400" noProof="0" dirty="0"/>
              <a:t>,</a:t>
            </a:r>
            <a:r>
              <a:rPr lang="en-US" sz="2400" i="1" noProof="0" dirty="0"/>
              <a:t> </a:t>
            </a:r>
            <a:r>
              <a:rPr lang="en-US" sz="2400" noProof="0" dirty="0"/>
              <a:t>with increments of </a:t>
            </a:r>
            <a:r>
              <a:rPr lang="en-US" sz="2400" i="1" noProof="0" dirty="0"/>
              <a:t>step</a:t>
            </a:r>
            <a:r>
              <a:rPr lang="en-US" sz="2400" noProof="0" dirty="0"/>
              <a:t>, and smaller/greater than </a:t>
            </a:r>
            <a:r>
              <a:rPr lang="en-US" sz="2400" i="1" noProof="0" dirty="0"/>
              <a:t>to</a:t>
            </a:r>
            <a:r>
              <a:rPr lang="en-US" sz="2400" noProof="0" dirty="0"/>
              <a:t> if </a:t>
            </a:r>
            <a:r>
              <a:rPr lang="en-US" sz="2400" i="1" noProof="0" dirty="0"/>
              <a:t>step</a:t>
            </a:r>
            <a:r>
              <a:rPr lang="en-US" sz="2400" noProof="0" dirty="0"/>
              <a:t> positive/negative</a:t>
            </a:r>
          </a:p>
          <a:p>
            <a:pPr marL="457200" lvl="1" indent="0">
              <a:buNone/>
            </a:pPr>
            <a:r>
              <a:rPr lang="en-US" sz="2000" noProof="0" dirty="0"/>
              <a:t>	</a:t>
            </a:r>
            <a:r>
              <a:rPr lang="en-US" sz="2000" noProof="0" dirty="0">
                <a:latin typeface="Courier"/>
              </a:rPr>
              <a:t>range(5)		: 0, 1, 2, 3, 4  </a:t>
            </a:r>
            <a:r>
              <a:rPr lang="en-US" sz="2000" noProof="0" dirty="0"/>
              <a:t>(default </a:t>
            </a:r>
            <a:r>
              <a:rPr lang="en-US" sz="2000" i="1" noProof="0" dirty="0"/>
              <a:t>from</a:t>
            </a:r>
            <a:r>
              <a:rPr lang="en-US" sz="2000" noProof="0" dirty="0"/>
              <a:t> = 0, </a:t>
            </a:r>
            <a:r>
              <a:rPr lang="en-US" sz="2000" i="1" noProof="0" dirty="0"/>
              <a:t>step</a:t>
            </a:r>
            <a:r>
              <a:rPr lang="en-US" sz="2000" noProof="0" dirty="0"/>
              <a:t> = 1)</a:t>
            </a:r>
            <a:br>
              <a:rPr lang="en-US" sz="2000" noProof="0" dirty="0">
                <a:latin typeface="Courier"/>
              </a:rPr>
            </a:br>
            <a:r>
              <a:rPr lang="en-US" sz="2000" noProof="0" dirty="0">
                <a:latin typeface="Courier"/>
              </a:rPr>
              <a:t>	range(3, 8)		: 3, 4, 5, 6, 7  </a:t>
            </a:r>
            <a:r>
              <a:rPr lang="en-US" sz="2000" noProof="0" dirty="0"/>
              <a:t>(default </a:t>
            </a:r>
            <a:r>
              <a:rPr lang="en-US" sz="2000" i="1" noProof="0" dirty="0"/>
              <a:t>step</a:t>
            </a:r>
            <a:r>
              <a:rPr lang="en-US" sz="2000" noProof="0" dirty="0"/>
              <a:t> = 1)</a:t>
            </a:r>
            <a:br>
              <a:rPr lang="en-US" sz="2000" noProof="0" dirty="0">
                <a:latin typeface="Courier"/>
              </a:rPr>
            </a:br>
            <a:r>
              <a:rPr lang="en-US" sz="2000" noProof="0" dirty="0">
                <a:latin typeface="Courier"/>
              </a:rPr>
              <a:t>	range(-2, 7, 3)	: -2, 1, 4       </a:t>
            </a:r>
            <a:r>
              <a:rPr lang="en-US" sz="2000" noProof="0" dirty="0"/>
              <a:t>(</a:t>
            </a:r>
            <a:r>
              <a:rPr lang="en-US" sz="2000" i="1" noProof="0" dirty="0"/>
              <a:t>from</a:t>
            </a:r>
            <a:r>
              <a:rPr lang="en-US" sz="2000" noProof="0" dirty="0"/>
              <a:t> and </a:t>
            </a:r>
            <a:r>
              <a:rPr lang="en-US" sz="2000" i="1" noProof="0" dirty="0"/>
              <a:t>to</a:t>
            </a:r>
            <a:r>
              <a:rPr lang="en-US" sz="2000" noProof="0" dirty="0"/>
              <a:t> can be any integer)</a:t>
            </a:r>
            <a:br>
              <a:rPr lang="en-US" sz="2000" noProof="0" dirty="0">
                <a:latin typeface="Courier"/>
              </a:rPr>
            </a:br>
            <a:r>
              <a:rPr lang="en-US" sz="2000" noProof="0" dirty="0">
                <a:latin typeface="Courier"/>
              </a:rPr>
              <a:t>	range(2, -5, -2)	: 2, 0, -2, -4   </a:t>
            </a:r>
            <a:r>
              <a:rPr lang="en-US" sz="2000" noProof="0" dirty="0"/>
              <a:t>(decreasing sequence if </a:t>
            </a:r>
            <a:r>
              <a:rPr lang="en-US" sz="2000" i="1" noProof="0" dirty="0"/>
              <a:t>step</a:t>
            </a:r>
            <a:r>
              <a:rPr lang="en-US" sz="2000" noProof="0" dirty="0"/>
              <a:t> negative)</a:t>
            </a:r>
            <a:endParaRPr lang="en-US" sz="2000" noProof="0" dirty="0">
              <a:latin typeface="Courier"/>
            </a:endParaRPr>
          </a:p>
          <a:p>
            <a:pPr>
              <a:spcAft>
                <a:spcPts val="600"/>
              </a:spcAft>
            </a:pPr>
            <a:r>
              <a:rPr lang="en-US" sz="2400" noProof="0" dirty="0"/>
              <a:t>Ranges are immutable, can be indexed </a:t>
            </a:r>
            <a:br>
              <a:rPr lang="en-US" sz="2400" noProof="0" dirty="0"/>
            </a:br>
            <a:r>
              <a:rPr lang="en-US" sz="2400" noProof="0" dirty="0"/>
              <a:t>like a list, sliced, and compared (i.e. </a:t>
            </a:r>
            <a:br>
              <a:rPr lang="en-US" sz="2400" noProof="0" dirty="0"/>
            </a:br>
            <a:r>
              <a:rPr lang="en-US" sz="2400" noProof="0" dirty="0"/>
              <a:t>represent the same sequence of numbers)</a:t>
            </a:r>
          </a:p>
          <a:p>
            <a:r>
              <a:rPr lang="en-US" sz="2400" noProof="0" dirty="0">
                <a:latin typeface="Courier"/>
              </a:rPr>
              <a:t>list(range(</a:t>
            </a:r>
            <a:r>
              <a:rPr lang="en-US" sz="2400" noProof="0" dirty="0"/>
              <a:t>...</a:t>
            </a:r>
            <a:r>
              <a:rPr lang="en-US" sz="2400" noProof="0" dirty="0">
                <a:latin typeface="Courier"/>
              </a:rPr>
              <a:t>))</a:t>
            </a:r>
            <a:r>
              <a:rPr lang="en-US" sz="2400" noProof="0" dirty="0"/>
              <a:t> generates the </a:t>
            </a:r>
            <a:br>
              <a:rPr lang="en-US" sz="2400" noProof="0" dirty="0"/>
            </a:br>
            <a:r>
              <a:rPr lang="en-US" sz="2400" noProof="0" dirty="0"/>
              <a:t>explicit list of numbers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487523"/>
              </p:ext>
            </p:extLst>
          </p:nvPr>
        </p:nvGraphicFramePr>
        <p:xfrm>
          <a:off x="6292015" y="3940680"/>
          <a:ext cx="56070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6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608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304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range(1, 10000000, 3)[2]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range(1, 10000000, 3)[100:120:4]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range(301, 361, 12)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range(1, 10000000, 3)[100:120:4][2:3]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range(325, 337, 12)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list(range(5, 14, 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[5, 8, 11]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6705600" y="365125"/>
            <a:ext cx="5193475" cy="1200329"/>
            <a:chOff x="5933705" y="336035"/>
            <a:chExt cx="5193475" cy="1200329"/>
          </a:xfrm>
        </p:grpSpPr>
        <p:sp>
          <p:nvSpPr>
            <p:cNvPr id="4" name="TextBox 3"/>
            <p:cNvSpPr txBox="1"/>
            <p:nvPr/>
          </p:nvSpPr>
          <p:spPr>
            <a:xfrm>
              <a:off x="5933705" y="336035"/>
              <a:ext cx="5193475" cy="120032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indent="628650">
                <a:tabLst>
                  <a:tab pos="628650" algn="l"/>
                </a:tabLst>
              </a:pPr>
              <a:r>
                <a:rPr lang="en-US" noProof="0" dirty="0"/>
                <a:t>In Python 2, </a:t>
              </a:r>
              <a:r>
                <a:rPr lang="en-US" noProof="0" dirty="0">
                  <a:latin typeface="Courier"/>
                </a:rPr>
                <a:t>range</a:t>
              </a:r>
              <a:r>
                <a:rPr lang="en-US" noProof="0" dirty="0"/>
                <a:t> generates the explicit list,</a:t>
              </a:r>
              <a:br>
                <a:rPr lang="en-US" noProof="0" dirty="0"/>
              </a:br>
              <a:r>
                <a:rPr lang="en-US" noProof="0" dirty="0"/>
                <a:t>	i.e. always use memory proportional to the length; </a:t>
              </a:r>
              <a:r>
                <a:rPr lang="en-US" noProof="0" dirty="0" err="1">
                  <a:latin typeface="Courier"/>
                </a:rPr>
                <a:t>xrange</a:t>
              </a:r>
              <a:r>
                <a:rPr lang="en-US" noProof="0" dirty="0"/>
                <a:t> in Python 2 corresponds to </a:t>
              </a:r>
              <a:r>
                <a:rPr lang="en-US" noProof="0" dirty="0">
                  <a:latin typeface="Courier"/>
                </a:rPr>
                <a:t>range</a:t>
              </a:r>
              <a:r>
                <a:rPr lang="en-US" noProof="0" dirty="0"/>
                <a:t> in Python 3; Python 3 is more memory friendly</a:t>
              </a:r>
            </a:p>
          </p:txBody>
        </p:sp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0987" y="438939"/>
              <a:ext cx="453088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88977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25563"/>
          </a:xfrm>
        </p:spPr>
        <p:txBody>
          <a:bodyPr/>
          <a:lstStyle/>
          <a:p>
            <a:r>
              <a:rPr lang="en-US" noProof="0" dirty="0"/>
              <a:t>Question – What is </a:t>
            </a:r>
            <a:r>
              <a:rPr lang="en-US" b="0" noProof="0" dirty="0">
                <a:latin typeface="Courier"/>
              </a:rPr>
              <a:t>range(3,20,4)[2:4][1]</a:t>
            </a:r>
            <a:r>
              <a:rPr lang="en-US" noProof="0" dirty="0"/>
              <a:t>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3341" y="2141423"/>
            <a:ext cx="2657803" cy="3431474"/>
          </a:xfrm>
        </p:spPr>
        <p:txBody>
          <a:bodyPr/>
          <a:lstStyle/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3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7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11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15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19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  <a:p>
            <a:pPr marL="514350" indent="-514350">
              <a:buFont typeface="+mj-lt"/>
              <a:buAutoNum type="alphaLcParenR"/>
            </a:pPr>
            <a:endParaRPr lang="en-US" noProof="0" dirty="0"/>
          </a:p>
        </p:txBody>
      </p:sp>
      <p:sp>
        <p:nvSpPr>
          <p:cNvPr id="4" name="Smiley Face 3" descr="QuizAnswer"/>
          <p:cNvSpPr/>
          <p:nvPr/>
        </p:nvSpPr>
        <p:spPr>
          <a:xfrm>
            <a:off x="4352902" y="3678473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8624B39-ED7A-CE8E-BEF6-3FEA2EEDD219}"/>
              </a:ext>
            </a:extLst>
          </p:cNvPr>
          <p:cNvGrpSpPr/>
          <p:nvPr/>
        </p:nvGrpSpPr>
        <p:grpSpPr>
          <a:xfrm>
            <a:off x="2940780" y="6283381"/>
            <a:ext cx="6750011" cy="523220"/>
            <a:chOff x="3200274" y="6283381"/>
            <a:chExt cx="6750011" cy="52322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B9FBC1-EB12-3D55-810C-775A517882B8}"/>
                </a:ext>
              </a:extLst>
            </p:cNvPr>
            <p:cNvSpPr txBox="1"/>
            <p:nvPr/>
          </p:nvSpPr>
          <p:spPr>
            <a:xfrm>
              <a:off x="3728659" y="6283381"/>
              <a:ext cx="622162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800" noProof="0" dirty="0"/>
                <a:t>Exercise “sliced ranges” is annoying hard</a:t>
              </a: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0709185-37BD-8884-1739-B2C19E767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0274" y="6366753"/>
              <a:ext cx="453088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7757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for -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5543746" cy="4377213"/>
          </a:xfrm>
        </p:spPr>
        <p:txBody>
          <a:bodyPr>
            <a:normAutofit lnSpcReduction="10000"/>
          </a:bodyPr>
          <a:lstStyle/>
          <a:p>
            <a:r>
              <a:rPr lang="en-US" sz="2400" noProof="0" dirty="0"/>
              <a:t>For every element in a </a:t>
            </a:r>
            <a:r>
              <a:rPr lang="en-US" sz="2400" noProof="0" dirty="0">
                <a:solidFill>
                  <a:srgbClr val="C00000"/>
                </a:solidFill>
              </a:rPr>
              <a:t>sequence</a:t>
            </a:r>
            <a:r>
              <a:rPr lang="en-US" sz="2400" noProof="0" dirty="0"/>
              <a:t> execute a block of code:</a:t>
            </a:r>
            <a:br>
              <a:rPr lang="en-US" sz="2400" noProof="0" dirty="0"/>
            </a:br>
            <a:br>
              <a:rPr lang="en-US" sz="2400" noProof="0" dirty="0">
                <a:latin typeface="Courier"/>
              </a:rPr>
            </a:br>
            <a:r>
              <a:rPr lang="en-US" sz="2400" noProof="0" dirty="0">
                <a:latin typeface="Courier"/>
              </a:rPr>
              <a:t>	for </a:t>
            </a:r>
            <a:r>
              <a:rPr lang="en-US" sz="2400" i="1" noProof="0" dirty="0"/>
              <a:t>variable</a:t>
            </a:r>
            <a:r>
              <a:rPr lang="en-US" sz="2400" noProof="0" dirty="0">
                <a:latin typeface="Courier"/>
              </a:rPr>
              <a:t> in </a:t>
            </a:r>
            <a:r>
              <a:rPr lang="en-US" sz="2400" i="1" noProof="0" dirty="0"/>
              <a:t>sequence</a:t>
            </a:r>
            <a:r>
              <a:rPr lang="en-US" sz="2400" noProof="0" dirty="0">
                <a:latin typeface="Courier"/>
              </a:rPr>
              <a:t>:</a:t>
            </a:r>
          </a:p>
          <a:p>
            <a:pPr marL="0" indent="0">
              <a:buNone/>
            </a:pPr>
            <a:r>
              <a:rPr lang="en-US" sz="2400" noProof="0" dirty="0"/>
              <a:t>	</a:t>
            </a:r>
            <a:r>
              <a:rPr lang="en-US" sz="2400" noProof="0" dirty="0">
                <a:latin typeface="Courier"/>
              </a:rPr>
              <a:t>    </a:t>
            </a:r>
            <a:r>
              <a:rPr lang="en-US" sz="2400" i="1" noProof="0" dirty="0"/>
              <a:t>block</a:t>
            </a:r>
            <a:br>
              <a:rPr lang="en-US" sz="2400" i="1" noProof="0" dirty="0"/>
            </a:br>
            <a:endParaRPr lang="en-US" sz="2400" i="1" noProof="0" dirty="0"/>
          </a:p>
          <a:p>
            <a:r>
              <a:rPr lang="en-US" sz="2400" noProof="0" dirty="0"/>
              <a:t>Sequences can e.g. be lists, strings, ranges</a:t>
            </a:r>
          </a:p>
          <a:p>
            <a:r>
              <a:rPr lang="en-US" sz="2400" noProof="0" dirty="0">
                <a:latin typeface="Courier"/>
              </a:rPr>
              <a:t>break</a:t>
            </a:r>
            <a:r>
              <a:rPr lang="en-US" sz="2400" noProof="0" dirty="0"/>
              <a:t> and </a:t>
            </a:r>
            <a:r>
              <a:rPr lang="en-US" sz="2400" noProof="0" dirty="0">
                <a:latin typeface="Courier"/>
              </a:rPr>
              <a:t>continue</a:t>
            </a:r>
            <a:r>
              <a:rPr lang="en-US" sz="2400" noProof="0" dirty="0"/>
              <a:t> can be used like in a while-loop to break out of the for-loop or continue with the next element in the sequence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6125825"/>
              </p:ext>
            </p:extLst>
          </p:nvPr>
        </p:nvGraphicFramePr>
        <p:xfrm>
          <a:off x="6468358" y="1178498"/>
          <a:ext cx="5133833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38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323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280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[1,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[2, 3], 5.0]: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[2, 3]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range(5, 15, 3):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85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 – What is printed 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470485"/>
              </p:ext>
            </p:extLst>
          </p:nvPr>
        </p:nvGraphicFramePr>
        <p:xfrm>
          <a:off x="3072353" y="1690688"/>
          <a:ext cx="604729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4729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126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7653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range(1,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=':', end=' 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2084500" y="3489456"/>
            <a:ext cx="8256702" cy="25908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1:2 1:3 2:1 2:2 2:3 3:1 3:2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1:2 1:3 2:2 2:3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2:1 3:1 1:2 2:2 3:2 1:3 2:3 3:3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2:1 3:1 2:2 3:2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</p:txBody>
      </p:sp>
      <p:sp>
        <p:nvSpPr>
          <p:cNvPr id="6" name="Smiley Face 5" descr="QuizAnswer"/>
          <p:cNvSpPr/>
          <p:nvPr/>
        </p:nvSpPr>
        <p:spPr>
          <a:xfrm>
            <a:off x="1650048" y="4013124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41188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 – </a:t>
            </a:r>
            <a:r>
              <a:rPr lang="en-US" noProof="0" dirty="0">
                <a:latin typeface="Courier"/>
              </a:rPr>
              <a:t>break</a:t>
            </a:r>
            <a:r>
              <a:rPr lang="en-US" noProof="0" dirty="0"/>
              <a:t>, what is printed 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063554"/>
              </p:ext>
            </p:extLst>
          </p:nvPr>
        </p:nvGraphicFramePr>
        <p:xfrm>
          <a:off x="3155480" y="1690688"/>
          <a:ext cx="604729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4729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126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7653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range(1,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range(1,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=':', end=' 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&gt;=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3271430" y="3782860"/>
            <a:ext cx="5931344" cy="25908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i="1" noProof="0" dirty="0"/>
              <a:t>nothing</a:t>
            </a:r>
            <a:endParaRPr lang="en-US" i="1" noProof="0" dirty="0">
              <a:latin typeface="Courier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2:1 2:2 3:1 3:2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2:2 3:3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</p:txBody>
      </p:sp>
      <p:sp>
        <p:nvSpPr>
          <p:cNvPr id="6" name="Smiley Face 5" descr="QuizAnswer"/>
          <p:cNvSpPr/>
          <p:nvPr/>
        </p:nvSpPr>
        <p:spPr>
          <a:xfrm>
            <a:off x="2780913" y="4845051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28F55E1-34CC-2DF8-9015-2DE2454EA1C8}"/>
              </a:ext>
            </a:extLst>
          </p:cNvPr>
          <p:cNvGrpSpPr/>
          <p:nvPr/>
        </p:nvGrpSpPr>
        <p:grpSpPr>
          <a:xfrm>
            <a:off x="6990609" y="5864885"/>
            <a:ext cx="4860966" cy="707886"/>
            <a:chOff x="6990609" y="5864885"/>
            <a:chExt cx="4860966" cy="707886"/>
          </a:xfrm>
        </p:grpSpPr>
        <p:sp>
          <p:nvSpPr>
            <p:cNvPr id="7" name="TextBox 6" descr="QuizAnswer"/>
            <p:cNvSpPr txBox="1"/>
            <p:nvPr/>
          </p:nvSpPr>
          <p:spPr>
            <a:xfrm>
              <a:off x="6990609" y="5864885"/>
              <a:ext cx="4860966" cy="70788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indent="628650">
                <a:tabLst>
                  <a:tab pos="628650" algn="l"/>
                </a:tabLst>
              </a:pPr>
              <a:r>
                <a:rPr lang="en-US" sz="2000" noProof="0" dirty="0"/>
                <a:t>In nested </a:t>
              </a:r>
              <a:r>
                <a:rPr lang="en-US" sz="2000" noProof="0" dirty="0">
                  <a:latin typeface="Courier"/>
                </a:rPr>
                <a:t>for</a:t>
              </a:r>
              <a:r>
                <a:rPr lang="en-US" sz="2000" noProof="0" dirty="0"/>
                <a:t>- and </a:t>
              </a:r>
              <a:r>
                <a:rPr lang="en-US" sz="2000" noProof="0" dirty="0">
                  <a:latin typeface="Courier"/>
                </a:rPr>
                <a:t>while</a:t>
              </a:r>
              <a:r>
                <a:rPr lang="en-US" sz="2000" noProof="0" dirty="0"/>
                <a:t>-loops, </a:t>
              </a:r>
              <a:br>
                <a:rPr lang="en-US" sz="2000" noProof="0" dirty="0"/>
              </a:br>
              <a:r>
                <a:rPr lang="en-US" sz="2000" noProof="0" dirty="0"/>
                <a:t>	</a:t>
              </a:r>
              <a:r>
                <a:rPr lang="en-US" sz="2000" noProof="0" dirty="0">
                  <a:latin typeface="Courier"/>
                </a:rPr>
                <a:t>break</a:t>
              </a:r>
              <a:r>
                <a:rPr lang="en-US" sz="2000" noProof="0" dirty="0"/>
                <a:t> only breaks the innermost loop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7890" y="6027261"/>
              <a:ext cx="453088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8358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12633" t="62861" r="16915" b="937"/>
          <a:stretch/>
        </p:blipFill>
        <p:spPr>
          <a:xfrm>
            <a:off x="0" y="-97971"/>
            <a:ext cx="12192000" cy="6955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623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t="2245" b="41357"/>
          <a:stretch/>
        </p:blipFill>
        <p:spPr>
          <a:xfrm>
            <a:off x="-2" y="-228600"/>
            <a:ext cx="12240000" cy="724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93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357" y="365125"/>
            <a:ext cx="10515600" cy="1325563"/>
          </a:xfrm>
        </p:spPr>
        <p:txBody>
          <a:bodyPr/>
          <a:lstStyle/>
          <a:p>
            <a:r>
              <a:rPr lang="en-US" noProof="0" dirty="0"/>
              <a:t>Palindromic substrings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8408" y="1819910"/>
            <a:ext cx="617927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Find all </a:t>
            </a:r>
            <a:r>
              <a:rPr lang="en-US" noProof="0" dirty="0">
                <a:solidFill>
                  <a:srgbClr val="C00000"/>
                </a:solidFill>
              </a:rPr>
              <a:t>palindromic</a:t>
            </a:r>
            <a:r>
              <a:rPr lang="en-US" noProof="0" dirty="0"/>
              <a:t> substrings of length ≥ 2, i.e. substrings spelled identically forward and backwards:</a:t>
            </a:r>
          </a:p>
          <a:p>
            <a:pPr marL="0" indent="0">
              <a:buNone/>
            </a:pPr>
            <a:r>
              <a:rPr lang="en-US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abr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aca</a:t>
            </a:r>
            <a:r>
              <a:rPr lang="en-US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drabratra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llall</a:t>
            </a:r>
            <a:r>
              <a:rPr lang="en-US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noProof="0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 j        i    j</a:t>
            </a:r>
          </a:p>
          <a:p>
            <a:endParaRPr lang="en-US" noProof="0" dirty="0"/>
          </a:p>
          <a:p>
            <a:r>
              <a:rPr lang="en-US" b="1" noProof="0" dirty="0"/>
              <a:t>Algorithm: </a:t>
            </a:r>
            <a:r>
              <a:rPr lang="en-US" noProof="0" dirty="0"/>
              <a:t>Test all possible substrings</a:t>
            </a:r>
            <a:br>
              <a:rPr lang="en-US" noProof="0" dirty="0"/>
            </a:br>
            <a:r>
              <a:rPr lang="en-US" noProof="0" dirty="0"/>
              <a:t>(brute force/exhaustive search)</a:t>
            </a:r>
          </a:p>
          <a:p>
            <a:r>
              <a:rPr lang="en-US" b="1" noProof="0" dirty="0"/>
              <a:t>Note</a:t>
            </a:r>
            <a:r>
              <a:rPr lang="en-US" noProof="0" dirty="0"/>
              <a:t>: the slice </a:t>
            </a:r>
            <a:r>
              <a:rPr lang="en-US" noProof="0" dirty="0">
                <a:latin typeface="Courier"/>
              </a:rPr>
              <a:t>t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[::-1]</a:t>
            </a:r>
            <a:r>
              <a:rPr lang="en-US" noProof="0" dirty="0"/>
              <a:t> is </a:t>
            </a:r>
            <a:r>
              <a:rPr lang="en-US" noProof="0" dirty="0">
                <a:latin typeface="Courier"/>
              </a:rPr>
              <a:t>t</a:t>
            </a:r>
            <a:r>
              <a:rPr lang="en-US" noProof="0" dirty="0"/>
              <a:t> reversed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303564"/>
              </p:ext>
            </p:extLst>
          </p:nvPr>
        </p:nvGraphicFramePr>
        <p:xfrm>
          <a:off x="6507678" y="1142048"/>
          <a:ext cx="55073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palindrom.py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abracadrabratrallalla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(s)):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+ 2,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(s) + 1):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t = s[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t == 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[::-1]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print(t)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allalla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llall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530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Sieve of Eratosthenes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00307" cy="4351338"/>
          </a:xfrm>
        </p:spPr>
        <p:txBody>
          <a:bodyPr/>
          <a:lstStyle/>
          <a:p>
            <a:r>
              <a:rPr lang="en-US" noProof="0" dirty="0"/>
              <a:t>Find all prime numbers </a:t>
            </a:r>
            <a:r>
              <a:rPr lang="en-US" noProof="0" dirty="0">
                <a:cs typeface="Courier New" panose="02070309020205020404" pitchFamily="49" charset="0"/>
              </a:rPr>
              <a:t>≤ </a:t>
            </a:r>
            <a:r>
              <a:rPr lang="en-US" noProof="0" dirty="0"/>
              <a:t>n</a:t>
            </a:r>
          </a:p>
          <a:p>
            <a:endParaRPr lang="en-US" noProof="0" dirty="0"/>
          </a:p>
          <a:p>
            <a:r>
              <a:rPr lang="en-US" noProof="0" dirty="0"/>
              <a:t>Algorithm:</a:t>
            </a:r>
          </a:p>
          <a:p>
            <a:pPr marL="457200" lvl="1" indent="0">
              <a:buNone/>
            </a:pPr>
            <a:br>
              <a:rPr lang="en-US" noProof="0" dirty="0"/>
            </a:br>
            <a:r>
              <a:rPr lang="en-US" noProof="0" dirty="0"/>
              <a:t>   2  3  </a:t>
            </a:r>
            <a:r>
              <a:rPr lang="en-US" noProof="0" dirty="0">
                <a:solidFill>
                  <a:srgbClr val="C00000"/>
                </a:solidFill>
              </a:rPr>
              <a:t>4</a:t>
            </a:r>
            <a:r>
              <a:rPr lang="en-US" noProof="0" dirty="0"/>
              <a:t>  5  </a:t>
            </a:r>
            <a:r>
              <a:rPr lang="en-US" noProof="0" dirty="0">
                <a:solidFill>
                  <a:srgbClr val="C00000"/>
                </a:solidFill>
              </a:rPr>
              <a:t>6</a:t>
            </a:r>
            <a:r>
              <a:rPr lang="en-US" noProof="0" dirty="0"/>
              <a:t>  7  </a:t>
            </a:r>
            <a:r>
              <a:rPr lang="en-US" noProof="0" dirty="0">
                <a:solidFill>
                  <a:srgbClr val="C00000"/>
                </a:solidFill>
              </a:rPr>
              <a:t>8</a:t>
            </a:r>
            <a:r>
              <a:rPr lang="en-US" noProof="0" dirty="0"/>
              <a:t>  9  </a:t>
            </a:r>
            <a:r>
              <a:rPr lang="en-US" noProof="0" dirty="0">
                <a:solidFill>
                  <a:srgbClr val="C00000"/>
                </a:solidFill>
              </a:rPr>
              <a:t>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rgbClr val="C00000"/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rgbClr val="C00000"/>
                </a:solidFill>
              </a:rPr>
              <a:t>14</a:t>
            </a:r>
            <a:r>
              <a:rPr lang="en-US" noProof="0" dirty="0"/>
              <a:t> ...</a:t>
            </a: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US" noProof="0" dirty="0"/>
              <a:t>  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4</a:t>
            </a:r>
            <a:r>
              <a:rPr lang="en-US" noProof="0" dirty="0"/>
              <a:t>  5  </a:t>
            </a:r>
            <a:r>
              <a:rPr lang="en-US" noProof="0" dirty="0">
                <a:solidFill>
                  <a:srgbClr val="C00000"/>
                </a:solidFill>
              </a:rPr>
              <a:t>6</a:t>
            </a:r>
            <a:r>
              <a:rPr lang="en-US" noProof="0" dirty="0"/>
              <a:t>  7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en-US" noProof="0" dirty="0"/>
              <a:t>  </a:t>
            </a:r>
            <a:r>
              <a:rPr lang="en-US" noProof="0" dirty="0">
                <a:solidFill>
                  <a:srgbClr val="C00000"/>
                </a:solidFill>
              </a:rPr>
              <a:t>9</a:t>
            </a:r>
            <a:r>
              <a:rPr lang="en-US" noProof="0" dirty="0"/>
              <a:t>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rgbClr val="C00000"/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br>
              <a:rPr lang="en-US" noProof="0" dirty="0"/>
            </a:b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</a:t>
            </a:r>
            <a:r>
              <a:rPr lang="en-US" noProof="0" dirty="0"/>
              <a:t>  5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6</a:t>
            </a:r>
            <a:r>
              <a:rPr lang="en-US" noProof="0" dirty="0"/>
              <a:t>  7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8  9  </a:t>
            </a:r>
            <a:r>
              <a:rPr lang="en-US" noProof="0" dirty="0">
                <a:solidFill>
                  <a:srgbClr val="C00000"/>
                </a:solidFill>
              </a:rPr>
              <a:t>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2  3  4  5  6 </a:t>
            </a:r>
            <a:r>
              <a:rPr lang="en-US" noProof="0" dirty="0"/>
              <a:t> 7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8  9  10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rgbClr val="C00000"/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2  3  4  5  6  7  8  9  10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12 </a:t>
            </a:r>
            <a:r>
              <a:rPr lang="en-US" noProof="0" dirty="0"/>
              <a:t>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2  3  4  5  6  7  8  9  10  11  12 </a:t>
            </a:r>
            <a:r>
              <a:rPr lang="en-US" noProof="0" dirty="0"/>
              <a:t>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457200" lvl="1" indent="0">
              <a:buNone/>
            </a:pPr>
            <a:endParaRPr lang="en-US" noProof="0" dirty="0"/>
          </a:p>
          <a:p>
            <a:pPr marL="457200" lvl="1" indent="0">
              <a:buNone/>
            </a:pPr>
            <a:endParaRPr lang="en-US" noProof="0" dirty="0"/>
          </a:p>
          <a:p>
            <a:pPr marL="457200" lvl="1" indent="0">
              <a:buNone/>
            </a:pP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956817"/>
              </p:ext>
            </p:extLst>
          </p:nvPr>
        </p:nvGraphicFramePr>
        <p:xfrm>
          <a:off x="6786721" y="1583183"/>
          <a:ext cx="514669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669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eratosthenes.py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100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prime = [True] * (n + 1)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range(2, n):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j in range(2 * i, n + 1, i):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prime[j] = False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range(2, n + 1):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prime[i]: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print(i, end=' 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2 3 5 7 11 13 17 19 23 29 31 37 41 43 47 53 59 61 67 71 73 79 83 89 97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593880" y="6359892"/>
            <a:ext cx="44325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noProof="0" dirty="0">
                <a:hlinkClick r:id="rId3"/>
              </a:rPr>
              <a:t>en.wikipedia.org/wiki/</a:t>
            </a:r>
            <a:r>
              <a:rPr lang="en-US" noProof="0" dirty="0" err="1">
                <a:hlinkClick r:id="rId3"/>
              </a:rPr>
              <a:t>Sieve_of_Eratosthenes</a:t>
            </a:r>
            <a:endParaRPr lang="en-US" noProof="0" dirty="0"/>
          </a:p>
        </p:txBody>
      </p:sp>
      <p:sp>
        <p:nvSpPr>
          <p:cNvPr id="6" name="Oval 5"/>
          <p:cNvSpPr/>
          <p:nvPr/>
        </p:nvSpPr>
        <p:spPr>
          <a:xfrm>
            <a:off x="1484720" y="3643463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/>
          <p:cNvSpPr/>
          <p:nvPr/>
        </p:nvSpPr>
        <p:spPr>
          <a:xfrm>
            <a:off x="1769096" y="4022104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Oval 7"/>
          <p:cNvSpPr/>
          <p:nvPr/>
        </p:nvSpPr>
        <p:spPr>
          <a:xfrm>
            <a:off x="2359842" y="4353826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Oval 8"/>
          <p:cNvSpPr/>
          <p:nvPr/>
        </p:nvSpPr>
        <p:spPr>
          <a:xfrm>
            <a:off x="2931735" y="4741898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Oval 9"/>
          <p:cNvSpPr/>
          <p:nvPr/>
        </p:nvSpPr>
        <p:spPr>
          <a:xfrm>
            <a:off x="4333186" y="5153535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/>
          <p:cNvSpPr/>
          <p:nvPr/>
        </p:nvSpPr>
        <p:spPr>
          <a:xfrm>
            <a:off x="5230304" y="5544476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45035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while-else and for-else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209256" cy="4886260"/>
          </a:xfrm>
        </p:spPr>
        <p:txBody>
          <a:bodyPr>
            <a:normAutofit fontScale="85000" lnSpcReduction="20000"/>
          </a:bodyPr>
          <a:lstStyle/>
          <a:p>
            <a:r>
              <a:rPr lang="en-US" noProof="0" dirty="0"/>
              <a:t>Both for- and while-loops can have an optional “else”:</a:t>
            </a:r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	for </a:t>
            </a:r>
            <a:r>
              <a:rPr lang="en-US" i="1" noProof="0" dirty="0"/>
              <a:t>variable</a:t>
            </a:r>
            <a:r>
              <a:rPr lang="en-US" noProof="0" dirty="0">
                <a:latin typeface="Courier"/>
              </a:rPr>
              <a:t> in </a:t>
            </a:r>
            <a:r>
              <a:rPr lang="en-US" i="1" noProof="0" dirty="0"/>
              <a:t>sequence</a:t>
            </a:r>
            <a:r>
              <a:rPr lang="en-US" noProof="0" dirty="0">
                <a:latin typeface="Courier"/>
              </a:rPr>
              <a:t>:</a:t>
            </a: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r>
              <a:rPr lang="en-US" noProof="0" dirty="0">
                <a:latin typeface="Courier"/>
              </a:rPr>
              <a:t>    	else:</a:t>
            </a:r>
            <a:r>
              <a:rPr lang="en-US" noProof="0" dirty="0"/>
              <a:t>	</a:t>
            </a: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endParaRPr lang="en-US" noProof="0" dirty="0"/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	while </a:t>
            </a:r>
            <a:r>
              <a:rPr lang="en-US" i="1" noProof="0" dirty="0"/>
              <a:t>condition:</a:t>
            </a:r>
            <a:endParaRPr lang="en-US" noProof="0" dirty="0">
              <a:latin typeface="Courier"/>
            </a:endParaRP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r>
              <a:rPr lang="en-US" noProof="0" dirty="0">
                <a:latin typeface="Courier"/>
              </a:rPr>
              <a:t>    	else:</a:t>
            </a:r>
            <a:r>
              <a:rPr lang="en-US" noProof="0" dirty="0"/>
              <a:t>	</a:t>
            </a: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endParaRPr lang="en-US" noProof="0" dirty="0"/>
          </a:p>
          <a:p>
            <a:r>
              <a:rPr lang="en-US" noProof="0" dirty="0">
                <a:solidFill>
                  <a:srgbClr val="C00000"/>
                </a:solidFill>
              </a:rPr>
              <a:t>The “else” block is only executed if no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break</a:t>
            </a:r>
            <a:r>
              <a:rPr lang="en-US" noProof="0" dirty="0">
                <a:solidFill>
                  <a:srgbClr val="C00000"/>
                </a:solidFill>
              </a:rPr>
              <a:t> is performed in the loop</a:t>
            </a:r>
          </a:p>
          <a:p>
            <a:r>
              <a:rPr lang="en-US" noProof="0" dirty="0"/>
              <a:t>The “else” construction for loops is specific to Python, </a:t>
            </a:r>
            <a:br>
              <a:rPr lang="en-US" noProof="0" dirty="0"/>
            </a:br>
            <a:r>
              <a:rPr lang="en-US" noProof="0" dirty="0"/>
              <a:t>and does not exist in e.g. C, C++ and Java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34" y="5963556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4533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2485"/>
          </a:xfrm>
        </p:spPr>
        <p:txBody>
          <a:bodyPr/>
          <a:lstStyle/>
          <a:p>
            <a:r>
              <a:rPr lang="en-US" noProof="0" dirty="0"/>
              <a:t>Linear search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091887"/>
              </p:ext>
            </p:extLst>
          </p:nvPr>
        </p:nvGraphicFramePr>
        <p:xfrm>
          <a:off x="870690" y="1246015"/>
          <a:ext cx="4793543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35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linear-search-while.py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[7, 3, 6, 4, 12, 'a', 8, 13]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4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= 0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i &lt;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 = i + 1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&gt;=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966295"/>
              </p:ext>
            </p:extLst>
          </p:nvPr>
        </p:nvGraphicFramePr>
        <p:xfrm>
          <a:off x="870690" y="4407864"/>
          <a:ext cx="4793543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35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826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linear-search-while-else.py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1261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= 0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i &lt;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 = i + 1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228132"/>
              </p:ext>
            </p:extLst>
          </p:nvPr>
        </p:nvGraphicFramePr>
        <p:xfrm>
          <a:off x="6025695" y="924866"/>
          <a:ext cx="5328103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10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0479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linear-search-for.py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6923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found = False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found = True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 found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062782"/>
              </p:ext>
            </p:extLst>
          </p:nvPr>
        </p:nvGraphicFramePr>
        <p:xfrm>
          <a:off x="6025696" y="3413125"/>
          <a:ext cx="5328103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10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362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linear-search-for-else.py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9351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62290"/>
              </p:ext>
            </p:extLst>
          </p:nvPr>
        </p:nvGraphicFramePr>
        <p:xfrm>
          <a:off x="6025694" y="5261304"/>
          <a:ext cx="5328104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10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54981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linear-search-builtin.py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5457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'at position',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L.index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'in', L)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541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0" y="2694927"/>
            <a:ext cx="12192000" cy="1325563"/>
          </a:xfrm>
        </p:spPr>
        <p:txBody>
          <a:bodyPr/>
          <a:lstStyle/>
          <a:p>
            <a:pPr algn="ctr"/>
            <a:r>
              <a:rPr lang="en-US" noProof="0" dirty="0"/>
              <a:t>Some performance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20307518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53639"/>
              </p:ext>
            </p:extLst>
          </p:nvPr>
        </p:nvGraphicFramePr>
        <p:xfrm>
          <a:off x="7776431" y="543255"/>
          <a:ext cx="3999230" cy="594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608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304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'A' + 'B' + 'C'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'ABC'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x'.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join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(['A', 'B', 'C'])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AxBxC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'A'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'B'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'C'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'ABC'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('B')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''.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join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'ABC'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4980709" cy="1325563"/>
          </a:xfrm>
        </p:spPr>
        <p:txBody>
          <a:bodyPr/>
          <a:lstStyle/>
          <a:p>
            <a:r>
              <a:rPr lang="en-US" noProof="0" dirty="0"/>
              <a:t>String concatenation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0010" y="1825625"/>
            <a:ext cx="6840187" cy="4886260"/>
          </a:xfrm>
        </p:spPr>
        <p:txBody>
          <a:bodyPr>
            <a:normAutofit/>
          </a:bodyPr>
          <a:lstStyle/>
          <a:p>
            <a:pPr>
              <a:tabLst>
                <a:tab pos="628650" algn="l"/>
              </a:tabLst>
            </a:pPr>
            <a:r>
              <a:rPr lang="en-US" noProof="0" dirty="0"/>
              <a:t>To concatenate two (or few) strings use</a:t>
            </a:r>
          </a:p>
          <a:p>
            <a:pPr marL="0" indent="0">
              <a:spcBef>
                <a:spcPts val="1200"/>
              </a:spcBef>
              <a:spcAft>
                <a:spcPts val="1800"/>
              </a:spcAft>
              <a:buNone/>
              <a:tabLst>
                <a:tab pos="628650" algn="l"/>
              </a:tabLst>
            </a:pPr>
            <a:r>
              <a:rPr lang="en-US" noProof="0" dirty="0"/>
              <a:t>	</a:t>
            </a:r>
            <a:r>
              <a:rPr lang="en-US" i="1" noProof="0" dirty="0"/>
              <a:t>str</a:t>
            </a:r>
            <a:r>
              <a:rPr lang="en-US" baseline="-25000" noProof="0" dirty="0"/>
              <a:t>1</a:t>
            </a:r>
            <a:r>
              <a:rPr lang="en-US" noProof="0" dirty="0">
                <a:latin typeface="Courier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+</a:t>
            </a:r>
            <a:r>
              <a:rPr lang="en-US" noProof="0" dirty="0">
                <a:latin typeface="Courier"/>
              </a:rPr>
              <a:t> </a:t>
            </a:r>
            <a:r>
              <a:rPr lang="en-US" i="1" noProof="0" dirty="0"/>
              <a:t>str</a:t>
            </a:r>
            <a:r>
              <a:rPr lang="en-US" baseline="-25000" noProof="0" dirty="0"/>
              <a:t>2</a:t>
            </a:r>
            <a:br>
              <a:rPr lang="en-US" baseline="-25000" noProof="0" dirty="0"/>
            </a:br>
            <a:r>
              <a:rPr lang="en-US" baseline="-25000" noProof="0" dirty="0"/>
              <a:t>	</a:t>
            </a:r>
            <a:r>
              <a:rPr lang="en-US" i="1" noProof="0" dirty="0"/>
              <a:t>var</a:t>
            </a:r>
            <a:r>
              <a:rPr lang="en-US" noProof="0" dirty="0">
                <a:latin typeface="Courier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+=</a:t>
            </a:r>
            <a:r>
              <a:rPr lang="en-US" noProof="0" dirty="0">
                <a:latin typeface="Courier"/>
              </a:rPr>
              <a:t> </a:t>
            </a:r>
            <a:r>
              <a:rPr lang="en-US" i="1" noProof="0" dirty="0"/>
              <a:t>str</a:t>
            </a:r>
            <a:endParaRPr lang="en-US" noProof="0" dirty="0"/>
          </a:p>
          <a:p>
            <a:pPr>
              <a:tabLst>
                <a:tab pos="628650" algn="l"/>
              </a:tabLst>
            </a:pPr>
            <a:r>
              <a:rPr lang="en-US" noProof="0" dirty="0"/>
              <a:t>To concatenate several/many strings use</a:t>
            </a:r>
          </a:p>
          <a:p>
            <a:pPr marL="0" indent="0">
              <a:spcBef>
                <a:spcPts val="1800"/>
              </a:spcBef>
              <a:spcAft>
                <a:spcPts val="1200"/>
              </a:spcAft>
              <a:buNone/>
              <a:tabLst>
                <a:tab pos="628650" algn="l"/>
              </a:tabLst>
            </a:pPr>
            <a:r>
              <a:rPr lang="en-US" i="1" noProof="0" dirty="0"/>
              <a:t>	</a:t>
            </a:r>
            <a:r>
              <a:rPr lang="en-US" noProof="0" dirty="0">
                <a:latin typeface="Courier"/>
              </a:rPr>
              <a:t>''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.join</a:t>
            </a:r>
            <a:r>
              <a:rPr lang="en-US" noProof="0" dirty="0">
                <a:latin typeface="Courier"/>
              </a:rPr>
              <a:t>([</a:t>
            </a:r>
            <a:r>
              <a:rPr lang="en-US" i="1" noProof="0" dirty="0"/>
              <a:t>str</a:t>
            </a:r>
            <a:r>
              <a:rPr lang="en-US" baseline="-25000" noProof="0" dirty="0"/>
              <a:t>1</a:t>
            </a:r>
            <a:r>
              <a:rPr lang="en-US" noProof="0" dirty="0">
                <a:latin typeface="Courier"/>
              </a:rPr>
              <a:t>,</a:t>
            </a:r>
            <a:r>
              <a:rPr lang="en-US" i="1" noProof="0" dirty="0"/>
              <a:t> str</a:t>
            </a:r>
            <a:r>
              <a:rPr lang="en-US" baseline="-25000" noProof="0" dirty="0"/>
              <a:t>2</a:t>
            </a:r>
            <a:r>
              <a:rPr lang="en-US" noProof="0" dirty="0">
                <a:latin typeface="Courier"/>
              </a:rPr>
              <a:t>,</a:t>
            </a:r>
            <a:r>
              <a:rPr lang="en-US" i="1" noProof="0" dirty="0"/>
              <a:t> str</a:t>
            </a:r>
            <a:r>
              <a:rPr lang="en-US" baseline="-25000" noProof="0" dirty="0"/>
              <a:t>3</a:t>
            </a:r>
            <a:r>
              <a:rPr lang="en-US" noProof="0" dirty="0">
                <a:latin typeface="Courier"/>
              </a:rPr>
              <a:t>,</a:t>
            </a:r>
            <a:r>
              <a:rPr lang="en-US" i="1" noProof="0" dirty="0"/>
              <a:t> ...</a:t>
            </a:r>
            <a:r>
              <a:rPr lang="en-US" noProof="0" dirty="0">
                <a:latin typeface="Courier"/>
              </a:rPr>
              <a:t> ,</a:t>
            </a:r>
            <a:r>
              <a:rPr lang="en-US" i="1" noProof="0" dirty="0"/>
              <a:t> </a:t>
            </a:r>
            <a:r>
              <a:rPr lang="en-US" i="1" noProof="0" dirty="0" err="1"/>
              <a:t>str</a:t>
            </a:r>
            <a:r>
              <a:rPr lang="en-US" baseline="-25000" noProof="0" dirty="0" err="1"/>
              <a:t>n</a:t>
            </a:r>
            <a:r>
              <a:rPr lang="en-US" noProof="0" dirty="0">
                <a:latin typeface="Courier"/>
              </a:rPr>
              <a:t>])</a:t>
            </a:r>
            <a:endParaRPr lang="en-US" noProof="0" dirty="0"/>
          </a:p>
          <a:p>
            <a:pPr>
              <a:tabLst>
                <a:tab pos="628650" algn="l"/>
              </a:tabLst>
            </a:pPr>
            <a:r>
              <a:rPr lang="en-US" noProof="0" dirty="0"/>
              <a:t>Concatenating several strings by repeated use of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+</a:t>
            </a:r>
            <a:r>
              <a:rPr lang="en-US" noProof="0" dirty="0">
                <a:solidFill>
                  <a:srgbClr val="C00000"/>
                </a:solidFill>
              </a:rPr>
              <a:t> generates explicitly the longer-and-longer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C00000"/>
                </a:solidFill>
              </a:rPr>
              <a:t>intermediate results</a:t>
            </a:r>
            <a:r>
              <a:rPr lang="en-US" noProof="0" dirty="0"/>
              <a:t>; using </a:t>
            </a:r>
            <a:r>
              <a:rPr lang="en-US" noProof="0" dirty="0">
                <a:latin typeface="Courier"/>
              </a:rPr>
              <a:t>join</a:t>
            </a:r>
            <a:r>
              <a:rPr lang="en-US" noProof="0" dirty="0"/>
              <a:t> avoids this slowdown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34" y="518417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550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75" y="488076"/>
            <a:ext cx="6524625" cy="6315075"/>
          </a:xfrm>
          <a:prstGeom prst="rect">
            <a:avLst/>
          </a:prstGeom>
          <a:ln w="28575" cap="rnd">
            <a:noFill/>
          </a:ln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276076"/>
              </p:ext>
            </p:extLst>
          </p:nvPr>
        </p:nvGraphicFramePr>
        <p:xfrm>
          <a:off x="6737097" y="488076"/>
          <a:ext cx="5181918" cy="595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819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string-concatenation.py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matplotlib 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range(10_000, 1_000_000, 10_000)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time_string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 in ns: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= ''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range(n):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abcdefgh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slow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time_string.append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substrings = []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range(n):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substrings.append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abcdefgh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');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= ''.join(substrings);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time_list.append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time_string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label='string +=')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label="''.join(list)")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('time')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7002" y="4963886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2∙10</a:t>
            </a:r>
            <a:r>
              <a:rPr lang="en-US" baseline="30000" noProof="0" dirty="0">
                <a:solidFill>
                  <a:srgbClr val="C00000"/>
                </a:solidFill>
              </a:rPr>
              <a:t>-7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5266706" y="5333218"/>
            <a:ext cx="59376" cy="2838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16232" y="2541315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4∙10</a:t>
            </a:r>
            <a:r>
              <a:rPr lang="en-US" baseline="30000" noProof="0" dirty="0">
                <a:solidFill>
                  <a:srgbClr val="C00000"/>
                </a:solidFill>
              </a:rPr>
              <a:t>-12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  <a:r>
              <a:rPr lang="en-US" baseline="30000" noProof="0" dirty="0">
                <a:solidFill>
                  <a:srgbClr val="C00000"/>
                </a:solidFill>
              </a:rPr>
              <a:t>2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4348345" y="2896797"/>
            <a:ext cx="269175" cy="2501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7249" y="2725981"/>
            <a:ext cx="487666" cy="405904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7150308" y="2462135"/>
            <a:ext cx="73023" cy="559744"/>
            <a:chOff x="7150308" y="2462135"/>
            <a:chExt cx="73023" cy="5597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7160411" y="3800104"/>
            <a:ext cx="61898" cy="775463"/>
            <a:chOff x="7150308" y="2462135"/>
            <a:chExt cx="73023" cy="559744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54085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Left Brace 21"/>
          <p:cNvSpPr/>
          <p:nvPr/>
        </p:nvSpPr>
        <p:spPr>
          <a:xfrm rot="5400000" flipH="1">
            <a:off x="6417570" y="3893021"/>
            <a:ext cx="108000" cy="3204000"/>
          </a:xfrm>
          <a:prstGeom prst="leftBrace">
            <a:avLst>
              <a:gd name="adj1" fmla="val 51244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150519"/>
            <a:ext cx="10515600" cy="1325563"/>
          </a:xfrm>
        </p:spPr>
        <p:txBody>
          <a:bodyPr/>
          <a:lstStyle/>
          <a:p>
            <a:r>
              <a:rPr lang="en-US" noProof="0" dirty="0"/>
              <a:t>The internal implementation of Python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1887" y="1402678"/>
            <a:ext cx="11317184" cy="4351338"/>
          </a:xfrm>
        </p:spPr>
        <p:txBody>
          <a:bodyPr>
            <a:normAutofit/>
          </a:bodyPr>
          <a:lstStyle/>
          <a:p>
            <a:r>
              <a:rPr lang="en-US" sz="2400" noProof="0" dirty="0"/>
              <a:t>Accessing and updating list positions take the same time independently of position</a:t>
            </a:r>
          </a:p>
          <a:p>
            <a:r>
              <a:rPr lang="en-US" sz="2400" noProof="0" dirty="0"/>
              <a:t>Creating new / deleting entries in a list depends on position, </a:t>
            </a:r>
            <a:br>
              <a:rPr lang="en-US" sz="2400" noProof="0" dirty="0"/>
            </a:br>
            <a:r>
              <a:rPr lang="en-US" sz="2400" noProof="0" dirty="0"/>
              <a:t>Python optimizes towards updates at the end</a:t>
            </a:r>
          </a:p>
          <a:p>
            <a:r>
              <a:rPr lang="en-US" sz="2400" noProof="0" dirty="0">
                <a:solidFill>
                  <a:srgbClr val="C00000"/>
                </a:solidFill>
              </a:rPr>
              <a:t>Try to organize your usage of lists to insert / delete elements at the end </a:t>
            </a:r>
            <a:r>
              <a:rPr lang="en-US" sz="2400" noProof="0" dirty="0" err="1">
                <a:solidFill>
                  <a:srgbClr val="C00000"/>
                </a:solidFill>
                <a:latin typeface="Courier"/>
              </a:rPr>
              <a:t>L.append</a:t>
            </a: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(</a:t>
            </a:r>
            <a:r>
              <a:rPr lang="en-US" sz="2400" i="1" noProof="0" dirty="0">
                <a:solidFill>
                  <a:srgbClr val="C00000"/>
                </a:solidFill>
              </a:rPr>
              <a:t>element</a:t>
            </a: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)</a:t>
            </a:r>
            <a:r>
              <a:rPr lang="en-US" sz="2400" noProof="0" dirty="0">
                <a:solidFill>
                  <a:srgbClr val="C00000"/>
                </a:solidFill>
              </a:rPr>
              <a:t> and </a:t>
            </a:r>
            <a:r>
              <a:rPr lang="en-US" sz="2400" noProof="0" dirty="0" err="1">
                <a:solidFill>
                  <a:srgbClr val="C00000"/>
                </a:solidFill>
                <a:latin typeface="Courier"/>
              </a:rPr>
              <a:t>L.pop</a:t>
            </a: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()</a:t>
            </a:r>
            <a:endParaRPr lang="en-US" sz="2400" noProof="0" dirty="0">
              <a:solidFill>
                <a:srgbClr val="C00000"/>
              </a:solidFill>
            </a:endParaRPr>
          </a:p>
          <a:p>
            <a:r>
              <a:rPr lang="en-US" sz="2400" noProof="0" dirty="0"/>
              <a:t>Python lists internally have space for adding ≈ 12.5 % additional entries at the end; when the reserved extra space is exhausted the list is moved to a new chunk of memory with ≈ 12.5 % extra space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520568"/>
              </p:ext>
            </p:extLst>
          </p:nvPr>
        </p:nvGraphicFramePr>
        <p:xfrm>
          <a:off x="1294410" y="4985835"/>
          <a:ext cx="1012965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010">
                  <a:extLst>
                    <a:ext uri="{9D8B030D-6E8A-4147-A177-3AD203B41FA5}">
                      <a16:colId xmlns:a16="http://schemas.microsoft.com/office/drawing/2014/main" val="3541261593"/>
                    </a:ext>
                  </a:extLst>
                </a:gridCol>
                <a:gridCol w="4703463">
                  <a:extLst>
                    <a:ext uri="{9D8B030D-6E8A-4147-A177-3AD203B41FA5}">
                      <a16:colId xmlns:a16="http://schemas.microsoft.com/office/drawing/2014/main" val="746399094"/>
                    </a:ext>
                  </a:extLst>
                </a:gridCol>
                <a:gridCol w="1743760">
                  <a:extLst>
                    <a:ext uri="{9D8B030D-6E8A-4147-A177-3AD203B41FA5}">
                      <a16:colId xmlns:a16="http://schemas.microsoft.com/office/drawing/2014/main" val="2733789829"/>
                    </a:ext>
                  </a:extLst>
                </a:gridCol>
                <a:gridCol w="1579419">
                  <a:extLst>
                    <a:ext uri="{9D8B030D-6E8A-4147-A177-3AD203B41FA5}">
                      <a16:colId xmlns:a16="http://schemas.microsoft.com/office/drawing/2014/main" val="2433371149"/>
                    </a:ext>
                  </a:extLst>
                </a:gridCol>
              </a:tblGrid>
              <a:tr h="349113">
                <a:tc>
                  <a:txBody>
                    <a:bodyPr/>
                    <a:lstStyle/>
                    <a:p>
                      <a:pPr algn="ctr"/>
                      <a:endParaRPr lang="en-US" b="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>
                          <a:solidFill>
                            <a:schemeClr val="tx1"/>
                          </a:solidFill>
                          <a:latin typeface="Courier"/>
                        </a:rPr>
                        <a:t>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>
                          <a:solidFill>
                            <a:schemeClr val="tx1"/>
                          </a:solidFill>
                          <a:latin typeface="Courier"/>
                        </a:rPr>
                        <a:t>L</a:t>
                      </a:r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 reserve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18194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0005" y="4982263"/>
            <a:ext cx="1104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/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1725" y="5701138"/>
            <a:ext cx="20871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next cell to be used by </a:t>
            </a:r>
            <a:r>
              <a:rPr lang="en-US" noProof="0" dirty="0" err="1">
                <a:solidFill>
                  <a:srgbClr val="C00000"/>
                </a:solidFill>
                <a:latin typeface="Courier"/>
              </a:rPr>
              <a:t>L.append</a:t>
            </a:r>
            <a:endParaRPr lang="en-US" baseline="30000" noProof="0" dirty="0">
              <a:solidFill>
                <a:srgbClr val="C00000"/>
              </a:solidFill>
              <a:latin typeface="Courier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8168134" y="5351597"/>
            <a:ext cx="1" cy="3667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4250104" y="5364458"/>
            <a:ext cx="599975" cy="3366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55768" y="5701138"/>
            <a:ext cx="4563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>
                <a:solidFill>
                  <a:srgbClr val="C00000"/>
                </a:solidFill>
                <a:latin typeface="Courier"/>
              </a:rPr>
              <a:t>L.insert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(I, 42)</a:t>
            </a:r>
            <a:r>
              <a:rPr lang="en-US" noProof="0" dirty="0">
                <a:solidFill>
                  <a:srgbClr val="C00000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or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L[</a:t>
            </a:r>
            <a:r>
              <a:rPr lang="en-US" noProof="0" dirty="0" err="1">
                <a:solidFill>
                  <a:srgbClr val="C00000"/>
                </a:solidFill>
                <a:latin typeface="Courier"/>
              </a:rPr>
              <a:t>i:i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] = [42]</a:t>
            </a:r>
            <a:r>
              <a:rPr lang="en-US" noProof="0" dirty="0">
                <a:solidFill>
                  <a:srgbClr val="C00000"/>
                </a:solidFill>
              </a:rPr>
              <a:t> will move all trailing cells one position to  right</a:t>
            </a:r>
            <a:endParaRPr lang="en-US" baseline="30000" noProof="0" dirty="0">
              <a:solidFill>
                <a:srgbClr val="C00000"/>
              </a:solidFill>
              <a:latin typeface="Courie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70424" y="4540220"/>
            <a:ext cx="186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Courie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9371" y="4540220"/>
            <a:ext cx="186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Courier"/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8280" y="4540220"/>
            <a:ext cx="1819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 err="1">
                <a:latin typeface="Courier"/>
              </a:rPr>
              <a:t>len</a:t>
            </a:r>
            <a:r>
              <a:rPr lang="en-US" noProof="0" dirty="0">
                <a:latin typeface="Courier"/>
              </a:rPr>
              <a:t>(L) - 1</a:t>
            </a:r>
          </a:p>
        </p:txBody>
      </p:sp>
      <p:grpSp>
        <p:nvGrpSpPr>
          <p:cNvPr id="23" name="Group 22"/>
          <p:cNvGrpSpPr/>
          <p:nvPr/>
        </p:nvGrpSpPr>
        <p:grpSpPr>
          <a:xfrm flipV="1">
            <a:off x="3456878" y="4825190"/>
            <a:ext cx="4549563" cy="161182"/>
            <a:chOff x="3456878" y="5583937"/>
            <a:chExt cx="4549563" cy="144000"/>
          </a:xfrm>
        </p:grpSpPr>
        <p:cxnSp>
          <p:nvCxnSpPr>
            <p:cNvPr id="18" name="Straight Arrow Connector 17"/>
            <p:cNvCxnSpPr/>
            <p:nvPr/>
          </p:nvCxnSpPr>
          <p:spPr>
            <a:xfrm flipV="1">
              <a:off x="8006440" y="5583937"/>
              <a:ext cx="1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3456878" y="5583937"/>
              <a:ext cx="1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4946248" y="5583937"/>
              <a:ext cx="1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/>
          <p:cNvSpPr/>
          <p:nvPr/>
        </p:nvSpPr>
        <p:spPr>
          <a:xfrm>
            <a:off x="4893919" y="5038050"/>
            <a:ext cx="133756" cy="260875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5717342" y="5471095"/>
            <a:ext cx="1434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move right</a:t>
            </a:r>
            <a:endParaRPr lang="en-US" baseline="30000" noProof="0" dirty="0">
              <a:solidFill>
                <a:srgbClr val="C00000"/>
              </a:solidFill>
              <a:latin typeface="Courier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87615" y="6489079"/>
            <a:ext cx="76043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github.com/python/</a:t>
            </a:r>
            <a:r>
              <a:rPr lang="en-US" noProof="0" dirty="0" err="1">
                <a:hlinkClick r:id="rId3"/>
              </a:rPr>
              <a:t>cpython</a:t>
            </a:r>
            <a:r>
              <a:rPr lang="en-US" noProof="0" dirty="0">
                <a:hlinkClick r:id="rId3"/>
              </a:rPr>
              <a:t>/blob/master/Objects/</a:t>
            </a:r>
            <a:r>
              <a:rPr lang="en-US" noProof="0" dirty="0" err="1">
                <a:hlinkClick r:id="rId3"/>
              </a:rPr>
              <a:t>listobject.c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00466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5" y="1051034"/>
            <a:ext cx="7576466" cy="565100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767809"/>
              </p:ext>
            </p:extLst>
          </p:nvPr>
        </p:nvGraphicFramePr>
        <p:xfrm>
          <a:off x="7984005" y="179319"/>
          <a:ext cx="4050030" cy="652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0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list-insertions.py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matplotlib 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range(1000, 100_000, 1000)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time_front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 in ns: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L[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i:i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[i]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after list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time_end.append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append</a:t>
                      </a:r>
                      <a:r>
                        <a:rPr lang="en-US" sz="12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to list</a:t>
                      </a:r>
                      <a:endParaRPr lang="en-US" sz="12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time_append.append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L[0:0] = [i]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at front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time_front.append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time_front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label='front')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label='append')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label='end')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('time')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95696" y="179319"/>
            <a:ext cx="6595753" cy="685909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List insertions at front vs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70184" y="5169664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2∙10</a:t>
            </a:r>
            <a:r>
              <a:rPr lang="en-US" baseline="30000" noProof="0" dirty="0">
                <a:solidFill>
                  <a:srgbClr val="C00000"/>
                </a:solidFill>
              </a:rPr>
              <a:t>-7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6240483" y="5499473"/>
            <a:ext cx="59376" cy="2838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857007" y="5042274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3∙10</a:t>
            </a:r>
            <a:r>
              <a:rPr lang="en-US" baseline="30000" noProof="0" dirty="0">
                <a:solidFill>
                  <a:srgbClr val="C00000"/>
                </a:solidFill>
              </a:rPr>
              <a:t>-7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5456711" y="5411606"/>
            <a:ext cx="59376" cy="2838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857007" y="1757543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7∙10</a:t>
            </a:r>
            <a:r>
              <a:rPr lang="en-US" baseline="30000" noProof="0" dirty="0">
                <a:solidFill>
                  <a:srgbClr val="C00000"/>
                </a:solidFill>
              </a:rPr>
              <a:t>-10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  <a:r>
              <a:rPr lang="en-US" baseline="30000" noProof="0" dirty="0">
                <a:solidFill>
                  <a:srgbClr val="C00000"/>
                </a:solidFill>
              </a:rPr>
              <a:t>2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5989120" y="2113025"/>
            <a:ext cx="269175" cy="2501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8709" y="4624495"/>
            <a:ext cx="487666" cy="405904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8277460" y="4422732"/>
            <a:ext cx="73023" cy="504000"/>
            <a:chOff x="7150308" y="2462135"/>
            <a:chExt cx="73023" cy="559744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8252941" y="3241963"/>
            <a:ext cx="61898" cy="540000"/>
            <a:chOff x="7150308" y="2462135"/>
            <a:chExt cx="73023" cy="559744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8253374" y="2087676"/>
            <a:ext cx="61898" cy="540000"/>
            <a:chOff x="7150308" y="2462135"/>
            <a:chExt cx="73023" cy="559744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37895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228" y="1306955"/>
            <a:ext cx="5762469" cy="55387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715530"/>
          </a:xfrm>
        </p:spPr>
        <p:txBody>
          <a:bodyPr>
            <a:normAutofit/>
          </a:bodyPr>
          <a:lstStyle/>
          <a:p>
            <a:pPr algn="ctr"/>
            <a:r>
              <a:rPr lang="en-US" noProof="0" dirty="0"/>
              <a:t>Updates (insertions + deletions) in the middle of a list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919493"/>
              </p:ext>
            </p:extLst>
          </p:nvPr>
        </p:nvGraphicFramePr>
        <p:xfrm>
          <a:off x="6281938" y="1790932"/>
          <a:ext cx="5713730" cy="423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3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list-updates.py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matplotlib 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range(0, 1_000_001, 10_000)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time_pos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list(range(1_000_000))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 = [0,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..., 999_999]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ns: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range(1000):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L[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i:i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[42]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element before L[i]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 L[i]     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remove L[i] from L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time_pos.append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time_pos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('position')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('time')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5688" y="4078235"/>
            <a:ext cx="487666" cy="4059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2023" y="3753164"/>
            <a:ext cx="156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updates at front of list</a:t>
            </a:r>
            <a:endParaRPr lang="en-US" baseline="30000" noProof="0" dirty="0">
              <a:solidFill>
                <a:srgbClr val="C00000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5320145" y="4667003"/>
            <a:ext cx="239483" cy="136064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388904" y="3945031"/>
            <a:ext cx="156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updates at end of list</a:t>
            </a:r>
            <a:endParaRPr lang="en-US" baseline="30000" noProof="0" dirty="0">
              <a:solidFill>
                <a:srgbClr val="C00000"/>
              </a:solidFill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985652" y="1813311"/>
            <a:ext cx="324592" cy="190187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73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20401</TotalTime>
  <Words>4121</Words>
  <Application>Microsoft Office PowerPoint</Application>
  <PresentationFormat>Widescreen</PresentationFormat>
  <Paragraphs>616</Paragraphs>
  <Slides>30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Calibri Light</vt:lpstr>
      <vt:lpstr>Courier</vt:lpstr>
      <vt:lpstr>Courier New</vt:lpstr>
      <vt:lpstr>Wingdings</vt:lpstr>
      <vt:lpstr>Office Theme</vt:lpstr>
      <vt:lpstr>Lists</vt:lpstr>
      <vt:lpstr>List operations</vt:lpstr>
      <vt:lpstr>sum(…)</vt:lpstr>
      <vt:lpstr>List modifiers (lists are mutable)</vt:lpstr>
      <vt:lpstr>Questions – What is x ?</vt:lpstr>
      <vt:lpstr>Questions – What is y ?</vt:lpstr>
      <vt:lpstr>Nested lists (multi-dimensional lists)</vt:lpstr>
      <vt:lpstr>aliasing</vt:lpstr>
      <vt:lpstr>y = x  vs  y = x[:]</vt:lpstr>
      <vt:lpstr>x[:] vs nested structures</vt:lpstr>
      <vt:lpstr>Question – what is c ?</vt:lpstr>
      <vt:lpstr>copy.deepcopy</vt:lpstr>
      <vt:lpstr>Initializing a 2-dimensional list</vt:lpstr>
      <vt:lpstr>range(from, to, step)</vt:lpstr>
      <vt:lpstr>Question – What is range(3,20,4)[2:4][1] ?</vt:lpstr>
      <vt:lpstr>for - loop</vt:lpstr>
      <vt:lpstr>Question – What is printed ?</vt:lpstr>
      <vt:lpstr>Question – break, what is printed ?</vt:lpstr>
      <vt:lpstr>PowerPoint Presentation</vt:lpstr>
      <vt:lpstr>PowerPoint Presentation</vt:lpstr>
      <vt:lpstr>Palindromic substrings</vt:lpstr>
      <vt:lpstr>Sieve of Eratosthenes</vt:lpstr>
      <vt:lpstr>while-else and for-else loops</vt:lpstr>
      <vt:lpstr>Linear search</vt:lpstr>
      <vt:lpstr>Some performance considerations</vt:lpstr>
      <vt:lpstr>String concatenation</vt:lpstr>
      <vt:lpstr>PowerPoint Presentation</vt:lpstr>
      <vt:lpstr>The internal implementation of Python lists</vt:lpstr>
      <vt:lpstr>List insertions at front vs end</vt:lpstr>
      <vt:lpstr>Updates (insertions + deletions) in the middle of a list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668</cp:revision>
  <dcterms:created xsi:type="dcterms:W3CDTF">2017-10-19T06:54:16Z</dcterms:created>
  <dcterms:modified xsi:type="dcterms:W3CDTF">2026-02-09T06:39:12Z</dcterms:modified>
</cp:coreProperties>
</file>