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480" r:id="rId2"/>
    <p:sldId id="752" r:id="rId3"/>
    <p:sldId id="739" r:id="rId4"/>
    <p:sldId id="747" r:id="rId5"/>
    <p:sldId id="749" r:id="rId6"/>
    <p:sldId id="750" r:id="rId7"/>
    <p:sldId id="751" r:id="rId8"/>
    <p:sldId id="753" r:id="rId9"/>
    <p:sldId id="775" r:id="rId10"/>
    <p:sldId id="767" r:id="rId11"/>
    <p:sldId id="754" r:id="rId12"/>
    <p:sldId id="755" r:id="rId13"/>
    <p:sldId id="756" r:id="rId14"/>
    <p:sldId id="762" r:id="rId15"/>
    <p:sldId id="757" r:id="rId16"/>
    <p:sldId id="763" r:id="rId17"/>
    <p:sldId id="768" r:id="rId18"/>
    <p:sldId id="776" r:id="rId19"/>
    <p:sldId id="778" r:id="rId20"/>
    <p:sldId id="764" r:id="rId21"/>
    <p:sldId id="765" r:id="rId22"/>
    <p:sldId id="769" r:id="rId23"/>
    <p:sldId id="758" r:id="rId24"/>
    <p:sldId id="771" r:id="rId25"/>
    <p:sldId id="770" r:id="rId26"/>
    <p:sldId id="774" r:id="rId27"/>
    <p:sldId id="773" r:id="rId28"/>
    <p:sldId id="740" r:id="rId29"/>
    <p:sldId id="761" r:id="rId30"/>
    <p:sldId id="741" r:id="rId31"/>
    <p:sldId id="742" r:id="rId32"/>
    <p:sldId id="766" r:id="rId33"/>
    <p:sldId id="760" r:id="rId34"/>
    <p:sldId id="759" r:id="rId3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7A7"/>
    <a:srgbClr val="0000FF"/>
    <a:srgbClr val="000000"/>
    <a:srgbClr val="FFF2CC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5881C4-EB8C-4DCB-8276-B4BA8DC8785F}" v="142" dt="2026-03-25T08:19:54.1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85" autoAdjust="0"/>
    <p:restoredTop sz="72359" autoAdjust="0"/>
  </p:normalViewPr>
  <p:slideViewPr>
    <p:cSldViewPr snapToGrid="0">
      <p:cViewPr varScale="1">
        <p:scale>
          <a:sx n="52" d="100"/>
          <a:sy n="52" d="100"/>
        </p:scale>
        <p:origin x="768" y="52"/>
      </p:cViewPr>
      <p:guideLst/>
    </p:cSldViewPr>
  </p:slideViewPr>
  <p:outlineViewPr>
    <p:cViewPr>
      <p:scale>
        <a:sx n="33" d="100"/>
        <a:sy n="33" d="100"/>
      </p:scale>
      <p:origin x="0" y="-533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redo custSel addSld delSld modSld sldOrd">
      <pc:chgData name="Gerth Stølting Brodal" userId="04ef4784-6591-4f86-a140-f5c3b108582a" providerId="ADAL" clId="{73BAC7D6-516A-44B5-B4B0-C7B08CA8B392}" dt="2026-03-25T10:53:36.820" v="2747" actId="20577"/>
      <pc:docMkLst>
        <pc:docMk/>
      </pc:docMkLst>
      <pc:sldChg chg="addSp delSp 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3261549899" sldId="480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261549899" sldId="48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261549899" sldId="480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261549899" sldId="480"/>
            <ac:spMk id="4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1023447693" sldId="739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023447693" sldId="73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023447693" sldId="739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023447693" sldId="739"/>
            <ac:spMk id="5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3157069365" sldId="740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157069365" sldId="74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157069365" sldId="740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157069365" sldId="740"/>
            <ac:spMk id="4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2195625844" sldId="742"/>
        </pc:sldMkLst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2195625844" sldId="742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5T07:36:27.787" v="2336" actId="114"/>
        <pc:sldMkLst>
          <pc:docMk/>
          <pc:sldMk cId="2718814100" sldId="747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18814100" sldId="74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18814100" sldId="747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18814100" sldId="747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18814100" sldId="747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18814100" sldId="747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18814100" sldId="747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18814100" sldId="747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18814100" sldId="747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18814100" sldId="747"/>
            <ac:spMk id="1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5T07:36:27.787" v="2336" actId="114"/>
          <ac:spMkLst>
            <pc:docMk/>
            <pc:sldMk cId="2718814100" sldId="747"/>
            <ac:spMk id="16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4197135765" sldId="749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197135765" sldId="74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197135765" sldId="749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4197135765" sldId="749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4197135765" sldId="749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25T07:46:20.967" v="2512" actId="20577"/>
        <pc:sldMkLst>
          <pc:docMk/>
          <pc:sldMk cId="2568917734" sldId="750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568917734" sldId="750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2568917734" sldId="750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25T07:53:39.278" v="2541" actId="20577"/>
        <pc:sldMkLst>
          <pc:docMk/>
          <pc:sldMk cId="1557432263" sldId="751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557432263" sldId="75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557432263" sldId="751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557432263" sldId="751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557432263" sldId="751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557432263" sldId="751"/>
            <ac:spMk id="11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1557432263" sldId="751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25T07:30:50.510" v="2335" actId="20577"/>
        <pc:sldMkLst>
          <pc:docMk/>
          <pc:sldMk cId="730150201" sldId="752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730150201" sldId="752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730150201" sldId="752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730150201" sldId="752"/>
            <ac:spMk id="8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25T08:08:10.014" v="2561" actId="20577"/>
        <pc:sldMkLst>
          <pc:docMk/>
          <pc:sldMk cId="4115646034" sldId="753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115646034" sldId="75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115646034" sldId="753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5T08:08:10.014" v="2561" actId="20577"/>
          <ac:spMkLst>
            <pc:docMk/>
            <pc:sldMk cId="4115646034" sldId="753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115646034" sldId="753"/>
            <ac:spMk id="9" creationId="{CF633ABE-04BB-BEA3-2AB1-AB1DF2823887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4115646034" sldId="753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822157407" sldId="754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822157407" sldId="754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822157407" sldId="754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5T08:12:36.249" v="2582" actId="115"/>
        <pc:sldMkLst>
          <pc:docMk/>
          <pc:sldMk cId="2510596143" sldId="755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510596143" sldId="75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510596143" sldId="755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5T08:12:36.249" v="2582" actId="115"/>
          <ac:graphicFrameMkLst>
            <pc:docMk/>
            <pc:sldMk cId="2510596143" sldId="755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25T08:18:06.681" v="2735" actId="1076"/>
        <pc:sldMkLst>
          <pc:docMk/>
          <pc:sldMk cId="1297860505" sldId="756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297860505" sldId="756"/>
            <ac:spMk id="2" creationId="{00000000-0000-0000-0000-000000000000}"/>
          </ac:spMkLst>
        </pc:spChg>
        <pc:graphicFrameChg chg="mod modGraphic">
          <ac:chgData name="Gerth Stølting Brodal" userId="04ef4784-6591-4f86-a140-f5c3b108582a" providerId="ADAL" clId="{73BAC7D6-516A-44B5-B4B0-C7B08CA8B392}" dt="2026-03-25T08:18:06.681" v="2735" actId="1076"/>
          <ac:graphicFrameMkLst>
            <pc:docMk/>
            <pc:sldMk cId="1297860505" sldId="756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5T08:19:55.466" v="2741" actId="20577"/>
        <pc:sldMkLst>
          <pc:docMk/>
          <pc:sldMk cId="601737075" sldId="757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601737075" sldId="757"/>
            <ac:spMk id="2" creationId="{00000000-0000-0000-0000-000000000000}"/>
          </ac:spMkLst>
        </pc:spChg>
        <pc:graphicFrameChg chg="mod modGraphic">
          <ac:chgData name="Gerth Stølting Brodal" userId="04ef4784-6591-4f86-a140-f5c3b108582a" providerId="ADAL" clId="{73BAC7D6-516A-44B5-B4B0-C7B08CA8B392}" dt="2026-03-25T08:19:55.466" v="2741" actId="20577"/>
          <ac:graphicFrameMkLst>
            <pc:docMk/>
            <pc:sldMk cId="601737075" sldId="757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1886750958" sldId="758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886750958" sldId="75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886750958" sldId="758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886750958" sldId="758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886750958" sldId="758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1886750958" sldId="758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873157440" sldId="759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873157440" sldId="759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873157440" sldId="759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2585011423" sldId="761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585011423" sldId="761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2585011423" sldId="761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3620329826" sldId="762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620329826" sldId="762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3620329826" sldId="762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3620329826" sldId="762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2008844095" sldId="763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008844095" sldId="76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008844095" sldId="763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008844095" sldId="763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2008844095" sldId="763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2852865839" sldId="764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852865839" sldId="764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2852865839" sldId="764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3-25T07:24:11.412" v="2285" actId="6549"/>
        <pc:sldMkLst>
          <pc:docMk/>
          <pc:sldMk cId="3517907610" sldId="765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517907610" sldId="76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517907610" sldId="765"/>
            <ac:spMk id="8" creationId="{F7466382-8AC1-0451-54AF-8938A0E11DE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3517907610" sldId="765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1333584684" sldId="766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333584684" sldId="76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333584684" sldId="766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1333584684" sldId="766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5T08:07:52.278" v="2553" actId="20577"/>
        <pc:sldMkLst>
          <pc:docMk/>
          <pc:sldMk cId="12591899" sldId="767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2591899" sldId="76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2591899" sldId="767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5T08:07:52.278" v="2553" actId="20577"/>
          <ac:spMkLst>
            <pc:docMk/>
            <pc:sldMk cId="12591899" sldId="767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2591899" sldId="767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2591899" sldId="767"/>
            <ac:spMk id="11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12591899" sldId="767"/>
            <ac:graphicFrameMk id="4" creationId="{00000000-0000-0000-0000-000000000000}"/>
          </ac:graphicFrameMkLst>
        </pc:graphicFrameChg>
      </pc:sldChg>
      <pc:sldChg chg="modSp mod ord modNotesTx">
        <pc:chgData name="Gerth Stølting Brodal" userId="04ef4784-6591-4f86-a140-f5c3b108582a" providerId="ADAL" clId="{73BAC7D6-516A-44B5-B4B0-C7B08CA8B392}" dt="2026-03-23T16:06:38.710" v="1765"/>
        <pc:sldMkLst>
          <pc:docMk/>
          <pc:sldMk cId="4225977506" sldId="768"/>
        </pc:sldMkLst>
        <pc:spChg chg="mod">
          <ac:chgData name="Gerth Stølting Brodal" userId="04ef4784-6591-4f86-a140-f5c3b108582a" providerId="ADAL" clId="{73BAC7D6-516A-44B5-B4B0-C7B08CA8B392}" dt="2026-03-23T16:06:04.601" v="1763" actId="1037"/>
          <ac:spMkLst>
            <pc:docMk/>
            <pc:sldMk cId="4225977506" sldId="76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6:06:04.601" v="1763" actId="1037"/>
          <ac:spMkLst>
            <pc:docMk/>
            <pc:sldMk cId="4225977506" sldId="768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4225977506" sldId="768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3441406672" sldId="769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441406672" sldId="769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441406672" sldId="769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441406672" sldId="769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441406672" sldId="769"/>
            <ac:spMk id="14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3441406672" sldId="769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3441406672" sldId="769"/>
            <ac:graphicFrameMk id="9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386054163" sldId="770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86054163" sldId="77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86054163" sldId="770"/>
            <ac:spMk id="34" creationId="{83DC6ACF-8886-48DF-8791-5A52B074A78F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86054163" sldId="770"/>
            <ac:spMk id="35" creationId="{216172EA-9872-4357-9E2D-1677FB93A20F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86054163" sldId="770"/>
            <ac:spMk id="49" creationId="{27CFA618-9750-4DBB-B843-DB91CF5BB07C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386054163" sldId="770"/>
            <ac:spMk id="52" creationId="{B89159AD-BC7A-4565-B1DF-EC3885C162D4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386054163" sldId="770"/>
            <ac:graphicFrameMk id="8" creationId="{FEFCB115-AB53-4C2D-B305-0CACDAB2540B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4024228852" sldId="771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024228852" sldId="771"/>
            <ac:spMk id="19" creationId="{622EA022-1CB2-48D6-A091-13AE8B9BE8CE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024228852" sldId="771"/>
            <ac:spMk id="20" creationId="{7CC83A41-B101-4912-8A15-B39BFBBACE41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024228852" sldId="771"/>
            <ac:spMk id="22" creationId="{A05C0497-E63F-4CA0-9A70-39A8612D7A87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024228852" sldId="771"/>
            <ac:spMk id="27" creationId="{BDF744DC-8081-44A1-8ECF-C5E24038A569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024228852" sldId="771"/>
            <ac:spMk id="30" creationId="{C6C7587D-22CD-4B73-8818-3571DB00469F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024228852" sldId="771"/>
            <ac:spMk id="39" creationId="{20D27FBC-4B6C-4909-85EB-9386F4214E9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024228852" sldId="771"/>
            <ac:spMk id="42" creationId="{133A5FBE-7E17-4BD9-9B8F-EA205318AC3F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024228852" sldId="771"/>
            <ac:spMk id="43" creationId="{C4DB3934-741C-4710-BF6E-75E4B3DDF048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024228852" sldId="771"/>
            <ac:spMk id="44" creationId="{DA448C31-9763-4E25-9C26-8D17F393ED43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4024228852" sldId="771"/>
            <ac:spMk id="49" creationId="{27CFA618-9750-4DBB-B843-DB91CF5BB07C}"/>
          </ac:spMkLst>
        </pc:sp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3124323286" sldId="773"/>
        </pc:sldMkLst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3124323286" sldId="773"/>
            <ac:graphicFrameMk id="6" creationId="{EDC7C7C2-12C3-4BDC-AE0E-CA8F02A3F0DD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3T15:20:23.089" v="668" actId="790"/>
        <pc:sldMkLst>
          <pc:docMk/>
          <pc:sldMk cId="2720162074" sldId="774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20162074" sldId="77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20162074" sldId="774"/>
            <ac:spMk id="13" creationId="{2DD0BB4C-CFE0-4F02-A4A7-44471E97919F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20162074" sldId="774"/>
            <ac:spMk id="34" creationId="{83DC6ACF-8886-48DF-8791-5A52B074A78F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20162074" sldId="774"/>
            <ac:spMk id="35" creationId="{216172EA-9872-4357-9E2D-1677FB93A20F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20162074" sldId="774"/>
            <ac:spMk id="49" creationId="{27CFA618-9750-4DBB-B843-DB91CF5BB07C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2720162074" sldId="774"/>
            <ac:spMk id="52" creationId="{B89159AD-BC7A-4565-B1DF-EC3885C162D4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2720162074" sldId="774"/>
            <ac:graphicFrameMk id="8" creationId="{FEFCB115-AB53-4C2D-B305-0CACDAB2540B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3-25T08:08:29.471" v="2571" actId="20577"/>
        <pc:sldMkLst>
          <pc:docMk/>
          <pc:sldMk cId="1808197162" sldId="775"/>
        </pc:sldMkLst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808197162" sldId="77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5T08:08:29.471" v="2571" actId="20577"/>
          <ac:spMkLst>
            <pc:docMk/>
            <pc:sldMk cId="1808197162" sldId="775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3T15:20:23.089" v="668" actId="790"/>
          <ac:spMkLst>
            <pc:docMk/>
            <pc:sldMk cId="1808197162" sldId="775"/>
            <ac:spMk id="10" creationId="{40C16040-C9A5-A366-CE73-A03CC8D4C027}"/>
          </ac:spMkLst>
        </pc:spChg>
        <pc:graphicFrameChg chg="modGraphic">
          <ac:chgData name="Gerth Stølting Brodal" userId="04ef4784-6591-4f86-a140-f5c3b108582a" providerId="ADAL" clId="{73BAC7D6-516A-44B5-B4B0-C7B08CA8B392}" dt="2026-03-23T15:20:23.089" v="668" actId="790"/>
          <ac:graphicFrameMkLst>
            <pc:docMk/>
            <pc:sldMk cId="1808197162" sldId="775"/>
            <ac:graphicFrameMk id="4" creationId="{00000000-0000-0000-0000-000000000000}"/>
          </ac:graphicFrameMkLst>
        </pc:graphicFrameChg>
      </pc:sldChg>
      <pc:sldChg chg="addSp delSp modSp add mod ord setBg modNotesTx">
        <pc:chgData name="Gerth Stølting Brodal" userId="04ef4784-6591-4f86-a140-f5c3b108582a" providerId="ADAL" clId="{73BAC7D6-516A-44B5-B4B0-C7B08CA8B392}" dt="2026-03-24T09:04:16.424" v="1782"/>
        <pc:sldMkLst>
          <pc:docMk/>
          <pc:sldMk cId="3404283032" sldId="776"/>
        </pc:sldMkLst>
        <pc:spChg chg="mod">
          <ac:chgData name="Gerth Stølting Brodal" userId="04ef4784-6591-4f86-a140-f5c3b108582a" providerId="ADAL" clId="{73BAC7D6-516A-44B5-B4B0-C7B08CA8B392}" dt="2026-03-23T15:36:13.221" v="1301" actId="2711"/>
          <ac:spMkLst>
            <pc:docMk/>
            <pc:sldMk cId="3404283032" sldId="776"/>
            <ac:spMk id="2" creationId="{D37D65B0-8778-D37B-362F-1D2D735C6CFC}"/>
          </ac:spMkLst>
        </pc:spChg>
        <pc:spChg chg="add mod">
          <ac:chgData name="Gerth Stølting Brodal" userId="04ef4784-6591-4f86-a140-f5c3b108582a" providerId="ADAL" clId="{73BAC7D6-516A-44B5-B4B0-C7B08CA8B392}" dt="2026-03-23T15:49:04.240" v="1686" actId="27636"/>
          <ac:spMkLst>
            <pc:docMk/>
            <pc:sldMk cId="3404283032" sldId="776"/>
            <ac:spMk id="15" creationId="{AE536259-9A77-51D4-8E62-B800C0C88DF4}"/>
          </ac:spMkLst>
        </pc:spChg>
        <pc:spChg chg="add mod">
          <ac:chgData name="Gerth Stølting Brodal" userId="04ef4784-6591-4f86-a140-f5c3b108582a" providerId="ADAL" clId="{73BAC7D6-516A-44B5-B4B0-C7B08CA8B392}" dt="2026-03-23T15:41:47.826" v="1381" actId="1036"/>
          <ac:spMkLst>
            <pc:docMk/>
            <pc:sldMk cId="3404283032" sldId="776"/>
            <ac:spMk id="19" creationId="{2027067D-FF74-F589-0401-9509129ED86D}"/>
          </ac:spMkLst>
        </pc:spChg>
        <pc:graphicFrameChg chg="add mod">
          <ac:chgData name="Gerth Stølting Brodal" userId="04ef4784-6591-4f86-a140-f5c3b108582a" providerId="ADAL" clId="{73BAC7D6-516A-44B5-B4B0-C7B08CA8B392}" dt="2026-03-24T09:04:16.424" v="1782"/>
          <ac:graphicFrameMkLst>
            <pc:docMk/>
            <pc:sldMk cId="3404283032" sldId="776"/>
            <ac:graphicFrameMk id="3" creationId="{292A4C29-D86D-269C-B4A9-F07B5F2B4D85}"/>
          </ac:graphicFrameMkLst>
        </pc:graphicFrameChg>
        <pc:graphicFrameChg chg="mod ord modGraphic">
          <ac:chgData name="Gerth Stølting Brodal" userId="04ef4784-6591-4f86-a140-f5c3b108582a" providerId="ADAL" clId="{73BAC7D6-516A-44B5-B4B0-C7B08CA8B392}" dt="2026-03-24T09:03:56.518" v="1780" actId="20577"/>
          <ac:graphicFrameMkLst>
            <pc:docMk/>
            <pc:sldMk cId="3404283032" sldId="776"/>
            <ac:graphicFrameMk id="4" creationId="{11B5722F-C402-7CA6-C220-2273C2BEB170}"/>
          </ac:graphicFrameMkLst>
        </pc:graphicFrameChg>
        <pc:graphicFrameChg chg="add mod modGraphic">
          <ac:chgData name="Gerth Stølting Brodal" userId="04ef4784-6591-4f86-a140-f5c3b108582a" providerId="ADAL" clId="{73BAC7D6-516A-44B5-B4B0-C7B08CA8B392}" dt="2026-03-23T16:01:12.940" v="1743" actId="20577"/>
          <ac:graphicFrameMkLst>
            <pc:docMk/>
            <pc:sldMk cId="3404283032" sldId="776"/>
            <ac:graphicFrameMk id="10" creationId="{58F7BF85-04BD-D6B1-A6C2-8EAC675E5C24}"/>
          </ac:graphicFrameMkLst>
        </pc:graphicFrameChg>
        <pc:picChg chg="add mod">
          <ac:chgData name="Gerth Stølting Brodal" userId="04ef4784-6591-4f86-a140-f5c3b108582a" providerId="ADAL" clId="{73BAC7D6-516A-44B5-B4B0-C7B08CA8B392}" dt="2026-03-23T14:42:39.488" v="105" actId="1076"/>
          <ac:picMkLst>
            <pc:docMk/>
            <pc:sldMk cId="3404283032" sldId="776"/>
            <ac:picMk id="7" creationId="{9E934EC1-5380-312B-2DCB-3D99DD660365}"/>
          </ac:picMkLst>
        </pc:picChg>
        <pc:picChg chg="add mod">
          <ac:chgData name="Gerth Stølting Brodal" userId="04ef4784-6591-4f86-a140-f5c3b108582a" providerId="ADAL" clId="{73BAC7D6-516A-44B5-B4B0-C7B08CA8B392}" dt="2026-03-23T15:36:42.746" v="1303" actId="1076"/>
          <ac:picMkLst>
            <pc:docMk/>
            <pc:sldMk cId="3404283032" sldId="776"/>
            <ac:picMk id="17" creationId="{84F35FA3-59B8-D751-83E5-A1D743C09A8E}"/>
          </ac:picMkLst>
        </pc:picChg>
      </pc:sldChg>
      <pc:sldChg chg="addSp delSp modSp add del mod setBg">
        <pc:chgData name="Gerth Stølting Brodal" userId="04ef4784-6591-4f86-a140-f5c3b108582a" providerId="ADAL" clId="{73BAC7D6-516A-44B5-B4B0-C7B08CA8B392}" dt="2026-03-24T09:23:15.582" v="1966" actId="47"/>
        <pc:sldMkLst>
          <pc:docMk/>
          <pc:sldMk cId="638878041" sldId="777"/>
        </pc:sldMkLst>
        <pc:spChg chg="add del">
          <ac:chgData name="Gerth Stølting Brodal" userId="04ef4784-6591-4f86-a140-f5c3b108582a" providerId="ADAL" clId="{73BAC7D6-516A-44B5-B4B0-C7B08CA8B392}" dt="2026-03-24T09:15:32.722" v="1896" actId="22"/>
          <ac:spMkLst>
            <pc:docMk/>
            <pc:sldMk cId="638878041" sldId="777"/>
            <ac:spMk id="5" creationId="{54FA25E2-6A14-A6E5-BEEC-CB4F98FF5A0B}"/>
          </ac:spMkLst>
        </pc:spChg>
        <pc:graphicFrameChg chg="mod modGraphic">
          <ac:chgData name="Gerth Stølting Brodal" userId="04ef4784-6591-4f86-a140-f5c3b108582a" providerId="ADAL" clId="{73BAC7D6-516A-44B5-B4B0-C7B08CA8B392}" dt="2026-03-24T09:15:00.200" v="1894" actId="14100"/>
          <ac:graphicFrameMkLst>
            <pc:docMk/>
            <pc:sldMk cId="638878041" sldId="777"/>
            <ac:graphicFrameMk id="4" creationId="{6BDE6A3A-54D3-6000-EBE4-54DD7A650BC1}"/>
          </ac:graphicFrameMkLst>
        </pc:graphicFrameChg>
        <pc:graphicFrameChg chg="del">
          <ac:chgData name="Gerth Stølting Brodal" userId="04ef4784-6591-4f86-a140-f5c3b108582a" providerId="ADAL" clId="{73BAC7D6-516A-44B5-B4B0-C7B08CA8B392}" dt="2026-03-24T09:14:04.724" v="1871" actId="478"/>
          <ac:graphicFrameMkLst>
            <pc:docMk/>
            <pc:sldMk cId="638878041" sldId="777"/>
            <ac:graphicFrameMk id="10" creationId="{F81D8B9E-DADA-23A6-73B1-2DF29ABDF435}"/>
          </ac:graphicFrameMkLst>
        </pc:graphicFrameChg>
        <pc:picChg chg="del">
          <ac:chgData name="Gerth Stølting Brodal" userId="04ef4784-6591-4f86-a140-f5c3b108582a" providerId="ADAL" clId="{73BAC7D6-516A-44B5-B4B0-C7B08CA8B392}" dt="2026-03-24T09:07:00.772" v="1785" actId="478"/>
          <ac:picMkLst>
            <pc:docMk/>
            <pc:sldMk cId="638878041" sldId="777"/>
            <ac:picMk id="17" creationId="{5929901A-E83B-4F74-D896-D057CEC1B36D}"/>
          </ac:picMkLst>
        </pc:picChg>
      </pc:sldChg>
      <pc:sldChg chg="addSp delSp modSp add mod setBg modAnim modNotesTx">
        <pc:chgData name="Gerth Stølting Brodal" userId="04ef4784-6591-4f86-a140-f5c3b108582a" providerId="ADAL" clId="{73BAC7D6-516A-44B5-B4B0-C7B08CA8B392}" dt="2026-03-25T10:53:36.820" v="2747" actId="20577"/>
        <pc:sldMkLst>
          <pc:docMk/>
          <pc:sldMk cId="1387994146" sldId="778"/>
        </pc:sldMkLst>
        <pc:spChg chg="mod">
          <ac:chgData name="Gerth Stølting Brodal" userId="04ef4784-6591-4f86-a140-f5c3b108582a" providerId="ADAL" clId="{73BAC7D6-516A-44B5-B4B0-C7B08CA8B392}" dt="2026-03-24T09:19:45.006" v="1964" actId="14100"/>
          <ac:spMkLst>
            <pc:docMk/>
            <pc:sldMk cId="1387994146" sldId="77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4T13:32:12.729" v="2264" actId="1038"/>
          <ac:spMkLst>
            <pc:docMk/>
            <pc:sldMk cId="1387994146" sldId="778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24T13:32:12.729" v="2264" actId="1038"/>
          <ac:spMkLst>
            <pc:docMk/>
            <pc:sldMk cId="1387994146" sldId="778"/>
            <ac:spMk id="5" creationId="{00000000-0000-0000-0000-000000000000}"/>
          </ac:spMkLst>
        </pc:spChg>
        <pc:graphicFrameChg chg="del">
          <ac:chgData name="Gerth Stølting Brodal" userId="04ef4784-6591-4f86-a140-f5c3b108582a" providerId="ADAL" clId="{73BAC7D6-516A-44B5-B4B0-C7B08CA8B392}" dt="2026-03-24T09:15:56.291" v="1899" actId="478"/>
          <ac:graphicFrameMkLst>
            <pc:docMk/>
            <pc:sldMk cId="1387994146" sldId="778"/>
            <ac:graphicFrameMk id="4" creationId="{00000000-0000-0000-0000-000000000000}"/>
          </ac:graphicFrameMkLst>
        </pc:graphicFrameChg>
        <pc:graphicFrameChg chg="add mod modGraphic">
          <ac:chgData name="Gerth Stølting Brodal" userId="04ef4784-6591-4f86-a140-f5c3b108582a" providerId="ADAL" clId="{73BAC7D6-516A-44B5-B4B0-C7B08CA8B392}" dt="2026-03-25T10:53:36.820" v="2747" actId="20577"/>
          <ac:graphicFrameMkLst>
            <pc:docMk/>
            <pc:sldMk cId="1387994146" sldId="778"/>
            <ac:graphicFrameMk id="6" creationId="{6D6B87B3-3782-3BAE-7755-B514277AFC67}"/>
          </ac:graphicFrameMkLst>
        </pc:graphicFrameChg>
        <pc:graphicFrameChg chg="add mod modGraphic">
          <ac:chgData name="Gerth Stølting Brodal" userId="04ef4784-6591-4f86-a140-f5c3b108582a" providerId="ADAL" clId="{73BAC7D6-516A-44B5-B4B0-C7B08CA8B392}" dt="2026-03-24T13:38:00.504" v="2273" actId="207"/>
          <ac:graphicFrameMkLst>
            <pc:docMk/>
            <pc:sldMk cId="1387994146" sldId="778"/>
            <ac:graphicFrameMk id="7" creationId="{276D1744-8E01-1FD1-74AF-91054DBAC2F5}"/>
          </ac:graphicFrameMkLst>
        </pc:graphicFrameChg>
        <pc:picChg chg="add mod">
          <ac:chgData name="Gerth Stølting Brodal" userId="04ef4784-6591-4f86-a140-f5c3b108582a" providerId="ADAL" clId="{73BAC7D6-516A-44B5-B4B0-C7B08CA8B392}" dt="2026-03-24T13:32:04.217" v="2258" actId="1036"/>
          <ac:picMkLst>
            <pc:docMk/>
            <pc:sldMk cId="1387994146" sldId="778"/>
            <ac:picMk id="8" creationId="{BCC90CE5-CBAC-300B-6F9D-669FFD8FD5E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Nature 2020 article summarizing the history</a:t>
            </a:r>
            <a:r>
              <a:rPr lang="en-US" baseline="0" dirty="0"/>
              <a:t> of </a:t>
            </a:r>
            <a:r>
              <a:rPr lang="en-US" baseline="0" dirty="0" err="1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88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help(</a:t>
            </a:r>
            <a:r>
              <a:rPr lang="en-US" dirty="0" err="1"/>
              <a:t>numpy</a:t>
            </a:r>
            <a:r>
              <a:rPr lang="en-US" dirty="0"/>
              <a:t>)  +65.000 lines of documentation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51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89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linspace</a:t>
            </a:r>
            <a:r>
              <a:rPr lang="en-US" dirty="0"/>
              <a:t> generate by default 50 values if</a:t>
            </a:r>
            <a:r>
              <a:rPr lang="en-US" baseline="0" dirty="0"/>
              <a:t> 3</a:t>
            </a:r>
            <a:r>
              <a:rPr lang="en-US" baseline="30000" dirty="0"/>
              <a:t>rd</a:t>
            </a:r>
            <a:r>
              <a:rPr lang="en-US" baseline="0" dirty="0"/>
              <a:t> value omitted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52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index into </a:t>
            </a:r>
            <a:r>
              <a:rPr lang="en-US" dirty="0" err="1"/>
              <a:t>Numpy</a:t>
            </a:r>
            <a:r>
              <a:rPr lang="en-US" dirty="0"/>
              <a:t> arrays as in Python lists (also negative indexes)</a:t>
            </a:r>
          </a:p>
          <a:p>
            <a:r>
              <a:rPr lang="en-US" dirty="0"/>
              <a:t>a[-1]</a:t>
            </a:r>
          </a:p>
          <a:p>
            <a:r>
              <a:rPr lang="en-US" dirty="0"/>
              <a:t>np.float64(6.283185307179586)  # note that this is not float but a corresponding </a:t>
            </a:r>
            <a:r>
              <a:rPr lang="en-US" dirty="0" err="1"/>
              <a:t>numpy</a:t>
            </a:r>
            <a:r>
              <a:rPr lang="en-US" dirty="0"/>
              <a:t> type</a:t>
            </a:r>
          </a:p>
          <a:p>
            <a:r>
              <a:rPr lang="en-US" dirty="0"/>
              <a:t>(</a:t>
            </a:r>
            <a:r>
              <a:rPr lang="en-US" dirty="0" err="1"/>
              <a:t>np.pi</a:t>
            </a:r>
            <a:r>
              <a:rPr lang="en-US" dirty="0"/>
              <a:t> * 2) ** 1000  -&gt; </a:t>
            </a:r>
            <a:r>
              <a:rPr lang="en-US" dirty="0" err="1"/>
              <a:t>OverflowError</a:t>
            </a:r>
            <a:endParaRPr lang="en-US" dirty="0"/>
          </a:p>
          <a:p>
            <a:r>
              <a:rPr lang="en-US" dirty="0"/>
              <a:t>a[-1] ** 1000 -&gt; np.float64(inf) + </a:t>
            </a:r>
            <a:r>
              <a:rPr lang="en-US" dirty="0" err="1"/>
              <a:t>RuntimeWarning</a:t>
            </a:r>
            <a:r>
              <a:rPr lang="en-US" dirty="0"/>
              <a:t>: overflow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72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Could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have </a:t>
            </a:r>
            <a:r>
              <a:rPr lang="da-DK" dirty="0" err="1"/>
              <a:t>used</a:t>
            </a:r>
            <a:r>
              <a:rPr lang="da-DK" dirty="0"/>
              <a:t> ”** 0.5”</a:t>
            </a:r>
          </a:p>
          <a:p>
            <a:r>
              <a:rPr lang="da-DK" dirty="0"/>
              <a:t>(1).__sub__(x) -&gt; </a:t>
            </a:r>
            <a:r>
              <a:rPr lang="da-DK" dirty="0" err="1"/>
              <a:t>NotImplemented</a:t>
            </a:r>
            <a:r>
              <a:rPr lang="da-DK" dirty="0"/>
              <a:t> </a:t>
            </a:r>
            <a:r>
              <a:rPr lang="da-DK" dirty="0" err="1"/>
              <a:t>value</a:t>
            </a:r>
            <a:r>
              <a:rPr lang="da-DK" dirty="0"/>
              <a:t> (of type </a:t>
            </a:r>
            <a:r>
              <a:rPr lang="da-DK" dirty="0" err="1"/>
              <a:t>NotImplementedType</a:t>
            </a:r>
            <a:r>
              <a:rPr lang="da-DK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9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np.array</a:t>
            </a:r>
            <a:r>
              <a:rPr lang="en-US" dirty="0"/>
              <a:t> accepts an </a:t>
            </a:r>
            <a:r>
              <a:rPr lang="en-US" b="1" dirty="0"/>
              <a:t>array like argument </a:t>
            </a:r>
            <a:r>
              <a:rPr lang="en-US" dirty="0"/>
              <a:t> -</a:t>
            </a:r>
            <a:r>
              <a:rPr lang="en-US" baseline="0" dirty="0"/>
              <a:t> e.g. not a generator object</a:t>
            </a:r>
          </a:p>
          <a:p>
            <a:r>
              <a:rPr lang="en-US" baseline="0" dirty="0" err="1"/>
              <a:t>np.array</a:t>
            </a:r>
            <a:r>
              <a:rPr lang="en-US" baseline="0" dirty="0"/>
              <a:t> with integers generates an array </a:t>
            </a:r>
            <a:r>
              <a:rPr lang="en-US" baseline="0"/>
              <a:t>with </a:t>
            </a:r>
            <a:r>
              <a:rPr lang="en-US" b="1" baseline="0"/>
              <a:t>int32</a:t>
            </a:r>
            <a:endParaRPr lang="en-US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70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b="0" dirty="0" err="1"/>
              <a:t>Until</a:t>
            </a:r>
            <a:r>
              <a:rPr lang="da-DK" b="0" dirty="0"/>
              <a:t> </a:t>
            </a:r>
            <a:r>
              <a:rPr lang="da-DK" b="0" dirty="0" err="1"/>
              <a:t>numpy</a:t>
            </a:r>
            <a:r>
              <a:rPr lang="da-DK" b="0" dirty="0"/>
              <a:t> Version 2.0 </a:t>
            </a:r>
            <a:r>
              <a:rPr lang="da-DK" b="0" dirty="0" err="1"/>
              <a:t>one</a:t>
            </a:r>
            <a:r>
              <a:rPr lang="da-DK" b="0" dirty="0"/>
              <a:t> </a:t>
            </a:r>
            <a:r>
              <a:rPr lang="da-DK" b="0" dirty="0" err="1"/>
              <a:t>could</a:t>
            </a:r>
            <a:r>
              <a:rPr lang="da-DK" b="0" dirty="0"/>
              <a:t> </a:t>
            </a:r>
            <a:r>
              <a:rPr lang="da-DK" b="0" dirty="0" err="1"/>
              <a:t>use</a:t>
            </a:r>
            <a:r>
              <a:rPr lang="da-DK" b="0" dirty="0"/>
              <a:t> </a:t>
            </a:r>
            <a:r>
              <a:rPr lang="da-DK" b="0" dirty="0" err="1"/>
              <a:t>np</a:t>
            </a:r>
            <a:r>
              <a:rPr lang="da-DK" b="0" dirty="0"/>
              <a:t>.</a:t>
            </a:r>
            <a:r>
              <a:rPr lang="en-US" b="0" dirty="0" err="1"/>
              <a:t>sctypes</a:t>
            </a:r>
            <a:r>
              <a:rPr lang="en-US" b="0" dirty="0"/>
              <a:t> to get all types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85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25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Rows</a:t>
            </a:r>
            <a:r>
              <a:rPr lang="da-DK" dirty="0"/>
              <a:t> must </a:t>
            </a:r>
            <a:r>
              <a:rPr lang="da-DK" dirty="0" err="1"/>
              <a:t>contain</a:t>
            </a:r>
            <a:r>
              <a:rPr lang="da-DK" dirty="0"/>
              <a:t> same </a:t>
            </a:r>
            <a:r>
              <a:rPr lang="da-DK" dirty="0" err="1"/>
              <a:t>number</a:t>
            </a:r>
            <a:r>
              <a:rPr lang="da-DK" dirty="0"/>
              <a:t> of </a:t>
            </a:r>
            <a:r>
              <a:rPr lang="da-DK" dirty="0" err="1"/>
              <a:t>values</a:t>
            </a:r>
            <a:endParaRPr lang="da-DK" dirty="0"/>
          </a:p>
          <a:p>
            <a:r>
              <a:rPr lang="da-DK" dirty="0" err="1"/>
              <a:t>np.array</a:t>
            </a:r>
            <a:r>
              <a:rPr lang="da-DK" dirty="0"/>
              <a:t>([[1,2],[3,4,5]]) -&gt; </a:t>
            </a:r>
            <a:r>
              <a:rPr lang="da-DK" b="1" dirty="0" err="1"/>
              <a:t>ValueError</a:t>
            </a:r>
            <a:r>
              <a:rPr lang="da-DK" b="1" dirty="0"/>
              <a:t>: </a:t>
            </a:r>
            <a:r>
              <a:rPr lang="da-DK" b="1" dirty="0" err="1"/>
              <a:t>inhomogeneous</a:t>
            </a:r>
            <a:r>
              <a:rPr lang="da-DK" b="1" dirty="0"/>
              <a:t> </a:t>
            </a:r>
            <a:r>
              <a:rPr lang="da-DK" b="1" dirty="0" err="1"/>
              <a:t>shape</a:t>
            </a:r>
            <a:endParaRPr lang="da-D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69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.cross for 3-dimensional</a:t>
            </a:r>
            <a:r>
              <a:rPr lang="en-US" baseline="0" dirty="0"/>
              <a:t> vectors</a:t>
            </a:r>
          </a:p>
          <a:p>
            <a:r>
              <a:rPr lang="en-US" baseline="0" dirty="0"/>
              <a:t>.T is only a </a:t>
            </a:r>
            <a:r>
              <a:rPr lang="en-US" b="1" baseline="0" dirty="0"/>
              <a:t>view</a:t>
            </a:r>
            <a:r>
              <a:rPr lang="en-US" b="0" baseline="0" dirty="0"/>
              <a:t> - so updates are applied to original matrix</a:t>
            </a:r>
          </a:p>
          <a:p>
            <a:r>
              <a:rPr lang="en-US" b="0" baseline="0" dirty="0"/>
              <a:t>@ calls method </a:t>
            </a:r>
            <a:r>
              <a:rPr lang="da-DK" dirty="0"/>
              <a:t>__</a:t>
            </a:r>
            <a:r>
              <a:rPr lang="da-DK" dirty="0" err="1"/>
              <a:t>matmul</a:t>
            </a:r>
            <a:r>
              <a:rPr lang="da-DK" dirty="0"/>
              <a:t>__ on array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00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np.mod can also take two arrays and applied elementwise</a:t>
            </a:r>
            <a:r>
              <a:rPr lang="en-US" baseline="0" dirty="0"/>
              <a:t> modulo (actually first broadcasts to have the same dimension)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48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sum(axis=0)  removes</a:t>
            </a:r>
            <a:r>
              <a:rPr lang="en-US" b="1" baseline="0" dirty="0"/>
              <a:t> axis 0 </a:t>
            </a:r>
            <a:r>
              <a:rPr lang="en-US" baseline="0" dirty="0"/>
              <a:t>(sums over this axis)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510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16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12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Views and slices can be confusing!!!!</a:t>
            </a:r>
          </a:p>
          <a:p>
            <a:r>
              <a:rPr lang="en-US" dirty="0"/>
              <a:t>https://scipy-cookbook.readthedocs.io/items/ViewsVsCopies.html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29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A2A29-180C-0AD8-D57F-7FA5F24D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E5CA3-CB42-4677-90E5-2BB1688A3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EBBF3-EBF4-32ED-DAB7-E534080AA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Strides can become </a:t>
            </a:r>
            <a:r>
              <a:rPr lang="en-US" b="1" dirty="0"/>
              <a:t>negative</a:t>
            </a:r>
            <a:r>
              <a:rPr lang="en-US" dirty="0"/>
              <a:t> when slicing with negative steps</a:t>
            </a:r>
          </a:p>
          <a:p>
            <a:r>
              <a:rPr lang="en-US" dirty="0"/>
              <a:t>Note that having a reference to </a:t>
            </a:r>
            <a:r>
              <a:rPr lang="en-US"/>
              <a:t>C requires </a:t>
            </a:r>
            <a:r>
              <a:rPr lang="en-US" dirty="0"/>
              <a:t>all data from A to be remembered (can </a:t>
            </a:r>
            <a:r>
              <a:rPr lang="en-US" b="1" dirty="0"/>
              <a:t>prevent garbage</a:t>
            </a:r>
            <a:r>
              <a:rPr lang="en-US" dirty="0"/>
              <a:t> collection, if C much smaller than A better create a copy)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0D206-7327-0A2D-9213-9F19B4B73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49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D.Dtype</a:t>
            </a:r>
            <a:r>
              <a:rPr lang="en-US" dirty="0"/>
              <a:t> = np.int64 = 8 bytes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00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x[:, could also be x[…,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794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assumes a 32 bit Python installation</a:t>
            </a:r>
          </a:p>
          <a:p>
            <a:r>
              <a:rPr lang="en-US" dirty="0"/>
              <a:t>~40 and ~10 times faster</a:t>
            </a:r>
          </a:p>
          <a:p>
            <a:r>
              <a:rPr lang="en-US" dirty="0" err="1"/>
              <a:t>timeit</a:t>
            </a:r>
            <a:r>
              <a:rPr lang="en-US" dirty="0"/>
              <a:t>('</a:t>
            </a:r>
            <a:r>
              <a:rPr lang="en-US" b="1" dirty="0"/>
              <a:t>sum(A)</a:t>
            </a:r>
            <a:r>
              <a:rPr lang="en-US" dirty="0"/>
              <a:t>', setup='A = </a:t>
            </a:r>
            <a:r>
              <a:rPr lang="en-US" b="1" dirty="0"/>
              <a:t>list(range</a:t>
            </a:r>
            <a:r>
              <a:rPr lang="en-US" dirty="0"/>
              <a:t>(10**6))', number=100)             </a:t>
            </a:r>
          </a:p>
          <a:p>
            <a:r>
              <a:rPr lang="en-US" dirty="0"/>
              <a:t>1.6</a:t>
            </a:r>
          </a:p>
          <a:p>
            <a:r>
              <a:rPr lang="en-US" dirty="0" err="1"/>
              <a:t>timeit</a:t>
            </a:r>
            <a:r>
              <a:rPr lang="en-US" dirty="0"/>
              <a:t>('</a:t>
            </a:r>
            <a:r>
              <a:rPr lang="en-US" b="1" dirty="0"/>
              <a:t>sum(A)</a:t>
            </a:r>
            <a:r>
              <a:rPr lang="en-US" dirty="0"/>
              <a:t>', setup='import </a:t>
            </a:r>
            <a:r>
              <a:rPr lang="en-US" dirty="0" err="1"/>
              <a:t>numpy</a:t>
            </a:r>
            <a:r>
              <a:rPr lang="en-US" dirty="0"/>
              <a:t> as np; A = </a:t>
            </a:r>
            <a:r>
              <a:rPr lang="en-US" b="1" dirty="0" err="1"/>
              <a:t>np.array</a:t>
            </a:r>
            <a:r>
              <a:rPr lang="en-US" dirty="0"/>
              <a:t>(range(10**6))', number=100)</a:t>
            </a:r>
          </a:p>
          <a:p>
            <a:r>
              <a:rPr lang="en-US" dirty="0" err="1"/>
              <a:t>RuntimeWarning</a:t>
            </a:r>
            <a:r>
              <a:rPr lang="en-US" dirty="0"/>
              <a:t>: overflow encountered in scalar add</a:t>
            </a:r>
          </a:p>
          <a:p>
            <a:r>
              <a:rPr lang="en-US" dirty="0"/>
              <a:t>4.1  # slower</a:t>
            </a:r>
          </a:p>
          <a:p>
            <a:r>
              <a:rPr lang="en-US" dirty="0" err="1"/>
              <a:t>timeit</a:t>
            </a:r>
            <a:r>
              <a:rPr lang="en-US" dirty="0"/>
              <a:t>('</a:t>
            </a:r>
            <a:r>
              <a:rPr lang="en-US" b="1" dirty="0" err="1"/>
              <a:t>np.sum</a:t>
            </a:r>
            <a:r>
              <a:rPr lang="en-US" dirty="0"/>
              <a:t>(A)', setup='import </a:t>
            </a:r>
            <a:r>
              <a:rPr lang="en-US" dirty="0" err="1"/>
              <a:t>numpy</a:t>
            </a:r>
            <a:r>
              <a:rPr lang="en-US" dirty="0"/>
              <a:t> as np; A = </a:t>
            </a:r>
            <a:r>
              <a:rPr lang="en-US" dirty="0" err="1"/>
              <a:t>np.array</a:t>
            </a:r>
            <a:r>
              <a:rPr lang="en-US" dirty="0"/>
              <a:t>(range(10**6))', number=100)</a:t>
            </a:r>
          </a:p>
          <a:p>
            <a:r>
              <a:rPr lang="en-US" dirty="0" err="1"/>
              <a:t>timeit</a:t>
            </a:r>
            <a:r>
              <a:rPr lang="en-US" dirty="0"/>
              <a:t>(</a:t>
            </a:r>
            <a:r>
              <a:rPr lang="en-US" b="1" dirty="0"/>
              <a:t>'</a:t>
            </a:r>
            <a:r>
              <a:rPr lang="en-US" b="1" dirty="0" err="1"/>
              <a:t>A.sum</a:t>
            </a:r>
            <a:r>
              <a:rPr lang="en-US" dirty="0"/>
              <a:t>()', setup='import </a:t>
            </a:r>
            <a:r>
              <a:rPr lang="en-US" dirty="0" err="1"/>
              <a:t>numpy</a:t>
            </a:r>
            <a:r>
              <a:rPr lang="en-US" dirty="0"/>
              <a:t> as np; A = </a:t>
            </a:r>
            <a:r>
              <a:rPr lang="en-US" dirty="0" err="1"/>
              <a:t>np.array</a:t>
            </a:r>
            <a:r>
              <a:rPr lang="en-US" dirty="0"/>
              <a:t>(range(10**6))', number=100)</a:t>
            </a:r>
          </a:p>
          <a:p>
            <a:r>
              <a:rPr lang="en-US" dirty="0"/>
              <a:t>0.02  # factor 100 faster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983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925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Eigenvector v for eigenvalue lambda:  A * v = lambda * v</a:t>
            </a:r>
          </a:p>
          <a:p>
            <a:endParaRPr lang="en-US" dirty="0"/>
          </a:p>
          <a:p>
            <a:r>
              <a:rPr lang="en-US" dirty="0" err="1"/>
              <a:t>eig_values</a:t>
            </a:r>
            <a:r>
              <a:rPr lang="en-US" dirty="0"/>
              <a:t>, </a:t>
            </a:r>
            <a:r>
              <a:rPr lang="en-US" dirty="0" err="1"/>
              <a:t>eig_vectors</a:t>
            </a:r>
            <a:r>
              <a:rPr lang="en-US" dirty="0"/>
              <a:t> = </a:t>
            </a:r>
            <a:r>
              <a:rPr lang="en-US" dirty="0" err="1"/>
              <a:t>np.linalg.eig</a:t>
            </a:r>
            <a:r>
              <a:rPr lang="en-US" dirty="0"/>
              <a:t>(x)  # </a:t>
            </a:r>
            <a:r>
              <a:rPr lang="en-US" dirty="0" err="1"/>
              <a:t>eig_vectors</a:t>
            </a:r>
            <a:r>
              <a:rPr lang="en-US" dirty="0"/>
              <a:t> = matrix, each column an eigenvector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, c in enumerate(</a:t>
            </a:r>
            <a:r>
              <a:rPr lang="en-US" dirty="0" err="1"/>
              <a:t>eig_values</a:t>
            </a:r>
            <a:r>
              <a:rPr lang="en-US" dirty="0"/>
              <a:t>):</a:t>
            </a:r>
          </a:p>
          <a:p>
            <a:r>
              <a:rPr lang="en-US" dirty="0"/>
              <a:t>    v = </a:t>
            </a:r>
            <a:r>
              <a:rPr lang="en-US" b="1" dirty="0" err="1"/>
              <a:t>eig_vectors</a:t>
            </a:r>
            <a:r>
              <a:rPr lang="en-US" b="1" dirty="0"/>
              <a:t>[:,</a:t>
            </a:r>
            <a:r>
              <a:rPr lang="en-US" b="1" dirty="0" err="1"/>
              <a:t>i</a:t>
            </a:r>
            <a:r>
              <a:rPr lang="en-US" b="1" dirty="0"/>
              <a:t>]</a:t>
            </a:r>
          </a:p>
          <a:p>
            <a:r>
              <a:rPr lang="en-US" dirty="0"/>
              <a:t>    print(f'{</a:t>
            </a:r>
            <a:r>
              <a:rPr lang="en-US" dirty="0" err="1"/>
              <a:t>i</a:t>
            </a:r>
            <a:r>
              <a:rPr lang="en-US" dirty="0"/>
              <a:t>=}, {c=}, {v=}')</a:t>
            </a:r>
          </a:p>
          <a:p>
            <a:r>
              <a:rPr lang="en-US" dirty="0"/>
              <a:t>    print(x @ v, c * v)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342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= matrix with values interpreted as how bright each pixel is</a:t>
            </a:r>
          </a:p>
          <a:p>
            <a:r>
              <a:rPr lang="en-US" dirty="0"/>
              <a:t>SVD not part of “Linear Algebra” course, but chapter 14.3 in lecture notes by Jesper Funch Thomsen</a:t>
            </a:r>
          </a:p>
          <a:p>
            <a:r>
              <a:rPr lang="en-US" dirty="0"/>
              <a:t>Example shows how SVD can be used for image compression</a:t>
            </a:r>
          </a:p>
          <a:p>
            <a:r>
              <a:rPr lang="en-US" dirty="0"/>
              <a:t>Pink part of V is required for making U unitary, but is not used at all in the final product (wasted computation…)</a:t>
            </a:r>
          </a:p>
          <a:p>
            <a:r>
              <a:rPr lang="en-US" dirty="0"/>
              <a:t>u, s, v are </a:t>
            </a:r>
            <a:r>
              <a:rPr lang="en-US" dirty="0" err="1"/>
              <a:t>numpy</a:t>
            </a:r>
            <a:r>
              <a:rPr lang="en-US" dirty="0"/>
              <a:t> arrays with floats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883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np.linalg.svd</a:t>
            </a:r>
            <a:r>
              <a:rPr lang="da-DK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(…</a:t>
            </a:r>
            <a:r>
              <a:rPr lang="da-DK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full_matrices</a:t>
            </a:r>
            <a:r>
              <a:rPr lang="da-DK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=False) </a:t>
            </a:r>
            <a:r>
              <a:rPr lang="da-DK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only</a:t>
            </a:r>
            <a:r>
              <a:rPr lang="da-DK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generates the non-</a:t>
            </a:r>
            <a:r>
              <a:rPr lang="da-DK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</a:t>
            </a:r>
            <a:r>
              <a:rPr lang="da-DK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part of </a:t>
            </a:r>
            <a:r>
              <a:rPr lang="da-DK" sz="1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endParaRPr lang="en-US" i="1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875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Apply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SVD to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each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seaparately</a:t>
            </a:r>
            <a:endParaRPr lang="da-DK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muliplication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by diagonal matrix by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elementwise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multiplication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of broadcast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endParaRPr lang="da-DK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Stacked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applies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svd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each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of the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indexes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of the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coordinate</a:t>
            </a:r>
            <a:endParaRPr lang="da-DK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0" i="1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257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Red and Blue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swapped</a:t>
            </a:r>
            <a:r>
              <a:rPr lang="da-DK" dirty="0"/>
              <a:t> in the </a:t>
            </a:r>
            <a:r>
              <a:rPr lang="da-DK" dirty="0" err="1"/>
              <a:t>representation</a:t>
            </a:r>
            <a:r>
              <a:rPr lang="da-DK" dirty="0"/>
              <a:t> </a:t>
            </a:r>
            <a:r>
              <a:rPr lang="da-DK" dirty="0" err="1"/>
              <a:t>used</a:t>
            </a:r>
            <a:r>
              <a:rPr lang="da-DK" dirty="0"/>
              <a:t> by Open CV</a:t>
            </a:r>
          </a:p>
          <a:p>
            <a:endParaRPr lang="da-DK" dirty="0"/>
          </a:p>
          <a:p>
            <a:r>
              <a:rPr lang="da-DK" dirty="0" err="1"/>
              <a:t>Middle</a:t>
            </a:r>
            <a:r>
              <a:rPr lang="da-DK" dirty="0"/>
              <a:t> </a:t>
            </a:r>
            <a:r>
              <a:rPr lang="da-DK" dirty="0" err="1"/>
              <a:t>picture</a:t>
            </a:r>
            <a:r>
              <a:rPr lang="da-DK" dirty="0"/>
              <a:t> is not red </a:t>
            </a:r>
            <a:r>
              <a:rPr lang="da-DK" dirty="0" err="1"/>
              <a:t>dust</a:t>
            </a:r>
            <a:r>
              <a:rPr lang="da-DK" dirty="0"/>
              <a:t> from the Sahara….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84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&lt;&lt; n – otherwise overfitting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288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arrays are</a:t>
            </a:r>
            <a:r>
              <a:rPr lang="en-US" baseline="0" dirty="0"/>
              <a:t> passed to </a:t>
            </a:r>
            <a:r>
              <a:rPr lang="en-US" baseline="0" dirty="0" err="1"/>
              <a:t>matplotlib</a:t>
            </a:r>
            <a:r>
              <a:rPr lang="en-US" baseline="0" dirty="0"/>
              <a:t> </a:t>
            </a:r>
            <a:r>
              <a:rPr lang="en-US" b="1" baseline="0" dirty="0"/>
              <a:t>plot</a:t>
            </a:r>
            <a:r>
              <a:rPr lang="en-US" baseline="0" dirty="0"/>
              <a:t> and </a:t>
            </a:r>
            <a:r>
              <a:rPr lang="en-US" b="1" baseline="0" dirty="0" err="1"/>
              <a:t>set_data</a:t>
            </a:r>
            <a:endParaRPr lang="en-US" b="1" baseline="0" dirty="0"/>
          </a:p>
          <a:p>
            <a:endParaRPr lang="en-US" b="1" baseline="0" dirty="0"/>
          </a:p>
          <a:p>
            <a:r>
              <a:rPr lang="da-DK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y[</a:t>
            </a:r>
            <a:r>
              <a:rPr lang="da-DK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bounce</a:t>
            </a:r>
            <a:r>
              <a:rPr lang="da-DK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-= dy[</a:t>
            </a:r>
            <a:r>
              <a:rPr lang="da-DK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bounce</a:t>
            </a:r>
            <a:r>
              <a:rPr lang="da-DK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da-DK" sz="1200" b="0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important</a:t>
            </a:r>
            <a:r>
              <a:rPr lang="da-DK" sz="1200" b="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da-DK" sz="1200" b="0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apply</a:t>
            </a:r>
            <a:r>
              <a:rPr lang="da-DK" sz="1200" b="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filters to </a:t>
            </a:r>
            <a:r>
              <a:rPr lang="da-DK" sz="1200" b="0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both</a:t>
            </a:r>
            <a:r>
              <a:rPr lang="da-DK" sz="1200" b="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sides, to </a:t>
            </a:r>
            <a:r>
              <a:rPr lang="da-DK" sz="1200" b="0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ensure</a:t>
            </a:r>
            <a:r>
              <a:rPr lang="da-DK" sz="1200" b="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the </a:t>
            </a:r>
            <a:r>
              <a:rPr lang="da-DK" sz="1200" b="0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sliced</a:t>
            </a:r>
            <a:r>
              <a:rPr lang="da-DK" sz="1200" b="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arrays have the same </a:t>
            </a:r>
            <a:r>
              <a:rPr lang="da-DK" sz="1200" b="0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338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Basically for each point=convex number iterate a process</a:t>
            </a:r>
            <a:r>
              <a:rPr lang="en-US" baseline="0" dirty="0"/>
              <a:t>. Color = number of steps until </a:t>
            </a:r>
            <a:r>
              <a:rPr lang="en-US" dirty="0"/>
              <a:t>norm of number &gt;</a:t>
            </a:r>
            <a:r>
              <a:rPr lang="en-US" baseline="0" dirty="0"/>
              <a:t> 2.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2D </a:t>
            </a:r>
            <a:r>
              <a:rPr lang="en-US" dirty="0" err="1"/>
              <a:t>numpy</a:t>
            </a:r>
            <a:r>
              <a:rPr lang="en-US" dirty="0"/>
              <a:t> array (numbers 0..20)</a:t>
            </a:r>
            <a:r>
              <a:rPr lang="en-US" baseline="0" dirty="0"/>
              <a:t> </a:t>
            </a:r>
            <a:r>
              <a:rPr lang="en-US" dirty="0"/>
              <a:t>can be viewed as an</a:t>
            </a:r>
            <a:r>
              <a:rPr lang="en-US" baseline="0" dirty="0"/>
              <a:t> </a:t>
            </a:r>
            <a:r>
              <a:rPr lang="en-US" b="1" baseline="0" dirty="0"/>
              <a:t>image, </a:t>
            </a:r>
            <a:r>
              <a:rPr lang="en-US" dirty="0" err="1"/>
              <a:t>pyplot</a:t>
            </a:r>
            <a:r>
              <a:rPr lang="en-US" dirty="0"/>
              <a:t> applies default </a:t>
            </a:r>
            <a:r>
              <a:rPr lang="en-US" dirty="0" err="1"/>
              <a:t>colomap</a:t>
            </a:r>
            <a:r>
              <a:rPr lang="en-US" dirty="0"/>
              <a:t> (plasma?)</a:t>
            </a:r>
          </a:p>
          <a:p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np.conj</a:t>
            </a:r>
            <a:r>
              <a:rPr lang="en-US" dirty="0"/>
              <a:t> : Return the </a:t>
            </a:r>
            <a:r>
              <a:rPr lang="en-US" b="1" dirty="0"/>
              <a:t>complex conjugate, </a:t>
            </a:r>
            <a:r>
              <a:rPr lang="en-US" dirty="0"/>
              <a:t>element-wise (changing the sign of its imaginary part)</a:t>
            </a:r>
          </a:p>
          <a:p>
            <a:r>
              <a:rPr lang="en-US" dirty="0"/>
              <a:t>z</a:t>
            </a:r>
            <a:r>
              <a:rPr lang="en-US" baseline="0" dirty="0"/>
              <a:t> * </a:t>
            </a:r>
            <a:r>
              <a:rPr lang="en-US" baseline="0" dirty="0" err="1"/>
              <a:t>np.conj</a:t>
            </a:r>
            <a:r>
              <a:rPr lang="en-US" baseline="0" dirty="0"/>
              <a:t>(z)  = squared length of z</a:t>
            </a:r>
          </a:p>
          <a:p>
            <a:endParaRPr lang="en-US" baseline="0" dirty="0"/>
          </a:p>
          <a:p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z[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diverge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] = 2  is to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avoid</a:t>
            </a:r>
            <a:r>
              <a:rPr lang="da-DK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overflow</a:t>
            </a:r>
            <a:r>
              <a:rPr lang="da-DK" sz="1200" b="0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200" b="0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messages</a:t>
            </a:r>
            <a:endParaRPr lang="da-DK" sz="1200" b="0" baseline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8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86-020-2649-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scipy.org/doc/numpy/user/quickstart.html" TargetMode="External"/><Relationship Id="rId4" Type="http://schemas.openxmlformats.org/officeDocument/2006/relationships/hyperlink" Target="http://www.numpy.or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faq/usage_faq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umpy.org/doc/stable/reference/arrays.scalar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reference/arrays.scalars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user/basics.types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465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scipy.org/doc/numpy/user/basics.broadcasting.htm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umpy.org/doc/stable/dev/internals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user/basics.types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hyperlink" Target="https://en.wikipedia.org/wiki/Two%27s_complement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docs.scipy.org/doc/numpy/reference/routines.linalg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hyperlink" Target="https://docs.scipy.org/doc/numpy/reference/generated/numpy.polyfit.html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numpy/user/quickstart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2" y="2920558"/>
            <a:ext cx="11455360" cy="1325563"/>
          </a:xfrm>
        </p:spPr>
        <p:txBody>
          <a:bodyPr/>
          <a:lstStyle/>
          <a:p>
            <a:pPr algn="r"/>
            <a:r>
              <a:rPr lang="en-US" noProof="0" dirty="0"/>
              <a:t>Multi-dimensional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1448" y="3920647"/>
            <a:ext cx="5540551" cy="2937353"/>
          </a:xfrm>
        </p:spPr>
        <p:txBody>
          <a:bodyPr>
            <a:normAutofit/>
          </a:bodyPr>
          <a:lstStyle/>
          <a:p>
            <a:r>
              <a:rPr lang="en-US" noProof="0" dirty="0"/>
              <a:t>NumPy</a:t>
            </a:r>
          </a:p>
          <a:p>
            <a:r>
              <a:rPr lang="en-US" noProof="0" dirty="0"/>
              <a:t>matrix multiplication, @</a:t>
            </a:r>
          </a:p>
          <a:p>
            <a:r>
              <a:rPr lang="en-US" noProof="0" dirty="0" err="1"/>
              <a:t>numpy.linalg.solve</a:t>
            </a:r>
            <a:r>
              <a:rPr lang="en-US" noProof="0" dirty="0"/>
              <a:t>, </a:t>
            </a:r>
            <a:r>
              <a:rPr lang="en-US" noProof="0" dirty="0" err="1"/>
              <a:t>numpy.polyfit</a:t>
            </a:r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162046" y="5578997"/>
            <a:ext cx="4548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noProof="0" dirty="0"/>
              <a:t>Array programming with NumPy</a:t>
            </a:r>
          </a:p>
          <a:p>
            <a:r>
              <a:rPr lang="en-US" noProof="0" dirty="0"/>
              <a:t>Harris et al.</a:t>
            </a:r>
          </a:p>
          <a:p>
            <a:r>
              <a:rPr lang="en-US" noProof="0" dirty="0"/>
              <a:t>Nature</a:t>
            </a:r>
            <a:r>
              <a:rPr lang="en-US" i="1" noProof="0" dirty="0"/>
              <a:t>,</a:t>
            </a:r>
            <a:r>
              <a:rPr lang="en-US" noProof="0" dirty="0"/>
              <a:t> volume 585, pages 357–362, 2020</a:t>
            </a:r>
            <a:br>
              <a:rPr lang="en-US" noProof="0" dirty="0"/>
            </a:br>
            <a:r>
              <a:rPr lang="en-US" noProof="0" dirty="0"/>
              <a:t>DOI </a:t>
            </a:r>
            <a:r>
              <a:rPr lang="en-US" noProof="0" dirty="0">
                <a:hlinkClick r:id="rId3"/>
              </a:rPr>
              <a:t>10.1038/s41586-020-2649-2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1549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41597"/>
            <a:ext cx="10515600" cy="1285710"/>
          </a:xfrm>
        </p:spPr>
        <p:txBody>
          <a:bodyPr/>
          <a:lstStyle/>
          <a:p>
            <a:r>
              <a:rPr lang="en-US" noProof="0" dirty="0"/>
              <a:t>NumPy is a Python package for dealing with multi-dimensional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48429"/>
            <a:ext cx="5080000" cy="2260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263025" y="5990543"/>
            <a:ext cx="1727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4"/>
              </a:rPr>
              <a:t>www.numpy.org</a:t>
            </a:r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7315938" y="6359875"/>
            <a:ext cx="4675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5"/>
              </a:rPr>
              <a:t>docs.scipy.org/doc/</a:t>
            </a:r>
            <a:r>
              <a:rPr lang="en-US" noProof="0" dirty="0" err="1">
                <a:hlinkClick r:id="rId5"/>
              </a:rPr>
              <a:t>numpy</a:t>
            </a:r>
            <a:r>
              <a:rPr lang="en-US" noProof="0" dirty="0">
                <a:hlinkClick r:id="rId5"/>
              </a:rPr>
              <a:t>/user/quickstart.html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0150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pylab</a:t>
            </a:r>
            <a:r>
              <a:rPr lang="en-US" noProof="0" dirty="0"/>
              <a:t>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076727" cy="2746375"/>
          </a:xfrm>
        </p:spPr>
        <p:txBody>
          <a:bodyPr/>
          <a:lstStyle/>
          <a:p>
            <a:r>
              <a:rPr lang="en-US" noProof="0" dirty="0"/>
              <a:t>Guttag [2</a:t>
            </a:r>
            <a:r>
              <a:rPr lang="en-US" baseline="30000" noProof="0" dirty="0"/>
              <a:t>nd</a:t>
            </a:r>
            <a:r>
              <a:rPr lang="en-US" noProof="0" dirty="0"/>
              <a:t> edition] uses </a:t>
            </a:r>
            <a:r>
              <a:rPr lang="en-US" noProof="0" dirty="0" err="1"/>
              <a:t>pylab</a:t>
            </a:r>
            <a:r>
              <a:rPr lang="en-US" noProof="0" dirty="0"/>
              <a:t> in the examples, but...</a:t>
            </a:r>
          </a:p>
          <a:p>
            <a:pPr marL="0" indent="0">
              <a:buNone/>
            </a:pPr>
            <a:endParaRPr lang="en-US" i="1" noProof="0" dirty="0"/>
          </a:p>
          <a:p>
            <a:pPr marL="890588" indent="0">
              <a:buNone/>
            </a:pPr>
            <a:r>
              <a:rPr lang="en-US" i="1" noProof="0" dirty="0"/>
              <a:t>“</a:t>
            </a:r>
            <a:r>
              <a:rPr lang="en-US" noProof="0" dirty="0" err="1">
                <a:solidFill>
                  <a:srgbClr val="C00000"/>
                </a:solidFill>
              </a:rPr>
              <a:t>pylab</a:t>
            </a:r>
            <a:r>
              <a:rPr lang="en-US" i="1" noProof="0" dirty="0"/>
              <a:t> is a convenience module that bulk imports </a:t>
            </a:r>
            <a:r>
              <a:rPr lang="en-US" noProof="0" dirty="0" err="1">
                <a:solidFill>
                  <a:schemeClr val="accent1">
                    <a:lumMod val="50000"/>
                  </a:schemeClr>
                </a:solidFill>
              </a:rPr>
              <a:t>matplotlib.pyplot</a:t>
            </a:r>
            <a:r>
              <a:rPr lang="en-US" i="1" noProof="0" dirty="0"/>
              <a:t> (for plotting) and </a:t>
            </a:r>
            <a:r>
              <a:rPr lang="en-US" noProof="0" dirty="0" err="1">
                <a:solidFill>
                  <a:schemeClr val="accent1">
                    <a:lumMod val="50000"/>
                  </a:schemeClr>
                </a:solidFill>
              </a:rPr>
              <a:t>numpy</a:t>
            </a:r>
            <a:r>
              <a:rPr lang="en-US" i="1" noProof="0" dirty="0"/>
              <a:t> (for mathematics and working with arrays) in a single name space. Although many examples use </a:t>
            </a:r>
            <a:r>
              <a:rPr lang="en-US" i="1" noProof="0" dirty="0" err="1"/>
              <a:t>pylab</a:t>
            </a:r>
            <a:r>
              <a:rPr lang="en-US" i="1" noProof="0" dirty="0"/>
              <a:t>, </a:t>
            </a:r>
            <a:r>
              <a:rPr lang="en-US" i="1" noProof="0" dirty="0">
                <a:solidFill>
                  <a:srgbClr val="C00000"/>
                </a:solidFill>
              </a:rPr>
              <a:t>it is no longer recommended</a:t>
            </a:r>
            <a:r>
              <a:rPr lang="en-US" i="1" noProof="0" dirty="0"/>
              <a:t>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8665002" y="6488668"/>
            <a:ext cx="34575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3"/>
              </a:rPr>
              <a:t>matplotlib.org/</a:t>
            </a:r>
            <a:r>
              <a:rPr lang="en-US" noProof="0" dirty="0" err="1">
                <a:hlinkClick r:id="rId3"/>
              </a:rPr>
              <a:t>faq</a:t>
            </a:r>
            <a:r>
              <a:rPr lang="en-US" noProof="0" dirty="0">
                <a:hlinkClick r:id="rId3"/>
              </a:rPr>
              <a:t>/usage_faq.html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3447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NumPy arrays (example)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167164"/>
              </p:ext>
            </p:extLst>
          </p:nvPr>
        </p:nvGraphicFramePr>
        <p:xfrm>
          <a:off x="802572" y="1690688"/>
          <a:ext cx="563753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5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56265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409455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range(0, 1, .3)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'float' object cannot be interpreted as an integer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 + i / 4 for i in range(5)]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[1.0, 1.25, 1.5, 1.75, 2.0]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5504943"/>
              </p:ext>
            </p:extLst>
          </p:nvPr>
        </p:nvGraphicFramePr>
        <p:xfrm>
          <a:off x="802572" y="3661003"/>
          <a:ext cx="563753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5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0407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672387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(0, 1, 0.3)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array([0. , 0.3, 0.6, 0.9])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type(</a:t>
                      </a: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1, 0.3))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numpy.ndarray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'&gt;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help(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numpy.ndarray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i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+2000 lines of text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linspace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(1, 2, 5)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array([1.  , 1.25, 1.5 , 1.75, 2.  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Right Brace 5"/>
          <p:cNvSpPr/>
          <p:nvPr/>
        </p:nvSpPr>
        <p:spPr>
          <a:xfrm>
            <a:off x="6582606" y="2138209"/>
            <a:ext cx="118754" cy="653142"/>
          </a:xfrm>
          <a:prstGeom prst="rightBrace">
            <a:avLst>
              <a:gd name="adj1" fmla="val 78500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793672" y="2210197"/>
            <a:ext cx="4833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python only supports ranges of int</a:t>
            </a:r>
          </a:p>
        </p:txBody>
      </p:sp>
      <p:sp>
        <p:nvSpPr>
          <p:cNvPr id="8" name="Right Brace 7"/>
          <p:cNvSpPr/>
          <p:nvPr/>
        </p:nvSpPr>
        <p:spPr>
          <a:xfrm>
            <a:off x="6582606" y="2866345"/>
            <a:ext cx="118754" cy="578148"/>
          </a:xfrm>
          <a:prstGeom prst="rightBrace">
            <a:avLst>
              <a:gd name="adj1" fmla="val 78500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793672" y="2888961"/>
            <a:ext cx="5271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generate 5 uniform values in range [1,2]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6562535" y="4247359"/>
            <a:ext cx="118754" cy="578148"/>
          </a:xfrm>
          <a:prstGeom prst="rightBrace">
            <a:avLst>
              <a:gd name="adj1" fmla="val 78500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ight Brace 11"/>
          <p:cNvSpPr/>
          <p:nvPr/>
        </p:nvSpPr>
        <p:spPr>
          <a:xfrm>
            <a:off x="6566214" y="4905110"/>
            <a:ext cx="98683" cy="484000"/>
          </a:xfrm>
          <a:prstGeom prst="rightBrace">
            <a:avLst>
              <a:gd name="adj1" fmla="val 78500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ight Brace 12"/>
          <p:cNvSpPr/>
          <p:nvPr/>
        </p:nvSpPr>
        <p:spPr>
          <a:xfrm>
            <a:off x="6585449" y="6043287"/>
            <a:ext cx="115912" cy="447540"/>
          </a:xfrm>
          <a:prstGeom prst="rightBrace">
            <a:avLst>
              <a:gd name="adj1" fmla="val 78500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789716" y="4247359"/>
            <a:ext cx="5402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 err="1">
                <a:solidFill>
                  <a:srgbClr val="C00000"/>
                </a:solidFill>
              </a:rPr>
              <a:t>numpy</a:t>
            </a:r>
            <a:r>
              <a:rPr lang="en-US" sz="2400" noProof="0" dirty="0">
                <a:solidFill>
                  <a:srgbClr val="C00000"/>
                </a:solidFill>
              </a:rPr>
              <a:t> can generate ranges with float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672" y="4893210"/>
            <a:ext cx="54022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returns a ”NumPy array” (not a list)</a:t>
            </a:r>
            <a:br>
              <a:rPr lang="en-US" sz="2400" noProof="0" dirty="0">
                <a:solidFill>
                  <a:srgbClr val="C00000"/>
                </a:solidFill>
              </a:rPr>
            </a:br>
            <a:r>
              <a:rPr lang="en-US" sz="1600" noProof="0" dirty="0">
                <a:solidFill>
                  <a:srgbClr val="C00000"/>
                </a:solidFill>
              </a:rPr>
              <a:t>”</a:t>
            </a:r>
            <a:r>
              <a:rPr lang="en-US" sz="1600" noProof="0" dirty="0" err="1">
                <a:solidFill>
                  <a:srgbClr val="C00000"/>
                </a:solidFill>
              </a:rPr>
              <a:t>arange</a:t>
            </a:r>
            <a:r>
              <a:rPr lang="en-US" sz="1600" noProof="0" dirty="0">
                <a:solidFill>
                  <a:srgbClr val="C00000"/>
                </a:solidFill>
              </a:rPr>
              <a:t>” ≡ ”array range” and generates the array explicitly</a:t>
            </a:r>
          </a:p>
          <a:p>
            <a:endParaRPr lang="en-US" sz="2400" noProof="0" dirty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93672" y="6029162"/>
            <a:ext cx="5402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C00000"/>
                </a:solidFill>
              </a:rPr>
              <a:t>generate </a:t>
            </a:r>
            <a:r>
              <a:rPr lang="en-US" sz="2400" i="1" noProof="0" dirty="0">
                <a:solidFill>
                  <a:srgbClr val="C00000"/>
                </a:solidFill>
              </a:rPr>
              <a:t>n</a:t>
            </a:r>
            <a:r>
              <a:rPr lang="en-US" sz="2400" noProof="0" dirty="0">
                <a:solidFill>
                  <a:srgbClr val="C00000"/>
                </a:solidFill>
              </a:rPr>
              <a:t> uniformly spaced values</a:t>
            </a:r>
          </a:p>
        </p:txBody>
      </p:sp>
    </p:spTree>
    <p:extLst>
      <p:ext uri="{BB962C8B-B14F-4D97-AF65-F5344CB8AC3E}">
        <p14:creationId xmlns:p14="http://schemas.microsoft.com/office/powerpoint/2010/main" val="271881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Plotting a function (example)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690994"/>
              </p:ext>
            </p:extLst>
          </p:nvPr>
        </p:nvGraphicFramePr>
        <p:xfrm>
          <a:off x="226446" y="1645366"/>
          <a:ext cx="712763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763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42586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41422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math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 = 25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[2 *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math.pi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 i / (n - 1) for i in range(n)]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[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math.sin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(v) for v in x]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'.')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65637"/>
              </p:ext>
            </p:extLst>
          </p:nvPr>
        </p:nvGraphicFramePr>
        <p:xfrm>
          <a:off x="226446" y="4239096"/>
          <a:ext cx="7127633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763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3457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sin_numpy.py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33967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8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800" b="1" noProof="0" dirty="0">
                        <a:solidFill>
                          <a:srgbClr val="00B05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linspace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2 *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25)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</a:t>
                      </a:r>
                    </a:p>
                    <a:p>
                      <a:r>
                        <a:rPr lang="en-US" sz="18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'.')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914" y="1425195"/>
            <a:ext cx="4687086" cy="33057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04914" y="4776868"/>
                <a:ext cx="4460640" cy="17553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sz="2400" noProof="0" dirty="0" err="1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np.sin</a:t>
                </a:r>
                <a:r>
                  <a:rPr lang="en-US" sz="2400" noProof="0" dirty="0"/>
                  <a:t> applies the </a:t>
                </a:r>
                <a:r>
                  <a:rPr lang="en-US" sz="24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sin </a:t>
                </a:r>
                <a:r>
                  <a:rPr lang="en-US" sz="2400" noProof="0" dirty="0"/>
                  <a:t>function </a:t>
                </a:r>
                <a:r>
                  <a:rPr lang="en-US" sz="2400" i="1" noProof="0" dirty="0"/>
                  <a:t>to each</a:t>
                </a:r>
                <a:r>
                  <a:rPr lang="en-US" sz="2400" noProof="0" dirty="0"/>
                  <a:t> element of </a:t>
                </a:r>
                <a:r>
                  <a:rPr lang="en-US" sz="24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</a:p>
              <a:p>
                <a:pPr marL="342900" indent="-342900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sz="2400" noProof="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pyplot</a:t>
                </a:r>
                <a:r>
                  <a:rPr lang="en-US" sz="2400" noProof="0" dirty="0"/>
                  <a:t> accepts NumPy arrays</a:t>
                </a:r>
              </a:p>
              <a:p>
                <a:pPr marL="342900" indent="-342900">
                  <a:buClr>
                    <a:srgbClr val="C00000"/>
                  </a:buClr>
                  <a:buFont typeface="Arial" panose="020B0604020202020204" pitchFamily="34" charset="0"/>
                  <a:buChar char="•"/>
                </a:pPr>
                <a:r>
                  <a:rPr lang="en-US" sz="2400" noProof="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math.pi</a:t>
                </a:r>
                <a:r>
                  <a:rPr lang="en-US" sz="24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== </a:t>
                </a:r>
                <a:r>
                  <a:rPr lang="en-US" sz="2400" noProof="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np.pi</a:t>
                </a:r>
                <a:r>
                  <a:rPr lang="en-US" sz="2400" noProof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noProof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7</m:t>
                        </m:r>
                      </m:den>
                    </m:f>
                  </m:oMath>
                </a14:m>
                <a:endParaRPr lang="en-US" sz="2400" noProof="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914" y="4776868"/>
                <a:ext cx="4460640" cy="1755352"/>
              </a:xfrm>
              <a:prstGeom prst="rect">
                <a:avLst/>
              </a:prstGeom>
              <a:blipFill>
                <a:blip r:embed="rId4"/>
                <a:stretch>
                  <a:fillRect l="-1776" t="-3472" r="-956"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13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 circle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644332"/>
              </p:ext>
            </p:extLst>
          </p:nvPr>
        </p:nvGraphicFramePr>
        <p:xfrm>
          <a:off x="922422" y="2486686"/>
          <a:ext cx="5084839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483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3457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circle.py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33967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linspace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2 *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.pi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100)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cos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'r.-')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[0]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y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[0]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187" y="1716468"/>
            <a:ext cx="4732922" cy="434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17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Two half circles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923060"/>
              </p:ext>
            </p:extLst>
          </p:nvPr>
        </p:nvGraphicFramePr>
        <p:xfrm>
          <a:off x="922422" y="1690688"/>
          <a:ext cx="576367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67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3457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half_circles.py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33967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.linspace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 1, 100)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.sqrt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 – x ** 2), '</a:t>
                      </a:r>
                      <a:r>
                        <a:rPr lang="en-US" sz="1800" b="1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.-')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np.sqrt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 – x ** 2)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</a:t>
                      </a:r>
                      <a:r>
                        <a:rPr lang="en-US" sz="1800" b="1" noProof="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.-')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976" y="368986"/>
            <a:ext cx="4226979" cy="40443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468345" y="1777054"/>
                <a:ext cx="3056021" cy="1660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b="0" i="1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⇓</m:t>
                      </m:r>
                    </m:oMath>
                  </m:oMathPara>
                </a14:m>
                <a:endParaRPr lang="en-US" sz="2400" b="0" i="1" noProof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b="0" noProof="0" dirty="0">
                  <a:ea typeface="Cambria Math" panose="02040503050406030204" pitchFamily="18" charset="0"/>
                </a:endParaRPr>
              </a:p>
              <a:p>
                <a:endParaRPr lang="en-US" sz="2400" noProof="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345" y="1777054"/>
                <a:ext cx="3056021" cy="16608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922422" y="4642729"/>
            <a:ext cx="108705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4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noProof="0" dirty="0"/>
              <a:t> is a NumPy array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4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sz="2400" noProof="0" dirty="0"/>
              <a:t> NumPy method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__pow__</a:t>
            </a:r>
            <a:r>
              <a:rPr lang="en-US" sz="2400" noProof="0" dirty="0"/>
              <a:t> squaring each element in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400" noProof="0" dirty="0">
                <a:solidFill>
                  <a:srgbClr val="C00000"/>
                </a:solidFill>
                <a:cs typeface="Courier New" panose="02070309020205020404" pitchFamily="49" charset="0"/>
              </a:rPr>
              <a:t>binary </a:t>
            </a:r>
            <a:r>
              <a:rPr lang="en-US" sz="24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400" noProof="0" dirty="0"/>
              <a:t> NumPy method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rsub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2400" noProof="0" dirty="0"/>
              <a:t> that for each element e in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noProof="0" dirty="0"/>
              <a:t> computes 1 - e</a:t>
            </a: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400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np.sqrt</a:t>
            </a:r>
            <a:r>
              <a:rPr lang="en-US" sz="2400" noProof="0" dirty="0"/>
              <a:t> NumPy method computing the square root of each element in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en-US" sz="24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400" noProof="0" dirty="0">
                <a:solidFill>
                  <a:srgbClr val="C00000"/>
                </a:solidFill>
                <a:cs typeface="Courier New" panose="02070309020205020404" pitchFamily="49" charset="0"/>
              </a:rPr>
              <a:t>unary </a:t>
            </a:r>
            <a:r>
              <a:rPr lang="en-US" sz="24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sz="2400" noProof="0" dirty="0"/>
              <a:t> NumPy method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__neg__</a:t>
            </a:r>
            <a:r>
              <a:rPr lang="en-US" sz="2400" noProof="0" dirty="0"/>
              <a:t> that negates each element in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10" name="Arc 9"/>
          <p:cNvSpPr/>
          <p:nvPr/>
        </p:nvSpPr>
        <p:spPr>
          <a:xfrm>
            <a:off x="3749292" y="2994310"/>
            <a:ext cx="1756610" cy="1555617"/>
          </a:xfrm>
          <a:prstGeom prst="arc">
            <a:avLst>
              <a:gd name="adj1" fmla="val 5810472"/>
              <a:gd name="adj2" fmla="val 10673900"/>
            </a:avLst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627597" y="4203700"/>
            <a:ext cx="3195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compact expression computing something quite </a:t>
            </a:r>
            <a:r>
              <a:rPr lang="en-US" noProof="0" dirty="0" err="1">
                <a:solidFill>
                  <a:srgbClr val="C00000"/>
                </a:solidFill>
              </a:rPr>
              <a:t>comlicated</a:t>
            </a:r>
            <a:endParaRPr lang="en-US" noProof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432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696" y="103870"/>
            <a:ext cx="10515600" cy="761670"/>
          </a:xfrm>
        </p:spPr>
        <p:txBody>
          <a:bodyPr/>
          <a:lstStyle/>
          <a:p>
            <a:r>
              <a:rPr lang="en-US" noProof="0" dirty="0"/>
              <a:t>Creating one-dimensional NumPy arrays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557583"/>
              </p:ext>
            </p:extLst>
          </p:nvPr>
        </p:nvGraphicFramePr>
        <p:xfrm>
          <a:off x="600693" y="750029"/>
          <a:ext cx="10920747" cy="5708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5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7167154">
                  <a:extLst>
                    <a:ext uri="{9D8B030D-6E8A-4147-A177-3AD203B41FA5}">
                      <a16:colId xmlns:a16="http://schemas.microsoft.com/office/drawing/2014/main" val="328242890"/>
                    </a:ext>
                  </a:extLst>
                </a:gridCol>
              </a:tblGrid>
              <a:tr h="405450">
                <a:tc gridSpan="2"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([1, 2, 3])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array([1, 2, 3])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((1, 2, 3))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array([1, 2, 3])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(range(1, 4))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array([1, 2, 3])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(1., 4., 1.)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array([1., 2., 3.])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np.linspace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(1, 3, 3)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array([1., 2., 3.])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np.zeros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array([0., 0., 0.])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np.ones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array([1., 1., 1.])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np.full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(3, 7)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array([7, 7, 7])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np.random.random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array([0.73761651, 0.60607355, 0.3614118 ])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([1, 2, 3])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type of all values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('int32')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='float'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array([0., 1., 2.])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='int16'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16 bit integers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array([0, 1, 2],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=int16)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='int32'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32 bit integers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array([0, 1, 2])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 **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array([1, 1000, 1000000, 1000000000,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-727379968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=int32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OOPS.. overflow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 **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(5,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='O'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array([1, 1000, 1000000, 1000000000,   1000000000000],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=object)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Python integer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='complex')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array([0.+0.j, 1.+0.j, 2.+0.j])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91347" y="5658622"/>
            <a:ext cx="6293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Elements of a NumPy array are not arbitrary precision integers by default – you can select between +25 number representations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81" y="5772403"/>
            <a:ext cx="487666" cy="4059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567640" y="6458999"/>
            <a:ext cx="85664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4"/>
              </a:rPr>
              <a:t>numpy.org/doc/stable/reference/arrays.scalars.html</a:t>
            </a:r>
            <a:endParaRPr lang="en-US" noProof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3949" y="3669635"/>
            <a:ext cx="487666" cy="405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2D2D41-C5E8-9710-8570-8CC2097A8D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3949" y="4658413"/>
            <a:ext cx="487666" cy="4059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633ABE-04BB-BEA3-2AB1-AB1DF2823887}"/>
              </a:ext>
            </a:extLst>
          </p:cNvPr>
          <p:cNvSpPr txBox="1"/>
          <p:nvPr/>
        </p:nvSpPr>
        <p:spPr>
          <a:xfrm>
            <a:off x="11486271" y="4986905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</a:rPr>
              <a:t>slow</a:t>
            </a:r>
          </a:p>
        </p:txBody>
      </p:sp>
    </p:spTree>
    <p:extLst>
      <p:ext uri="{BB962C8B-B14F-4D97-AF65-F5344CB8AC3E}">
        <p14:creationId xmlns:p14="http://schemas.microsoft.com/office/powerpoint/2010/main" val="411564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696" y="592965"/>
            <a:ext cx="10515600" cy="761670"/>
          </a:xfrm>
        </p:spPr>
        <p:txBody>
          <a:bodyPr/>
          <a:lstStyle/>
          <a:p>
            <a:r>
              <a:rPr lang="en-US" noProof="0" dirty="0"/>
              <a:t>Supported </a:t>
            </a:r>
            <a:r>
              <a:rPr lang="en-US" noProof="0" dirty="0" err="1"/>
              <a:t>dtypes</a:t>
            </a:r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737207"/>
              </p:ext>
            </p:extLst>
          </p:nvPr>
        </p:nvGraphicFramePr>
        <p:xfrm>
          <a:off x="703790" y="2685144"/>
          <a:ext cx="10784420" cy="2965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442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np.sctypeDict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['bool', 'float16', 'float32', 'float64',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longdouble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'complex64', 'complex128',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clongdouble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'bytes_', 'str_', 'void', 'object_', 'datetime64', 'timedelta64', 'int8', 'byte', 'uint8',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ubyte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'int16', 'short', 'uint16',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ushort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uintc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'int32', 'long', 'uint32',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ulong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'int64',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longlong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'uint64',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ulonglong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intp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uintp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'double',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cdouble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'single',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csingle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'half', 'bool_', 'int_',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uint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'float', 'complex', 'object', 'bytes', 'a', 'int', 'str',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unicode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567640" y="6458999"/>
            <a:ext cx="85664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numpy.org/doc/stable/reference/arrays.scalars.html</a:t>
            </a:r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0C16040-C9A5-A366-CE73-A03CC8D4C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00075"/>
          </a:xfrm>
        </p:spPr>
        <p:txBody>
          <a:bodyPr/>
          <a:lstStyle/>
          <a:p>
            <a:r>
              <a:rPr lang="en-US" noProof="0" dirty="0"/>
              <a:t>The supported </a:t>
            </a:r>
            <a:r>
              <a:rPr lang="en-US" noProof="0" dirty="0" err="1"/>
              <a:t>dtypes</a:t>
            </a:r>
            <a:r>
              <a:rPr lang="en-US" noProof="0" dirty="0"/>
              <a:t> is platform dependent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095352-3BFA-56A0-BE47-AAC9F26B11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06" y="1816937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97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618566"/>
              </p:ext>
            </p:extLst>
          </p:nvPr>
        </p:nvGraphicFramePr>
        <p:xfrm>
          <a:off x="268328" y="1919923"/>
          <a:ext cx="11695430" cy="3666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54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data_type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['</a:t>
                      </a: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half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single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600" b="1" baseline="0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longdouble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float32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float64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']:</a:t>
                      </a:r>
                    </a:p>
                    <a:p>
                      <a:pPr marL="265113" indent="0">
                        <a:buClr>
                          <a:srgbClr val="C00000"/>
                        </a:buClr>
                        <a:buSzPct val="100000"/>
                        <a:buFontTx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x = </a:t>
                      </a:r>
                      <a:r>
                        <a:rPr lang="en-US" sz="16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.array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([1], </a:t>
                      </a:r>
                      <a:r>
                        <a:rPr lang="en-US" sz="1600" b="1" baseline="0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600" b="1" baseline="0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data_type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5113" indent="0">
                        <a:buClr>
                          <a:srgbClr val="C00000"/>
                        </a:buClr>
                        <a:buSzPct val="100000"/>
                        <a:buFontTx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for i in range(100):</a:t>
                      </a:r>
                    </a:p>
                    <a:p>
                      <a:pPr marL="265113" indent="0">
                        <a:buClr>
                          <a:srgbClr val="C00000"/>
                        </a:buClr>
                        <a:buSzPct val="100000"/>
                        <a:buFontTx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x ==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+ (x / 2) ** i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265113" indent="0">
                        <a:buClr>
                          <a:srgbClr val="C00000"/>
                        </a:buClr>
                        <a:buSzPct val="100000"/>
                        <a:buFontTx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break</a:t>
                      </a:r>
                    </a:p>
                    <a:p>
                      <a:pPr marL="265113" indent="0">
                        <a:buClr>
                          <a:srgbClr val="C00000"/>
                        </a:buClr>
                        <a:buSzPct val="100000"/>
                        <a:buFontTx/>
                        <a:buNone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print(</a:t>
                      </a:r>
                      <a:r>
                        <a:rPr lang="en-US" sz="1600" b="1" baseline="0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data_type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i - 1, 'bits mantissa')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half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10 bits mantissa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52 bits mantissa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single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23 bits mantissa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52 bits mantissa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longdouble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52 bits mantissa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float32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23 bits mantissa     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platform independent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float64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52 bits mantissa          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platform independent</a:t>
                      </a:r>
                      <a:endParaRPr lang="en-US" sz="16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696" y="103869"/>
            <a:ext cx="10515600" cy="1325563"/>
          </a:xfrm>
        </p:spPr>
        <p:txBody>
          <a:bodyPr/>
          <a:lstStyle/>
          <a:p>
            <a:r>
              <a:rPr lang="en-US" noProof="0" dirty="0"/>
              <a:t>Mantissa size in various </a:t>
            </a:r>
            <a:r>
              <a:rPr lang="en-US" noProof="0" dirty="0" err="1"/>
              <a:t>numpy</a:t>
            </a:r>
            <a:r>
              <a:rPr lang="en-US" noProof="0" dirty="0"/>
              <a:t> floats 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7640" y="6458999"/>
            <a:ext cx="85664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3"/>
              </a:rPr>
              <a:t>numpy.org/doc/stable/user/basics.types.html</a:t>
            </a:r>
            <a:endParaRPr lang="en-US" noProof="0" dirty="0"/>
          </a:p>
        </p:txBody>
      </p:sp>
      <p:grpSp>
        <p:nvGrpSpPr>
          <p:cNvPr id="12" name="Group 11"/>
          <p:cNvGrpSpPr/>
          <p:nvPr/>
        </p:nvGrpSpPr>
        <p:grpSpPr>
          <a:xfrm>
            <a:off x="8061015" y="3291663"/>
            <a:ext cx="1934210" cy="923330"/>
            <a:chOff x="6414052" y="2736539"/>
            <a:chExt cx="1934210" cy="923330"/>
          </a:xfrm>
        </p:grpSpPr>
        <p:sp>
          <p:nvSpPr>
            <p:cNvPr id="3" name="TextBox 2"/>
            <p:cNvSpPr txBox="1"/>
            <p:nvPr/>
          </p:nvSpPr>
          <p:spPr>
            <a:xfrm>
              <a:off x="6414052" y="2736539"/>
              <a:ext cx="1934210" cy="9233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tIns="0" bIns="0" rtlCol="0">
              <a:spAutoFit/>
            </a:bodyPr>
            <a:lstStyle/>
            <a:p>
              <a:pPr>
                <a:lnSpc>
                  <a:spcPts val="2400"/>
                </a:lnSpc>
                <a:spcBef>
                  <a:spcPts val="600"/>
                </a:spcBef>
              </a:pPr>
              <a:r>
                <a:rPr lang="en-US" noProof="0" dirty="0">
                  <a:solidFill>
                    <a:srgbClr val="C00000"/>
                  </a:solidFill>
                  <a:cs typeface="Courier New" panose="02070309020205020404" pitchFamily="49" charset="0"/>
                </a:rPr>
                <a:t>          mantissa</a:t>
              </a:r>
            </a:p>
            <a:p>
              <a:pPr>
                <a:lnSpc>
                  <a:spcPts val="2400"/>
                </a:lnSpc>
              </a:pPr>
              <a:r>
                <a:rPr lang="en-US" b="1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1.0000100000</a:t>
              </a:r>
              <a:r>
                <a:rPr lang="en-US" b="1" baseline="-25000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>
                <a:lnSpc>
                  <a:spcPts val="2400"/>
                </a:lnSpc>
              </a:pPr>
              <a:r>
                <a:rPr lang="en-US" b="1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i</a:t>
              </a:r>
            </a:p>
          </p:txBody>
        </p:sp>
        <p:sp>
          <p:nvSpPr>
            <p:cNvPr id="10" name="Left Brace 9"/>
            <p:cNvSpPr/>
            <p:nvPr/>
          </p:nvSpPr>
          <p:spPr>
            <a:xfrm rot="16200000">
              <a:off x="7088195" y="2999588"/>
              <a:ext cx="58779" cy="648000"/>
            </a:xfrm>
            <a:prstGeom prst="leftBrace">
              <a:avLst>
                <a:gd name="adj1" fmla="val 67926"/>
                <a:gd name="adj2" fmla="val 50000"/>
              </a:avLst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Left Brace 10"/>
            <p:cNvSpPr/>
            <p:nvPr/>
          </p:nvSpPr>
          <p:spPr>
            <a:xfrm rot="16200000" flipH="1">
              <a:off x="7430784" y="2401054"/>
              <a:ext cx="57600" cy="1332000"/>
            </a:xfrm>
            <a:prstGeom prst="leftBrace">
              <a:avLst>
                <a:gd name="adj1" fmla="val 67926"/>
                <a:gd name="adj2" fmla="val 50000"/>
              </a:avLst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3" name="Straight Arrow Connector 12"/>
          <p:cNvCxnSpPr>
            <a:stCxn id="3" idx="1"/>
          </p:cNvCxnSpPr>
          <p:nvPr/>
        </p:nvCxnSpPr>
        <p:spPr>
          <a:xfrm flipH="1" flipV="1">
            <a:off x="4166797" y="3240005"/>
            <a:ext cx="3894218" cy="5133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1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330"/>
            <a:ext cx="10515600" cy="1325563"/>
          </a:xfrm>
        </p:spPr>
        <p:txBody>
          <a:bodyPr/>
          <a:lstStyle/>
          <a:p>
            <a:r>
              <a:rPr lang="en-US" noProof="0" dirty="0"/>
              <a:t>Creating multi-dimensional NumPy arrays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42082"/>
              </p:ext>
            </p:extLst>
          </p:nvPr>
        </p:nvGraphicFramePr>
        <p:xfrm>
          <a:off x="897890" y="1288100"/>
          <a:ext cx="10455910" cy="5434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79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5227955">
                  <a:extLst>
                    <a:ext uri="{9D8B030D-6E8A-4147-A177-3AD203B41FA5}">
                      <a16:colId xmlns:a16="http://schemas.microsoft.com/office/drawing/2014/main" val="74554912"/>
                    </a:ext>
                  </a:extLst>
                </a:gridCol>
              </a:tblGrid>
              <a:tr h="405450">
                <a:tc gridSpan="2"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[[1, 2, 3], [4, 5, 6]]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array([[1, 2, 3],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[4, 5, 6]])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[[1, 2], [4, 5, 6]]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ValueError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inhomogeneous shape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(1, 7)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.reshape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array([[1, 2, 3],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[4, 5, 6]])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(12)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.reshape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(2, 2, 3)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array([[[ 0,  1,  2],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[ 3,  4,  5]],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[[ 6,  7,  8],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[ 9, 10, 11]]])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(2, 5)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='int32')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array([[0, 0, 0, 0, 0],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[0, 0, 0, 0, 0]])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.size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.ndim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.shape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(2, 2, 3)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.dtype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('int32')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flatten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array([0,1,2,3,4,5,6,7,8,9,10,11])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flat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flat is an iterator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[0,1,2,3,4,5,6,7,8,9,10,11]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.eye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(3)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diagonal 2D array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array([[1., 0., 0.],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[0., 1., 0.],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[0., 0., 1.]])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1193D85-B494-3907-983F-971117A481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492" y="2668148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157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NumPy operations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210686"/>
              </p:ext>
            </p:extLst>
          </p:nvPr>
        </p:nvGraphicFramePr>
        <p:xfrm>
          <a:off x="273132" y="1690688"/>
          <a:ext cx="11684635" cy="4611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7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4954905">
                  <a:extLst>
                    <a:ext uri="{9D8B030D-6E8A-4147-A177-3AD203B41FA5}">
                      <a16:colId xmlns:a16="http://schemas.microsoft.com/office/drawing/2014/main" val="74554912"/>
                    </a:ext>
                  </a:extLst>
                </a:gridCol>
              </a:tblGrid>
              <a:tr h="405450">
                <a:tc gridSpan="2"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array([0, 1, 2])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elementwise addition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array([0, 2, 4])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add integer to each element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array([1, 2, 3])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elementwise multiplication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array([0, 1, 4])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np.dot(x, x)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dot product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np.cross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([1, 2, 3], [3, 2, 1])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cross product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array([-4,  8, -4])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(6).reshape(2,3)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array([[0, 1, 2],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[3, 4, 5]])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.T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matrix transposition, </a:t>
                      </a:r>
                      <a:r>
                        <a:rPr lang="en-US" sz="1800" b="1" u="sng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view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array([[0, 3],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[1, 4],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[2, 5]])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@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matrix multiplication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array([[ 5, 14],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[14, 50]])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+=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 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also modifies all views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array([[1, 2, 3],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[4, 5, 6]])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96000" y="6391295"/>
            <a:ext cx="60673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PEP 465 - A dedicated infix operator for matrix multiplication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10596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Universal functions (apply to each entry)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648509"/>
              </p:ext>
            </p:extLst>
          </p:nvPr>
        </p:nvGraphicFramePr>
        <p:xfrm>
          <a:off x="1092835" y="2157037"/>
          <a:ext cx="10006330" cy="3514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63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[[1, 2], [3, 4]]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also: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ceil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floor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array([[ 0.84147098,  0.90929743],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[ 0.14112001, -0.7568025 ]])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sign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np.sin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array([[ 1.,  1.],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[ 1., -1.]])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(10), 3)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same as: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(10) %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array([0, 1, 2, 0, 1, 2, 0, 1, 2, 0],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=int32)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da-DK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da-DK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</a:t>
                      </a:r>
                      <a:r>
                        <a:rPr lang="da-DK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(10, </a:t>
                      </a:r>
                      <a:r>
                        <a:rPr lang="da-DK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da-DK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10))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same as: </a:t>
                      </a:r>
                      <a:r>
                        <a:rPr lang="da-DK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np.mod(10, </a:t>
                      </a:r>
                      <a:r>
                        <a:rPr lang="da-DK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da-DK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10))</a:t>
                      </a:r>
                      <a:endParaRPr lang="en-US" sz="18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array([0, 0, 1, 2, 0, 4, 3, 2, 1])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860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Axis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64759"/>
              </p:ext>
            </p:extLst>
          </p:nvPr>
        </p:nvGraphicFramePr>
        <p:xfrm>
          <a:off x="155294" y="1933756"/>
          <a:ext cx="5091430" cy="3788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14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7).reshape(2, 3)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array([[1, 2, 3],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[4, 5, 6]])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=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x.sum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(axis=(0, 1))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axis=0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array([5, 7, 9])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axis=1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array([6, 15])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=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x.min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(axis=(0, 1))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506808"/>
              </p:ext>
            </p:extLst>
          </p:nvPr>
        </p:nvGraphicFramePr>
        <p:xfrm>
          <a:off x="5374046" y="1933756"/>
          <a:ext cx="6593205" cy="3788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32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axis=0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array([1, 2, 3])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axis=1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array([1, 4])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cumsum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array([ 1,  3,  6, 10, 15, 21],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=int32)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cumsum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axis=0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array([[1, 2, 3],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[5, 7, 9]],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=int32)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cumsum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axis=1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array([[ 1,  3,  6],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[ 4,  9, 15]],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=int32)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329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789" y="127618"/>
            <a:ext cx="10515600" cy="1325563"/>
          </a:xfrm>
        </p:spPr>
        <p:txBody>
          <a:bodyPr/>
          <a:lstStyle/>
          <a:p>
            <a:r>
              <a:rPr lang="en-US" noProof="0" dirty="0"/>
              <a:t>Slicing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543589"/>
              </p:ext>
            </p:extLst>
          </p:nvPr>
        </p:nvGraphicFramePr>
        <p:xfrm>
          <a:off x="1338789" y="1383731"/>
          <a:ext cx="9514421" cy="516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4421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(20).reshape(4, 5)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array([[ 0,  1,  2,  3,  4],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[ 5,  6,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 9],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[10, 11, 12, 13, 14],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[15, 16,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19]])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x[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2, 3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=  x[(2, 3)] = x[2][3]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sz="18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x[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1:4:2, 2:4:1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rows 1 and 3, and columns 2 and 3, view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array([[ 7,  8],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[17, 18]])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x[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3]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array([ 3,  8, 13, 18])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x[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3]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... is placeholder for ':' for all missing dimensions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array([ 3,  8, 13, 18])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type(...)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'ellipsis'&gt;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737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828" y="97787"/>
            <a:ext cx="11268919" cy="1325563"/>
          </a:xfrm>
        </p:spPr>
        <p:txBody>
          <a:bodyPr/>
          <a:lstStyle/>
          <a:p>
            <a:r>
              <a:rPr lang="en-US" noProof="0" dirty="0"/>
              <a:t>Broadcasting (stretching arrays to get same size)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231093"/>
              </p:ext>
            </p:extLst>
          </p:nvPr>
        </p:nvGraphicFramePr>
        <p:xfrm>
          <a:off x="5789744" y="1191636"/>
          <a:ext cx="6183630" cy="5434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36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([[1, 2, 3], [4, 5, 6]])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([1, 2, 3])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one row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([[1], [2]])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one column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+ 3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add 3 to each entry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array([[4, 5, 6],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[7, 8, 9]])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+ y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add y to each row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array([[2, 4, 6],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[5, 7, 9]])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+ z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add z to each column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array([[2, 3, 4],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[6, 7, 8]])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+ z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2 rows with y + 3 columns with z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array([[2, 3, 4],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[3, 4, 5]])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 ==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z.T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[[1,1],[2,2]] == [[1,2],[1,2]]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 True, False],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[False,  True]])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31495" y="1608548"/>
            <a:ext cx="5476684" cy="4786024"/>
          </a:xfrm>
        </p:spPr>
        <p:txBody>
          <a:bodyPr>
            <a:normAutofit/>
          </a:bodyPr>
          <a:lstStyle/>
          <a:p>
            <a:r>
              <a:rPr lang="en-US" sz="2400" noProof="0" dirty="0" err="1"/>
              <a:t>Numpy</a:t>
            </a:r>
            <a:r>
              <a:rPr lang="en-US" sz="2400" noProof="0" dirty="0"/>
              <a:t> tries to apply </a:t>
            </a:r>
            <a:r>
              <a:rPr lang="en-US" sz="2400" i="1" noProof="0" dirty="0"/>
              <a:t>broadcasting</a:t>
            </a:r>
            <a:r>
              <a:rPr lang="en-US" sz="2400" noProof="0" dirty="0"/>
              <a:t>, if array shapes do not match, i.e. adds missing leading dimensions and repeats a dimension with only one element: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[[1],[2]] + [10,20]  </a:t>
            </a:r>
            <a:r>
              <a:rPr lang="en-US" sz="1800" i="1" noProof="0" dirty="0">
                <a:cs typeface="Courier New" panose="02070309020205020404" pitchFamily="49" charset="0"/>
              </a:rPr>
              <a:t>  column + row vector</a:t>
            </a:r>
            <a:b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≡ [[1],[2]] + [[10,20]]</a:t>
            </a:r>
            <a:r>
              <a:rPr lang="en-US" sz="1800" i="1" noProof="0" dirty="0">
                <a:cs typeface="Courier New" panose="02070309020205020404" pitchFamily="49" charset="0"/>
              </a:rPr>
              <a:t>              both </a:t>
            </a:r>
            <a:r>
              <a:rPr lang="en-US" sz="1800" i="1" noProof="0" dirty="0" err="1">
                <a:cs typeface="Courier New" panose="02070309020205020404" pitchFamily="49" charset="0"/>
              </a:rPr>
              <a:t>ndim</a:t>
            </a:r>
            <a:r>
              <a:rPr lang="en-US" sz="1800" i="1" noProof="0" dirty="0">
                <a:cs typeface="Courier New" panose="02070309020205020404" pitchFamily="49" charset="0"/>
              </a:rPr>
              <a:t> = 2 </a:t>
            </a:r>
            <a:b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≡ [[1,1],[2,2]] + [[10,20]] </a:t>
            </a:r>
            <a:b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≡ [[1,1],[2,2]] + [[10,20],[10,20]]</a:t>
            </a:r>
            <a:b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≡ [[11,21],[12,22]]</a:t>
            </a:r>
            <a:endParaRPr lang="en-US" sz="2400" noProof="0" dirty="0"/>
          </a:p>
          <a:p>
            <a:r>
              <a:rPr lang="en-US" sz="2400" noProof="0" dirty="0"/>
              <a:t>To prevent unexpected broadcasting, add an assertion to your program:</a:t>
            </a:r>
          </a:p>
          <a:p>
            <a:pPr marL="0" indent="0" algn="ctr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assert 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x.shape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y.shape</a:t>
            </a:r>
            <a:endParaRPr lang="en-US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30" y="5249452"/>
            <a:ext cx="487666" cy="40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023" y="6394572"/>
            <a:ext cx="56271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noProof="0" dirty="0">
                <a:hlinkClick r:id="rId4"/>
              </a:rPr>
              <a:t>docs.scipy.org/doc/</a:t>
            </a:r>
            <a:r>
              <a:rPr lang="en-US" noProof="0" dirty="0" err="1">
                <a:hlinkClick r:id="rId4"/>
              </a:rPr>
              <a:t>numpy</a:t>
            </a:r>
            <a:r>
              <a:rPr lang="en-US" noProof="0" dirty="0">
                <a:hlinkClick r:id="rId4"/>
              </a:rPr>
              <a:t>/user/basics.broadcasting.html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884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00" y="87330"/>
            <a:ext cx="10515600" cy="1325563"/>
          </a:xfrm>
        </p:spPr>
        <p:txBody>
          <a:bodyPr/>
          <a:lstStyle/>
          <a:p>
            <a:r>
              <a:rPr lang="en-US" noProof="0" dirty="0"/>
              <a:t>View vs Copy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254449"/>
              </p:ext>
            </p:extLst>
          </p:nvPr>
        </p:nvGraphicFramePr>
        <p:xfrm>
          <a:off x="6851961" y="434327"/>
          <a:ext cx="4954905" cy="598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49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(6)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</a:t>
                      </a:r>
                      <a:r>
                        <a:rPr lang="en-US" sz="1800" b="1" baseline="0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reshape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view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y[0][0] =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updates x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1, 2, 3, 4, 5])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1, 2],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[ 3, 4, 5]])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y.</a:t>
                      </a:r>
                      <a:r>
                        <a:rPr lang="en-US" sz="1800" b="1" baseline="0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flatten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copy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z[5] = 0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array([42, 1, 2, 3, 4,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array([42, 1, 2, 3, 4,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y.</a:t>
                      </a:r>
                      <a:r>
                        <a:rPr lang="en-US" sz="1800" b="1" baseline="0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ravel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view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w[5] = -1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array([42, 1, 2, 3, 4,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-1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array([42, 1, 2, 3, 4,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49100" y="1347168"/>
            <a:ext cx="5856514" cy="5510831"/>
          </a:xfrm>
        </p:spPr>
        <p:txBody>
          <a:bodyPr>
            <a:normAutofit lnSpcReduction="10000"/>
          </a:bodyPr>
          <a:lstStyle/>
          <a:p>
            <a:r>
              <a:rPr lang="en-US" noProof="0" dirty="0" err="1"/>
              <a:t>Numpy</a:t>
            </a:r>
            <a:r>
              <a:rPr lang="en-US" noProof="0" dirty="0"/>
              <a:t> is optimized to handle big multi-dimensional arrays</a:t>
            </a:r>
          </a:p>
          <a:p>
            <a:r>
              <a:rPr lang="en-US" noProof="0" dirty="0"/>
              <a:t>To </a:t>
            </a:r>
            <a:r>
              <a:rPr lang="en-US" i="1" noProof="0" dirty="0"/>
              <a:t>avoid copying</a:t>
            </a:r>
            <a:r>
              <a:rPr lang="en-US" noProof="0" dirty="0"/>
              <a:t> data, </a:t>
            </a:r>
            <a:r>
              <a:rPr lang="en-US" b="1" noProof="0" dirty="0">
                <a:solidFill>
                  <a:srgbClr val="C00000"/>
                </a:solidFill>
              </a:rPr>
              <a:t>views</a:t>
            </a:r>
            <a:r>
              <a:rPr lang="en-US" noProof="0" dirty="0"/>
              <a:t> allows one to look at the underlying data in different ways (data can be shared by multiple views)</a:t>
            </a:r>
          </a:p>
          <a:p>
            <a:r>
              <a:rPr lang="en-US" noProof="0" dirty="0"/>
              <a:t>Slicing always creates views;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reshape</a:t>
            </a:r>
            <a:r>
              <a:rPr lang="en-US" noProof="0" dirty="0"/>
              <a:t> and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ravel</a:t>
            </a:r>
            <a:r>
              <a:rPr lang="en-US" noProof="0" dirty="0"/>
              <a:t> creates views if possible</a:t>
            </a:r>
          </a:p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flatten</a:t>
            </a:r>
            <a:r>
              <a:rPr lang="en-US" noProof="0" dirty="0"/>
              <a:t> and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ravel</a:t>
            </a:r>
            <a:r>
              <a:rPr lang="en-US" noProof="0" dirty="0"/>
              <a:t> both turn multiple dimensional arrays into one dimensional arrays but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flatten </a:t>
            </a:r>
            <a:r>
              <a:rPr lang="en-US" noProof="0" dirty="0"/>
              <a:t>creates an explicit copy whereas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ravel</a:t>
            </a:r>
            <a:r>
              <a:rPr lang="en-US" noProof="0" dirty="0"/>
              <a:t> sometimes creates a view</a:t>
            </a:r>
          </a:p>
        </p:txBody>
      </p:sp>
    </p:spTree>
    <p:extLst>
      <p:ext uri="{BB962C8B-B14F-4D97-AF65-F5344CB8AC3E}">
        <p14:creationId xmlns:p14="http://schemas.microsoft.com/office/powerpoint/2010/main" val="4225977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7B464-AA18-DA55-9DB0-8EBECF333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D65B0-8778-D37B-362F-1D2D735C6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30"/>
            <a:ext cx="10515600" cy="1325563"/>
          </a:xfrm>
        </p:spPr>
        <p:txBody>
          <a:bodyPr/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.reshape</a:t>
            </a:r>
            <a:r>
              <a:rPr lang="en-US" noProof="0" dirty="0"/>
              <a:t> does not always return a 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B5722F-C402-7CA6-C220-2273C2BEB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921756"/>
              </p:ext>
            </p:extLst>
          </p:nvPr>
        </p:nvGraphicFramePr>
        <p:xfrm>
          <a:off x="4848216" y="1296334"/>
          <a:ext cx="7150418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41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8622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937675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(10,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=np.int32)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int32 = 32 bits = 4 bytes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A.reshape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(2, 5)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creates a view, </a:t>
                      </a:r>
                      <a:r>
                        <a:rPr lang="en-US" sz="14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B.strides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(20, 4)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B[:, 1:5:2]    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slice all rows, columns 1 and 3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=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C.reshape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(4)   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silently makes a copy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A[1] =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update A[1] and all views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[ 0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2  3  4  5  6  7  8  9]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[[ 0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2  3  4]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[ 5  6  7  8  9]]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[[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3]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[ 6  8]]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en-US" sz="14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3 6 8]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different memory than A, B and C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C.reshape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copy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=False)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control if copying is allowed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ValueError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Unable to avoid creating a copy while reshaping.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strides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(20, 8)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advance 1 row/column = move 20/8 bytes forward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E934EC1-5380-312B-2DCB-3D99DD6603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34" y="514297"/>
            <a:ext cx="487666" cy="405904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8F7BF85-04BD-D6B1-A6C2-8EAC675E5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003987"/>
              </p:ext>
            </p:extLst>
          </p:nvPr>
        </p:nvGraphicFramePr>
        <p:xfrm>
          <a:off x="5770283" y="5803804"/>
          <a:ext cx="5306284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9364">
                  <a:extLst>
                    <a:ext uri="{9D8B030D-6E8A-4147-A177-3AD203B41FA5}">
                      <a16:colId xmlns:a16="http://schemas.microsoft.com/office/drawing/2014/main" val="1955912827"/>
                    </a:ext>
                  </a:extLst>
                </a:gridCol>
                <a:gridCol w="378692">
                  <a:extLst>
                    <a:ext uri="{9D8B030D-6E8A-4147-A177-3AD203B41FA5}">
                      <a16:colId xmlns:a16="http://schemas.microsoft.com/office/drawing/2014/main" val="4266929678"/>
                    </a:ext>
                  </a:extLst>
                </a:gridCol>
                <a:gridCol w="378692">
                  <a:extLst>
                    <a:ext uri="{9D8B030D-6E8A-4147-A177-3AD203B41FA5}">
                      <a16:colId xmlns:a16="http://schemas.microsoft.com/office/drawing/2014/main" val="3264304265"/>
                    </a:ext>
                  </a:extLst>
                </a:gridCol>
                <a:gridCol w="378692">
                  <a:extLst>
                    <a:ext uri="{9D8B030D-6E8A-4147-A177-3AD203B41FA5}">
                      <a16:colId xmlns:a16="http://schemas.microsoft.com/office/drawing/2014/main" val="3726988378"/>
                    </a:ext>
                  </a:extLst>
                </a:gridCol>
                <a:gridCol w="378692">
                  <a:extLst>
                    <a:ext uri="{9D8B030D-6E8A-4147-A177-3AD203B41FA5}">
                      <a16:colId xmlns:a16="http://schemas.microsoft.com/office/drawing/2014/main" val="518166755"/>
                    </a:ext>
                  </a:extLst>
                </a:gridCol>
                <a:gridCol w="378692">
                  <a:extLst>
                    <a:ext uri="{9D8B030D-6E8A-4147-A177-3AD203B41FA5}">
                      <a16:colId xmlns:a16="http://schemas.microsoft.com/office/drawing/2014/main" val="3433525664"/>
                    </a:ext>
                  </a:extLst>
                </a:gridCol>
                <a:gridCol w="378692">
                  <a:extLst>
                    <a:ext uri="{9D8B030D-6E8A-4147-A177-3AD203B41FA5}">
                      <a16:colId xmlns:a16="http://schemas.microsoft.com/office/drawing/2014/main" val="1874326870"/>
                    </a:ext>
                  </a:extLst>
                </a:gridCol>
                <a:gridCol w="378692">
                  <a:extLst>
                    <a:ext uri="{9D8B030D-6E8A-4147-A177-3AD203B41FA5}">
                      <a16:colId xmlns:a16="http://schemas.microsoft.com/office/drawing/2014/main" val="584749855"/>
                    </a:ext>
                  </a:extLst>
                </a:gridCol>
                <a:gridCol w="378692">
                  <a:extLst>
                    <a:ext uri="{9D8B030D-6E8A-4147-A177-3AD203B41FA5}">
                      <a16:colId xmlns:a16="http://schemas.microsoft.com/office/drawing/2014/main" val="2458129637"/>
                    </a:ext>
                  </a:extLst>
                </a:gridCol>
                <a:gridCol w="378692">
                  <a:extLst>
                    <a:ext uri="{9D8B030D-6E8A-4147-A177-3AD203B41FA5}">
                      <a16:colId xmlns:a16="http://schemas.microsoft.com/office/drawing/2014/main" val="2486226663"/>
                    </a:ext>
                  </a:extLst>
                </a:gridCol>
                <a:gridCol w="378692">
                  <a:extLst>
                    <a:ext uri="{9D8B030D-6E8A-4147-A177-3AD203B41FA5}">
                      <a16:colId xmlns:a16="http://schemas.microsoft.com/office/drawing/2014/main" val="3386979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800" b="0" noProof="0" dirty="0"/>
                        <a:t>Memory offset (bytes)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noProof="0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noProof="0" dirty="0"/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noProof="0" dirty="0"/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noProof="0" dirty="0"/>
                        <a:t>12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noProof="0" dirty="0"/>
                        <a:t>16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noProof="0" dirty="0"/>
                        <a:t>20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noProof="0" dirty="0"/>
                        <a:t>24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noProof="0" dirty="0"/>
                        <a:t>28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noProof="0" dirty="0"/>
                        <a:t>32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noProof="0" dirty="0"/>
                        <a:t>36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60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b="0" noProof="0" dirty="0"/>
                        <a:t>Data for </a:t>
                      </a:r>
                      <a:r>
                        <a:rPr lang="en-US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b="0" noProof="0" dirty="0"/>
                        <a:t> </a:t>
                      </a:r>
                      <a:r>
                        <a:rPr lang="en-US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b="0" noProof="0" dirty="0"/>
                        <a:t> </a:t>
                      </a:r>
                      <a:r>
                        <a:rPr lang="en-US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>
                          <a:solidFill>
                            <a:srgbClr val="C00000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noProof="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619424"/>
                  </a:ext>
                </a:extLst>
              </a:tr>
            </a:tbl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536259-9A77-51D4-8E62-B800C0C88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89" y="1360642"/>
            <a:ext cx="4822598" cy="5510832"/>
          </a:xfrm>
        </p:spPr>
        <p:txBody>
          <a:bodyPr>
            <a:normAutofit/>
          </a:bodyPr>
          <a:lstStyle/>
          <a:p>
            <a:r>
              <a:rPr lang="en-US" sz="2600" noProof="0" dirty="0"/>
              <a:t>A </a:t>
            </a:r>
            <a:r>
              <a:rPr lang="en-US" sz="2600" noProof="0" dirty="0" err="1"/>
              <a:t>Numpy</a:t>
            </a:r>
            <a:r>
              <a:rPr lang="en-US" sz="2600" noProof="0" dirty="0"/>
              <a:t> array is stored in </a:t>
            </a:r>
            <a:r>
              <a:rPr lang="en-US" sz="2600" dirty="0"/>
              <a:t>consecutive bytes in memory</a:t>
            </a:r>
            <a:endParaRPr lang="en-US" sz="2600" noProof="0" dirty="0"/>
          </a:p>
          <a:p>
            <a:r>
              <a:rPr lang="en-US" sz="2600" dirty="0"/>
              <a:t>The </a:t>
            </a:r>
            <a:r>
              <a:rPr lang="en-US" sz="2600" b="1" dirty="0">
                <a:solidFill>
                  <a:srgbClr val="C00000"/>
                </a:solidFill>
              </a:rPr>
              <a:t>strides</a:t>
            </a:r>
            <a:r>
              <a:rPr lang="en-US" sz="2600" dirty="0"/>
              <a:t> of an array states how many bytes should be added when incrementing the index in each dimension by one</a:t>
            </a:r>
            <a:endParaRPr lang="en-US" sz="2600" noProof="0" dirty="0"/>
          </a:p>
          <a:p>
            <a:r>
              <a:rPr lang="en-US" sz="2600" noProof="0" dirty="0"/>
              <a:t>Transposition and slicing only change </a:t>
            </a:r>
            <a:r>
              <a:rPr lang="en-US" sz="2600" dirty="0"/>
              <a:t>the strides; reshaping creates a view if it is sufficient to change strides, otherwise a new copy is created</a:t>
            </a:r>
          </a:p>
          <a:p>
            <a:r>
              <a:rPr lang="en-US" sz="2600" noProof="0" dirty="0"/>
              <a:t>Knowing the difference between a view and a copy is crucial when writing to cells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F35FA3-59B8-D751-83E5-A1D743C09A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075" y="4427280"/>
            <a:ext cx="487666" cy="4059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027067D-FF74-F589-0401-9509129ED86D}"/>
              </a:ext>
            </a:extLst>
          </p:cNvPr>
          <p:cNvSpPr txBox="1"/>
          <p:nvPr/>
        </p:nvSpPr>
        <p:spPr>
          <a:xfrm>
            <a:off x="6069856" y="6474708"/>
            <a:ext cx="6113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4"/>
              </a:rPr>
              <a:t>numpy.org/doc/stable/dev/internals.html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283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10" y="365125"/>
            <a:ext cx="11695289" cy="1325563"/>
          </a:xfrm>
        </p:spPr>
        <p:txBody>
          <a:bodyPr/>
          <a:lstStyle/>
          <a:p>
            <a:r>
              <a:rPr lang="en-US" noProof="0" dirty="0"/>
              <a:t>Question – What is print(D, F)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7822" y="2506662"/>
            <a:ext cx="3798255" cy="2831148"/>
          </a:xfrm>
        </p:spPr>
        <p:txBody>
          <a:bodyPr/>
          <a:lstStyle/>
          <a:p>
            <a:r>
              <a:rPr lang="en-US" dirty="0"/>
              <a:t>[2 3 0 1] [3 2 1 0]</a:t>
            </a:r>
            <a:endParaRPr lang="en-US" noProof="0" dirty="0"/>
          </a:p>
          <a:p>
            <a:r>
              <a:rPr lang="en-US" dirty="0"/>
              <a:t>[2 3 -1 1] [3 2 1 -1]</a:t>
            </a:r>
            <a:endParaRPr lang="en-US" noProof="0" dirty="0"/>
          </a:p>
          <a:p>
            <a:r>
              <a:rPr lang="en-US" dirty="0"/>
              <a:t>[2 3 -1 1] [3 2 1 0]</a:t>
            </a:r>
            <a:endParaRPr lang="en-US" noProof="0" dirty="0"/>
          </a:p>
          <a:p>
            <a:r>
              <a:rPr lang="en-US" dirty="0"/>
              <a:t>[2 3 0 1] [ 3  2  1 -1]</a:t>
            </a:r>
            <a:endParaRPr lang="en-US" noProof="0" dirty="0"/>
          </a:p>
          <a:p>
            <a:r>
              <a:rPr lang="en-US" noProof="0" dirty="0"/>
              <a:t>Don’t know</a:t>
            </a:r>
          </a:p>
          <a:p>
            <a:endParaRPr lang="en-US" noProof="0" dirty="0"/>
          </a:p>
        </p:txBody>
      </p:sp>
      <p:sp>
        <p:nvSpPr>
          <p:cNvPr id="5" name="Smiley Face 4" descr="QuizAnswer"/>
          <p:cNvSpPr/>
          <p:nvPr/>
        </p:nvSpPr>
        <p:spPr>
          <a:xfrm>
            <a:off x="7431720" y="4071937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6B87B3-3782-3BAE-7755-B514277AF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203769"/>
              </p:ext>
            </p:extLst>
          </p:nvPr>
        </p:nvGraphicFramePr>
        <p:xfrm>
          <a:off x="1268505" y="1557891"/>
          <a:ext cx="261374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74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8622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937675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array([0, 1, 2, 3])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 =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A.reshape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(2, 2)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array([[0, 1],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[2, 3]])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B[::-1, :]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array([[2, 3],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[0, 1]])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 =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C.reshape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array([2, 3, 0, 1])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 = </a:t>
                      </a:r>
                      <a:r>
                        <a:rPr lang="en-US" sz="1400" b="1" baseline="0" noProof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C[:, 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::-1]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array([[3, 2],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[1, 0]])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 =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E.reshape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array([3, 2, 1, 0])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A[0] = 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 descr="QuizAnswer">
            <a:extLst>
              <a:ext uri="{FF2B5EF4-FFF2-40B4-BE49-F238E27FC236}">
                <a16:creationId xmlns:a16="http://schemas.microsoft.com/office/drawing/2014/main" id="{276D1744-8E01-1FD1-74AF-91054DBAC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494951"/>
              </p:ext>
            </p:extLst>
          </p:nvPr>
        </p:nvGraphicFramePr>
        <p:xfrm>
          <a:off x="4026262" y="1560613"/>
          <a:ext cx="273558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5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8622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 (</a:t>
                      </a:r>
                      <a:r>
                        <a:rPr lang="en-US" sz="1400" b="1" i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continue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937675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1, 2, 3])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1],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[2, 3]])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array([[2, 3],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array([2, 3,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array([[3, 2],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[1,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array([3, 2, 1,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E.strides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(-16, -8)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F.strides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(-8,)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8" name="Picture 7" descr="QuizAnswer">
            <a:extLst>
              <a:ext uri="{FF2B5EF4-FFF2-40B4-BE49-F238E27FC236}">
                <a16:creationId xmlns:a16="http://schemas.microsoft.com/office/drawing/2014/main" id="{BCC90CE5-CBAC-300B-6F9D-669FFD8FD5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586" y="3723704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99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828" y="97787"/>
            <a:ext cx="11268919" cy="1325563"/>
          </a:xfrm>
        </p:spPr>
        <p:txBody>
          <a:bodyPr/>
          <a:lstStyle/>
          <a:p>
            <a:r>
              <a:rPr lang="en-US" noProof="0" dirty="0"/>
              <a:t>Masking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576342"/>
              </p:ext>
            </p:extLst>
          </p:nvPr>
        </p:nvGraphicFramePr>
        <p:xfrm>
          <a:off x="1334390" y="1596971"/>
          <a:ext cx="9187180" cy="4611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71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11).reshape(2, 5)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endParaRPr lang="en-US" sz="18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array([[ 1,  2,  3,  4,  5],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[ 6,  7,  8,  9, 10]])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%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array([[1, 2, 0, 1, 2],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[0, 1, 2, 0, 1]],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=int32)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% 3 == 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array([[False, False,  True, False, False],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 True, False, False,  True, False]])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x[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% 3 == 0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use Boolean matrix to select entries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array([3, 6, 9])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x[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:,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x.sum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(axis=0) % 3 == 0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columns with sum divisible by 3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array([[ 2,  5],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[ 7, 10]])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865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46676"/>
          </a:xfrm>
        </p:spPr>
        <p:txBody>
          <a:bodyPr/>
          <a:lstStyle/>
          <a:p>
            <a:r>
              <a:rPr lang="en-US" noProof="0" dirty="0" err="1"/>
              <a:t>Numpy</a:t>
            </a:r>
            <a:r>
              <a:rPr lang="en-US" noProof="0" dirty="0"/>
              <a:t> is fast... but be aware of </a:t>
            </a:r>
            <a:r>
              <a:rPr lang="en-US" noProof="0" dirty="0" err="1"/>
              <a:t>dtype</a:t>
            </a:r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853" y="370386"/>
            <a:ext cx="487666" cy="4059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834941"/>
              </p:ext>
            </p:extLst>
          </p:nvPr>
        </p:nvGraphicFramePr>
        <p:xfrm>
          <a:off x="667473" y="941964"/>
          <a:ext cx="11042248" cy="5587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224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sum([x**2 for x in range(1000000)])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333332833333500000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(1000000)**2).sum()</a:t>
                      </a:r>
                      <a:endParaRPr lang="en-US" sz="18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584144992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wrong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since overflow when default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='int32'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(1000000,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int64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')**2).sum()</a:t>
                      </a:r>
                      <a:endParaRPr lang="en-US" sz="18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333332833333500000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64 bit integers do not overflow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from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timeit</a:t>
                      </a:r>
                      <a:endParaRPr lang="en-US" sz="18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('sum([x**2 for x in range(1000000)])', number=1)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0.5614346340007614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('(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(1000000)**2).sum()', setup='import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np', number=1)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0.014362967000124627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ridiculous fast but also wrong result...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endParaRPr lang="en-US" sz="18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('(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(1000000,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int64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')**2).sum()', </a:t>
                      </a:r>
                      <a:b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setup='import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np', number=1)</a:t>
                      </a:r>
                    </a:p>
                    <a:p>
                      <a:pPr marL="266700" indent="-26670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0.048017077999247704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fast and correct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iinfo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np.int32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).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-2147483648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iinfo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np.int32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).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2147483647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3" y="4013425"/>
            <a:ext cx="487666" cy="4059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3" y="2059233"/>
            <a:ext cx="487666" cy="4059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66382-8AC1-0451-54AF-8938A0E11DE0}"/>
              </a:ext>
            </a:extLst>
          </p:cNvPr>
          <p:cNvSpPr txBox="1"/>
          <p:nvPr/>
        </p:nvSpPr>
        <p:spPr>
          <a:xfrm>
            <a:off x="6096000" y="6493136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noProof="0" dirty="0"/>
              <a:t>results using a 32-bit Python installation</a:t>
            </a:r>
          </a:p>
        </p:txBody>
      </p:sp>
    </p:spTree>
    <p:extLst>
      <p:ext uri="{BB962C8B-B14F-4D97-AF65-F5344CB8AC3E}">
        <p14:creationId xmlns:p14="http://schemas.microsoft.com/office/powerpoint/2010/main" val="3517907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716003"/>
              </p:ext>
            </p:extLst>
          </p:nvPr>
        </p:nvGraphicFramePr>
        <p:xfrm>
          <a:off x="7160877" y="1100376"/>
          <a:ext cx="458743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743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483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744684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np.int32(- 2 ** 31)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-2147483648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np.int32(- 2 ** 31) + 1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-2147483647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np.int32(- 2 ** 31) - 1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2147483647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np.int32(2 ** 31)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OverflowError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Python int too large to convert to C long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np.int32(2 ** 31 - 1)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2147483647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np.int32(2 ** 31 - 1) + 1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-2147483648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np.abs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(np.int32(-2147483647))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2147483647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np.abs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(np.int32(-2147483648))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2147483648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002946" cy="1146676"/>
          </a:xfrm>
        </p:spPr>
        <p:txBody>
          <a:bodyPr>
            <a:normAutofit fontScale="90000"/>
          </a:bodyPr>
          <a:lstStyle/>
          <a:p>
            <a:pPr algn="ctr"/>
            <a:r>
              <a:rPr lang="en-US" noProof="0" dirty="0"/>
              <a:t>numpy.int32 – 32 bit signed two’s-complement integers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13723" y="6247700"/>
            <a:ext cx="44782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numpy.org/doc/stable/user/basics.types.html</a:t>
            </a:r>
            <a:endParaRPr lang="en-US" noProof="0" dirty="0"/>
          </a:p>
          <a:p>
            <a:pPr algn="r"/>
            <a:r>
              <a:rPr lang="en-US" noProof="0" dirty="0">
                <a:hlinkClick r:id="rId4"/>
              </a:rPr>
              <a:t>en.wikipedia.org/wiki/</a:t>
            </a:r>
            <a:r>
              <a:rPr lang="en-US" noProof="0" dirty="0" err="1">
                <a:hlinkClick r:id="rId4"/>
              </a:rPr>
              <a:t>Two’s_complement</a:t>
            </a:r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5470" y="1146676"/>
                <a:ext cx="5407660" cy="1878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noProof="0" dirty="0"/>
                  <a:t>32 bits   </a:t>
                </a:r>
                <a:r>
                  <a:rPr lang="en-US" sz="2400" i="1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sSub>
                      <m:sSubPr>
                        <m:ctrlPr>
                          <a:rPr lang="en-US" sz="2400" i="1" noProof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sSub>
                      <m:sSubPr>
                        <m:ctrlPr>
                          <a:rPr lang="en-US" sz="2400" i="1" noProof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b>
                    </m:sSub>
                    <m:sSub>
                      <m:sSubPr>
                        <m:ctrlPr>
                          <a:rPr lang="en-US" sz="2400" i="1" noProof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  <m:r>
                      <a:rPr lang="en-US" sz="24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400" i="1" noProof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 noProof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 noProof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noProof="0" dirty="0"/>
                  <a:t> </a:t>
                </a:r>
                <a:br>
                  <a:rPr lang="en-US" sz="2400" noProof="0" dirty="0"/>
                </a:br>
                <a:r>
                  <a:rPr lang="en-US" sz="2400" noProof="0" dirty="0"/>
                  <a:t>represent the value </a:t>
                </a:r>
                <a:br>
                  <a:rPr lang="en-US" sz="2400" noProof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240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p>
                      </m:sSup>
                      <m:r>
                        <a:rPr lang="en-US" sz="2400" b="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noProof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noProof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400" b="0" i="1" noProof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noProof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noProof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aseline="-25000" noProof="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70" y="1146676"/>
                <a:ext cx="5407660" cy="1878528"/>
              </a:xfrm>
              <a:prstGeom prst="rect">
                <a:avLst/>
              </a:prstGeom>
              <a:blipFill>
                <a:blip r:embed="rId5"/>
                <a:stretch>
                  <a:fillRect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154428"/>
              </p:ext>
            </p:extLst>
          </p:nvPr>
        </p:nvGraphicFramePr>
        <p:xfrm>
          <a:off x="385470" y="3188678"/>
          <a:ext cx="5407660" cy="32109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3668">
                  <a:extLst>
                    <a:ext uri="{9D8B030D-6E8A-4147-A177-3AD203B41FA5}">
                      <a16:colId xmlns:a16="http://schemas.microsoft.com/office/drawing/2014/main" val="4263675424"/>
                    </a:ext>
                  </a:extLst>
                </a:gridCol>
                <a:gridCol w="1463992">
                  <a:extLst>
                    <a:ext uri="{9D8B030D-6E8A-4147-A177-3AD203B41FA5}">
                      <a16:colId xmlns:a16="http://schemas.microsoft.com/office/drawing/2014/main" val="2252113972"/>
                    </a:ext>
                  </a:extLst>
                </a:gridCol>
              </a:tblGrid>
              <a:tr h="291904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noProof="0" dirty="0"/>
                        <a:t>0000000000000000000000000000000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-2147483648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94075"/>
                  </a:ext>
                </a:extLst>
              </a:tr>
              <a:tr h="291904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noProof="0" dirty="0"/>
                        <a:t>0000000000000000000000000000001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-2147483647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04013"/>
                  </a:ext>
                </a:extLst>
              </a:tr>
              <a:tr h="291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⁞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165061"/>
                  </a:ext>
                </a:extLst>
              </a:tr>
              <a:tr h="291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noProof="0" dirty="0"/>
                        <a:t>1111111111111111111111111111110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-2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586497"/>
                  </a:ext>
                </a:extLst>
              </a:tr>
              <a:tr h="291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noProof="0" dirty="0"/>
                        <a:t>1111111111111111111111111111111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-1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073361"/>
                  </a:ext>
                </a:extLst>
              </a:tr>
              <a:tr h="291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US" noProof="0" dirty="0"/>
                        <a:t>0000000000000000000000000000000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341369"/>
                  </a:ext>
                </a:extLst>
              </a:tr>
              <a:tr h="291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US" noProof="0" dirty="0"/>
                        <a:t>0000000000000000000000000000001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806927"/>
                  </a:ext>
                </a:extLst>
              </a:tr>
              <a:tr h="291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US" noProof="0" dirty="0"/>
                        <a:t>0000000000000000000000000000010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2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232554"/>
                  </a:ext>
                </a:extLst>
              </a:tr>
              <a:tr h="291904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⁞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162504"/>
                  </a:ext>
                </a:extLst>
              </a:tr>
              <a:tr h="291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US" noProof="0" dirty="0"/>
                        <a:t>1111111111111111111111111111110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2147483646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546247"/>
                  </a:ext>
                </a:extLst>
              </a:tr>
              <a:tr h="291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US" noProof="0" dirty="0"/>
                        <a:t>1111111111111111111111111111111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2147483647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696389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5470" y="6467622"/>
            <a:ext cx="5407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Note: There is one more negative number than positive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8D558B-CB5C-7358-81C4-F89F0C390A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737" y="2705237"/>
            <a:ext cx="487666" cy="405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A360F1-9E79-437F-563D-1AB4F2FF43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874" y="3172037"/>
            <a:ext cx="487666" cy="405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9F3E11-280A-D180-A5C2-DD65A03754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737" y="4611373"/>
            <a:ext cx="487666" cy="4059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596384-E6A7-5312-84B2-3623373007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874" y="5742794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06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09"/>
            <a:ext cx="10515600" cy="1325563"/>
          </a:xfrm>
        </p:spPr>
        <p:txBody>
          <a:bodyPr/>
          <a:lstStyle/>
          <a:p>
            <a:r>
              <a:rPr lang="en-US" noProof="0" dirty="0"/>
              <a:t>Linear algebra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034525"/>
              </p:ext>
            </p:extLst>
          </p:nvPr>
        </p:nvGraphicFramePr>
        <p:xfrm>
          <a:off x="450182" y="1059340"/>
          <a:ext cx="9323705" cy="5708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7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</a:t>
                      </a:r>
                      <a:r>
                        <a:rPr lang="en-US" sz="1800" b="1" baseline="0" noProof="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np.arange</a:t>
                      </a:r>
                      <a:r>
                        <a:rPr lang="en-US" sz="1800" b="1" baseline="0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(1, 5, </a:t>
                      </a:r>
                      <a:r>
                        <a:rPr lang="en-US" sz="1800" b="1" baseline="0" noProof="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baseline="0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=float).reshape(2, 2)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array([[1., 2.],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[3., 4.]])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matrix transpose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array([[1., 3.],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[2., 4.]])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np.linalg.det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matrix determinant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-2.0000000000000004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np.linalg.inv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matrix inverse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array([[-2. ,  1. ],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[ 1.5, -0.5]])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np.linalg.eig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eigenvalues and eigenvectors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(array([-0.37228132,  5.37228132]), 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array([[-0.82456484, -0.41597356], [0.56576746, -0.90937671]]))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([[5.], [7.]])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np.linalg.solve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solve linear matrix equations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array([[-3.],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z1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[ 4.]])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z2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715049" y="5994662"/>
                <a:ext cx="2395352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noProof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noProof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noProof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noProof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noProof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noProof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000" b="0" i="1" noProof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noProof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noProof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000" b="0" i="1" noProof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b="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noProof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noProof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noProof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noProof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049" y="5994662"/>
                <a:ext cx="2395352" cy="6365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6014401" y="630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noProof="0" dirty="0">
                <a:hlinkClick r:id="rId4"/>
              </a:rPr>
              <a:t>docs.scipy.org/doc/</a:t>
            </a:r>
            <a:r>
              <a:rPr lang="en-US" noProof="0" dirty="0" err="1">
                <a:hlinkClick r:id="rId4"/>
              </a:rPr>
              <a:t>numpy</a:t>
            </a:r>
            <a:r>
              <a:rPr lang="en-US" noProof="0" dirty="0">
                <a:hlinkClick r:id="rId4"/>
              </a:rPr>
              <a:t>/reference/routines.linalg.html</a:t>
            </a:r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083896" y="684018"/>
            <a:ext cx="3880086" cy="15752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tIns="0" bIns="36000" rtlCol="0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en-US" b="1" noProof="0" dirty="0"/>
              <a:t>            </a:t>
            </a:r>
            <a:r>
              <a:rPr lang="en-US" b="1" noProof="0" dirty="0" err="1"/>
              <a:t>numpy.matrix</a:t>
            </a:r>
            <a:endParaRPr lang="en-US" b="1" noProof="0" dirty="0"/>
          </a:p>
          <a:p>
            <a:pPr>
              <a:lnSpc>
                <a:spcPts val="2400"/>
              </a:lnSpc>
            </a:pPr>
            <a:r>
              <a:rPr lang="en-US" noProof="0" dirty="0"/>
              <a:t>            “</a:t>
            </a:r>
            <a:r>
              <a:rPr lang="en-US" i="1" noProof="0" dirty="0"/>
              <a:t>It is no longer recommended to use this class, even for linear algebra. Instead use regular arrays. The class may be removed in the future.</a:t>
            </a:r>
            <a:r>
              <a:rPr lang="en-US" noProof="0" dirty="0"/>
              <a:t>”</a:t>
            </a:r>
            <a:endParaRPr lang="en-US" b="1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706" y="820763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50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6C7587D-22CD-4B73-8818-3571DB00469F}"/>
              </a:ext>
            </a:extLst>
          </p:cNvPr>
          <p:cNvSpPr/>
          <p:nvPr/>
        </p:nvSpPr>
        <p:spPr>
          <a:xfrm>
            <a:off x="4361420" y="1950626"/>
            <a:ext cx="1080000" cy="397272"/>
          </a:xfrm>
          <a:prstGeom prst="rect">
            <a:avLst/>
          </a:prstGeom>
          <a:solidFill>
            <a:srgbClr val="FFA7A7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noProof="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D27FBC-4B6C-4909-85EB-9386F4214E90}"/>
              </a:ext>
            </a:extLst>
          </p:cNvPr>
          <p:cNvSpPr/>
          <p:nvPr/>
        </p:nvSpPr>
        <p:spPr>
          <a:xfrm>
            <a:off x="4361420" y="1287603"/>
            <a:ext cx="1080000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noProof="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25E3D9-1F0A-4F92-B5A7-195414FCA9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92" t="4401" r="1199" b="3445"/>
          <a:stretch/>
        </p:blipFill>
        <p:spPr>
          <a:xfrm>
            <a:off x="6435628" y="2762369"/>
            <a:ext cx="5756372" cy="40655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323" y="6309"/>
            <a:ext cx="10515600" cy="1325563"/>
          </a:xfrm>
        </p:spPr>
        <p:txBody>
          <a:bodyPr/>
          <a:lstStyle/>
          <a:p>
            <a:r>
              <a:rPr lang="en-US" b="1" noProof="0" dirty="0"/>
              <a:t>Singular value decomposition</a:t>
            </a:r>
            <a:r>
              <a:rPr lang="en-US" noProof="0" dirty="0"/>
              <a:t>, </a:t>
            </a:r>
            <a:r>
              <a:rPr lang="en-US" sz="32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np.linalg.svd</a:t>
            </a:r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FCB115-AB53-4C2D-B305-0CACDAB25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746206"/>
              </p:ext>
            </p:extLst>
          </p:nvPr>
        </p:nvGraphicFramePr>
        <p:xfrm>
          <a:off x="60332" y="2933443"/>
          <a:ext cx="625983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98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image-reconstruction.py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cv2 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Computer Vision, opencv.org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2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 = cv2.imread('university.jpg')           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color image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gray = cv2.cvtColor(color, cv2.COLOR_BGR2GRAY) 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convert to gray</a:t>
                      </a:r>
                    </a:p>
                    <a:p>
                      <a:endParaRPr lang="en-US" sz="12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u, s, v 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np.linalg.svd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(gray) 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Calculating the SVD</a:t>
                      </a:r>
                      <a:endParaRPr lang="en-US" sz="12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i, r in enumerate([1, 5, 10, 15, 20, 50, 100, 150], start=1):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rank_r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u[:, :r] @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np.diag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(s[:r]) @ v[:r, :]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plt.subplot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3, i)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plt.imshow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rank_r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cmap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='gray',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vmin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=0,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vmax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=255)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(f'{r} components')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plt.axis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('off')</a:t>
                      </a:r>
                    </a:p>
                    <a:p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plt.subplot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(3, 3, 9)</a:t>
                      </a:r>
                    </a:p>
                    <a:p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plt.imshow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(gray,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cmap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='gray')</a:t>
                      </a:r>
                    </a:p>
                    <a:p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f'Original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image {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gray.shape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[0]} x {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gray.shape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[1]}')</a:t>
                      </a:r>
                    </a:p>
                    <a:p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B1109C6D-502F-44F9-948E-BD54BF0DAE87}"/>
              </a:ext>
            </a:extLst>
          </p:cNvPr>
          <p:cNvSpPr/>
          <p:nvPr/>
        </p:nvSpPr>
        <p:spPr>
          <a:xfrm>
            <a:off x="674437" y="1426284"/>
            <a:ext cx="1080000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noProof="0" dirty="0">
                <a:solidFill>
                  <a:schemeClr val="tx1"/>
                </a:solidFill>
              </a:rPr>
              <a:t>M</a:t>
            </a:r>
            <a:endParaRPr lang="en-US" b="1" i="1" noProof="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77E79-77BF-473A-84F2-713E1E991CC7}"/>
              </a:ext>
            </a:extLst>
          </p:cNvPr>
          <p:cNvSpPr txBox="1"/>
          <p:nvPr/>
        </p:nvSpPr>
        <p:spPr>
          <a:xfrm>
            <a:off x="1794704" y="1493896"/>
            <a:ext cx="421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noProof="0" dirty="0"/>
              <a:t>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5C0497-E63F-4CA0-9A70-39A8612D7A87}"/>
              </a:ext>
            </a:extLst>
          </p:cNvPr>
          <p:cNvSpPr txBox="1"/>
          <p:nvPr/>
        </p:nvSpPr>
        <p:spPr>
          <a:xfrm>
            <a:off x="668091" y="2088925"/>
            <a:ext cx="1086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noProof="0" dirty="0"/>
              <a:t> m</a:t>
            </a:r>
            <a:r>
              <a:rPr lang="en-US" noProof="0" dirty="0"/>
              <a:t> x</a:t>
            </a:r>
            <a:r>
              <a:rPr lang="en-US" i="1" noProof="0" dirty="0"/>
              <a:t> 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E3C627-43DE-4D5C-9428-A6C6225B2F4D}"/>
              </a:ext>
            </a:extLst>
          </p:cNvPr>
          <p:cNvCxnSpPr>
            <a:cxnSpLocks/>
          </p:cNvCxnSpPr>
          <p:nvPr/>
        </p:nvCxnSpPr>
        <p:spPr>
          <a:xfrm>
            <a:off x="3224807" y="1500228"/>
            <a:ext cx="576000" cy="576000"/>
          </a:xfrm>
          <a:prstGeom prst="line">
            <a:avLst/>
          </a:prstGeom>
          <a:ln w="142875" cap="rnd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5FBE3C7-6861-40EA-A5A1-7C7AF5BAC40F}"/>
              </a:ext>
            </a:extLst>
          </p:cNvPr>
          <p:cNvSpPr/>
          <p:nvPr/>
        </p:nvSpPr>
        <p:spPr>
          <a:xfrm>
            <a:off x="2259211" y="1428228"/>
            <a:ext cx="720000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noProof="0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5A869-1EC6-461D-A908-0E37B5615E40}"/>
              </a:ext>
            </a:extLst>
          </p:cNvPr>
          <p:cNvSpPr/>
          <p:nvPr/>
        </p:nvSpPr>
        <p:spPr>
          <a:xfrm>
            <a:off x="3147236" y="1428228"/>
            <a:ext cx="1080000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noProof="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2EA022-1CB2-48D6-A091-13AE8B9BE8CE}"/>
              </a:ext>
            </a:extLst>
          </p:cNvPr>
          <p:cNvSpPr/>
          <p:nvPr/>
        </p:nvSpPr>
        <p:spPr>
          <a:xfrm>
            <a:off x="4359577" y="1282048"/>
            <a:ext cx="1080000" cy="108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noProof="0" dirty="0">
                <a:solidFill>
                  <a:schemeClr val="tx1"/>
                </a:solidFill>
              </a:rPr>
              <a:t>V</a:t>
            </a:r>
            <a:endParaRPr lang="en-US" b="1" i="1" noProof="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C83A41-B101-4912-8A15-B39BFBBACE41}"/>
              </a:ext>
            </a:extLst>
          </p:cNvPr>
          <p:cNvSpPr txBox="1"/>
          <p:nvPr/>
        </p:nvSpPr>
        <p:spPr>
          <a:xfrm>
            <a:off x="2256056" y="2093433"/>
            <a:ext cx="72000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i="1" noProof="0" dirty="0"/>
              <a:t> m</a:t>
            </a:r>
            <a:r>
              <a:rPr lang="en-US" noProof="0" dirty="0"/>
              <a:t> x</a:t>
            </a:r>
            <a:r>
              <a:rPr lang="en-US" i="1" noProof="0" dirty="0"/>
              <a:t> 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5B8B70-07F3-4DA3-BFB5-11D4AFCEE22B}"/>
              </a:ext>
            </a:extLst>
          </p:cNvPr>
          <p:cNvSpPr txBox="1"/>
          <p:nvPr/>
        </p:nvSpPr>
        <p:spPr>
          <a:xfrm>
            <a:off x="3153581" y="2093433"/>
            <a:ext cx="108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noProof="0" dirty="0"/>
              <a:t> m</a:t>
            </a:r>
            <a:r>
              <a:rPr lang="en-US" noProof="0" dirty="0"/>
              <a:t> x</a:t>
            </a:r>
            <a:r>
              <a:rPr lang="en-US" i="1" noProof="0" dirty="0"/>
              <a:t> 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5DB411-0624-4CB4-866C-5F4227D92A64}"/>
              </a:ext>
            </a:extLst>
          </p:cNvPr>
          <p:cNvSpPr txBox="1"/>
          <p:nvPr/>
        </p:nvSpPr>
        <p:spPr>
          <a:xfrm>
            <a:off x="4350075" y="2278099"/>
            <a:ext cx="1089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noProof="0" dirty="0"/>
              <a:t> n</a:t>
            </a:r>
            <a:r>
              <a:rPr lang="en-US" noProof="0" dirty="0"/>
              <a:t> x</a:t>
            </a:r>
            <a:r>
              <a:rPr lang="en-US" i="1" noProof="0" dirty="0"/>
              <a:t> 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F744DC-8081-44A1-8ECF-C5E24038A569}"/>
              </a:ext>
            </a:extLst>
          </p:cNvPr>
          <p:cNvSpPr txBox="1"/>
          <p:nvPr/>
        </p:nvSpPr>
        <p:spPr>
          <a:xfrm>
            <a:off x="3646369" y="1436158"/>
            <a:ext cx="57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81D962-7C2A-44F0-A9BC-484DE52CF1CA}"/>
              </a:ext>
            </a:extLst>
          </p:cNvPr>
          <p:cNvSpPr txBox="1"/>
          <p:nvPr/>
        </p:nvSpPr>
        <p:spPr>
          <a:xfrm>
            <a:off x="3048754" y="1783769"/>
            <a:ext cx="57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D36CF3-BE6E-486C-A4B2-3D85C0496273}"/>
              </a:ext>
            </a:extLst>
          </p:cNvPr>
          <p:cNvSpPr txBox="1"/>
          <p:nvPr/>
        </p:nvSpPr>
        <p:spPr>
          <a:xfrm>
            <a:off x="5900929" y="1426284"/>
            <a:ext cx="6023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i="1" noProof="0" dirty="0"/>
              <a:t>U</a:t>
            </a:r>
            <a:r>
              <a:rPr lang="en-US" sz="2400" noProof="0" dirty="0"/>
              <a:t> and </a:t>
            </a:r>
            <a:r>
              <a:rPr lang="en-US" sz="2400" i="1" noProof="0" dirty="0"/>
              <a:t>V</a:t>
            </a:r>
            <a:r>
              <a:rPr lang="en-US" sz="2400" noProof="0" dirty="0"/>
              <a:t> unitary matrix (</a:t>
            </a:r>
            <a:r>
              <a:rPr lang="en-US" sz="2400" i="1" noProof="0" dirty="0"/>
              <a:t>UU</a:t>
            </a:r>
            <a:r>
              <a:rPr lang="en-US" sz="2400" baseline="30000" noProof="0" dirty="0"/>
              <a:t>T</a:t>
            </a:r>
            <a:r>
              <a:rPr lang="en-US" sz="2400" noProof="0" dirty="0"/>
              <a:t> = </a:t>
            </a:r>
            <a:r>
              <a:rPr lang="en-US" sz="2400" i="1" noProof="0" dirty="0"/>
              <a:t>I</a:t>
            </a:r>
            <a:r>
              <a:rPr lang="en-US" sz="2400" noProof="0" dirty="0"/>
              <a:t>)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i="1" noProof="0" dirty="0"/>
              <a:t>S</a:t>
            </a:r>
            <a:r>
              <a:rPr lang="en-US" sz="2400" noProof="0" dirty="0"/>
              <a:t> diagonal matrix, decreasing singular values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798676-DAAD-4AE1-A631-CC8A5F7A4868}"/>
              </a:ext>
            </a:extLst>
          </p:cNvPr>
          <p:cNvGrpSpPr/>
          <p:nvPr/>
        </p:nvGrpSpPr>
        <p:grpSpPr>
          <a:xfrm>
            <a:off x="2273602" y="1101288"/>
            <a:ext cx="3427336" cy="1014769"/>
            <a:chOff x="2273602" y="1101288"/>
            <a:chExt cx="3427336" cy="1014769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33A5FBE-7E17-4BD9-9B8F-EA205318AC3F}"/>
                </a:ext>
              </a:extLst>
            </p:cNvPr>
            <p:cNvSpPr/>
            <p:nvPr/>
          </p:nvSpPr>
          <p:spPr>
            <a:xfrm>
              <a:off x="2305501" y="1468057"/>
              <a:ext cx="180000" cy="648000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4DB3934-741C-4710-BF6E-75E4B3DDF048}"/>
                </a:ext>
              </a:extLst>
            </p:cNvPr>
            <p:cNvSpPr/>
            <p:nvPr/>
          </p:nvSpPr>
          <p:spPr>
            <a:xfrm>
              <a:off x="3190247" y="1463472"/>
              <a:ext cx="180000" cy="180000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A448C31-9763-4E25-9C26-8D17F393ED43}"/>
                </a:ext>
              </a:extLst>
            </p:cNvPr>
            <p:cNvSpPr/>
            <p:nvPr/>
          </p:nvSpPr>
          <p:spPr>
            <a:xfrm>
              <a:off x="4397858" y="1332473"/>
              <a:ext cx="1008000" cy="180000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BC4B3F9-7518-4B76-9A74-01B40D5E83D7}"/>
                </a:ext>
              </a:extLst>
            </p:cNvPr>
            <p:cNvSpPr txBox="1"/>
            <p:nvPr/>
          </p:nvSpPr>
          <p:spPr>
            <a:xfrm>
              <a:off x="2273602" y="1101288"/>
              <a:ext cx="261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noProof="0" dirty="0">
                  <a:solidFill>
                    <a:srgbClr val="C00000"/>
                  </a:solidFill>
                </a:rPr>
                <a:t>r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DAF10F4-6BB2-4FAB-93ED-7E1FBE4D16CA}"/>
                </a:ext>
              </a:extLst>
            </p:cNvPr>
            <p:cNvSpPr txBox="1"/>
            <p:nvPr/>
          </p:nvSpPr>
          <p:spPr>
            <a:xfrm>
              <a:off x="3179469" y="1103476"/>
              <a:ext cx="261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noProof="0" dirty="0">
                  <a:solidFill>
                    <a:srgbClr val="C00000"/>
                  </a:solidFill>
                </a:rPr>
                <a:t>r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0508799-EC7C-4E0F-A2F5-4A213A030553}"/>
                </a:ext>
              </a:extLst>
            </p:cNvPr>
            <p:cNvSpPr txBox="1"/>
            <p:nvPr/>
          </p:nvSpPr>
          <p:spPr>
            <a:xfrm>
              <a:off x="3331764" y="1371334"/>
              <a:ext cx="261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noProof="0" dirty="0">
                  <a:solidFill>
                    <a:srgbClr val="C00000"/>
                  </a:solidFill>
                </a:rPr>
                <a:t>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F6869D5-7908-4AAB-A331-4078D852602C}"/>
                </a:ext>
              </a:extLst>
            </p:cNvPr>
            <p:cNvSpPr txBox="1"/>
            <p:nvPr/>
          </p:nvSpPr>
          <p:spPr>
            <a:xfrm>
              <a:off x="5439577" y="1219080"/>
              <a:ext cx="261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noProof="0" dirty="0">
                  <a:solidFill>
                    <a:srgbClr val="C00000"/>
                  </a:solidFill>
                </a:rPr>
                <a:t>r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7CFA618-9750-4DBB-B843-DB91CF5BB07C}"/>
              </a:ext>
            </a:extLst>
          </p:cNvPr>
          <p:cNvSpPr txBox="1"/>
          <p:nvPr/>
        </p:nvSpPr>
        <p:spPr>
          <a:xfrm>
            <a:off x="6476898" y="2386586"/>
            <a:ext cx="5645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 err="1">
                <a:solidFill>
                  <a:schemeClr val="bg1">
                    <a:lumMod val="50000"/>
                  </a:schemeClr>
                </a:solidFill>
              </a:rPr>
              <a:t>np.ndarray</a:t>
            </a:r>
            <a:r>
              <a:rPr lang="en-US" sz="1400" noProof="0" dirty="0">
                <a:solidFill>
                  <a:schemeClr val="bg1">
                    <a:lumMod val="50000"/>
                  </a:schemeClr>
                </a:solidFill>
              </a:rPr>
              <a:t> shape=(520, 800) </a:t>
            </a:r>
            <a:r>
              <a:rPr lang="en-US" sz="1400" noProof="0" dirty="0" err="1">
                <a:solidFill>
                  <a:schemeClr val="bg1">
                    <a:lumMod val="50000"/>
                  </a:schemeClr>
                </a:solidFill>
              </a:rPr>
              <a:t>dtype</a:t>
            </a:r>
            <a:r>
              <a:rPr lang="en-US" sz="1400" noProof="0" dirty="0">
                <a:solidFill>
                  <a:schemeClr val="bg1">
                    <a:lumMod val="50000"/>
                  </a:schemeClr>
                </a:solidFill>
              </a:rPr>
              <a:t>=uint8 min=0 max=252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7947EBA-9148-4CB5-8DF7-B9F46BC95050}"/>
              </a:ext>
            </a:extLst>
          </p:cNvPr>
          <p:cNvCxnSpPr>
            <a:cxnSpLocks/>
          </p:cNvCxnSpPr>
          <p:nvPr/>
        </p:nvCxnSpPr>
        <p:spPr>
          <a:xfrm flipH="1">
            <a:off x="2721935" y="2626357"/>
            <a:ext cx="3783499" cy="186959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22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543" y="6309"/>
            <a:ext cx="9990379" cy="1325563"/>
          </a:xfrm>
        </p:spPr>
        <p:txBody>
          <a:bodyPr/>
          <a:lstStyle/>
          <a:p>
            <a:r>
              <a:rPr lang="en-US" b="1" noProof="0" dirty="0"/>
              <a:t>… and in color</a:t>
            </a:r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FCB115-AB53-4C2D-B305-0CACDAB25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32174"/>
              </p:ext>
            </p:extLst>
          </p:nvPr>
        </p:nvGraphicFramePr>
        <p:xfrm>
          <a:off x="471101" y="1529326"/>
          <a:ext cx="625983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98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image-reconstruction-color.py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2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matplotlib.image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imread</a:t>
                      </a:r>
                      <a:endParaRPr lang="en-US" sz="12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2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 =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imread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('university.jpg')</a:t>
                      </a:r>
                      <a:endParaRPr lang="en-US" sz="12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 = color 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255 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convert integers 0..255 to floats 0..1</a:t>
                      </a:r>
                    </a:p>
                    <a:p>
                      <a:endParaRPr lang="en-US" sz="12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plt.subplot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(4, 2, 8)</a:t>
                      </a:r>
                    </a:p>
                    <a:p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plt.imshow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(color)</a:t>
                      </a:r>
                    </a:p>
                    <a:p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plt.axis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('off')</a:t>
                      </a:r>
                    </a:p>
                    <a:p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f'Original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endParaRPr lang="en-US" sz="12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height, width, colors =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color.shape</a:t>
                      </a:r>
                      <a:endParaRPr lang="en-US" sz="12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2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u, s, v =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np.linalg.svd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color.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reshape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((height, width * colors))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full_matrices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=False)</a:t>
                      </a:r>
                    </a:p>
                    <a:p>
                      <a:endParaRPr lang="en-US" sz="12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i, r in enumerate([1, 2, 5, 10, 25, 50, 125], start=1):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rank_r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u[:, :r] @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np.diag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(s[:r]) @ v[:r, :]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plt.subplot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2, i)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plt.imshow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rank_r.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reshape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((height, width, colors))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(f'{r} components')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plt.axis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('off')</a:t>
                      </a:r>
                    </a:p>
                    <a:p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27CFA618-9750-4DBB-B843-DB91CF5BB07C}"/>
              </a:ext>
            </a:extLst>
          </p:cNvPr>
          <p:cNvSpPr txBox="1"/>
          <p:nvPr/>
        </p:nvSpPr>
        <p:spPr>
          <a:xfrm>
            <a:off x="4648166" y="3679121"/>
            <a:ext cx="1593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>
                    <a:lumMod val="50000"/>
                  </a:schemeClr>
                </a:solidFill>
              </a:rPr>
              <a:t>shape=(520, 2400)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7947EBA-9148-4CB5-8DF7-B9F46BC95050}"/>
              </a:ext>
            </a:extLst>
          </p:cNvPr>
          <p:cNvCxnSpPr>
            <a:cxnSpLocks/>
          </p:cNvCxnSpPr>
          <p:nvPr/>
        </p:nvCxnSpPr>
        <p:spPr>
          <a:xfrm flipH="1">
            <a:off x="4809232" y="3985426"/>
            <a:ext cx="298027" cy="40133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1C62DF3-A7AA-4692-8340-004ECB98D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780" y="0"/>
            <a:ext cx="5081028" cy="6858000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765C4BC-0DBE-4CAE-9029-78ED3968197E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4106756" y="5695429"/>
            <a:ext cx="1" cy="24976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3DC6ACF-8886-48DF-8791-5A52B074A78F}"/>
              </a:ext>
            </a:extLst>
          </p:cNvPr>
          <p:cNvSpPr txBox="1"/>
          <p:nvPr/>
        </p:nvSpPr>
        <p:spPr>
          <a:xfrm>
            <a:off x="3251165" y="5945189"/>
            <a:ext cx="1711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>
                    <a:lumMod val="50000"/>
                  </a:schemeClr>
                </a:solidFill>
              </a:rPr>
              <a:t>shape=(520, 800, 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6172EA-9872-4357-9E2D-1677FB93A20F}"/>
              </a:ext>
            </a:extLst>
          </p:cNvPr>
          <p:cNvSpPr txBox="1"/>
          <p:nvPr/>
        </p:nvSpPr>
        <p:spPr>
          <a:xfrm>
            <a:off x="4648166" y="2133872"/>
            <a:ext cx="2013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>
                    <a:lumMod val="50000"/>
                  </a:schemeClr>
                </a:solidFill>
              </a:rPr>
              <a:t>shape=(520, 800, 3)</a:t>
            </a:r>
          </a:p>
          <a:p>
            <a:r>
              <a:rPr lang="en-US" sz="1400" noProof="0" dirty="0">
                <a:solidFill>
                  <a:schemeClr val="bg1">
                    <a:lumMod val="50000"/>
                  </a:schemeClr>
                </a:solidFill>
              </a:rPr>
              <a:t>3 = (red, blue, green)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7F0AF67-EEA6-41B9-BDF4-FCC9482FF1ED}"/>
              </a:ext>
            </a:extLst>
          </p:cNvPr>
          <p:cNvCxnSpPr>
            <a:cxnSpLocks/>
          </p:cNvCxnSpPr>
          <p:nvPr/>
        </p:nvCxnSpPr>
        <p:spPr>
          <a:xfrm flipH="1">
            <a:off x="3547854" y="2413675"/>
            <a:ext cx="1100312" cy="26629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573AF38-E2A2-4572-829E-D9383C4B8D26}"/>
              </a:ext>
            </a:extLst>
          </p:cNvPr>
          <p:cNvCxnSpPr>
            <a:cxnSpLocks/>
          </p:cNvCxnSpPr>
          <p:nvPr/>
        </p:nvCxnSpPr>
        <p:spPr>
          <a:xfrm flipH="1" flipV="1">
            <a:off x="4421574" y="4786626"/>
            <a:ext cx="964588" cy="101200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89159AD-BC7A-4565-B1DF-EC3885C162D4}"/>
              </a:ext>
            </a:extLst>
          </p:cNvPr>
          <p:cNvSpPr txBox="1"/>
          <p:nvPr/>
        </p:nvSpPr>
        <p:spPr>
          <a:xfrm>
            <a:off x="4859861" y="5742163"/>
            <a:ext cx="1956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>
                    <a:lumMod val="50000"/>
                  </a:schemeClr>
                </a:solidFill>
              </a:rPr>
              <a:t>v shape=(520, 2400) instead of (2400, 2400)</a:t>
            </a:r>
          </a:p>
        </p:txBody>
      </p:sp>
    </p:spTree>
    <p:extLst>
      <p:ext uri="{BB962C8B-B14F-4D97-AF65-F5344CB8AC3E}">
        <p14:creationId xmlns:p14="http://schemas.microsoft.com/office/powerpoint/2010/main" val="38605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34" grpId="0"/>
      <p:bldP spid="35" grpId="0"/>
      <p:bldP spid="5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543" y="6309"/>
            <a:ext cx="9990379" cy="1325563"/>
          </a:xfrm>
        </p:spPr>
        <p:txBody>
          <a:bodyPr/>
          <a:lstStyle/>
          <a:p>
            <a:r>
              <a:rPr lang="en-US" b="1" noProof="0" dirty="0"/>
              <a:t>… and in color (stacked)</a:t>
            </a:r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FCB115-AB53-4C2D-B305-0CACDAB25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845635"/>
              </p:ext>
            </p:extLst>
          </p:nvPr>
        </p:nvGraphicFramePr>
        <p:xfrm>
          <a:off x="296498" y="1521707"/>
          <a:ext cx="6720205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2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61863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image-reconstruction-color-stacked.py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859577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tplotlib.pyplot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2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matplotlib.image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imread</a:t>
                      </a:r>
                      <a:endParaRPr lang="en-US" sz="12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 = 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imread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('university.jpg')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 = color / 255  </a:t>
                      </a:r>
                      <a:r>
                        <a:rPr lang="en-US" sz="12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convert integers 0..255 to floats 0..1</a:t>
                      </a:r>
                    </a:p>
                    <a:p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plt.subplot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(4, 2, 8)</a:t>
                      </a:r>
                    </a:p>
                    <a:p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plt.imshow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(color)</a:t>
                      </a:r>
                    </a:p>
                    <a:p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plt.axis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('off')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f'Original</a:t>
                      </a: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u, s, v =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np.linalg.svd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color.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transpose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(2, 0, 1)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full_matrices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=False)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print(f'{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u.shape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=} {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s.shape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=} {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v.shape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=}')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i, r in enumerate([1, 2, 5, 10, 25, 50, 125], start=1):</a:t>
                      </a:r>
                    </a:p>
                    <a:p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rank_r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(u[</a:t>
                      </a:r>
                      <a:r>
                        <a:rPr lang="en-US" sz="12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:,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:, :r] </a:t>
                      </a:r>
                      <a:r>
                        <a:rPr lang="en-US" sz="12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s[</a:t>
                      </a:r>
                      <a:r>
                        <a:rPr lang="en-US" sz="12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:,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None,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:r]) </a:t>
                      </a:r>
                      <a:r>
                        <a:rPr lang="en-US" sz="12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v[</a:t>
                      </a:r>
                      <a:r>
                        <a:rPr lang="en-US" sz="1200" b="1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:,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:r, :]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plt.subplot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2, i)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plt.imshow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rank_r.</a:t>
                      </a:r>
                      <a:r>
                        <a:rPr lang="en-US" sz="12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transpose</a:t>
                      </a:r>
                      <a:r>
                        <a:rPr lang="en-US" sz="12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(1, 2, 0)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(f'{r} components')</a:t>
                      </a:r>
                    </a:p>
                    <a:p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plt.axis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('off')</a:t>
                      </a:r>
                    </a:p>
                    <a:p>
                      <a:r>
                        <a:rPr lang="en-US" sz="12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2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61863">
                <a:tc>
                  <a:txBody>
                    <a:bodyPr/>
                    <a:lstStyle/>
                    <a:p>
                      <a:r>
                        <a:rPr lang="en-US" sz="12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85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u.shape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=(</a:t>
                      </a:r>
                      <a:r>
                        <a:rPr lang="en-US" sz="1200" b="1" baseline="0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520, 520) </a:t>
                      </a: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s.shape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=(</a:t>
                      </a:r>
                      <a:r>
                        <a:rPr lang="en-US" sz="1200" b="1" baseline="0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520) </a:t>
                      </a:r>
                      <a:r>
                        <a:rPr lang="en-US" sz="12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v.shape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=(</a:t>
                      </a:r>
                      <a:r>
                        <a:rPr lang="en-US" sz="1200" b="1" baseline="0" noProof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2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520, 800)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31578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27CFA618-9750-4DBB-B843-DB91CF5BB07C}"/>
              </a:ext>
            </a:extLst>
          </p:cNvPr>
          <p:cNvSpPr txBox="1"/>
          <p:nvPr/>
        </p:nvSpPr>
        <p:spPr>
          <a:xfrm>
            <a:off x="4525149" y="3132984"/>
            <a:ext cx="1956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>
                    <a:lumMod val="50000"/>
                  </a:schemeClr>
                </a:solidFill>
              </a:rPr>
              <a:t>shape = (3, 520, 800)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7947EBA-9148-4CB5-8DF7-B9F46BC95050}"/>
              </a:ext>
            </a:extLst>
          </p:cNvPr>
          <p:cNvCxnSpPr>
            <a:cxnSpLocks/>
          </p:cNvCxnSpPr>
          <p:nvPr/>
        </p:nvCxnSpPr>
        <p:spPr>
          <a:xfrm flipH="1">
            <a:off x="3891743" y="3358378"/>
            <a:ext cx="590173" cy="31635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765C4BC-0DBE-4CAE-9029-78ED3968197E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3669559" y="4951601"/>
            <a:ext cx="1" cy="24976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3DC6ACF-8886-48DF-8791-5A52B074A78F}"/>
              </a:ext>
            </a:extLst>
          </p:cNvPr>
          <p:cNvSpPr txBox="1"/>
          <p:nvPr/>
        </p:nvSpPr>
        <p:spPr>
          <a:xfrm>
            <a:off x="2813968" y="5201361"/>
            <a:ext cx="1711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>
                    <a:lumMod val="50000"/>
                  </a:schemeClr>
                </a:solidFill>
              </a:rPr>
              <a:t>shape = (520, 800, 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6172EA-9872-4357-9E2D-1677FB93A20F}"/>
              </a:ext>
            </a:extLst>
          </p:cNvPr>
          <p:cNvSpPr txBox="1"/>
          <p:nvPr/>
        </p:nvSpPr>
        <p:spPr>
          <a:xfrm>
            <a:off x="4525150" y="2079848"/>
            <a:ext cx="2013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>
                    <a:lumMod val="50000"/>
                  </a:schemeClr>
                </a:solidFill>
              </a:rPr>
              <a:t>shape = (520, 800, 3)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7F0AF67-EEA6-41B9-BDF4-FCC9482FF1ED}"/>
              </a:ext>
            </a:extLst>
          </p:cNvPr>
          <p:cNvCxnSpPr>
            <a:cxnSpLocks/>
          </p:cNvCxnSpPr>
          <p:nvPr/>
        </p:nvCxnSpPr>
        <p:spPr>
          <a:xfrm flipH="1">
            <a:off x="3424838" y="2270136"/>
            <a:ext cx="1100312" cy="26629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573AF38-E2A2-4572-829E-D9383C4B8D26}"/>
              </a:ext>
            </a:extLst>
          </p:cNvPr>
          <p:cNvCxnSpPr>
            <a:cxnSpLocks/>
          </p:cNvCxnSpPr>
          <p:nvPr/>
        </p:nvCxnSpPr>
        <p:spPr>
          <a:xfrm flipH="1" flipV="1">
            <a:off x="3891743" y="4601052"/>
            <a:ext cx="1443828" cy="316355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89159AD-BC7A-4565-B1DF-EC3885C162D4}"/>
              </a:ext>
            </a:extLst>
          </p:cNvPr>
          <p:cNvSpPr txBox="1"/>
          <p:nvPr/>
        </p:nvSpPr>
        <p:spPr>
          <a:xfrm>
            <a:off x="5005147" y="4555031"/>
            <a:ext cx="20975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>
                <a:solidFill>
                  <a:schemeClr val="accent1">
                    <a:lumMod val="75000"/>
                  </a:schemeClr>
                </a:solidFill>
              </a:rPr>
              <a:t>element-wise multiplication (*),</a:t>
            </a:r>
          </a:p>
          <a:p>
            <a:pPr algn="ctr"/>
            <a:r>
              <a:rPr lang="en-US" sz="1400" noProof="0" dirty="0">
                <a:solidFill>
                  <a:schemeClr val="accent1">
                    <a:lumMod val="75000"/>
                  </a:schemeClr>
                </a:solidFill>
              </a:rPr>
              <a:t>broadcasting (None),</a:t>
            </a:r>
          </a:p>
          <a:p>
            <a:pPr algn="ctr"/>
            <a:r>
              <a:rPr lang="en-US" sz="1400" noProof="0" dirty="0">
                <a:solidFill>
                  <a:schemeClr val="accent1">
                    <a:lumMod val="75000"/>
                  </a:schemeClr>
                </a:solidFill>
              </a:rPr>
              <a:t>stacked for each color (:)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DD0BB4C-CFE0-4F02-A4A7-44471E97919F}"/>
              </a:ext>
            </a:extLst>
          </p:cNvPr>
          <p:cNvSpPr/>
          <p:nvPr/>
        </p:nvSpPr>
        <p:spPr>
          <a:xfrm>
            <a:off x="5706532" y="3259667"/>
            <a:ext cx="1195497" cy="1269964"/>
          </a:xfrm>
          <a:custGeom>
            <a:avLst/>
            <a:gdLst>
              <a:gd name="connsiteX0" fmla="*/ 457200 w 795578"/>
              <a:gd name="connsiteY0" fmla="*/ 0 h 1007533"/>
              <a:gd name="connsiteX1" fmla="*/ 778933 w 795578"/>
              <a:gd name="connsiteY1" fmla="*/ 829733 h 1007533"/>
              <a:gd name="connsiteX2" fmla="*/ 0 w 795578"/>
              <a:gd name="connsiteY2" fmla="*/ 1007533 h 1007533"/>
              <a:gd name="connsiteX0" fmla="*/ 406400 w 792965"/>
              <a:gd name="connsiteY0" fmla="*/ 0 h 1058333"/>
              <a:gd name="connsiteX1" fmla="*/ 778933 w 792965"/>
              <a:gd name="connsiteY1" fmla="*/ 880533 h 1058333"/>
              <a:gd name="connsiteX2" fmla="*/ 0 w 792965"/>
              <a:gd name="connsiteY2" fmla="*/ 1058333 h 1058333"/>
              <a:gd name="connsiteX0" fmla="*/ 406400 w 817691"/>
              <a:gd name="connsiteY0" fmla="*/ 0 h 1058333"/>
              <a:gd name="connsiteX1" fmla="*/ 778933 w 817691"/>
              <a:gd name="connsiteY1" fmla="*/ 880533 h 1058333"/>
              <a:gd name="connsiteX2" fmla="*/ 0 w 817691"/>
              <a:gd name="connsiteY2" fmla="*/ 1058333 h 1058333"/>
              <a:gd name="connsiteX0" fmla="*/ 406400 w 406400"/>
              <a:gd name="connsiteY0" fmla="*/ 0 h 1058333"/>
              <a:gd name="connsiteX1" fmla="*/ 0 w 406400"/>
              <a:gd name="connsiteY1" fmla="*/ 1058333 h 1058333"/>
              <a:gd name="connsiteX0" fmla="*/ 406400 w 416029"/>
              <a:gd name="connsiteY0" fmla="*/ 0 h 1058333"/>
              <a:gd name="connsiteX1" fmla="*/ 0 w 416029"/>
              <a:gd name="connsiteY1" fmla="*/ 1058333 h 1058333"/>
              <a:gd name="connsiteX0" fmla="*/ 406400 w 996924"/>
              <a:gd name="connsiteY0" fmla="*/ 0 h 1058333"/>
              <a:gd name="connsiteX1" fmla="*/ 0 w 996924"/>
              <a:gd name="connsiteY1" fmla="*/ 1058333 h 1058333"/>
              <a:gd name="connsiteX0" fmla="*/ 406400 w 1067296"/>
              <a:gd name="connsiteY0" fmla="*/ 0 h 1058333"/>
              <a:gd name="connsiteX1" fmla="*/ 0 w 1067296"/>
              <a:gd name="connsiteY1" fmla="*/ 1058333 h 1058333"/>
              <a:gd name="connsiteX0" fmla="*/ 592667 w 1195497"/>
              <a:gd name="connsiteY0" fmla="*/ 0 h 1037581"/>
              <a:gd name="connsiteX1" fmla="*/ 0 w 1195497"/>
              <a:gd name="connsiteY1" fmla="*/ 1037581 h 1037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5497" h="1037581">
                <a:moveTo>
                  <a:pt x="592667" y="0"/>
                </a:moveTo>
                <a:cubicBezTo>
                  <a:pt x="1803400" y="276578"/>
                  <a:pt x="973666" y="1015003"/>
                  <a:pt x="0" y="1037581"/>
                </a:cubicBezTo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3C1E70-8A85-427F-ACE8-F70A99E01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552" y="-6309"/>
            <a:ext cx="4834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6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34" grpId="0"/>
      <p:bldP spid="35" grpId="0"/>
      <p:bldP spid="52" grpId="0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41C955-67A7-4497-B80F-75B15BBD9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78"/>
            <a:ext cx="12192000" cy="297286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C7C7C2-12C3-4BDC-AE0E-CA8F02A3F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041798"/>
              </p:ext>
            </p:extLst>
          </p:nvPr>
        </p:nvGraphicFramePr>
        <p:xfrm>
          <a:off x="792797" y="3188366"/>
          <a:ext cx="1060640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64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color-image.py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matplotlib.image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cv2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img1 =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matplotlib.image.imread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('university.jpg')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img2 =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cv2.imread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('university.jpg')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cv2 uses BGR instead of RGB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img3 = img2[:, :,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::-1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           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change color order BGR to RGB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Images = [(img1, '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matplotlib.image.imread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'), (img2, 'cv2.imread'), (img3, 'cv2.imread corrected')]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i, (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title) in enumerate(images, start=1):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plt.subplot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3, i)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plt.imshow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plt.axis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('off')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(title)</a:t>
                      </a:r>
                    </a:p>
                    <a:p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BF33AA1-21CD-4329-8642-D9D48A3B34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825" y="4440957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23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 err="1"/>
              <a:t>numpy.polyfit</a:t>
            </a:r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84016" y="2015517"/>
                <a:ext cx="10469784" cy="3814010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Given </a:t>
                </a:r>
                <a:r>
                  <a:rPr lang="en-US" noProof="0" dirty="0">
                    <a:solidFill>
                      <a:srgbClr val="C00000"/>
                    </a:solidFill>
                  </a:rPr>
                  <a:t>n</a:t>
                </a:r>
                <a:r>
                  <a:rPr lang="en-US" noProof="0" dirty="0"/>
                  <a:t> points with (x</a:t>
                </a:r>
                <a:r>
                  <a:rPr lang="en-US" baseline="-25000" noProof="0" dirty="0"/>
                  <a:t>0</a:t>
                </a:r>
                <a:r>
                  <a:rPr lang="en-US" noProof="0" dirty="0"/>
                  <a:t>, y</a:t>
                </a:r>
                <a:r>
                  <a:rPr lang="en-US" baseline="-25000" noProof="0" dirty="0"/>
                  <a:t>0</a:t>
                </a:r>
                <a:r>
                  <a:rPr lang="en-US" noProof="0" dirty="0"/>
                  <a:t>), ..., (x</a:t>
                </a:r>
                <a:r>
                  <a:rPr lang="en-US" baseline="-25000" noProof="0" dirty="0"/>
                  <a:t>n-1</a:t>
                </a:r>
                <a:r>
                  <a:rPr lang="en-US" noProof="0" dirty="0"/>
                  <a:t>, y</a:t>
                </a:r>
                <a:r>
                  <a:rPr lang="en-US" baseline="-25000" noProof="0" dirty="0"/>
                  <a:t>n-1</a:t>
                </a:r>
                <a:r>
                  <a:rPr lang="en-US" noProof="0" dirty="0"/>
                  <a:t>)</a:t>
                </a:r>
              </a:p>
              <a:p>
                <a:r>
                  <a:rPr lang="en-US" noProof="0" dirty="0"/>
                  <a:t>Find polynomial </a:t>
                </a:r>
                <a:r>
                  <a:rPr lang="en-US" noProof="0" dirty="0">
                    <a:solidFill>
                      <a:srgbClr val="C00000"/>
                    </a:solidFill>
                  </a:rPr>
                  <a:t>p</a:t>
                </a:r>
                <a:r>
                  <a:rPr lang="en-US" noProof="0" dirty="0"/>
                  <a:t> of degree </a:t>
                </a:r>
                <a:r>
                  <a:rPr lang="en-US" noProof="0" dirty="0">
                    <a:solidFill>
                      <a:srgbClr val="C00000"/>
                    </a:solidFill>
                  </a:rPr>
                  <a:t>d</a:t>
                </a:r>
                <a:r>
                  <a:rPr lang="en-US" noProof="0" dirty="0"/>
                  <a:t> that </a:t>
                </a:r>
                <a:r>
                  <a:rPr lang="en-US" noProof="0" dirty="0">
                    <a:solidFill>
                      <a:schemeClr val="accent1">
                        <a:lumMod val="50000"/>
                      </a:schemeClr>
                    </a:solidFill>
                  </a:rPr>
                  <a:t>minimizes</a:t>
                </a:r>
                <a:br>
                  <a:rPr lang="en-US" noProof="0" dirty="0"/>
                </a:br>
                <a:endParaRPr lang="en-US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i="0" noProof="0" smtClean="0"/>
                            <m:t>i</m:t>
                          </m:r>
                          <m:r>
                            <m:rPr>
                              <m:nor/>
                            </m:rPr>
                            <a:rPr lang="en-US" b="0" i="0" noProof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i="0" noProof="0" smtClean="0"/>
                            <m:t>=</m:t>
                          </m:r>
                          <m:r>
                            <m:rPr>
                              <m:nor/>
                            </m:rPr>
                            <a:rPr lang="en-US" b="0" i="0" noProof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i="0" noProof="0" smtClean="0"/>
                            <m:t>0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i="0" noProof="0" smtClean="0"/>
                            <m:t>n</m:t>
                          </m:r>
                          <m:r>
                            <m:rPr>
                              <m:nor/>
                            </m:rPr>
                            <a:rPr lang="en-US" b="0" i="0" noProof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i="0" noProof="0" smtClean="0"/>
                            <m:t>−</m:t>
                          </m:r>
                          <m:r>
                            <m:rPr>
                              <m:nor/>
                            </m:rPr>
                            <a:rPr lang="en-US" b="0" i="0" noProof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i="0" noProof="0" smtClean="0"/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i="0" noProof="0" smtClean="0">
                                      <a:solidFill>
                                        <a:srgbClr val="FF0000"/>
                                      </a:solidFill>
                                    </a:rPr>
                                    <m:t>y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baseline="-25000" noProof="0" smtClean="0">
                                      <a:solidFill>
                                        <a:srgbClr val="FF0000"/>
                                      </a:solidFill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noProof="0" smtClean="0"/>
                                    <m:t> −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noProof="0" smtClean="0">
                                      <a:solidFill>
                                        <a:schemeClr val="accent5"/>
                                      </a:solidFill>
                                    </a:rPr>
                                    <m:t>p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noProof="0" smtClean="0"/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 noProof="0" smtClean="0">
                                      <a:solidFill>
                                        <a:srgbClr val="FF0000"/>
                                      </a:solidFill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 baseline="-25000" noProof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 noProof="0" smtClean="0"/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i="0" noProof="0" smtClean="0"/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noProof="0" dirty="0"/>
              </a:p>
              <a:p>
                <a:endParaRPr lang="en-US" noProof="0" dirty="0"/>
              </a:p>
              <a:p>
                <a:r>
                  <a:rPr lang="en-US" noProof="0" dirty="0"/>
                  <a:t>known as least squares fit / linear regression / polynomial regression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4016" y="2015517"/>
                <a:ext cx="10469784" cy="3814010"/>
              </a:xfrm>
              <a:blipFill>
                <a:blip r:embed="rId3"/>
                <a:stretch>
                  <a:fillRect l="-990" t="-2720" r="-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863049" y="6399674"/>
            <a:ext cx="7192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4"/>
              </a:rPr>
              <a:t>docs.scipy.org/doc/</a:t>
            </a:r>
            <a:r>
              <a:rPr lang="en-US" noProof="0" dirty="0" err="1">
                <a:hlinkClick r:id="rId4"/>
              </a:rPr>
              <a:t>numpy</a:t>
            </a:r>
            <a:r>
              <a:rPr lang="en-US" noProof="0" dirty="0">
                <a:hlinkClick r:id="rId4"/>
              </a:rPr>
              <a:t>/reference/generated/numpy.polyfit.html</a:t>
            </a:r>
            <a:endParaRPr lang="en-US" noProof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346" y="202798"/>
            <a:ext cx="3480220" cy="297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69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936" y="1064870"/>
            <a:ext cx="6371590" cy="544805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763784"/>
              </p:ext>
            </p:extLst>
          </p:nvPr>
        </p:nvGraphicFramePr>
        <p:xfrm>
          <a:off x="393519" y="1401470"/>
          <a:ext cx="4961255" cy="4590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12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84049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[0, 2, 3, 5, 6, 7, 8]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[-2, 4, 3, 2, 4, 9, 12]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coefficients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np.polyfit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3)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np.linspace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 9, 100)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np.polyval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(coefficients,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'-')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stCxn id="3" idx="2"/>
          </p:cNvCxnSpPr>
          <p:nvPr/>
        </p:nvCxnSpPr>
        <p:spPr>
          <a:xfrm>
            <a:off x="4925495" y="3057307"/>
            <a:ext cx="0" cy="41880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496215" y="2687975"/>
            <a:ext cx="858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</a:rPr>
              <a:t>degree</a:t>
            </a:r>
          </a:p>
        </p:txBody>
      </p:sp>
    </p:spTree>
    <p:extLst>
      <p:ext uri="{BB962C8B-B14F-4D97-AF65-F5344CB8AC3E}">
        <p14:creationId xmlns:p14="http://schemas.microsoft.com/office/powerpoint/2010/main" val="2585011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960" y="564902"/>
            <a:ext cx="7407796" cy="579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80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861183"/>
              </p:ext>
            </p:extLst>
          </p:nvPr>
        </p:nvGraphicFramePr>
        <p:xfrm>
          <a:off x="550175" y="1023129"/>
          <a:ext cx="9502834" cy="5596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283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84049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polyfit.py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3 *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np.random.random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(25) 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noise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np.random.random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x.size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** 2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5 * x ** 2 - 12 * x + 7 + 5 * noise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degree in [1, 2, 5, 10]: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coefficients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np.polyfit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degree)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np.linspace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(-1, 4, 100)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np.polyval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(coefficients,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'-', label=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f'degree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{degree}')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avg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np.average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(y)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([-1, 4], [avg, avg], 'k-', label='average')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plt.ylim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(-3, 15)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('Least squares polynomial fit')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plt.legend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820" y="171363"/>
            <a:ext cx="4514126" cy="35287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5625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511" y="209483"/>
            <a:ext cx="5828489" cy="1325563"/>
          </a:xfrm>
        </p:spPr>
        <p:txBody>
          <a:bodyPr/>
          <a:lstStyle/>
          <a:p>
            <a:r>
              <a:rPr lang="en-US" noProof="0" dirty="0"/>
              <a:t>Animating bouncing balls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144" y="1695922"/>
            <a:ext cx="6496449" cy="4351338"/>
          </a:xfrm>
        </p:spPr>
        <p:txBody>
          <a:bodyPr/>
          <a:lstStyle/>
          <a:p>
            <a:r>
              <a:rPr lang="en-US" noProof="0" dirty="0"/>
              <a:t>matplotlib figures can be animated using </a:t>
            </a:r>
          </a:p>
          <a:p>
            <a:pPr marL="0" indent="0" algn="ctr">
              <a:buNone/>
            </a:pP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matplotlib.animation.FuncAnimation</a:t>
            </a:r>
            <a:endParaRPr lang="en-US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0">
              <a:buNone/>
            </a:pPr>
            <a:r>
              <a:rPr lang="en-US" sz="2000" noProof="0" dirty="0"/>
              <a:t>that as arguments takes the figure to be updated/ redrawn, a function to call for each update, and an interval in milliseconds between updates</a:t>
            </a:r>
            <a:r>
              <a:rPr lang="en-US" sz="2400" noProof="0" dirty="0"/>
              <a:t>	</a:t>
            </a: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602114"/>
              </p:ext>
            </p:extLst>
          </p:nvPr>
        </p:nvGraphicFramePr>
        <p:xfrm>
          <a:off x="6705595" y="97277"/>
          <a:ext cx="5394643" cy="669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6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2395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balls.py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691761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matplotlib.animation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FuncAnimation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maximum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minimum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numpy.random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 = 0.01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 = 10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x, y = 10.0 *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(N), 1.0 + 9.0 *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dx,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 / 5,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fig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plt.figure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plt.xlim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(0, 10)</a:t>
                      </a:r>
                    </a:p>
                    <a:p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plt.ylim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(0, 10)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balls, 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'o')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returns Line2D obj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(frame):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global x, y, dx,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+= dx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bounce = (x &gt; 10.0) | (x &lt; 0.0)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mask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dx[bounce] = -dx[bounce]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minimum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(10.0,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maximum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(0.0, x))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y +=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bounce = y &lt; 0.0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4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mask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y[bounce] -=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[bounce]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[bounce] = -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[bounce]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dy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-= g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balls.set_data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y)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update positions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removing 'ani =' causes program to fail...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ani =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FuncAnimation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(fig, </a:t>
                      </a:r>
                      <a:r>
                        <a:rPr lang="en-US" sz="1400" b="1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interval=25)</a:t>
                      </a:r>
                    </a:p>
                    <a:p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6916" t="16013" r="7991" b="11667"/>
          <a:stretch/>
        </p:blipFill>
        <p:spPr>
          <a:xfrm>
            <a:off x="1051397" y="3736775"/>
            <a:ext cx="4260715" cy="288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84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057" y="0"/>
            <a:ext cx="7118182" cy="677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04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318880"/>
              </p:ext>
            </p:extLst>
          </p:nvPr>
        </p:nvGraphicFramePr>
        <p:xfrm>
          <a:off x="983829" y="406048"/>
          <a:ext cx="10149205" cy="5718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92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84049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mandelbrot.py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mandelbrot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(h, w,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maxit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=20):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'''Returns an image of the Mandelbrot fractal of size (h, w).'''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np.linspace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(-2.0, 0.8, w).reshape(1, w) 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row vector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y 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np.linspace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(-1.4, 1.4, h).reshape(h, 1) 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column vector</a:t>
                      </a:r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 = x + y * 1j                              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broadcast &amp; complex</a:t>
                      </a:r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z = c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divtime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</a:t>
                      </a:r>
                      <a:r>
                        <a:rPr lang="en-US" sz="18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full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z.shape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maxit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=int)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all values =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maxit</a:t>
                      </a:r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 in range(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maxit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z = z * z + c                           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elementwise</a:t>
                      </a:r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diverge = z *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np.conj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(z) &gt; 4            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who is diverging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div_now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diverge &amp; 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divtime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maxit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who is diverging now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divtime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div_now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i                    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note when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z[diverge] = 0                          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limit divergence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divtime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  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(avoids overflows)</a:t>
                      </a:r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en-US" sz="18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imshow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mandelbrot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(400, 400))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337601" y="6316215"/>
            <a:ext cx="5688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/>
              <a:t>code from </a:t>
            </a:r>
            <a:r>
              <a:rPr lang="en-US" noProof="0" dirty="0">
                <a:hlinkClick r:id="rId3"/>
              </a:rPr>
              <a:t>docs.scipy.org/doc/</a:t>
            </a:r>
            <a:r>
              <a:rPr lang="en-US" noProof="0" dirty="0" err="1">
                <a:hlinkClick r:id="rId3"/>
              </a:rPr>
              <a:t>numpy</a:t>
            </a:r>
            <a:r>
              <a:rPr lang="en-US" noProof="0" dirty="0">
                <a:hlinkClick r:id="rId3"/>
              </a:rPr>
              <a:t>/user/quickstart.html</a:t>
            </a:r>
            <a:endParaRPr lang="en-US" noProof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618" y="58508"/>
            <a:ext cx="1721495" cy="16376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73157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50695</TotalTime>
  <Words>6964</Words>
  <Application>Microsoft Office PowerPoint</Application>
  <PresentationFormat>Widescreen</PresentationFormat>
  <Paragraphs>825</Paragraphs>
  <Slides>34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Multi-dimensional data</vt:lpstr>
      <vt:lpstr>PowerPoint Presentation</vt:lpstr>
      <vt:lpstr>pylab ?</vt:lpstr>
      <vt:lpstr>NumPy arrays (example) </vt:lpstr>
      <vt:lpstr>Plotting a function (example)</vt:lpstr>
      <vt:lpstr>A circle</vt:lpstr>
      <vt:lpstr>Two half circles</vt:lpstr>
      <vt:lpstr>Creating one-dimensional NumPy arrays</vt:lpstr>
      <vt:lpstr>Supported dtypes</vt:lpstr>
      <vt:lpstr>Mantissa size in various numpy floats </vt:lpstr>
      <vt:lpstr>Creating multi-dimensional NumPy arrays</vt:lpstr>
      <vt:lpstr>NumPy operations</vt:lpstr>
      <vt:lpstr>Universal functions (apply to each entry)</vt:lpstr>
      <vt:lpstr>Axis</vt:lpstr>
      <vt:lpstr>Slicing</vt:lpstr>
      <vt:lpstr>Broadcasting (stretching arrays to get same size)</vt:lpstr>
      <vt:lpstr>View vs Copy</vt:lpstr>
      <vt:lpstr>.reshape does not always return a view</vt:lpstr>
      <vt:lpstr>Question – What is print(D, F) ?</vt:lpstr>
      <vt:lpstr>Masking</vt:lpstr>
      <vt:lpstr>Numpy is fast... but be aware of dtype</vt:lpstr>
      <vt:lpstr>numpy.int32 – 32 bit signed two’s-complement integers</vt:lpstr>
      <vt:lpstr>Linear algebra</vt:lpstr>
      <vt:lpstr>Singular value decomposition, np.linalg.svd</vt:lpstr>
      <vt:lpstr>… and in color</vt:lpstr>
      <vt:lpstr>… and in color (stacked)</vt:lpstr>
      <vt:lpstr>PowerPoint Presentation</vt:lpstr>
      <vt:lpstr>numpy.polyfit</vt:lpstr>
      <vt:lpstr>PowerPoint Presentation</vt:lpstr>
      <vt:lpstr>PowerPoint Presentation</vt:lpstr>
      <vt:lpstr>PowerPoint Presentation</vt:lpstr>
      <vt:lpstr>Animating bouncing balls</vt:lpstr>
      <vt:lpstr>PowerPoint Presentation</vt:lpstr>
      <vt:lpstr>PowerPoint Presentation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1748</cp:revision>
  <dcterms:created xsi:type="dcterms:W3CDTF">2017-10-19T06:54:16Z</dcterms:created>
  <dcterms:modified xsi:type="dcterms:W3CDTF">2026-03-25T10:53:45Z</dcterms:modified>
</cp:coreProperties>
</file>