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480" r:id="rId2"/>
    <p:sldId id="752" r:id="rId3"/>
    <p:sldId id="739" r:id="rId4"/>
    <p:sldId id="747" r:id="rId5"/>
    <p:sldId id="749" r:id="rId6"/>
    <p:sldId id="750" r:id="rId7"/>
    <p:sldId id="751" r:id="rId8"/>
    <p:sldId id="753" r:id="rId9"/>
    <p:sldId id="775" r:id="rId10"/>
    <p:sldId id="767" r:id="rId11"/>
    <p:sldId id="754" r:id="rId12"/>
    <p:sldId id="755" r:id="rId13"/>
    <p:sldId id="756" r:id="rId14"/>
    <p:sldId id="762" r:id="rId15"/>
    <p:sldId id="757" r:id="rId16"/>
    <p:sldId id="763" r:id="rId17"/>
    <p:sldId id="768" r:id="rId18"/>
    <p:sldId id="776" r:id="rId19"/>
    <p:sldId id="778" r:id="rId20"/>
    <p:sldId id="764" r:id="rId21"/>
    <p:sldId id="765" r:id="rId22"/>
    <p:sldId id="769" r:id="rId23"/>
    <p:sldId id="758" r:id="rId24"/>
    <p:sldId id="771" r:id="rId25"/>
    <p:sldId id="770" r:id="rId26"/>
    <p:sldId id="774" r:id="rId27"/>
    <p:sldId id="773" r:id="rId28"/>
    <p:sldId id="740" r:id="rId29"/>
    <p:sldId id="761" r:id="rId30"/>
    <p:sldId id="741" r:id="rId31"/>
    <p:sldId id="742" r:id="rId32"/>
    <p:sldId id="766" r:id="rId33"/>
    <p:sldId id="760" r:id="rId34"/>
    <p:sldId id="759" r:id="rId3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A7"/>
    <a:srgbClr val="0000FF"/>
    <a:srgbClr val="000000"/>
    <a:srgbClr val="FFF2CC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5881C4-EB8C-4DCB-8276-B4BA8DC8785F}" v="115" dt="2026-03-24T13:28:42.0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85" autoAdjust="0"/>
    <p:restoredTop sz="91820" autoAdjust="0"/>
  </p:normalViewPr>
  <p:slideViewPr>
    <p:cSldViewPr snapToGrid="0">
      <p:cViewPr>
        <p:scale>
          <a:sx n="400" d="100"/>
          <a:sy n="400" d="100"/>
        </p:scale>
        <p:origin x="-12749" y="-4685"/>
      </p:cViewPr>
      <p:guideLst/>
    </p:cSldViewPr>
  </p:slideViewPr>
  <p:outlineViewPr>
    <p:cViewPr>
      <p:scale>
        <a:sx n="33" d="100"/>
        <a:sy n="33" d="100"/>
      </p:scale>
      <p:origin x="0" y="-533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43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redo custSel addSld delSld modSld sldOrd">
      <pc:chgData name="Gerth Stølting Brodal" userId="04ef4784-6591-4f86-a140-f5c3b108582a" providerId="ADAL" clId="{73BAC7D6-516A-44B5-B4B0-C7B08CA8B392}" dt="2026-03-24T13:38:00.504" v="2273" actId="207"/>
      <pc:docMkLst>
        <pc:docMk/>
      </pc:docMkLst>
      <pc:sldChg chg="addSp delSp 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261549899" sldId="48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4" creationId="{00000000-0000-0000-0000-000000000000}"/>
          </ac:spMkLst>
        </pc:spChg>
        <pc:spChg chg="add del">
          <ac:chgData name="Gerth Stølting Brodal" userId="04ef4784-6591-4f86-a140-f5c3b108582a" providerId="ADAL" clId="{73BAC7D6-516A-44B5-B4B0-C7B08CA8B392}" dt="2026-03-23T14:42:12.886" v="99" actId="22"/>
          <ac:spMkLst>
            <pc:docMk/>
            <pc:sldMk cId="3261549899" sldId="480"/>
            <ac:spMk id="6" creationId="{BB8082A7-335A-7862-E5D8-8E4429067C0C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023447693" sldId="73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57069365" sldId="74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195625844" sldId="742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195625844" sldId="74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718814100" sldId="74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197135765" sldId="74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568917734" sldId="75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68917734" sldId="750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68917734" sldId="750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557432263" sldId="75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557432263" sldId="75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730150201" sldId="75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8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115646034" sldId="75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9" creationId="{CF633ABE-04BB-BEA3-2AB1-AB1DF282388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15646034" sldId="75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22157407" sldId="75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22157407" sldId="75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22157407" sldId="75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510596143" sldId="75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10596143" sldId="755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297860505" sldId="75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97860505" sldId="756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297860505" sldId="75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601737075" sldId="75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601737075" sldId="757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601737075" sldId="75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886750958" sldId="758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86750958" sldId="75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73157440" sldId="75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73157440" sldId="75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73157440" sldId="759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585011423" sldId="76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85011423" sldId="76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85011423" sldId="76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620329826" sldId="76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620329826" sldId="762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008844095" sldId="76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008844095" sldId="76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852865839" sldId="76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852865839" sldId="76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852865839" sldId="76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517907610" sldId="76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8" creationId="{F7466382-8AC1-0451-54AF-8938A0E11DE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517907610" sldId="76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333584684" sldId="76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333584684" sldId="76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2591899" sldId="76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2591899" sldId="767"/>
            <ac:graphicFrameMk id="4" creationId="{00000000-0000-0000-0000-000000000000}"/>
          </ac:graphicFrameMkLst>
        </pc:graphicFrameChg>
      </pc:sldChg>
      <pc:sldChg chg="modSp mod ord modNotesTx">
        <pc:chgData name="Gerth Stølting Brodal" userId="04ef4784-6591-4f86-a140-f5c3b108582a" providerId="ADAL" clId="{73BAC7D6-516A-44B5-B4B0-C7B08CA8B392}" dt="2026-03-23T16:06:38.710" v="1765"/>
        <pc:sldMkLst>
          <pc:docMk/>
          <pc:sldMk cId="4225977506" sldId="768"/>
        </pc:sldMkLst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225977506" sldId="76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441406672" sldId="76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1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86054163" sldId="77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86054163" sldId="770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024228852" sldId="77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19" creationId="{622EA022-1CB2-48D6-A091-13AE8B9BE8CE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0" creationId="{7CC83A41-B101-4912-8A15-B39BFBBACE41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2" creationId="{A05C0497-E63F-4CA0-9A70-39A8612D7A87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7" creationId="{BDF744DC-8081-44A1-8ECF-C5E24038A569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0" creationId="{C6C7587D-22CD-4B73-8818-3571DB0046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9" creationId="{20D27FBC-4B6C-4909-85EB-9386F4214E9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2" creationId="{133A5FBE-7E17-4BD9-9B8F-EA205318AC3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3" creationId="{C4DB3934-741C-4710-BF6E-75E4B3DDF048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4" creationId="{DA448C31-9763-4E25-9C26-8D17F393ED43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9" creationId="{27CFA618-9750-4DBB-B843-DB91CF5BB07C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24323286" sldId="773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124323286" sldId="773"/>
            <ac:graphicFrameMk id="6" creationId="{EDC7C7C2-12C3-4BDC-AE0E-CA8F02A3F0DD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720162074" sldId="77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13" creationId="{2DD0BB4C-CFE0-4F02-A4A7-44471E9791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720162074" sldId="774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808197162" sldId="77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10" creationId="{40C16040-C9A5-A366-CE73-A03CC8D4C02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08197162" sldId="775"/>
            <ac:graphicFrameMk id="4" creationId="{00000000-0000-0000-0000-000000000000}"/>
          </ac:graphicFrameMkLst>
        </pc:graphicFrameChg>
      </pc:sldChg>
      <pc:sldChg chg="addSp delSp modSp add mod ord setBg modNotesTx">
        <pc:chgData name="Gerth Stølting Brodal" userId="04ef4784-6591-4f86-a140-f5c3b108582a" providerId="ADAL" clId="{73BAC7D6-516A-44B5-B4B0-C7B08CA8B392}" dt="2026-03-24T09:04:16.424" v="1782"/>
        <pc:sldMkLst>
          <pc:docMk/>
          <pc:sldMk cId="3404283032" sldId="776"/>
        </pc:sldMkLst>
        <pc:spChg chg="mod">
          <ac:chgData name="Gerth Stølting Brodal" userId="04ef4784-6591-4f86-a140-f5c3b108582a" providerId="ADAL" clId="{73BAC7D6-516A-44B5-B4B0-C7B08CA8B392}" dt="2026-03-23T15:36:13.221" v="1301" actId="2711"/>
          <ac:spMkLst>
            <pc:docMk/>
            <pc:sldMk cId="3404283032" sldId="776"/>
            <ac:spMk id="2" creationId="{D37D65B0-8778-D37B-362F-1D2D735C6CFC}"/>
          </ac:spMkLst>
        </pc:spChg>
        <pc:spChg chg="del mod">
          <ac:chgData name="Gerth Stølting Brodal" userId="04ef4784-6591-4f86-a140-f5c3b108582a" providerId="ADAL" clId="{73BAC7D6-516A-44B5-B4B0-C7B08CA8B392}" dt="2026-03-23T14:50:19.096" v="148" actId="478"/>
          <ac:spMkLst>
            <pc:docMk/>
            <pc:sldMk cId="3404283032" sldId="776"/>
            <ac:spMk id="5" creationId="{FD505D7D-E620-8B16-7503-0BCAB1BA4D60}"/>
          </ac:spMkLst>
        </pc:spChg>
        <pc:spChg chg="add del">
          <ac:chgData name="Gerth Stølting Brodal" userId="04ef4784-6591-4f86-a140-f5c3b108582a" providerId="ADAL" clId="{73BAC7D6-516A-44B5-B4B0-C7B08CA8B392}" dt="2026-03-23T14:42:25.447" v="103" actId="22"/>
          <ac:spMkLst>
            <pc:docMk/>
            <pc:sldMk cId="3404283032" sldId="776"/>
            <ac:spMk id="6" creationId="{FBE94011-BC34-D81B-1387-B94184E570C1}"/>
          </ac:spMkLst>
        </pc:spChg>
        <pc:spChg chg="add del mod">
          <ac:chgData name="Gerth Stølting Brodal" userId="04ef4784-6591-4f86-a140-f5c3b108582a" providerId="ADAL" clId="{73BAC7D6-516A-44B5-B4B0-C7B08CA8B392}" dt="2026-03-23T14:50:21.009" v="149" actId="478"/>
          <ac:spMkLst>
            <pc:docMk/>
            <pc:sldMk cId="3404283032" sldId="776"/>
            <ac:spMk id="9" creationId="{3AAD6901-2A22-F3BE-3F35-B4A2B56FFCFE}"/>
          </ac:spMkLst>
        </pc:spChg>
        <pc:spChg chg="add del">
          <ac:chgData name="Gerth Stølting Brodal" userId="04ef4784-6591-4f86-a140-f5c3b108582a" providerId="ADAL" clId="{73BAC7D6-516A-44B5-B4B0-C7B08CA8B392}" dt="2026-03-23T14:43:14.839" v="146" actId="26606"/>
          <ac:spMkLst>
            <pc:docMk/>
            <pc:sldMk cId="3404283032" sldId="776"/>
            <ac:spMk id="12" creationId="{7FF47CB7-972F-479F-A36D-9E72D26EC8DA}"/>
          </ac:spMkLst>
        </pc:spChg>
        <pc:spChg chg="add del mod">
          <ac:chgData name="Gerth Stølting Brodal" userId="04ef4784-6591-4f86-a140-f5c3b108582a" providerId="ADAL" clId="{73BAC7D6-516A-44B5-B4B0-C7B08CA8B392}" dt="2026-03-23T14:59:35.337" v="220" actId="478"/>
          <ac:spMkLst>
            <pc:docMk/>
            <pc:sldMk cId="3404283032" sldId="776"/>
            <ac:spMk id="13" creationId="{2746FE9C-9831-A21B-94A6-F22837835BA6}"/>
          </ac:spMkLst>
        </pc:spChg>
        <pc:spChg chg="add del">
          <ac:chgData name="Gerth Stølting Brodal" userId="04ef4784-6591-4f86-a140-f5c3b108582a" providerId="ADAL" clId="{73BAC7D6-516A-44B5-B4B0-C7B08CA8B392}" dt="2026-03-23T14:43:14.839" v="146" actId="26606"/>
          <ac:spMkLst>
            <pc:docMk/>
            <pc:sldMk cId="3404283032" sldId="776"/>
            <ac:spMk id="14" creationId="{0D153B68-5844-490D-8E67-F616D6D721CA}"/>
          </ac:spMkLst>
        </pc:spChg>
        <pc:spChg chg="add mod">
          <ac:chgData name="Gerth Stølting Brodal" userId="04ef4784-6591-4f86-a140-f5c3b108582a" providerId="ADAL" clId="{73BAC7D6-516A-44B5-B4B0-C7B08CA8B392}" dt="2026-03-23T15:49:04.240" v="1686" actId="27636"/>
          <ac:spMkLst>
            <pc:docMk/>
            <pc:sldMk cId="3404283032" sldId="776"/>
            <ac:spMk id="15" creationId="{AE536259-9A77-51D4-8E62-B800C0C88DF4}"/>
          </ac:spMkLst>
        </pc:spChg>
        <pc:spChg chg="add del">
          <ac:chgData name="Gerth Stølting Brodal" userId="04ef4784-6591-4f86-a140-f5c3b108582a" providerId="ADAL" clId="{73BAC7D6-516A-44B5-B4B0-C7B08CA8B392}" dt="2026-03-23T14:43:14.839" v="146" actId="26606"/>
          <ac:spMkLst>
            <pc:docMk/>
            <pc:sldMk cId="3404283032" sldId="776"/>
            <ac:spMk id="16" creationId="{9A0D773F-7A7D-4DBB-9DEA-86BB8B8F4BC8}"/>
          </ac:spMkLst>
        </pc:spChg>
        <pc:spChg chg="add mod">
          <ac:chgData name="Gerth Stølting Brodal" userId="04ef4784-6591-4f86-a140-f5c3b108582a" providerId="ADAL" clId="{73BAC7D6-516A-44B5-B4B0-C7B08CA8B392}" dt="2026-03-23T15:41:47.826" v="1381" actId="1036"/>
          <ac:spMkLst>
            <pc:docMk/>
            <pc:sldMk cId="3404283032" sldId="776"/>
            <ac:spMk id="19" creationId="{2027067D-FF74-F589-0401-9509129ED86D}"/>
          </ac:spMkLst>
        </pc:spChg>
        <pc:graphicFrameChg chg="add mod">
          <ac:chgData name="Gerth Stølting Brodal" userId="04ef4784-6591-4f86-a140-f5c3b108582a" providerId="ADAL" clId="{73BAC7D6-516A-44B5-B4B0-C7B08CA8B392}" dt="2026-03-24T09:04:16.424" v="1782"/>
          <ac:graphicFrameMkLst>
            <pc:docMk/>
            <pc:sldMk cId="3404283032" sldId="776"/>
            <ac:graphicFrameMk id="3" creationId="{292A4C29-D86D-269C-B4A9-F07B5F2B4D85}"/>
          </ac:graphicFrameMkLst>
        </pc:graphicFrameChg>
        <pc:graphicFrameChg chg="mod ord modGraphic">
          <ac:chgData name="Gerth Stølting Brodal" userId="04ef4784-6591-4f86-a140-f5c3b108582a" providerId="ADAL" clId="{73BAC7D6-516A-44B5-B4B0-C7B08CA8B392}" dt="2026-03-24T09:03:56.518" v="1780" actId="20577"/>
          <ac:graphicFrameMkLst>
            <pc:docMk/>
            <pc:sldMk cId="3404283032" sldId="776"/>
            <ac:graphicFrameMk id="4" creationId="{11B5722F-C402-7CA6-C220-2273C2BEB170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3T16:01:12.940" v="1743" actId="20577"/>
          <ac:graphicFrameMkLst>
            <pc:docMk/>
            <pc:sldMk cId="3404283032" sldId="776"/>
            <ac:graphicFrameMk id="10" creationId="{58F7BF85-04BD-D6B1-A6C2-8EAC675E5C24}"/>
          </ac:graphicFrameMkLst>
        </pc:graphicFrameChg>
        <pc:picChg chg="add mod">
          <ac:chgData name="Gerth Stølting Brodal" userId="04ef4784-6591-4f86-a140-f5c3b108582a" providerId="ADAL" clId="{73BAC7D6-516A-44B5-B4B0-C7B08CA8B392}" dt="2026-03-23T14:42:39.488" v="105" actId="1076"/>
          <ac:picMkLst>
            <pc:docMk/>
            <pc:sldMk cId="3404283032" sldId="776"/>
            <ac:picMk id="7" creationId="{9E934EC1-5380-312B-2DCB-3D99DD660365}"/>
          </ac:picMkLst>
        </pc:picChg>
        <pc:picChg chg="add mod">
          <ac:chgData name="Gerth Stølting Brodal" userId="04ef4784-6591-4f86-a140-f5c3b108582a" providerId="ADAL" clId="{73BAC7D6-516A-44B5-B4B0-C7B08CA8B392}" dt="2026-03-23T15:36:42.746" v="1303" actId="1076"/>
          <ac:picMkLst>
            <pc:docMk/>
            <pc:sldMk cId="3404283032" sldId="776"/>
            <ac:picMk id="17" creationId="{84F35FA3-59B8-D751-83E5-A1D743C09A8E}"/>
          </ac:picMkLst>
        </pc:picChg>
      </pc:sldChg>
      <pc:sldChg chg="addSp delSp modSp add del mod setBg">
        <pc:chgData name="Gerth Stølting Brodal" userId="04ef4784-6591-4f86-a140-f5c3b108582a" providerId="ADAL" clId="{73BAC7D6-516A-44B5-B4B0-C7B08CA8B392}" dt="2026-03-24T09:23:15.582" v="1966" actId="47"/>
        <pc:sldMkLst>
          <pc:docMk/>
          <pc:sldMk cId="638878041" sldId="777"/>
        </pc:sldMkLst>
        <pc:spChg chg="add del">
          <ac:chgData name="Gerth Stølting Brodal" userId="04ef4784-6591-4f86-a140-f5c3b108582a" providerId="ADAL" clId="{73BAC7D6-516A-44B5-B4B0-C7B08CA8B392}" dt="2026-03-24T09:15:32.722" v="1896" actId="22"/>
          <ac:spMkLst>
            <pc:docMk/>
            <pc:sldMk cId="638878041" sldId="777"/>
            <ac:spMk id="5" creationId="{54FA25E2-6A14-A6E5-BEEC-CB4F98FF5A0B}"/>
          </ac:spMkLst>
        </pc:spChg>
        <pc:graphicFrameChg chg="mod modGraphic">
          <ac:chgData name="Gerth Stølting Brodal" userId="04ef4784-6591-4f86-a140-f5c3b108582a" providerId="ADAL" clId="{73BAC7D6-516A-44B5-B4B0-C7B08CA8B392}" dt="2026-03-24T09:15:00.200" v="1894" actId="14100"/>
          <ac:graphicFrameMkLst>
            <pc:docMk/>
            <pc:sldMk cId="638878041" sldId="777"/>
            <ac:graphicFrameMk id="4" creationId="{6BDE6A3A-54D3-6000-EBE4-54DD7A650BC1}"/>
          </ac:graphicFrameMkLst>
        </pc:graphicFrameChg>
        <pc:graphicFrameChg chg="del">
          <ac:chgData name="Gerth Stølting Brodal" userId="04ef4784-6591-4f86-a140-f5c3b108582a" providerId="ADAL" clId="{73BAC7D6-516A-44B5-B4B0-C7B08CA8B392}" dt="2026-03-24T09:14:04.724" v="1871" actId="478"/>
          <ac:graphicFrameMkLst>
            <pc:docMk/>
            <pc:sldMk cId="638878041" sldId="777"/>
            <ac:graphicFrameMk id="10" creationId="{F81D8B9E-DADA-23A6-73B1-2DF29ABDF435}"/>
          </ac:graphicFrameMkLst>
        </pc:graphicFrameChg>
        <pc:picChg chg="del">
          <ac:chgData name="Gerth Stølting Brodal" userId="04ef4784-6591-4f86-a140-f5c3b108582a" providerId="ADAL" clId="{73BAC7D6-516A-44B5-B4B0-C7B08CA8B392}" dt="2026-03-24T09:07:00.772" v="1785" actId="478"/>
          <ac:picMkLst>
            <pc:docMk/>
            <pc:sldMk cId="638878041" sldId="777"/>
            <ac:picMk id="17" creationId="{5929901A-E83B-4F74-D896-D057CEC1B36D}"/>
          </ac:picMkLst>
        </pc:picChg>
      </pc:sldChg>
      <pc:sldChg chg="addSp delSp modSp add mod setBg modAnim modNotesTx">
        <pc:chgData name="Gerth Stølting Brodal" userId="04ef4784-6591-4f86-a140-f5c3b108582a" providerId="ADAL" clId="{73BAC7D6-516A-44B5-B4B0-C7B08CA8B392}" dt="2026-03-24T13:38:00.504" v="2273" actId="207"/>
        <pc:sldMkLst>
          <pc:docMk/>
          <pc:sldMk cId="1387994146" sldId="778"/>
        </pc:sldMkLst>
        <pc:spChg chg="mod">
          <ac:chgData name="Gerth Stølting Brodal" userId="04ef4784-6591-4f86-a140-f5c3b108582a" providerId="ADAL" clId="{73BAC7D6-516A-44B5-B4B0-C7B08CA8B392}" dt="2026-03-24T09:19:45.006" v="1964" actId="14100"/>
          <ac:spMkLst>
            <pc:docMk/>
            <pc:sldMk cId="1387994146" sldId="77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5" creationId="{00000000-0000-0000-0000-000000000000}"/>
          </ac:spMkLst>
        </pc:spChg>
        <pc:graphicFrameChg chg="del">
          <ac:chgData name="Gerth Stølting Brodal" userId="04ef4784-6591-4f86-a140-f5c3b108582a" providerId="ADAL" clId="{73BAC7D6-516A-44B5-B4B0-C7B08CA8B392}" dt="2026-03-24T09:15:56.291" v="1899" actId="478"/>
          <ac:graphicFrameMkLst>
            <pc:docMk/>
            <pc:sldMk cId="1387994146" sldId="778"/>
            <ac:graphicFrameMk id="4" creationId="{00000000-0000-0000-0000-000000000000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4T13:30:01.799" v="2094" actId="20577"/>
          <ac:graphicFrameMkLst>
            <pc:docMk/>
            <pc:sldMk cId="1387994146" sldId="778"/>
            <ac:graphicFrameMk id="6" creationId="{6D6B87B3-3782-3BAE-7755-B514277AFC67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4T13:38:00.504" v="2273" actId="207"/>
          <ac:graphicFrameMkLst>
            <pc:docMk/>
            <pc:sldMk cId="1387994146" sldId="778"/>
            <ac:graphicFrameMk id="7" creationId="{276D1744-8E01-1FD1-74AF-91054DBAC2F5}"/>
          </ac:graphicFrameMkLst>
        </pc:graphicFrameChg>
        <pc:picChg chg="add mod">
          <ac:chgData name="Gerth Stølting Brodal" userId="04ef4784-6591-4f86-a140-f5c3b108582a" providerId="ADAL" clId="{73BAC7D6-516A-44B5-B4B0-C7B08CA8B392}" dt="2026-03-24T13:32:04.217" v="2258" actId="1036"/>
          <ac:picMkLst>
            <pc:docMk/>
            <pc:sldMk cId="1387994146" sldId="778"/>
            <ac:picMk id="8" creationId="{BCC90CE5-CBAC-300B-6F9D-669FFD8FD5E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2020 article summarizing the history</a:t>
            </a:r>
            <a:r>
              <a:rPr lang="en-US" baseline="0" dirty="0"/>
              <a:t> of </a:t>
            </a:r>
            <a:r>
              <a:rPr lang="en-US" baseline="0"/>
              <a:t>Numpy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88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89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linspace</a:t>
            </a:r>
            <a:r>
              <a:rPr lang="en-US" dirty="0"/>
              <a:t> generate by default 50 values if</a:t>
            </a:r>
            <a:r>
              <a:rPr lang="en-US" baseline="0" dirty="0"/>
              <a:t> 3</a:t>
            </a:r>
            <a:r>
              <a:rPr lang="en-US" baseline="30000" dirty="0"/>
              <a:t>rd</a:t>
            </a:r>
            <a:r>
              <a:rPr lang="en-US" baseline="0" dirty="0"/>
              <a:t> value omitted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52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have </a:t>
            </a:r>
            <a:r>
              <a:rPr lang="da-DK" dirty="0" err="1"/>
              <a:t>used</a:t>
            </a:r>
            <a:r>
              <a:rPr lang="da-DK" dirty="0"/>
              <a:t> ”** 0.5”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09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np.array</a:t>
            </a:r>
            <a:r>
              <a:rPr lang="en-US" dirty="0"/>
              <a:t> accepts an </a:t>
            </a:r>
            <a:r>
              <a:rPr lang="en-US" b="1" dirty="0"/>
              <a:t>array like argument </a:t>
            </a:r>
            <a:r>
              <a:rPr lang="en-US" dirty="0"/>
              <a:t> -</a:t>
            </a:r>
            <a:r>
              <a:rPr lang="en-US" baseline="0" dirty="0"/>
              <a:t> e.g. not a generator object</a:t>
            </a:r>
          </a:p>
          <a:p>
            <a:r>
              <a:rPr lang="en-US" baseline="0" dirty="0" err="1"/>
              <a:t>np.array</a:t>
            </a:r>
            <a:r>
              <a:rPr lang="en-US" baseline="0" dirty="0"/>
              <a:t> with integers generates an array </a:t>
            </a:r>
            <a:r>
              <a:rPr lang="en-US" baseline="0"/>
              <a:t>with </a:t>
            </a:r>
            <a:r>
              <a:rPr lang="en-US" b="1" baseline="0"/>
              <a:t>int32</a:t>
            </a:r>
            <a:endParaRPr lang="en-US" b="1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703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b="0" dirty="0" err="1"/>
              <a:t>Until</a:t>
            </a:r>
            <a:r>
              <a:rPr lang="da-DK" b="0" dirty="0"/>
              <a:t> </a:t>
            </a:r>
            <a:r>
              <a:rPr lang="da-DK" b="0" dirty="0" err="1"/>
              <a:t>numpy</a:t>
            </a:r>
            <a:r>
              <a:rPr lang="da-DK" b="0" dirty="0"/>
              <a:t> Version 2.0 </a:t>
            </a:r>
            <a:r>
              <a:rPr lang="da-DK" b="0" dirty="0" err="1"/>
              <a:t>one</a:t>
            </a:r>
            <a:r>
              <a:rPr lang="da-DK" b="0" dirty="0"/>
              <a:t> </a:t>
            </a:r>
            <a:r>
              <a:rPr lang="da-DK" b="0" dirty="0" err="1"/>
              <a:t>could</a:t>
            </a:r>
            <a:r>
              <a:rPr lang="da-DK" b="0" dirty="0"/>
              <a:t> </a:t>
            </a:r>
            <a:r>
              <a:rPr lang="da-DK" b="0" dirty="0" err="1"/>
              <a:t>use</a:t>
            </a:r>
            <a:r>
              <a:rPr lang="da-DK" b="0" dirty="0"/>
              <a:t> </a:t>
            </a:r>
            <a:r>
              <a:rPr lang="da-DK" b="0" dirty="0" err="1"/>
              <a:t>np</a:t>
            </a:r>
            <a:r>
              <a:rPr lang="da-DK" b="0" dirty="0"/>
              <a:t>.</a:t>
            </a:r>
            <a:r>
              <a:rPr lang="en-US" b="0" dirty="0" err="1"/>
              <a:t>sctypes</a:t>
            </a:r>
            <a:r>
              <a:rPr lang="en-US" b="0" dirty="0"/>
              <a:t> to get all types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8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252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Rows</a:t>
            </a:r>
            <a:r>
              <a:rPr lang="da-DK" dirty="0"/>
              <a:t> must </a:t>
            </a:r>
            <a:r>
              <a:rPr lang="da-DK" dirty="0" err="1"/>
              <a:t>contain</a:t>
            </a:r>
            <a:r>
              <a:rPr lang="da-DK" dirty="0"/>
              <a:t> same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values</a:t>
            </a:r>
            <a:endParaRPr lang="da-DK" dirty="0"/>
          </a:p>
          <a:p>
            <a:r>
              <a:rPr lang="da-DK" dirty="0" err="1"/>
              <a:t>np.array</a:t>
            </a:r>
            <a:r>
              <a:rPr lang="da-DK" dirty="0"/>
              <a:t>([[1,2],[3,4,5]]) -&gt; </a:t>
            </a:r>
            <a:r>
              <a:rPr lang="da-DK" b="1" dirty="0" err="1"/>
              <a:t>ValueError</a:t>
            </a:r>
            <a:r>
              <a:rPr lang="da-DK" b="1" dirty="0"/>
              <a:t>: </a:t>
            </a:r>
            <a:r>
              <a:rPr lang="da-DK" b="1" dirty="0" err="1"/>
              <a:t>inhomogeneous</a:t>
            </a:r>
            <a:r>
              <a:rPr lang="da-DK" b="1" dirty="0"/>
              <a:t> </a:t>
            </a:r>
            <a:r>
              <a:rPr lang="da-DK" b="1" dirty="0" err="1"/>
              <a:t>shape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56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.cross for 3-dimensional</a:t>
            </a:r>
            <a:r>
              <a:rPr lang="en-US" baseline="0" dirty="0"/>
              <a:t> vectors</a:t>
            </a:r>
          </a:p>
          <a:p>
            <a:r>
              <a:rPr lang="en-US" baseline="0" dirty="0"/>
              <a:t>.T is only a </a:t>
            </a:r>
            <a:r>
              <a:rPr lang="en-US" b="1" baseline="0" dirty="0"/>
              <a:t>view</a:t>
            </a:r>
            <a:r>
              <a:rPr lang="en-US" b="0" baseline="0" dirty="0"/>
              <a:t> - so updates are applied to original matrix</a:t>
            </a:r>
          </a:p>
          <a:p>
            <a:r>
              <a:rPr lang="en-US" b="0" baseline="0" dirty="0"/>
              <a:t>@ calls method </a:t>
            </a:r>
            <a:r>
              <a:rPr lang="da-DK" dirty="0"/>
              <a:t>__</a:t>
            </a:r>
            <a:r>
              <a:rPr lang="da-DK" dirty="0" err="1"/>
              <a:t>matmul</a:t>
            </a:r>
            <a:r>
              <a:rPr lang="da-DK" dirty="0"/>
              <a:t>__ on array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00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np.mod can also take two arrays and applied elementwise</a:t>
            </a:r>
            <a:r>
              <a:rPr lang="en-US" baseline="0" dirty="0"/>
              <a:t> modulo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948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sum(axis=0)  removes</a:t>
            </a:r>
            <a:r>
              <a:rPr lang="en-US" b="1" baseline="0" dirty="0"/>
              <a:t> axis 0 </a:t>
            </a:r>
            <a:r>
              <a:rPr lang="en-US" baseline="0" dirty="0"/>
              <a:t>(sums over this axis)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510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165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12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Views and slices can be confusing!!!!</a:t>
            </a:r>
          </a:p>
          <a:p>
            <a:r>
              <a:rPr lang="en-US" dirty="0"/>
              <a:t>https://scipy-cookbook.readthedocs.io/items/ViewsVsCopies.html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7294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A2A29-180C-0AD8-D57F-7FA5F24DF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E5CA3-CB42-4677-90E5-2BB1688A3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EBBF3-EBF4-32ED-DAB7-E534080AA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Strides can become </a:t>
            </a:r>
            <a:r>
              <a:rPr lang="en-US" b="1" dirty="0"/>
              <a:t>negative</a:t>
            </a:r>
            <a:r>
              <a:rPr lang="en-US" dirty="0"/>
              <a:t> when slicing with negative steps</a:t>
            </a:r>
          </a:p>
          <a:p>
            <a:r>
              <a:rPr lang="en-US" dirty="0"/>
              <a:t>Note that having a reference to </a:t>
            </a:r>
            <a:r>
              <a:rPr lang="en-US"/>
              <a:t>C requires </a:t>
            </a:r>
            <a:r>
              <a:rPr lang="en-US" dirty="0"/>
              <a:t>all data from A to be remembered (can </a:t>
            </a:r>
            <a:r>
              <a:rPr lang="en-US" b="1" dirty="0"/>
              <a:t>prevent garbage</a:t>
            </a:r>
            <a:r>
              <a:rPr lang="en-US" dirty="0"/>
              <a:t> collection, if C much smaller than A better create a copy)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D206-7327-0A2D-9213-9F19B4B734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6495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D.Dtype</a:t>
            </a:r>
            <a:r>
              <a:rPr lang="en-US" dirty="0"/>
              <a:t> = np.int64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007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x[:, could also be x[…,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794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assumes a 32 bit Python installation</a:t>
            </a:r>
          </a:p>
          <a:p>
            <a:endParaRPr lang="en-US" dirty="0"/>
          </a:p>
          <a:p>
            <a:r>
              <a:rPr lang="en-US" dirty="0"/>
              <a:t>~40 and ~10 times faster</a:t>
            </a:r>
          </a:p>
          <a:p>
            <a:endParaRPr lang="en-US" dirty="0"/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setup='A = </a:t>
            </a:r>
            <a:r>
              <a:rPr lang="en-US" b="1" dirty="0"/>
              <a:t>list(range</a:t>
            </a:r>
            <a:r>
              <a:rPr lang="en-US" dirty="0"/>
              <a:t>(10**6))', number=100)             </a:t>
            </a:r>
          </a:p>
          <a:p>
            <a:r>
              <a:rPr lang="en-US" dirty="0"/>
              <a:t>1.6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b="1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RuntimeWarning</a:t>
            </a:r>
            <a:r>
              <a:rPr lang="en-US" dirty="0"/>
              <a:t>: overflow encountered in scalar add</a:t>
            </a:r>
          </a:p>
          <a:p>
            <a:r>
              <a:rPr lang="en-US" dirty="0"/>
              <a:t>4.1  # slower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 err="1"/>
              <a:t>np.sum</a:t>
            </a:r>
            <a:r>
              <a:rPr lang="en-US" dirty="0"/>
              <a:t>(A)',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timeit</a:t>
            </a:r>
            <a:r>
              <a:rPr lang="en-US" dirty="0"/>
              <a:t>(</a:t>
            </a:r>
            <a:r>
              <a:rPr lang="en-US" b="1" dirty="0"/>
              <a:t>'</a:t>
            </a:r>
            <a:r>
              <a:rPr lang="en-US" b="1" dirty="0" err="1"/>
              <a:t>A.sum</a:t>
            </a:r>
            <a:r>
              <a:rPr lang="en-US" dirty="0"/>
              <a:t>()',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/>
              <a:t>0.02  # factor 100 faster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983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925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Eigenvector v for eigenvalue lambda:  A * v = lambda * v</a:t>
            </a:r>
          </a:p>
          <a:p>
            <a:endParaRPr lang="en-US" dirty="0"/>
          </a:p>
          <a:p>
            <a:r>
              <a:rPr lang="en-US" dirty="0" err="1"/>
              <a:t>eig_values</a:t>
            </a:r>
            <a:r>
              <a:rPr lang="en-US" dirty="0"/>
              <a:t>, </a:t>
            </a:r>
            <a:r>
              <a:rPr lang="en-US" dirty="0" err="1"/>
              <a:t>eig_vectors</a:t>
            </a:r>
            <a:r>
              <a:rPr lang="en-US" dirty="0"/>
              <a:t> = </a:t>
            </a:r>
            <a:r>
              <a:rPr lang="en-US" dirty="0" err="1"/>
              <a:t>np.linalg.eig</a:t>
            </a:r>
            <a:r>
              <a:rPr lang="en-US" dirty="0"/>
              <a:t>(x)  # </a:t>
            </a:r>
            <a:r>
              <a:rPr lang="en-US" dirty="0" err="1"/>
              <a:t>eig_vectors</a:t>
            </a:r>
            <a:r>
              <a:rPr lang="en-US" dirty="0"/>
              <a:t> = matrix, each column an eigenvector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, c in enumerate(</a:t>
            </a:r>
            <a:r>
              <a:rPr lang="en-US" dirty="0" err="1"/>
              <a:t>eig_values</a:t>
            </a:r>
            <a:r>
              <a:rPr lang="en-US" dirty="0"/>
              <a:t>):</a:t>
            </a:r>
          </a:p>
          <a:p>
            <a:r>
              <a:rPr lang="en-US" dirty="0"/>
              <a:t>    v = </a:t>
            </a:r>
            <a:r>
              <a:rPr lang="en-US" b="1" dirty="0" err="1"/>
              <a:t>eig_vectors</a:t>
            </a:r>
            <a:r>
              <a:rPr lang="en-US" b="1" dirty="0"/>
              <a:t>[:,</a:t>
            </a:r>
            <a:r>
              <a:rPr lang="en-US" b="1" dirty="0" err="1"/>
              <a:t>i</a:t>
            </a:r>
            <a:r>
              <a:rPr lang="en-US" b="1" dirty="0"/>
              <a:t>]</a:t>
            </a:r>
          </a:p>
          <a:p>
            <a:r>
              <a:rPr lang="en-US" dirty="0"/>
              <a:t>    print(f'{</a:t>
            </a:r>
            <a:r>
              <a:rPr lang="en-US" dirty="0" err="1"/>
              <a:t>i</a:t>
            </a:r>
            <a:r>
              <a:rPr lang="en-US" dirty="0"/>
              <a:t>=}, {c=}, {v=}')</a:t>
            </a:r>
          </a:p>
          <a:p>
            <a:r>
              <a:rPr lang="en-US" dirty="0"/>
              <a:t>    print(x @ v, c * v)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342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= matrix with values interpreted as how bright </a:t>
            </a:r>
            <a:r>
              <a:rPr lang="en-US"/>
              <a:t>each pixel is</a:t>
            </a:r>
            <a:endParaRPr lang="en-US" dirty="0"/>
          </a:p>
          <a:p>
            <a:r>
              <a:rPr lang="en-US" dirty="0"/>
              <a:t>SVD not part of “Linear Algebra” course, but chapter 14.3 in lecture notes by Jesper Funch Thomsen</a:t>
            </a:r>
          </a:p>
          <a:p>
            <a:r>
              <a:rPr lang="en-US" dirty="0"/>
              <a:t>Example shows how SVD can be used for image compression</a:t>
            </a:r>
          </a:p>
          <a:p>
            <a:r>
              <a:rPr lang="en-US" dirty="0"/>
              <a:t>Pink part of V is required for making U unitary, but is not used at all in the final product (wasted computation…)</a:t>
            </a:r>
          </a:p>
          <a:p>
            <a:r>
              <a:rPr lang="en-US" dirty="0"/>
              <a:t>u, s, v are </a:t>
            </a:r>
            <a:r>
              <a:rPr lang="en-US" dirty="0" err="1"/>
              <a:t>numpy</a:t>
            </a:r>
            <a:r>
              <a:rPr lang="en-US" dirty="0"/>
              <a:t> arrays with floats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88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full_matrices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=False) 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generates the non-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part of </a:t>
            </a:r>
            <a:r>
              <a:rPr lang="da-DK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endParaRPr lang="en-US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875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SVD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seaparately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by diagonal matrix by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elementwise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broadcast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Stacked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svd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coordinate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b="0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257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Red and Blue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swapped</a:t>
            </a:r>
            <a:r>
              <a:rPr lang="da-DK" dirty="0"/>
              <a:t> in the </a:t>
            </a:r>
            <a:r>
              <a:rPr lang="da-DK" dirty="0" err="1"/>
              <a:t>representation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by Open CV</a:t>
            </a:r>
          </a:p>
          <a:p>
            <a:endParaRPr lang="da-DK" dirty="0"/>
          </a:p>
          <a:p>
            <a:r>
              <a:rPr lang="da-DK" dirty="0" err="1"/>
              <a:t>Middle</a:t>
            </a:r>
            <a:r>
              <a:rPr lang="da-DK" dirty="0"/>
              <a:t> </a:t>
            </a:r>
            <a:r>
              <a:rPr lang="da-DK" dirty="0" err="1"/>
              <a:t>picture</a:t>
            </a:r>
            <a:r>
              <a:rPr lang="da-DK" dirty="0"/>
              <a:t> is not red </a:t>
            </a:r>
            <a:r>
              <a:rPr lang="da-DK" dirty="0" err="1"/>
              <a:t>dust</a:t>
            </a:r>
            <a:r>
              <a:rPr lang="da-DK" dirty="0"/>
              <a:t> from the Sahara….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2884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&lt;&lt; n – otherwise overfitting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288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are</a:t>
            </a:r>
            <a:r>
              <a:rPr lang="en-US" baseline="0" dirty="0"/>
              <a:t> passed to </a:t>
            </a:r>
            <a:r>
              <a:rPr lang="en-US" baseline="0" dirty="0" err="1"/>
              <a:t>matplotlib</a:t>
            </a:r>
            <a:r>
              <a:rPr lang="en-US" baseline="0" dirty="0"/>
              <a:t> </a:t>
            </a:r>
            <a:r>
              <a:rPr lang="en-US" b="1" baseline="0" dirty="0"/>
              <a:t>plot</a:t>
            </a:r>
            <a:r>
              <a:rPr lang="en-US" baseline="0" dirty="0"/>
              <a:t> and </a:t>
            </a:r>
            <a:r>
              <a:rPr lang="en-US" b="1" baseline="0" dirty="0" err="1"/>
              <a:t>set_data</a:t>
            </a:r>
            <a:endParaRPr lang="en-US" b="1" baseline="0" dirty="0"/>
          </a:p>
          <a:p>
            <a:endParaRPr lang="en-US" b="1" baseline="0" dirty="0"/>
          </a:p>
          <a:p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-= dy[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important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filters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both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sides,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the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sliced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arrays have the same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338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 for each point=convex number iterate a process</a:t>
            </a:r>
            <a:r>
              <a:rPr lang="en-US" baseline="0" dirty="0"/>
              <a:t>. Color = number of steps until </a:t>
            </a:r>
            <a:r>
              <a:rPr lang="en-US" dirty="0"/>
              <a:t>norm of number &gt;</a:t>
            </a:r>
            <a:r>
              <a:rPr lang="en-US" baseline="0" dirty="0"/>
              <a:t> 2.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2D </a:t>
            </a:r>
            <a:r>
              <a:rPr lang="en-US" dirty="0" err="1"/>
              <a:t>numpy</a:t>
            </a:r>
            <a:r>
              <a:rPr lang="en-US" dirty="0"/>
              <a:t> array (numbers 0..20)</a:t>
            </a:r>
            <a:r>
              <a:rPr lang="en-US" baseline="0" dirty="0"/>
              <a:t> </a:t>
            </a:r>
            <a:r>
              <a:rPr lang="en-US" dirty="0"/>
              <a:t>can be viewed as an</a:t>
            </a:r>
            <a:r>
              <a:rPr lang="en-US" baseline="0" dirty="0"/>
              <a:t> </a:t>
            </a:r>
            <a:r>
              <a:rPr lang="en-US" b="1" baseline="0" dirty="0"/>
              <a:t>image, </a:t>
            </a:r>
            <a:r>
              <a:rPr lang="en-US" dirty="0" err="1"/>
              <a:t>pyplot</a:t>
            </a:r>
            <a:r>
              <a:rPr lang="en-US" dirty="0"/>
              <a:t> applies default </a:t>
            </a:r>
            <a:r>
              <a:rPr lang="en-US" dirty="0" err="1"/>
              <a:t>colomap</a:t>
            </a:r>
            <a:r>
              <a:rPr lang="en-US" dirty="0"/>
              <a:t> (plasma?)</a:t>
            </a:r>
          </a:p>
          <a:p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np.conj</a:t>
            </a:r>
            <a:r>
              <a:rPr lang="en-US" dirty="0"/>
              <a:t> : Return the </a:t>
            </a:r>
            <a:r>
              <a:rPr lang="en-US" b="1" dirty="0"/>
              <a:t>complex conjugate, </a:t>
            </a:r>
            <a:r>
              <a:rPr lang="en-US" dirty="0"/>
              <a:t>element-wise (changing the sign of its imaginary part)</a:t>
            </a:r>
          </a:p>
          <a:p>
            <a:r>
              <a:rPr lang="en-US" dirty="0"/>
              <a:t>z</a:t>
            </a:r>
            <a:r>
              <a:rPr lang="en-US" baseline="0" dirty="0"/>
              <a:t> * </a:t>
            </a:r>
            <a:r>
              <a:rPr lang="en-US" baseline="0" dirty="0" err="1"/>
              <a:t>np.conj</a:t>
            </a:r>
            <a:r>
              <a:rPr lang="en-US" baseline="0" dirty="0"/>
              <a:t>(z)  = squared length of z</a:t>
            </a:r>
          </a:p>
          <a:p>
            <a:endParaRPr lang="en-US" baseline="0" dirty="0"/>
          </a:p>
          <a:p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z[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diverge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] = 2  is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avoid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overflow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messages</a:t>
            </a:r>
            <a:endParaRPr lang="da-DK" sz="1200" b="0" baseline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782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86-020-2649-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umpy.org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scipy.org/doc/numpy/user/quickstart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faq/usage_faq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reference/arrays.scalar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reference/arrays.scalars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numpy-1.13.0/user/basics.types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465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scipy.org/doc/numpy/user/basics.broadcasting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dev/internals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user/basics.types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hyperlink" Target="https://en.wikipedia.org/wiki/Two%27s_complement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docs.scipy.org/doc/numpy/reference/routines.linalg.html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docs.scipy.org/doc/numpy/reference/generated/numpy.polyfit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numpy/user/quickstart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55360" cy="1325563"/>
          </a:xfrm>
        </p:spPr>
        <p:txBody>
          <a:bodyPr/>
          <a:lstStyle/>
          <a:p>
            <a:pPr algn="r"/>
            <a:r>
              <a:rPr lang="en-US" noProof="0" dirty="0"/>
              <a:t>Multi-dimensional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1448" y="3920647"/>
            <a:ext cx="5540551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NumPy</a:t>
            </a:r>
          </a:p>
          <a:p>
            <a:r>
              <a:rPr lang="en-US" noProof="0" dirty="0"/>
              <a:t>matrix multiplication, @</a:t>
            </a:r>
          </a:p>
          <a:p>
            <a:r>
              <a:rPr lang="en-US" noProof="0" dirty="0" err="1"/>
              <a:t>numpy.linalg.solve</a:t>
            </a:r>
            <a:r>
              <a:rPr lang="en-US" noProof="0" dirty="0"/>
              <a:t>, </a:t>
            </a:r>
            <a:r>
              <a:rPr lang="en-US" noProof="0" dirty="0" err="1"/>
              <a:t>numpy.polyfit</a:t>
            </a:r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62046" y="5578997"/>
            <a:ext cx="45488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/>
              <a:t>Array programming with NumPy</a:t>
            </a:r>
          </a:p>
          <a:p>
            <a:r>
              <a:rPr lang="en-US" noProof="0" dirty="0"/>
              <a:t>Harris et al.</a:t>
            </a:r>
          </a:p>
          <a:p>
            <a:r>
              <a:rPr lang="en-US" noProof="0" dirty="0"/>
              <a:t>Nature</a:t>
            </a:r>
            <a:r>
              <a:rPr lang="en-US" i="1" noProof="0" dirty="0"/>
              <a:t>,</a:t>
            </a:r>
            <a:r>
              <a:rPr lang="en-US" noProof="0" dirty="0"/>
              <a:t> volume 585, pages 357–362, 2020</a:t>
            </a:r>
            <a:br>
              <a:rPr lang="en-US" noProof="0" dirty="0"/>
            </a:br>
            <a:r>
              <a:rPr lang="en-US" noProof="0" dirty="0"/>
              <a:t>DOI </a:t>
            </a:r>
            <a:r>
              <a:rPr lang="en-US" noProof="0" dirty="0">
                <a:hlinkClick r:id="rId3"/>
              </a:rPr>
              <a:t>10.1038/s41586-020-2649-2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61549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41597"/>
            <a:ext cx="10515600" cy="1285710"/>
          </a:xfrm>
        </p:spPr>
        <p:txBody>
          <a:bodyPr/>
          <a:lstStyle/>
          <a:p>
            <a:r>
              <a:rPr lang="en-US" noProof="0" dirty="0"/>
              <a:t>NumPy is a Python package for dealing with multi-dimensional data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48429"/>
            <a:ext cx="5080000" cy="226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63025" y="5990543"/>
            <a:ext cx="17279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www.numpy.org</a:t>
            </a:r>
            <a:endParaRPr lang="en-US" noProof="0" dirty="0"/>
          </a:p>
        </p:txBody>
      </p:sp>
      <p:sp>
        <p:nvSpPr>
          <p:cNvPr id="8" name="Rectangle 7"/>
          <p:cNvSpPr/>
          <p:nvPr/>
        </p:nvSpPr>
        <p:spPr>
          <a:xfrm>
            <a:off x="7315938" y="6359875"/>
            <a:ext cx="4675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/user/quickstart.html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0150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pylab</a:t>
            </a:r>
            <a:r>
              <a:rPr lang="en-US" noProof="0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076727" cy="2746375"/>
          </a:xfrm>
        </p:spPr>
        <p:txBody>
          <a:bodyPr/>
          <a:lstStyle/>
          <a:p>
            <a:r>
              <a:rPr lang="en-US" noProof="0" dirty="0"/>
              <a:t>Guttag [2</a:t>
            </a:r>
            <a:r>
              <a:rPr lang="en-US" baseline="30000" noProof="0" dirty="0"/>
              <a:t>nd</a:t>
            </a:r>
            <a:r>
              <a:rPr lang="en-US" noProof="0" dirty="0"/>
              <a:t> edition] uses </a:t>
            </a:r>
            <a:r>
              <a:rPr lang="en-US" noProof="0" dirty="0" err="1"/>
              <a:t>pylab</a:t>
            </a:r>
            <a:r>
              <a:rPr lang="en-US" noProof="0" dirty="0"/>
              <a:t> in the examples, but...</a:t>
            </a:r>
          </a:p>
          <a:p>
            <a:pPr marL="0" indent="0">
              <a:buNone/>
            </a:pPr>
            <a:endParaRPr lang="en-US" i="1" noProof="0" dirty="0"/>
          </a:p>
          <a:p>
            <a:pPr marL="890588" indent="0">
              <a:buNone/>
            </a:pPr>
            <a:r>
              <a:rPr lang="en-US" i="1" noProof="0" dirty="0"/>
              <a:t>“</a:t>
            </a:r>
            <a:r>
              <a:rPr lang="en-US" noProof="0" dirty="0" err="1">
                <a:solidFill>
                  <a:srgbClr val="C00000"/>
                </a:solidFill>
              </a:rPr>
              <a:t>pylab</a:t>
            </a:r>
            <a:r>
              <a:rPr lang="en-US" i="1" noProof="0" dirty="0"/>
              <a:t> is a convenience module that bulk imports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matplotlib.pyplot</a:t>
            </a:r>
            <a:r>
              <a:rPr lang="en-US" i="1" noProof="0" dirty="0"/>
              <a:t> (for plotting) and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numpy</a:t>
            </a:r>
            <a:r>
              <a:rPr lang="en-US" i="1" noProof="0" dirty="0"/>
              <a:t> (for mathematics and working with arrays) in a single name space. Although many examples use </a:t>
            </a:r>
            <a:r>
              <a:rPr lang="en-US" i="1" noProof="0" dirty="0" err="1"/>
              <a:t>pylab</a:t>
            </a:r>
            <a:r>
              <a:rPr lang="en-US" i="1" noProof="0" dirty="0"/>
              <a:t>, </a:t>
            </a:r>
            <a:r>
              <a:rPr lang="en-US" i="1" noProof="0" dirty="0">
                <a:solidFill>
                  <a:srgbClr val="C00000"/>
                </a:solidFill>
              </a:rPr>
              <a:t>it is no longer recommended</a:t>
            </a:r>
            <a:r>
              <a:rPr lang="en-US" i="1" noProof="0" dirty="0"/>
              <a:t>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665002" y="6488668"/>
            <a:ext cx="34575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matplotlib.org/</a:t>
            </a:r>
            <a:r>
              <a:rPr lang="en-US" noProof="0" dirty="0" err="1">
                <a:hlinkClick r:id="rId3"/>
              </a:rPr>
              <a:t>faq</a:t>
            </a:r>
            <a:r>
              <a:rPr lang="en-US" noProof="0" dirty="0">
                <a:hlinkClick r:id="rId3"/>
              </a:rPr>
              <a:t>/usage_faq.html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3447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arrays (example) 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7167164"/>
              </p:ext>
            </p:extLst>
          </p:nvPr>
        </p:nvGraphicFramePr>
        <p:xfrm>
          <a:off x="802572" y="1690688"/>
          <a:ext cx="563753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6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0945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range(0, 1, 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'float' object cannot be interpreted as an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 + i / 4 for i in range(5)]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[1.0, 1.25, 1.5, 1.75, 2.0]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5504943"/>
              </p:ext>
            </p:extLst>
          </p:nvPr>
        </p:nvGraphicFramePr>
        <p:xfrm>
          <a:off x="802572" y="3661003"/>
          <a:ext cx="563753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407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7238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 , 0.3, 0.6, 0.9])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i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+2000 lines of text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  , 1.25, 1.5 , 1.75, 2. 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ight Brace 5"/>
          <p:cNvSpPr/>
          <p:nvPr/>
        </p:nvSpPr>
        <p:spPr>
          <a:xfrm>
            <a:off x="6582606" y="2138209"/>
            <a:ext cx="118754" cy="653142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793672" y="2210197"/>
            <a:ext cx="4833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python only supports ranges of int</a:t>
            </a:r>
          </a:p>
        </p:txBody>
      </p:sp>
      <p:sp>
        <p:nvSpPr>
          <p:cNvPr id="8" name="Right Brace 7"/>
          <p:cNvSpPr/>
          <p:nvPr/>
        </p:nvSpPr>
        <p:spPr>
          <a:xfrm>
            <a:off x="6582606" y="2866345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793672" y="2888961"/>
            <a:ext cx="5271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5 uniform values in range [1,2]</a:t>
            </a:r>
          </a:p>
        </p:txBody>
      </p:sp>
      <p:sp>
        <p:nvSpPr>
          <p:cNvPr id="11" name="Right Brace 10"/>
          <p:cNvSpPr/>
          <p:nvPr/>
        </p:nvSpPr>
        <p:spPr>
          <a:xfrm>
            <a:off x="6562535" y="4247359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ight Brace 11"/>
          <p:cNvSpPr/>
          <p:nvPr/>
        </p:nvSpPr>
        <p:spPr>
          <a:xfrm>
            <a:off x="6566214" y="4905110"/>
            <a:ext cx="98683" cy="48400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Right Brace 12"/>
          <p:cNvSpPr/>
          <p:nvPr/>
        </p:nvSpPr>
        <p:spPr>
          <a:xfrm>
            <a:off x="6585449" y="6043287"/>
            <a:ext cx="115912" cy="44754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789716" y="4247359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 err="1">
                <a:solidFill>
                  <a:srgbClr val="C00000"/>
                </a:solidFill>
              </a:rPr>
              <a:t>numpy</a:t>
            </a:r>
            <a:r>
              <a:rPr lang="en-US" sz="2400" noProof="0" dirty="0">
                <a:solidFill>
                  <a:srgbClr val="C00000"/>
                </a:solidFill>
              </a:rPr>
              <a:t> can generate ranges with 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672" y="4893210"/>
            <a:ext cx="5402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returns a ”NumPy array” (not a list)</a:t>
            </a:r>
            <a:br>
              <a:rPr lang="en-US" sz="2400" noProof="0" dirty="0">
                <a:solidFill>
                  <a:srgbClr val="C00000"/>
                </a:solidFill>
              </a:rPr>
            </a:br>
            <a:r>
              <a:rPr lang="en-US" sz="1600" noProof="0" dirty="0">
                <a:solidFill>
                  <a:srgbClr val="C00000"/>
                </a:solidFill>
              </a:rPr>
              <a:t>”</a:t>
            </a:r>
            <a:r>
              <a:rPr lang="en-US" sz="1600" noProof="0" dirty="0" err="1">
                <a:solidFill>
                  <a:srgbClr val="C00000"/>
                </a:solidFill>
              </a:rPr>
              <a:t>arange</a:t>
            </a:r>
            <a:r>
              <a:rPr lang="en-US" sz="1600" noProof="0" dirty="0">
                <a:solidFill>
                  <a:srgbClr val="C00000"/>
                </a:solidFill>
              </a:rPr>
              <a:t>” ≡ ”array range” and generates the array explicitly</a:t>
            </a:r>
          </a:p>
          <a:p>
            <a:endParaRPr lang="en-US" sz="2400" noProof="0" dirty="0">
              <a:solidFill>
                <a:srgbClr val="C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93672" y="6029162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n uniformly spaced values</a:t>
            </a:r>
          </a:p>
        </p:txBody>
      </p:sp>
    </p:spTree>
    <p:extLst>
      <p:ext uri="{BB962C8B-B14F-4D97-AF65-F5344CB8AC3E}">
        <p14:creationId xmlns:p14="http://schemas.microsoft.com/office/powerpoint/2010/main" val="2718814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Plotting a function (example)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690994"/>
              </p:ext>
            </p:extLst>
          </p:nvPr>
        </p:nvGraphicFramePr>
        <p:xfrm>
          <a:off x="226446" y="1645366"/>
          <a:ext cx="712763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2586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1422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25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[2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* i / (n - 1) for i in range(n)]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(v) for v in x]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65637"/>
              </p:ext>
            </p:extLst>
          </p:nvPr>
        </p:nvGraphicFramePr>
        <p:xfrm>
          <a:off x="226446" y="4239096"/>
          <a:ext cx="7127633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sin_numpy.py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25)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914" y="1425195"/>
            <a:ext cx="4687086" cy="33057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np.sin</a:t>
                </a:r>
                <a:r>
                  <a:rPr lang="en-US" sz="2400" noProof="0" dirty="0"/>
                  <a:t> applies the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sin </a:t>
                </a:r>
                <a:r>
                  <a:rPr lang="en-US" sz="2400" noProof="0" dirty="0"/>
                  <a:t>function </a:t>
                </a:r>
                <a:r>
                  <a:rPr lang="en-US" sz="2400" i="1" noProof="0" dirty="0"/>
                  <a:t>to each</a:t>
                </a:r>
                <a:r>
                  <a:rPr lang="en-US" sz="2400" noProof="0" dirty="0"/>
                  <a:t> element of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pyplot</a:t>
                </a:r>
                <a:r>
                  <a:rPr lang="en-US" sz="2400" noProof="0" dirty="0"/>
                  <a:t> accepts NumPy arrays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math.pi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== </a:t>
                </a: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≈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7</m:t>
                        </m:r>
                      </m:den>
                    </m:f>
                  </m:oMath>
                </a14:m>
                <a:endParaRPr lang="en-US" sz="2400" noProof="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blipFill>
                <a:blip r:embed="rId4"/>
                <a:stretch>
                  <a:fillRect l="-1776" t="-3472" r="-956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7135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 circle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644332"/>
              </p:ext>
            </p:extLst>
          </p:nvPr>
        </p:nvGraphicFramePr>
        <p:xfrm>
          <a:off x="922422" y="2486686"/>
          <a:ext cx="5084839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483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'r.-')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y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87" y="1716468"/>
            <a:ext cx="4732922" cy="434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1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Two half circles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923060"/>
              </p:ext>
            </p:extLst>
          </p:nvPr>
        </p:nvGraphicFramePr>
        <p:xfrm>
          <a:off x="922422" y="1690688"/>
          <a:ext cx="5763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367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half_circles.py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1,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.sqrt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2), '</a:t>
                      </a:r>
                      <a:r>
                        <a:rPr lang="en-US" sz="18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np.sqrt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976" y="368986"/>
            <a:ext cx="4226979" cy="4044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noProof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⇓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=±</m:t>
                      </m:r>
                      <m:rad>
                        <m:radPr>
                          <m:degHide m:val="on"/>
                          <m:ctrlP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4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b="0" noProof="0" dirty="0">
                  <a:ea typeface="Cambria Math" panose="02040503050406030204" pitchFamily="18" charset="0"/>
                </a:endParaRPr>
              </a:p>
              <a:p>
                <a:endParaRPr lang="en-US" sz="2400" noProof="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922422" y="4642729"/>
            <a:ext cx="108705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is a NumPy array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__pow__</a:t>
            </a:r>
            <a:r>
              <a:rPr lang="en-US" sz="2400" noProof="0" dirty="0"/>
              <a:t> squaring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binary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rsub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/>
              <a:t> that for each element e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computes 1 - e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en-US" sz="2400" noProof="0" dirty="0"/>
              <a:t> NumPy method computing the square root of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unary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__neg__</a:t>
            </a:r>
            <a:r>
              <a:rPr lang="en-US" sz="2400" noProof="0" dirty="0"/>
              <a:t> that negates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</p:txBody>
      </p:sp>
      <p:sp>
        <p:nvSpPr>
          <p:cNvPr id="10" name="Arc 9"/>
          <p:cNvSpPr/>
          <p:nvPr/>
        </p:nvSpPr>
        <p:spPr>
          <a:xfrm>
            <a:off x="3749292" y="2994310"/>
            <a:ext cx="1756610" cy="1555617"/>
          </a:xfrm>
          <a:prstGeom prst="arc">
            <a:avLst>
              <a:gd name="adj1" fmla="val 5810472"/>
              <a:gd name="adj2" fmla="val 10673900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627597" y="4203700"/>
            <a:ext cx="3195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compact expression computing something quite </a:t>
            </a:r>
            <a:r>
              <a:rPr lang="en-US" noProof="0" dirty="0" err="1">
                <a:solidFill>
                  <a:srgbClr val="C00000"/>
                </a:solidFill>
              </a:rPr>
              <a:t>comlicated</a:t>
            </a:r>
            <a:endParaRPr lang="en-US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7432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70"/>
            <a:ext cx="10515600" cy="761670"/>
          </a:xfrm>
        </p:spPr>
        <p:txBody>
          <a:bodyPr/>
          <a:lstStyle/>
          <a:p>
            <a:r>
              <a:rPr lang="en-US" noProof="0" dirty="0"/>
              <a:t>Creating one-dimensional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557583"/>
              </p:ext>
            </p:extLst>
          </p:nvPr>
        </p:nvGraphicFramePr>
        <p:xfrm>
          <a:off x="600693" y="750029"/>
          <a:ext cx="10920747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35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7167154">
                  <a:extLst>
                    <a:ext uri="{9D8B030D-6E8A-4147-A177-3AD203B41FA5}">
                      <a16:colId xmlns:a16="http://schemas.microsoft.com/office/drawing/2014/main" val="328242890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((1, 2, 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(range(1, 4))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(1., 4., 1.)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0., 0.])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np.ones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1., 1.])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np.full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(3, 7)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array([7, 7, 7])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array([0.73761651, 0.60607355, 0.3614118 ])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type of all values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='float'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1., 2.])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='int16'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16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=int16)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32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-727379968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OOPS.. overflow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='O'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  1000000000000],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=object)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Python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='complex')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array([0.+0.j, 1.+0.j, 2.+0.j])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91347" y="5658622"/>
            <a:ext cx="6293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Elements of a NumPy array are not arbitrary precision integers by default – you can select between +25 number representations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81" y="5772403"/>
            <a:ext cx="487666" cy="4059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https://numpy.org/doc/stable/reference/arrays.scalars.html</a:t>
            </a:r>
            <a:endParaRPr lang="en-US" noProof="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3669635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2D2D41-C5E8-9710-8570-8CC2097A8D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4658413"/>
            <a:ext cx="487666" cy="4059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633ABE-04BB-BEA3-2AB1-AB1DF2823887}"/>
              </a:ext>
            </a:extLst>
          </p:cNvPr>
          <p:cNvSpPr txBox="1"/>
          <p:nvPr/>
        </p:nvSpPr>
        <p:spPr>
          <a:xfrm>
            <a:off x="11486271" y="4986905"/>
            <a:ext cx="67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slow</a:t>
            </a:r>
          </a:p>
        </p:txBody>
      </p:sp>
    </p:spTree>
    <p:extLst>
      <p:ext uri="{BB962C8B-B14F-4D97-AF65-F5344CB8AC3E}">
        <p14:creationId xmlns:p14="http://schemas.microsoft.com/office/powerpoint/2010/main" val="4115646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592965"/>
            <a:ext cx="10515600" cy="761670"/>
          </a:xfrm>
        </p:spPr>
        <p:txBody>
          <a:bodyPr/>
          <a:lstStyle/>
          <a:p>
            <a:r>
              <a:rPr lang="en-US" noProof="0" dirty="0"/>
              <a:t>Supported </a:t>
            </a:r>
            <a:r>
              <a:rPr lang="en-US" noProof="0" dirty="0" err="1"/>
              <a:t>dtypes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737207"/>
              </p:ext>
            </p:extLst>
          </p:nvPr>
        </p:nvGraphicFramePr>
        <p:xfrm>
          <a:off x="703790" y="2685144"/>
          <a:ext cx="10784420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442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np.sctypeDict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['bool', 'float16', 'float32', 'float64',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'complex64', 'complex128',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'bytes_', 'str_', 'void', 'object_', 'datetime64', 'timedelta64', 'int8', 'byte', 'uint8',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ubyte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'int16', 'short', 'uint16',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ushort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'int32', 'long', 'uint32',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'uint64',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'double',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'single',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csingle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'half', 'bool_', 'int_',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'float', 'complex', 'object', 'bytes', 'a', 'int', 'str',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https://numpy.org/doc/stable/reference/arrays.scalars.html</a:t>
            </a:r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C16040-C9A5-A366-CE73-A03CC8D4C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00075"/>
          </a:xfrm>
        </p:spPr>
        <p:txBody>
          <a:bodyPr/>
          <a:lstStyle/>
          <a:p>
            <a:r>
              <a:rPr lang="en-US" noProof="0" dirty="0"/>
              <a:t>The supported </a:t>
            </a:r>
            <a:r>
              <a:rPr lang="en-US" noProof="0" dirty="0" err="1"/>
              <a:t>dtypes</a:t>
            </a:r>
            <a:r>
              <a:rPr lang="en-US" noProof="0" dirty="0"/>
              <a:t> is platform dependent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095352-3BFA-56A0-BE47-AAC9F26B116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706" y="181693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97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618566"/>
              </p:ext>
            </p:extLst>
          </p:nvPr>
        </p:nvGraphicFramePr>
        <p:xfrm>
          <a:off x="268328" y="1919923"/>
          <a:ext cx="11695430" cy="366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5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['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x =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.array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([1], 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i in range(100):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x ==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(x / 2) ** i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break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print(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 - 1, 'bits mantissa')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10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69"/>
            <a:ext cx="10515600" cy="1325563"/>
          </a:xfrm>
        </p:spPr>
        <p:txBody>
          <a:bodyPr/>
          <a:lstStyle/>
          <a:p>
            <a:r>
              <a:rPr lang="en-US" noProof="0" dirty="0"/>
              <a:t>Mantissa size in various </a:t>
            </a:r>
            <a:r>
              <a:rPr lang="en-US" noProof="0" dirty="0" err="1"/>
              <a:t>numpy</a:t>
            </a:r>
            <a:r>
              <a:rPr lang="en-US" noProof="0" dirty="0"/>
              <a:t> floats 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docs.scipy.org/doc/numpy-1.13.0/user/basics.types.html</a:t>
            </a:r>
            <a:endParaRPr lang="en-US" noProof="0" dirty="0"/>
          </a:p>
        </p:txBody>
      </p:sp>
      <p:grpSp>
        <p:nvGrpSpPr>
          <p:cNvPr id="12" name="Group 11"/>
          <p:cNvGrpSpPr/>
          <p:nvPr/>
        </p:nvGrpSpPr>
        <p:grpSpPr>
          <a:xfrm>
            <a:off x="8061015" y="3291663"/>
            <a:ext cx="1934210" cy="923330"/>
            <a:chOff x="6414052" y="2736539"/>
            <a:chExt cx="1934210" cy="923330"/>
          </a:xfrm>
        </p:grpSpPr>
        <p:sp>
          <p:nvSpPr>
            <p:cNvPr id="3" name="TextBox 2"/>
            <p:cNvSpPr txBox="1"/>
            <p:nvPr/>
          </p:nvSpPr>
          <p:spPr>
            <a:xfrm>
              <a:off x="6414052" y="2736539"/>
              <a:ext cx="193421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tIns="0" bIns="0" rtlCol="0">
              <a:spAutoFit/>
            </a:bodyPr>
            <a:lstStyle/>
            <a:p>
              <a:pPr>
                <a:lnSpc>
                  <a:spcPts val="2400"/>
                </a:lnSpc>
                <a:spcBef>
                  <a:spcPts val="600"/>
                </a:spcBef>
              </a:pPr>
              <a:r>
                <a:rPr lang="en-US" noProof="0" dirty="0">
                  <a:solidFill>
                    <a:srgbClr val="C00000"/>
                  </a:solidFill>
                  <a:cs typeface="Courier New" panose="02070309020205020404" pitchFamily="49" charset="0"/>
                </a:rPr>
                <a:t>          mantissa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1.0000100000</a:t>
              </a:r>
              <a:r>
                <a:rPr lang="en-US" b="1" baseline="-250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i</a:t>
              </a:r>
            </a:p>
          </p:txBody>
        </p:sp>
        <p:sp>
          <p:nvSpPr>
            <p:cNvPr id="10" name="Left Brace 9"/>
            <p:cNvSpPr/>
            <p:nvPr/>
          </p:nvSpPr>
          <p:spPr>
            <a:xfrm rot="16200000">
              <a:off x="7088195" y="2999588"/>
              <a:ext cx="58779" cy="648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Left Brace 10"/>
            <p:cNvSpPr/>
            <p:nvPr/>
          </p:nvSpPr>
          <p:spPr>
            <a:xfrm rot="16200000" flipH="1">
              <a:off x="7430784" y="2401054"/>
              <a:ext cx="57600" cy="1332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3" name="Straight Arrow Connector 12"/>
          <p:cNvCxnSpPr>
            <a:stCxn id="3" idx="1"/>
          </p:cNvCxnSpPr>
          <p:nvPr/>
        </p:nvCxnSpPr>
        <p:spPr>
          <a:xfrm flipH="1" flipV="1">
            <a:off x="4166797" y="3240005"/>
            <a:ext cx="3894218" cy="5133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/>
              <a:t>Creating multi-dimensional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42082"/>
              </p:ext>
            </p:extLst>
          </p:nvPr>
        </p:nvGraphicFramePr>
        <p:xfrm>
          <a:off x="897890" y="1288100"/>
          <a:ext cx="1045591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9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22795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2, 3],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inhomogeneous shape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(12)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array([[[ 0,  1, 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[ 3,  4,  5]],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[[ 6, 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[ 9, 10, 11]]])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0, 0, 0, 0],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0, 0, 0, 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.size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.ndim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.dtype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array([0,1,2,3,4,5,6,7,8,9,10,11])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flat is an iterator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[0,1,2,3,4,5,6,7,8,9,10,11]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.eye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diagonal 2D array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0.,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1.,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0., 1.]])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1193D85-B494-3907-983F-971117A48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492" y="2668148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157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operations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4491"/>
              </p:ext>
            </p:extLst>
          </p:nvPr>
        </p:nvGraphicFramePr>
        <p:xfrm>
          <a:off x="273132" y="1690688"/>
          <a:ext cx="11684635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495490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addition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2,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integer to each element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multiplication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np.dot(x, 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dot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np.cross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3], [3, 2, 1])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cross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array([-4,  8, -4])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(6).reshape(2,3)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matrix transposition, 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multiplication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array([[ 5,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[14, 50]])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+=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modifies view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096000" y="6391295"/>
            <a:ext cx="60673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PEP 465 - A dedicated infix operator for matrix multiplication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1059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Universal functions (apply to each entry)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424471"/>
              </p:ext>
            </p:extLst>
          </p:nvPr>
        </p:nvGraphicFramePr>
        <p:xfrm>
          <a:off x="1338789" y="2379458"/>
          <a:ext cx="9514421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442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[3, 4]]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also: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ceil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array([[ 0.84147098,  0.90929743],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[ 0.14112001, -0.7568025 ]])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sign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array([[ 1.,  1.],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[ 1., -1.]])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as: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0, 1, 2, 0, 1, 2, 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860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Axis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4759"/>
              </p:ext>
            </p:extLst>
          </p:nvPr>
        </p:nvGraphicFramePr>
        <p:xfrm>
          <a:off x="155294" y="1933756"/>
          <a:ext cx="5091430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1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7).reshape(2,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array([5, 7,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array([6, 15])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x.min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506808"/>
              </p:ext>
            </p:extLst>
          </p:nvPr>
        </p:nvGraphicFramePr>
        <p:xfrm>
          <a:off x="5374046" y="1933756"/>
          <a:ext cx="6593205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93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array([ 1,  3,  6, 10, 15, 21],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3, 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[ 4,  9, 15]],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0329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8789" y="127618"/>
            <a:ext cx="10515600" cy="1325563"/>
          </a:xfrm>
        </p:spPr>
        <p:txBody>
          <a:bodyPr/>
          <a:lstStyle/>
          <a:p>
            <a:r>
              <a:rPr lang="en-US" noProof="0" dirty="0"/>
              <a:t>Slicing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853926"/>
              </p:ext>
            </p:extLst>
          </p:nvPr>
        </p:nvGraphicFramePr>
        <p:xfrm>
          <a:off x="1338789" y="1383731"/>
          <a:ext cx="9514421" cy="516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442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(20).reshape(4, 5)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array([[ 0,  1,  2,  3, 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[ 5,  6,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9],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[10, 11, 12, 13,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[15, 16,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19]])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2, 3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 x[(2, 3)]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1:4:2, 2:4:1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rows 1 and 3, and columns 2 and 3, 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[17, 18]])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... is placeholder for ':' for all missing dimensions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'ellipsis'&gt;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737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Broadcasting (stretching arrays to get same size)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31093"/>
              </p:ext>
            </p:extLst>
          </p:nvPr>
        </p:nvGraphicFramePr>
        <p:xfrm>
          <a:off x="5789744" y="1191636"/>
          <a:ext cx="618363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3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([[1, 2, 3],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row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([[1], [2]])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column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+ 3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3 to each entry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array([[4, 5,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[7, 8, 9]])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y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y to each row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4, 6],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z to each column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[6, 7, 8]])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 rows with y + 3 columns with z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[[1,1],[2,2]] == [[1,2],[1,2]]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True,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[False,  True]])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31495" y="1608548"/>
            <a:ext cx="5476684" cy="4786024"/>
          </a:xfrm>
        </p:spPr>
        <p:txBody>
          <a:bodyPr>
            <a:normAutofit/>
          </a:bodyPr>
          <a:lstStyle/>
          <a:p>
            <a:r>
              <a:rPr lang="en-US" sz="2400" noProof="0" dirty="0" err="1"/>
              <a:t>Numpy</a:t>
            </a:r>
            <a:r>
              <a:rPr lang="en-US" sz="2400" noProof="0" dirty="0"/>
              <a:t> tries to apply </a:t>
            </a:r>
            <a:r>
              <a:rPr lang="en-US" sz="2400" i="1" noProof="0" dirty="0"/>
              <a:t>broadcasting</a:t>
            </a:r>
            <a:r>
              <a:rPr lang="en-US" sz="2400" noProof="0" dirty="0"/>
              <a:t>, if array shapes do not match, i.e. adds missing leading dimensions and repeats a dimension with only one element: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[[1],[2]] + [10,20]  </a:t>
            </a:r>
            <a:r>
              <a:rPr lang="en-US" sz="1800" i="1" noProof="0" dirty="0">
                <a:cs typeface="Courier New" panose="02070309020205020404" pitchFamily="49" charset="0"/>
              </a:rPr>
              <a:t>  column + row vector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[[1],[2]] + [[10,20]]</a:t>
            </a:r>
            <a:r>
              <a:rPr lang="en-US" sz="1800" i="1" noProof="0" dirty="0">
                <a:cs typeface="Courier New" panose="02070309020205020404" pitchFamily="49" charset="0"/>
              </a:rPr>
              <a:t>              both </a:t>
            </a:r>
            <a:r>
              <a:rPr lang="en-US" sz="1800" i="1" noProof="0" dirty="0" err="1">
                <a:cs typeface="Courier New" panose="02070309020205020404" pitchFamily="49" charset="0"/>
              </a:rPr>
              <a:t>ndim</a:t>
            </a:r>
            <a:r>
              <a:rPr lang="en-US" sz="1800" i="1" noProof="0" dirty="0">
                <a:cs typeface="Courier New" panose="02070309020205020404" pitchFamily="49" charset="0"/>
              </a:rPr>
              <a:t> = 2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[[10,20]]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[[10,20],[10,20]]</a:t>
            </a:r>
            <a:b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[[11,21],[12,22]]</a:t>
            </a:r>
            <a:endParaRPr lang="en-US" sz="2400" noProof="0" dirty="0"/>
          </a:p>
          <a:p>
            <a:r>
              <a:rPr lang="en-US" sz="2400" noProof="0" dirty="0"/>
              <a:t>To prevent unexpected broadcasting, add an assertion to your program:</a:t>
            </a:r>
          </a:p>
          <a:p>
            <a:pPr marL="0" indent="0" algn="ctr">
              <a:buNone/>
            </a:pP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assert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x.shape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y.shape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30" y="5249452"/>
            <a:ext cx="487666" cy="4059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023" y="6394572"/>
            <a:ext cx="56271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/user/basics.broadcasting.html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8844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100" y="87330"/>
            <a:ext cx="10515600" cy="1325563"/>
          </a:xfrm>
        </p:spPr>
        <p:txBody>
          <a:bodyPr/>
          <a:lstStyle/>
          <a:p>
            <a:r>
              <a:rPr lang="en-US" noProof="0" dirty="0"/>
              <a:t>View vs Copy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254449"/>
              </p:ext>
            </p:extLst>
          </p:nvPr>
        </p:nvGraphicFramePr>
        <p:xfrm>
          <a:off x="6851961" y="434327"/>
          <a:ext cx="4954905" cy="598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updates x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3, 4, 5])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z[5] = 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ravel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w[5] = -1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49100" y="1347168"/>
            <a:ext cx="5856514" cy="5510831"/>
          </a:xfrm>
        </p:spPr>
        <p:txBody>
          <a:bodyPr>
            <a:normAutofit lnSpcReduction="10000"/>
          </a:bodyPr>
          <a:lstStyle/>
          <a:p>
            <a:r>
              <a:rPr lang="en-US" noProof="0" dirty="0" err="1"/>
              <a:t>Numpy</a:t>
            </a:r>
            <a:r>
              <a:rPr lang="en-US" noProof="0" dirty="0"/>
              <a:t> is optimized to handle big multi-dimensional arrays</a:t>
            </a:r>
          </a:p>
          <a:p>
            <a:r>
              <a:rPr lang="en-US" noProof="0" dirty="0"/>
              <a:t>To </a:t>
            </a:r>
            <a:r>
              <a:rPr lang="en-US" i="1" noProof="0" dirty="0"/>
              <a:t>avoid copying</a:t>
            </a:r>
            <a:r>
              <a:rPr lang="en-US" noProof="0" dirty="0"/>
              <a:t> data, </a:t>
            </a:r>
            <a:r>
              <a:rPr lang="en-US" b="1" noProof="0" dirty="0">
                <a:solidFill>
                  <a:srgbClr val="C00000"/>
                </a:solidFill>
              </a:rPr>
              <a:t>views</a:t>
            </a:r>
            <a:r>
              <a:rPr lang="en-US" noProof="0" dirty="0"/>
              <a:t> allows one to look at the underlying data in different ways (data can be shared by multiple views)</a:t>
            </a:r>
          </a:p>
          <a:p>
            <a:r>
              <a:rPr lang="en-US" noProof="0" dirty="0"/>
              <a:t>Slicing always creates views;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reshape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creates views if possible</a:t>
            </a:r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both turn multiple dimensional arrays into one dimensional arrays but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 </a:t>
            </a:r>
            <a:r>
              <a:rPr lang="en-US" noProof="0" dirty="0"/>
              <a:t>creates an explicit copy whereas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sometimes creates a view</a:t>
            </a:r>
          </a:p>
        </p:txBody>
      </p:sp>
    </p:spTree>
    <p:extLst>
      <p:ext uri="{BB962C8B-B14F-4D97-AF65-F5344CB8AC3E}">
        <p14:creationId xmlns:p14="http://schemas.microsoft.com/office/powerpoint/2010/main" val="4225977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7B464-AA18-DA55-9DB0-8EBECF333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65B0-8778-D37B-362F-1D2D735C6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.reshape</a:t>
            </a:r>
            <a:r>
              <a:rPr lang="en-US" noProof="0" dirty="0"/>
              <a:t> does not always return a 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5722F-C402-7CA6-C220-2273C2BEB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21756"/>
              </p:ext>
            </p:extLst>
          </p:nvPr>
        </p:nvGraphicFramePr>
        <p:xfrm>
          <a:off x="4848216" y="1296334"/>
          <a:ext cx="7150418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04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(10,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=np.int32)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int32 = 32 bits = 4 bytes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creates a view,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B.strides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(20, 4)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B[:, 1:5:2]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slice all rows, columns 1 and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silently makes a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 =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A[1] and all views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  5  6  7  8 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[ 5  6  7  8  9]]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[ 6  8]]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6 8]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different memory than A, B and C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copy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control if copying is allowed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Unable to avoid creating a copy while reshaping.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strides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(20, 8)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advance 1 row/column = move 20/8 bytes forward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9E934EC1-5380-312B-2DCB-3D99DD660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4" y="514297"/>
            <a:ext cx="487666" cy="405904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8F7BF85-04BD-D6B1-A6C2-8EAC675E5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2003987"/>
              </p:ext>
            </p:extLst>
          </p:nvPr>
        </p:nvGraphicFramePr>
        <p:xfrm>
          <a:off x="5770283" y="5803804"/>
          <a:ext cx="5306284" cy="57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9364">
                  <a:extLst>
                    <a:ext uri="{9D8B030D-6E8A-4147-A177-3AD203B41FA5}">
                      <a16:colId xmlns:a16="http://schemas.microsoft.com/office/drawing/2014/main" val="195591282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42669296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26430426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7269883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181667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433525664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1874326870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847498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5812963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86226663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3869793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800" b="0" noProof="0" dirty="0"/>
                        <a:t>Memory offset (bytes)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4608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b="0" noProof="0" dirty="0"/>
                        <a:t>Data for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rgbClr val="C00000"/>
                          </a:solidFill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619424"/>
                  </a:ext>
                </a:extLst>
              </a:tr>
            </a:tbl>
          </a:graphicData>
        </a:graphic>
      </p:graphicFrame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E536259-9A77-51D4-8E62-B800C0C8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89" y="1360642"/>
            <a:ext cx="4822598" cy="5510832"/>
          </a:xfrm>
        </p:spPr>
        <p:txBody>
          <a:bodyPr>
            <a:normAutofit/>
          </a:bodyPr>
          <a:lstStyle/>
          <a:p>
            <a:r>
              <a:rPr lang="en-US" sz="2600" noProof="0" dirty="0"/>
              <a:t>A </a:t>
            </a:r>
            <a:r>
              <a:rPr lang="en-US" sz="2600" noProof="0" dirty="0" err="1"/>
              <a:t>Numpy</a:t>
            </a:r>
            <a:r>
              <a:rPr lang="en-US" sz="2600" noProof="0" dirty="0"/>
              <a:t> array is stored in </a:t>
            </a:r>
            <a:r>
              <a:rPr lang="en-US" sz="2600" dirty="0"/>
              <a:t>consecutive bytes in memory</a:t>
            </a:r>
            <a:endParaRPr lang="en-US" sz="2600" noProof="0" dirty="0"/>
          </a:p>
          <a:p>
            <a:r>
              <a:rPr lang="en-US" sz="2600" dirty="0"/>
              <a:t>The </a:t>
            </a:r>
            <a:r>
              <a:rPr lang="en-US" sz="2600" b="1" dirty="0">
                <a:solidFill>
                  <a:srgbClr val="C00000"/>
                </a:solidFill>
              </a:rPr>
              <a:t>strides</a:t>
            </a:r>
            <a:r>
              <a:rPr lang="en-US" sz="2600" dirty="0"/>
              <a:t> of an array states how many bytes should be added when incrementing the index in each dimension by one</a:t>
            </a:r>
            <a:endParaRPr lang="en-US" sz="2600" noProof="0" dirty="0"/>
          </a:p>
          <a:p>
            <a:r>
              <a:rPr lang="en-US" sz="2600" noProof="0" dirty="0"/>
              <a:t>Transposition and slicing only change </a:t>
            </a:r>
            <a:r>
              <a:rPr lang="en-US" sz="2600" dirty="0"/>
              <a:t>the strides; reshaping creates a view if it is sufficient to change strides, otherwise a new copy is created</a:t>
            </a:r>
          </a:p>
          <a:p>
            <a:r>
              <a:rPr lang="en-US" sz="2600" noProof="0" dirty="0"/>
              <a:t>Knowing the difference between a view and a copy is crucial when writing to cells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F35FA3-59B8-D751-83E5-A1D743C09A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6075" y="4427280"/>
            <a:ext cx="487666" cy="4059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27067D-FF74-F589-0401-9509129ED86D}"/>
              </a:ext>
            </a:extLst>
          </p:cNvPr>
          <p:cNvSpPr txBox="1"/>
          <p:nvPr/>
        </p:nvSpPr>
        <p:spPr>
          <a:xfrm>
            <a:off x="6069856" y="6474708"/>
            <a:ext cx="6113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4"/>
              </a:rPr>
              <a:t>numpy.org/doc/stable/dev/internals.html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283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710" y="365125"/>
            <a:ext cx="11695289" cy="1325563"/>
          </a:xfrm>
        </p:spPr>
        <p:txBody>
          <a:bodyPr/>
          <a:lstStyle/>
          <a:p>
            <a:r>
              <a:rPr lang="en-US" noProof="0" dirty="0"/>
              <a:t>Question – What is print(D, F)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57822" y="2506662"/>
            <a:ext cx="3798255" cy="2831148"/>
          </a:xfrm>
        </p:spPr>
        <p:txBody>
          <a:bodyPr/>
          <a:lstStyle/>
          <a:p>
            <a:r>
              <a:rPr lang="en-US" dirty="0"/>
              <a:t>[2 3 0 1] [3 2 1 0]</a:t>
            </a:r>
            <a:endParaRPr lang="en-US" noProof="0" dirty="0"/>
          </a:p>
          <a:p>
            <a:r>
              <a:rPr lang="en-US" dirty="0"/>
              <a:t>[2 3 -1 1] [3 2 1 -1]</a:t>
            </a:r>
            <a:endParaRPr lang="en-US" noProof="0" dirty="0"/>
          </a:p>
          <a:p>
            <a:r>
              <a:rPr lang="en-US" dirty="0"/>
              <a:t>[2 3 -1 1] [3 2 1 0]</a:t>
            </a:r>
            <a:endParaRPr lang="en-US" noProof="0" dirty="0"/>
          </a:p>
          <a:p>
            <a:r>
              <a:rPr lang="en-US" dirty="0"/>
              <a:t>[2 3 0 1] [ 3  2  1 -1]</a:t>
            </a:r>
            <a:endParaRPr lang="en-US" noProof="0" dirty="0"/>
          </a:p>
          <a:p>
            <a:r>
              <a:rPr lang="en-US" noProof="0" dirty="0"/>
              <a:t>Don’t know</a:t>
            </a:r>
          </a:p>
          <a:p>
            <a:endParaRPr lang="en-US" noProof="0" dirty="0"/>
          </a:p>
        </p:txBody>
      </p:sp>
      <p:sp>
        <p:nvSpPr>
          <p:cNvPr id="5" name="Smiley Face 4" descr="QuizAnswer"/>
          <p:cNvSpPr/>
          <p:nvPr/>
        </p:nvSpPr>
        <p:spPr>
          <a:xfrm>
            <a:off x="7431720" y="4071937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6B87B3-3782-3BAE-7755-B514277AF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816770"/>
              </p:ext>
            </p:extLst>
          </p:nvPr>
        </p:nvGraphicFramePr>
        <p:xfrm>
          <a:off x="1268505" y="1557891"/>
          <a:ext cx="261374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74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B[::-1, :]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0, 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 = C[:, ::-1]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0])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 = -1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 descr="QuizAnswer">
            <a:extLst>
              <a:ext uri="{FF2B5EF4-FFF2-40B4-BE49-F238E27FC236}">
                <a16:creationId xmlns:a16="http://schemas.microsoft.com/office/drawing/2014/main" id="{276D1744-8E01-1FD1-74AF-91054DBAC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94951"/>
              </p:ext>
            </p:extLst>
          </p:nvPr>
        </p:nvGraphicFramePr>
        <p:xfrm>
          <a:off x="4026262" y="1560613"/>
          <a:ext cx="273558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(</a:t>
                      </a:r>
                      <a:r>
                        <a:rPr lang="en-US" sz="1400" b="1" i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(-16, -8)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(-8,)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 descr="QuizAnswer">
            <a:extLst>
              <a:ext uri="{FF2B5EF4-FFF2-40B4-BE49-F238E27FC236}">
                <a16:creationId xmlns:a16="http://schemas.microsoft.com/office/drawing/2014/main" id="{BCC90CE5-CBAC-300B-6F9D-669FFD8FD5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586" y="372370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99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Masking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576342"/>
              </p:ext>
            </p:extLst>
          </p:nvPr>
        </p:nvGraphicFramePr>
        <p:xfrm>
          <a:off x="1334390" y="1596971"/>
          <a:ext cx="9187180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7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11).reshape(2, 5)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2,  3,  4,  5],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[ 6,  7,  8,  9, 10]])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1, 2, 0, 1]],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array([[False, False,  True, False,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True, False, False,  True, False]])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Boolean matrix to select entries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6,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(axis=0)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columns with sum divisible by 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array([[ 2,  5],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[ 7, 10]])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286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46676"/>
          </a:xfrm>
        </p:spPr>
        <p:txBody>
          <a:bodyPr/>
          <a:lstStyle/>
          <a:p>
            <a:r>
              <a:rPr lang="en-US" noProof="0" dirty="0" err="1"/>
              <a:t>Numpy</a:t>
            </a:r>
            <a:r>
              <a:rPr lang="en-US" noProof="0" dirty="0"/>
              <a:t> is fast... but be aware of </a:t>
            </a:r>
            <a:r>
              <a:rPr lang="en-US" noProof="0" dirty="0" err="1"/>
              <a:t>dtype</a:t>
            </a:r>
            <a:endParaRPr lang="en-US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853" y="370386"/>
            <a:ext cx="487666" cy="4059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834941"/>
              </p:ext>
            </p:extLst>
          </p:nvPr>
        </p:nvGraphicFramePr>
        <p:xfrm>
          <a:off x="667473" y="941964"/>
          <a:ext cx="11042248" cy="5587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22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sum([x**2 for x in range(1000000)])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584144992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since overflow when default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64 bit integers do not overflow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('sum([x**2 for x in range(1000000)])',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0.5614346340007614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(1000000)**2).sum()', 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0.014362967000124627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ridiculous fast but also wrong result...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')**2).sum()', 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0.048017077999247704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fast and correct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4013425"/>
            <a:ext cx="487666" cy="40590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2059233"/>
            <a:ext cx="487666" cy="4059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66382-8AC1-0451-54AF-8938A0E11DE0}"/>
              </a:ext>
            </a:extLst>
          </p:cNvPr>
          <p:cNvSpPr txBox="1"/>
          <p:nvPr/>
        </p:nvSpPr>
        <p:spPr>
          <a:xfrm>
            <a:off x="6096000" y="6493136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/>
              <a:t>results using a 32-bit Python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1790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716003"/>
              </p:ext>
            </p:extLst>
          </p:nvPr>
        </p:nvGraphicFramePr>
        <p:xfrm>
          <a:off x="7160877" y="1100376"/>
          <a:ext cx="458743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43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83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74468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- 1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Python int too large to convert to C long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(np.int32(-2147483647))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(np.int32(-2147483648))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" y="0"/>
            <a:ext cx="12002946" cy="1146676"/>
          </a:xfrm>
        </p:spPr>
        <p:txBody>
          <a:bodyPr>
            <a:normAutofit fontScale="90000"/>
          </a:bodyPr>
          <a:lstStyle/>
          <a:p>
            <a:pPr algn="ctr"/>
            <a:r>
              <a:rPr lang="en-US" noProof="0" dirty="0"/>
              <a:t>numpy.int32 – 32 bit signed two’s-complement integers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3723" y="6247700"/>
            <a:ext cx="447827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numpy.org/doc/stable/user/basics.types.html</a:t>
            </a:r>
            <a:endParaRPr lang="en-US" noProof="0" dirty="0"/>
          </a:p>
          <a:p>
            <a:pPr algn="r"/>
            <a:r>
              <a:rPr lang="en-US" noProof="0" dirty="0">
                <a:hlinkClick r:id="rId4"/>
              </a:rPr>
              <a:t>en.wikipedia.org/wiki/</a:t>
            </a:r>
            <a:r>
              <a:rPr lang="en-US" noProof="0" dirty="0" err="1">
                <a:hlinkClick r:id="rId4"/>
              </a:rPr>
              <a:t>Two’s_complement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32 bits   </a:t>
                </a:r>
                <a:r>
                  <a:rPr lang="en-US" sz="2400" i="1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29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</m:sub>
                    </m:sSub>
                    <m:r>
                      <a:rPr lang="en-US" sz="2400" i="1" noProof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noProof="0" dirty="0"/>
                  <a:t> </a:t>
                </a:r>
                <a:br>
                  <a:rPr lang="en-US" sz="2400" noProof="0" dirty="0"/>
                </a:br>
                <a:r>
                  <a:rPr lang="en-US" sz="2400" noProof="0" dirty="0"/>
                  <a:t>represent the value </a:t>
                </a:r>
                <a:br>
                  <a:rPr lang="en-US" sz="2400" noProof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240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p>
                      </m:sSup>
                      <m:r>
                        <a:rPr lang="en-US" sz="24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baseline="-25000" noProof="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blipFill>
                <a:blip r:embed="rId5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154428"/>
              </p:ext>
            </p:extLst>
          </p:nvPr>
        </p:nvGraphicFramePr>
        <p:xfrm>
          <a:off x="385470" y="3188678"/>
          <a:ext cx="5407660" cy="32109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43668">
                  <a:extLst>
                    <a:ext uri="{9D8B030D-6E8A-4147-A177-3AD203B41FA5}">
                      <a16:colId xmlns:a16="http://schemas.microsoft.com/office/drawing/2014/main" val="4263675424"/>
                    </a:ext>
                  </a:extLst>
                </a:gridCol>
                <a:gridCol w="1463992">
                  <a:extLst>
                    <a:ext uri="{9D8B030D-6E8A-4147-A177-3AD203B41FA5}">
                      <a16:colId xmlns:a16="http://schemas.microsoft.com/office/drawing/2014/main" val="2252113972"/>
                    </a:ext>
                  </a:extLst>
                </a:gridCol>
              </a:tblGrid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-2147483648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94075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04013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1650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58649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0733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0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341369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80692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3255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016250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2147483646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4624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696389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5470" y="6467622"/>
            <a:ext cx="5407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Note: There is one more negative number than positive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D558B-CB5C-7358-81C4-F89F0C390A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2705237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A360F1-9E79-437F-563D-1AB4F2FF436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3172037"/>
            <a:ext cx="487666" cy="4059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9F3E11-280A-D180-A5C2-DD65A03754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4611373"/>
            <a:ext cx="487666" cy="4059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596384-E6A7-5312-84B2-3623373007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57427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06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309"/>
            <a:ext cx="10515600" cy="1325563"/>
          </a:xfrm>
        </p:spPr>
        <p:txBody>
          <a:bodyPr/>
          <a:lstStyle/>
          <a:p>
            <a:r>
              <a:rPr lang="en-US" noProof="0" dirty="0"/>
              <a:t>Linear algebra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034525"/>
              </p:ext>
            </p:extLst>
          </p:nvPr>
        </p:nvGraphicFramePr>
        <p:xfrm>
          <a:off x="450182" y="1059340"/>
          <a:ext cx="9323705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(1, 5,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=float).reshape(2,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2.],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transpose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3.],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np.linalg.det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determinant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-2.0000000000000004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np.linalg.inv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inverse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array([[-2. ,  1. 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[ 1.5, -0.5]])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eigenvalues and eigenvectors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(array([-0.37228132,  5.37228132]), 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array([[-0.82456484, -0.41597356], [0.56576746, -0.90937671]]))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([[5.], [7.]])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np.linalg.solve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solve linear matrix equations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array([[-3.],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[ 4.]])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noProof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6014401" y="630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/reference/routines.linalg.html</a:t>
            </a:r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083896" y="684018"/>
            <a:ext cx="3880086" cy="157523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tIns="0" bIns="36000" rtlCol="0">
            <a:spAutoFit/>
          </a:bodyPr>
          <a:lstStyle/>
          <a:p>
            <a:pPr>
              <a:lnSpc>
                <a:spcPts val="2400"/>
              </a:lnSpc>
              <a:spcBef>
                <a:spcPts val="1200"/>
              </a:spcBef>
            </a:pPr>
            <a:r>
              <a:rPr lang="en-US" b="1" noProof="0" dirty="0"/>
              <a:t>            </a:t>
            </a:r>
            <a:r>
              <a:rPr lang="en-US" b="1" noProof="0" dirty="0" err="1"/>
              <a:t>numpy.matrix</a:t>
            </a:r>
            <a:endParaRPr lang="en-US" b="1" noProof="0" dirty="0"/>
          </a:p>
          <a:p>
            <a:pPr>
              <a:lnSpc>
                <a:spcPts val="2400"/>
              </a:lnSpc>
            </a:pPr>
            <a:r>
              <a:rPr lang="en-US" noProof="0" dirty="0"/>
              <a:t>            “</a:t>
            </a:r>
            <a:r>
              <a:rPr lang="en-US" i="1" noProof="0" dirty="0"/>
              <a:t>It is no longer recommended to use this class, even for linear algebra. Instead use regular arrays. The class may be removed in the future.</a:t>
            </a:r>
            <a:r>
              <a:rPr lang="en-US" noProof="0" dirty="0"/>
              <a:t>”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706" y="82076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750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6C7587D-22CD-4B73-8818-3571DB00469F}"/>
              </a:ext>
            </a:extLst>
          </p:cNvPr>
          <p:cNvSpPr/>
          <p:nvPr/>
        </p:nvSpPr>
        <p:spPr>
          <a:xfrm>
            <a:off x="4361420" y="1950626"/>
            <a:ext cx="1080000" cy="397272"/>
          </a:xfrm>
          <a:prstGeom prst="rect">
            <a:avLst/>
          </a:prstGeom>
          <a:solidFill>
            <a:srgbClr val="FFA7A7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0D27FBC-4B6C-4909-85EB-9386F4214E90}"/>
              </a:ext>
            </a:extLst>
          </p:cNvPr>
          <p:cNvSpPr/>
          <p:nvPr/>
        </p:nvSpPr>
        <p:spPr>
          <a:xfrm>
            <a:off x="4361420" y="1287603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25E3D9-1F0A-4F92-B5A7-195414FCA9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992" t="4401" r="1199" b="3445"/>
          <a:stretch/>
        </p:blipFill>
        <p:spPr>
          <a:xfrm>
            <a:off x="6435628" y="2762369"/>
            <a:ext cx="5756372" cy="406555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0323" y="6309"/>
            <a:ext cx="10515600" cy="1325563"/>
          </a:xfrm>
        </p:spPr>
        <p:txBody>
          <a:bodyPr/>
          <a:lstStyle/>
          <a:p>
            <a:r>
              <a:rPr lang="en-US" b="1" noProof="0" dirty="0"/>
              <a:t>Singular value decomposition</a:t>
            </a:r>
            <a:r>
              <a:rPr lang="en-US" noProof="0" dirty="0"/>
              <a:t>, </a:t>
            </a:r>
            <a:r>
              <a:rPr lang="en-US" sz="32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746206"/>
              </p:ext>
            </p:extLst>
          </p:nvPr>
        </p:nvGraphicFramePr>
        <p:xfrm>
          <a:off x="60332" y="2933443"/>
          <a:ext cx="625983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Computer Vision, opencv.org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cv2.imread('university.jpg')          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color image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 = cv2.cvtColor(color, cv2.COLOR_BGR2GRAY)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to gray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Calculating the SVD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5, 10, 15, 20, 50, 100, 150], start=1):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vmin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vmax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=255)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(3, 3, 9)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image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[0]} x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[1]}')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B1109C6D-502F-44F9-948E-BD54BF0DAE87}"/>
              </a:ext>
            </a:extLst>
          </p:cNvPr>
          <p:cNvSpPr/>
          <p:nvPr/>
        </p:nvSpPr>
        <p:spPr>
          <a:xfrm>
            <a:off x="674437" y="1426284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M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D77E79-77BF-473A-84F2-713E1E991CC7}"/>
              </a:ext>
            </a:extLst>
          </p:cNvPr>
          <p:cNvSpPr txBox="1"/>
          <p:nvPr/>
        </p:nvSpPr>
        <p:spPr>
          <a:xfrm>
            <a:off x="1794704" y="1493896"/>
            <a:ext cx="421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noProof="0" dirty="0"/>
              <a:t>=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5C0497-E63F-4CA0-9A70-39A8612D7A87}"/>
              </a:ext>
            </a:extLst>
          </p:cNvPr>
          <p:cNvSpPr txBox="1"/>
          <p:nvPr/>
        </p:nvSpPr>
        <p:spPr>
          <a:xfrm>
            <a:off x="668091" y="2088925"/>
            <a:ext cx="1086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C627-43DE-4D5C-9428-A6C6225B2F4D}"/>
              </a:ext>
            </a:extLst>
          </p:cNvPr>
          <p:cNvCxnSpPr>
            <a:cxnSpLocks/>
          </p:cNvCxnSpPr>
          <p:nvPr/>
        </p:nvCxnSpPr>
        <p:spPr>
          <a:xfrm>
            <a:off x="3224807" y="1500228"/>
            <a:ext cx="576000" cy="576000"/>
          </a:xfrm>
          <a:prstGeom prst="line">
            <a:avLst/>
          </a:prstGeom>
          <a:ln w="142875" cap="rnd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5FBE3C7-6861-40EA-A5A1-7C7AF5BAC40F}"/>
              </a:ext>
            </a:extLst>
          </p:cNvPr>
          <p:cNvSpPr/>
          <p:nvPr/>
        </p:nvSpPr>
        <p:spPr>
          <a:xfrm>
            <a:off x="2259211" y="1428228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5A869-1EC6-461D-A908-0E37B5615E40}"/>
              </a:ext>
            </a:extLst>
          </p:cNvPr>
          <p:cNvSpPr/>
          <p:nvPr/>
        </p:nvSpPr>
        <p:spPr>
          <a:xfrm>
            <a:off x="3147236" y="1428228"/>
            <a:ext cx="1080000" cy="7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2EA022-1CB2-48D6-A091-13AE8B9BE8CE}"/>
              </a:ext>
            </a:extLst>
          </p:cNvPr>
          <p:cNvSpPr/>
          <p:nvPr/>
        </p:nvSpPr>
        <p:spPr>
          <a:xfrm>
            <a:off x="4359577" y="1282048"/>
            <a:ext cx="1080000" cy="108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V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C83A41-B101-4912-8A15-B39BFBBACE41}"/>
              </a:ext>
            </a:extLst>
          </p:cNvPr>
          <p:cNvSpPr txBox="1"/>
          <p:nvPr/>
        </p:nvSpPr>
        <p:spPr>
          <a:xfrm>
            <a:off x="2256056" y="2093433"/>
            <a:ext cx="720000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5B8B70-07F3-4DA3-BFB5-11D4AFCEE22B}"/>
              </a:ext>
            </a:extLst>
          </p:cNvPr>
          <p:cNvSpPr txBox="1"/>
          <p:nvPr/>
        </p:nvSpPr>
        <p:spPr>
          <a:xfrm>
            <a:off x="3153581" y="2093433"/>
            <a:ext cx="108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5DB411-0624-4CB4-866C-5F4227D92A64}"/>
              </a:ext>
            </a:extLst>
          </p:cNvPr>
          <p:cNvSpPr txBox="1"/>
          <p:nvPr/>
        </p:nvSpPr>
        <p:spPr>
          <a:xfrm>
            <a:off x="4350075" y="2278099"/>
            <a:ext cx="1089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n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F744DC-8081-44A1-8ECF-C5E24038A569}"/>
              </a:ext>
            </a:extLst>
          </p:cNvPr>
          <p:cNvSpPr txBox="1"/>
          <p:nvPr/>
        </p:nvSpPr>
        <p:spPr>
          <a:xfrm>
            <a:off x="3646369" y="1436158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81D962-7C2A-44F0-A9BC-484DE52CF1CA}"/>
              </a:ext>
            </a:extLst>
          </p:cNvPr>
          <p:cNvSpPr txBox="1"/>
          <p:nvPr/>
        </p:nvSpPr>
        <p:spPr>
          <a:xfrm>
            <a:off x="3048754" y="1783769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D36CF3-BE6E-486C-A4B2-3D85C0496273}"/>
              </a:ext>
            </a:extLst>
          </p:cNvPr>
          <p:cNvSpPr txBox="1"/>
          <p:nvPr/>
        </p:nvSpPr>
        <p:spPr>
          <a:xfrm>
            <a:off x="5900929" y="1426284"/>
            <a:ext cx="6023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U</a:t>
            </a:r>
            <a:r>
              <a:rPr lang="en-US" sz="2400" noProof="0" dirty="0"/>
              <a:t> and </a:t>
            </a:r>
            <a:r>
              <a:rPr lang="en-US" sz="2400" i="1" noProof="0" dirty="0"/>
              <a:t>V</a:t>
            </a:r>
            <a:r>
              <a:rPr lang="en-US" sz="2400" noProof="0" dirty="0"/>
              <a:t> unitary matrix (</a:t>
            </a:r>
            <a:r>
              <a:rPr lang="en-US" sz="2400" i="1" noProof="0" dirty="0"/>
              <a:t>UU</a:t>
            </a:r>
            <a:r>
              <a:rPr lang="en-US" sz="2400" baseline="30000" noProof="0" dirty="0"/>
              <a:t>T</a:t>
            </a:r>
            <a:r>
              <a:rPr lang="en-US" sz="2400" noProof="0" dirty="0"/>
              <a:t> = </a:t>
            </a:r>
            <a:r>
              <a:rPr lang="en-US" sz="2400" i="1" noProof="0" dirty="0"/>
              <a:t>I</a:t>
            </a:r>
            <a:r>
              <a:rPr lang="en-US" sz="2400" noProof="0" dirty="0"/>
              <a:t>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S</a:t>
            </a:r>
            <a:r>
              <a:rPr lang="en-US" sz="2400" noProof="0" dirty="0"/>
              <a:t> diagonal matrix, decreasing singular values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B798676-DAAD-4AE1-A631-CC8A5F7A4868}"/>
              </a:ext>
            </a:extLst>
          </p:cNvPr>
          <p:cNvGrpSpPr/>
          <p:nvPr/>
        </p:nvGrpSpPr>
        <p:grpSpPr>
          <a:xfrm>
            <a:off x="2273602" y="1101288"/>
            <a:ext cx="3427336" cy="1014769"/>
            <a:chOff x="2273602" y="1101288"/>
            <a:chExt cx="3427336" cy="1014769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33A5FBE-7E17-4BD9-9B8F-EA205318AC3F}"/>
                </a:ext>
              </a:extLst>
            </p:cNvPr>
            <p:cNvSpPr/>
            <p:nvPr/>
          </p:nvSpPr>
          <p:spPr>
            <a:xfrm>
              <a:off x="2305501" y="1468057"/>
              <a:ext cx="180000" cy="648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4DB3934-741C-4710-BF6E-75E4B3DDF048}"/>
                </a:ext>
              </a:extLst>
            </p:cNvPr>
            <p:cNvSpPr/>
            <p:nvPr/>
          </p:nvSpPr>
          <p:spPr>
            <a:xfrm>
              <a:off x="3190247" y="1463472"/>
              <a:ext cx="180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48C31-9763-4E25-9C26-8D17F393ED43}"/>
                </a:ext>
              </a:extLst>
            </p:cNvPr>
            <p:cNvSpPr/>
            <p:nvPr/>
          </p:nvSpPr>
          <p:spPr>
            <a:xfrm>
              <a:off x="4397858" y="1332473"/>
              <a:ext cx="1008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C4B3F9-7518-4B76-9A74-01B40D5E83D7}"/>
                </a:ext>
              </a:extLst>
            </p:cNvPr>
            <p:cNvSpPr txBox="1"/>
            <p:nvPr/>
          </p:nvSpPr>
          <p:spPr>
            <a:xfrm>
              <a:off x="2273602" y="1101288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AF10F4-6BB2-4FAB-93ED-7E1FBE4D16CA}"/>
                </a:ext>
              </a:extLst>
            </p:cNvPr>
            <p:cNvSpPr txBox="1"/>
            <p:nvPr/>
          </p:nvSpPr>
          <p:spPr>
            <a:xfrm>
              <a:off x="3179469" y="1103476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508799-EC7C-4E0F-A2F5-4A213A030553}"/>
                </a:ext>
              </a:extLst>
            </p:cNvPr>
            <p:cNvSpPr txBox="1"/>
            <p:nvPr/>
          </p:nvSpPr>
          <p:spPr>
            <a:xfrm>
              <a:off x="3331764" y="1371334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F6869D5-7908-4AAB-A331-4078D852602C}"/>
                </a:ext>
              </a:extLst>
            </p:cNvPr>
            <p:cNvSpPr txBox="1"/>
            <p:nvPr/>
          </p:nvSpPr>
          <p:spPr>
            <a:xfrm>
              <a:off x="5439577" y="1219080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6476898" y="2386586"/>
            <a:ext cx="5645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np.ndarray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 shape=(520, 800) </a:t>
            </a:r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dtype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=uint8 min=0 max=252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2721935" y="2626357"/>
            <a:ext cx="3783499" cy="186959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422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32174"/>
              </p:ext>
            </p:extLst>
          </p:nvPr>
        </p:nvGraphicFramePr>
        <p:xfrm>
          <a:off x="471101" y="1529326"/>
          <a:ext cx="625983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  <a:endParaRPr lang="en-US" sz="12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height, width, colors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color.shape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 *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width,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648166" y="3679121"/>
            <a:ext cx="1593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2400)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4809232" y="3985426"/>
            <a:ext cx="298027" cy="40133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1C62DF3-A7AA-4692-8340-004ECB98D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8780" y="0"/>
            <a:ext cx="5081028" cy="68580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106756" y="5695429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3251165" y="5945189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648166" y="2133872"/>
            <a:ext cx="2013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3 = (red, blue, green)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547854" y="2413675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4421574" y="4786626"/>
            <a:ext cx="964588" cy="101200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4859861" y="5742163"/>
            <a:ext cx="1956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v shape=(520, 2400) instead of (2400, 2400)</a:t>
            </a:r>
          </a:p>
        </p:txBody>
      </p:sp>
    </p:spTree>
    <p:extLst>
      <p:ext uri="{BB962C8B-B14F-4D97-AF65-F5344CB8AC3E}">
        <p14:creationId xmlns:p14="http://schemas.microsoft.com/office/powerpoint/2010/main" val="386054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 (stacked)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45635"/>
              </p:ext>
            </p:extLst>
          </p:nvPr>
        </p:nvGraphicFramePr>
        <p:xfrm>
          <a:off x="296498" y="1521707"/>
          <a:ext cx="672020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0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image-reconstruction-color-stacked.py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85957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tplotlib.pyplot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(2, 0, 1)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(u[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:, :r]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:r])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(1, 2, 0)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85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800)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31578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525149" y="3132984"/>
            <a:ext cx="1956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(3, 520, 800)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3891743" y="3358378"/>
            <a:ext cx="590173" cy="3163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3669559" y="4951601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2813968" y="5201361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525150" y="2079848"/>
            <a:ext cx="2013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424838" y="2270136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3891743" y="4601052"/>
            <a:ext cx="1443828" cy="31635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5005147" y="4555031"/>
            <a:ext cx="20975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element-wise multiplication (*),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broadcasting (None),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stacked for each color (:)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DD0BB4C-CFE0-4F02-A4A7-44471E97919F}"/>
              </a:ext>
            </a:extLst>
          </p:cNvPr>
          <p:cNvSpPr/>
          <p:nvPr/>
        </p:nvSpPr>
        <p:spPr>
          <a:xfrm>
            <a:off x="5706532" y="3259667"/>
            <a:ext cx="1195497" cy="1269964"/>
          </a:xfrm>
          <a:custGeom>
            <a:avLst/>
            <a:gdLst>
              <a:gd name="connsiteX0" fmla="*/ 457200 w 795578"/>
              <a:gd name="connsiteY0" fmla="*/ 0 h 1007533"/>
              <a:gd name="connsiteX1" fmla="*/ 778933 w 795578"/>
              <a:gd name="connsiteY1" fmla="*/ 829733 h 1007533"/>
              <a:gd name="connsiteX2" fmla="*/ 0 w 795578"/>
              <a:gd name="connsiteY2" fmla="*/ 1007533 h 1007533"/>
              <a:gd name="connsiteX0" fmla="*/ 406400 w 792965"/>
              <a:gd name="connsiteY0" fmla="*/ 0 h 1058333"/>
              <a:gd name="connsiteX1" fmla="*/ 778933 w 792965"/>
              <a:gd name="connsiteY1" fmla="*/ 880533 h 1058333"/>
              <a:gd name="connsiteX2" fmla="*/ 0 w 792965"/>
              <a:gd name="connsiteY2" fmla="*/ 1058333 h 1058333"/>
              <a:gd name="connsiteX0" fmla="*/ 406400 w 817691"/>
              <a:gd name="connsiteY0" fmla="*/ 0 h 1058333"/>
              <a:gd name="connsiteX1" fmla="*/ 778933 w 817691"/>
              <a:gd name="connsiteY1" fmla="*/ 880533 h 1058333"/>
              <a:gd name="connsiteX2" fmla="*/ 0 w 817691"/>
              <a:gd name="connsiteY2" fmla="*/ 1058333 h 1058333"/>
              <a:gd name="connsiteX0" fmla="*/ 406400 w 406400"/>
              <a:gd name="connsiteY0" fmla="*/ 0 h 1058333"/>
              <a:gd name="connsiteX1" fmla="*/ 0 w 406400"/>
              <a:gd name="connsiteY1" fmla="*/ 1058333 h 1058333"/>
              <a:gd name="connsiteX0" fmla="*/ 406400 w 416029"/>
              <a:gd name="connsiteY0" fmla="*/ 0 h 1058333"/>
              <a:gd name="connsiteX1" fmla="*/ 0 w 416029"/>
              <a:gd name="connsiteY1" fmla="*/ 1058333 h 1058333"/>
              <a:gd name="connsiteX0" fmla="*/ 406400 w 996924"/>
              <a:gd name="connsiteY0" fmla="*/ 0 h 1058333"/>
              <a:gd name="connsiteX1" fmla="*/ 0 w 996924"/>
              <a:gd name="connsiteY1" fmla="*/ 1058333 h 1058333"/>
              <a:gd name="connsiteX0" fmla="*/ 406400 w 1067296"/>
              <a:gd name="connsiteY0" fmla="*/ 0 h 1058333"/>
              <a:gd name="connsiteX1" fmla="*/ 0 w 1067296"/>
              <a:gd name="connsiteY1" fmla="*/ 1058333 h 1058333"/>
              <a:gd name="connsiteX0" fmla="*/ 592667 w 1195497"/>
              <a:gd name="connsiteY0" fmla="*/ 0 h 1037581"/>
              <a:gd name="connsiteX1" fmla="*/ 0 w 1195497"/>
              <a:gd name="connsiteY1" fmla="*/ 1037581 h 1037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5497" h="1037581">
                <a:moveTo>
                  <a:pt x="592667" y="0"/>
                </a:moveTo>
                <a:cubicBezTo>
                  <a:pt x="1803400" y="276578"/>
                  <a:pt x="973666" y="1015003"/>
                  <a:pt x="0" y="1037581"/>
                </a:cubicBezTo>
              </a:path>
            </a:pathLst>
          </a:custGeom>
          <a:noFill/>
          <a:ln w="63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3C1E70-8A85-427F-ACE8-F70A99E01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552" y="-6309"/>
            <a:ext cx="4834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16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  <p:bldP spid="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41C955-67A7-4497-B80F-75B15BBD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78"/>
            <a:ext cx="12192000" cy="297286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C7C7C2-12C3-4BDC-AE0E-CA8F02A3F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41798"/>
              </p:ext>
            </p:extLst>
          </p:nvPr>
        </p:nvGraphicFramePr>
        <p:xfrm>
          <a:off x="792797" y="3188366"/>
          <a:ext cx="1060640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color-image.py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img1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img2 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cv2.imread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cv2 uses BGR instead of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img3 = img2[:, :,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::-1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     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change color order BGR to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Images = [(img1, '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'), (img2, 'cv2.imread'), (img3, 'cv2.imread corrected')]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title) in enumerate(images, start=1):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i)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(title)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BF33AA1-21CD-4329-8642-D9D48A3B34E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9825" y="444095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323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 err="1"/>
              <a:t>numpy.polyfit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Given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n</a:t>
                </a:r>
                <a:r>
                  <a:rPr lang="en-US" noProof="0" dirty="0"/>
                  <a:t> points with (x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), ..., (x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)</a:t>
                </a:r>
              </a:p>
              <a:p>
                <a:r>
                  <a:rPr lang="en-US" noProof="0" dirty="0"/>
                  <a:t>Find polynomial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noProof="0" dirty="0"/>
                  <a:t> of degree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d</a:t>
                </a:r>
                <a:r>
                  <a:rPr lang="en-US" noProof="0" dirty="0"/>
                  <a:t> that </a:t>
                </a:r>
                <a:r>
                  <a:rPr lang="en-US" noProof="0" dirty="0">
                    <a:solidFill>
                      <a:schemeClr val="accent1">
                        <a:lumMod val="50000"/>
                      </a:schemeClr>
                    </a:solidFill>
                  </a:rPr>
                  <a:t>minimizes</a:t>
                </a:r>
                <a:br>
                  <a:rPr lang="en-US" noProof="0" dirty="0"/>
                </a:br>
                <a:endParaRPr lang="en-US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lang="en-US" i="0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=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0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i="0" noProof="0" smtClean="0"/>
                            <m:t>n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y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baseline="-2500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 −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>
                                      <a:solidFill>
                                        <a:schemeClr val="accent5"/>
                                      </a:solidFill>
                                    </a:rPr>
                                    <m:t>p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(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x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baseline="-25000" noProof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/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i="0" noProof="0" smtClean="0"/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noProof="0" dirty="0"/>
              </a:p>
              <a:p>
                <a:endParaRPr lang="en-US" noProof="0" dirty="0"/>
              </a:p>
              <a:p>
                <a:r>
                  <a:rPr lang="en-US" noProof="0" dirty="0"/>
                  <a:t>known as least squares fit / linear regression / polynomial regression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  <a:blipFill>
                <a:blip r:embed="rId3"/>
                <a:stretch>
                  <a:fillRect l="-990" t="-2720" r="-7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863049" y="6399674"/>
            <a:ext cx="719259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/reference/generated/numpy.polyfit.html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346" y="202798"/>
            <a:ext cx="3480220" cy="297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069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936" y="1064870"/>
            <a:ext cx="6371590" cy="544805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763784"/>
              </p:ext>
            </p:extLst>
          </p:nvPr>
        </p:nvGraphicFramePr>
        <p:xfrm>
          <a:off x="393519" y="1401470"/>
          <a:ext cx="4961255" cy="45902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1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[0, 2, 3, 5, 6, 7, 8]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[-2, 4, 3, 2, 4, 9, 12]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3)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9,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stCxn id="3" idx="2"/>
          </p:cNvCxnSpPr>
          <p:nvPr/>
        </p:nvCxnSpPr>
        <p:spPr>
          <a:xfrm>
            <a:off x="4925495" y="3057307"/>
            <a:ext cx="0" cy="41880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496215" y="2687975"/>
            <a:ext cx="858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degree</a:t>
            </a:r>
          </a:p>
        </p:txBody>
      </p:sp>
    </p:spTree>
    <p:extLst>
      <p:ext uri="{BB962C8B-B14F-4D97-AF65-F5344CB8AC3E}">
        <p14:creationId xmlns:p14="http://schemas.microsoft.com/office/powerpoint/2010/main" val="25850114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960" y="564902"/>
            <a:ext cx="7407796" cy="5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803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861183"/>
              </p:ext>
            </p:extLst>
          </p:nvPr>
        </p:nvGraphicFramePr>
        <p:xfrm>
          <a:off x="550175" y="1023129"/>
          <a:ext cx="9502834" cy="55961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283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3 *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(25) 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noise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x.size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** 2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5 * x ** 2 - 12 * x + 7 + 5 * noise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degree in [1, 2, 5, 10]: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degree)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4,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'-', label=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f'degree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{degree}')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np.average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([-1, 4], [avg, avg], 'k-', label='average')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(-3, 15)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('Least squares polynomial fit')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820" y="171363"/>
            <a:ext cx="4514126" cy="35287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56258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511" y="209483"/>
            <a:ext cx="5828489" cy="1325563"/>
          </a:xfrm>
        </p:spPr>
        <p:txBody>
          <a:bodyPr/>
          <a:lstStyle/>
          <a:p>
            <a:r>
              <a:rPr lang="en-US" noProof="0" dirty="0"/>
              <a:t>Animating bouncing balls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144" y="1695922"/>
            <a:ext cx="6496449" cy="4351338"/>
          </a:xfrm>
        </p:spPr>
        <p:txBody>
          <a:bodyPr/>
          <a:lstStyle/>
          <a:p>
            <a:r>
              <a:rPr lang="en-US" noProof="0" dirty="0"/>
              <a:t>matplotlib figures can be animated using </a:t>
            </a:r>
          </a:p>
          <a:p>
            <a:pPr marL="0" indent="0" algn="ctr">
              <a:buNone/>
            </a:pP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matplotlib.animation.FuncAnimation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indent="0">
              <a:buNone/>
            </a:pPr>
            <a:r>
              <a:rPr lang="en-US" sz="2000" noProof="0" dirty="0"/>
              <a:t>that as arguments takes the figure to be updated/ redrawn, a function to call for each update, and an interval in milliseconds between updates</a:t>
            </a:r>
            <a:r>
              <a:rPr lang="en-US" sz="2400" noProof="0" dirty="0"/>
              <a:t>	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602114"/>
              </p:ext>
            </p:extLst>
          </p:nvPr>
        </p:nvGraphicFramePr>
        <p:xfrm>
          <a:off x="6705595" y="97277"/>
          <a:ext cx="5394643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6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395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1761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0.01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x, y = 10.0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(N), 1.0 + 9.0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/ 5,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fig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plt.figure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balls,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'o')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returns Line2D obj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(frame):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global x, y, 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+= dx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(x &gt; 10.0) | (x &lt; 0.0)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dx[bounce] = -dx[bounce]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(10.0,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(0.0, x))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+=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y &lt; 0.0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y[bounce] -=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 = -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-= g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balls.set_data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positions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removing 'ani =' causes program to fail...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ani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(fig,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interval=25)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6916" t="16013" r="7991" b="11667"/>
          <a:stretch/>
        </p:blipFill>
        <p:spPr>
          <a:xfrm>
            <a:off x="1051397" y="3736775"/>
            <a:ext cx="4260715" cy="288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5846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057" y="0"/>
            <a:ext cx="7118182" cy="677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04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318880"/>
              </p:ext>
            </p:extLst>
          </p:nvPr>
        </p:nvGraphicFramePr>
        <p:xfrm>
          <a:off x="983829" y="406048"/>
          <a:ext cx="10149205" cy="5718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(h, w,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'''Returns an image of the Mandelbrot fractal of size (h, w).'''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(-2.0, 0.8, w).reshape(1, w)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 vector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(-1.4, 1.4, h).reshape(h, 1)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column vector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 = x + y * 1j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broadcast &amp; complex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z = c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z.shape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values =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 = z * z + c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elementwise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diverge = z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np.conj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 &gt; 4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diverge &amp; 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 now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i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note when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z[diverge] = 0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limit divergence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(avoids overflows)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(400, 400))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337601" y="6316215"/>
            <a:ext cx="5688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/>
              <a:t>code from </a:t>
            </a:r>
            <a:r>
              <a:rPr lang="en-US" noProof="0" dirty="0">
                <a:hlinkClick r:id="rId3"/>
              </a:rPr>
              <a:t>docs.scipy.org/doc/</a:t>
            </a:r>
            <a:r>
              <a:rPr lang="en-US" noProof="0" dirty="0" err="1">
                <a:hlinkClick r:id="rId3"/>
              </a:rPr>
              <a:t>numpy</a:t>
            </a:r>
            <a:r>
              <a:rPr lang="en-US" noProof="0" dirty="0">
                <a:hlinkClick r:id="rId3"/>
              </a:rPr>
              <a:t>/user/quickstart.html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618" y="58508"/>
            <a:ext cx="1721495" cy="16376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73157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50527</TotalTime>
  <Words>6808</Words>
  <Application>Microsoft Office PowerPoint</Application>
  <PresentationFormat>Widescreen</PresentationFormat>
  <Paragraphs>816</Paragraphs>
  <Slides>34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Multi-dimensional data</vt:lpstr>
      <vt:lpstr>PowerPoint Presentation</vt:lpstr>
      <vt:lpstr>pylab ?</vt:lpstr>
      <vt:lpstr>NumPy arrays (example) </vt:lpstr>
      <vt:lpstr>Plotting a function (example)</vt:lpstr>
      <vt:lpstr>A circle</vt:lpstr>
      <vt:lpstr>Two half circles</vt:lpstr>
      <vt:lpstr>Creating one-dimensional NumPy arrays</vt:lpstr>
      <vt:lpstr>Supported dtypes</vt:lpstr>
      <vt:lpstr>Mantissa size in various numpy floats </vt:lpstr>
      <vt:lpstr>Creating multi-dimensional NumPy arrays</vt:lpstr>
      <vt:lpstr>NumPy operations</vt:lpstr>
      <vt:lpstr>Universal functions (apply to each entry)</vt:lpstr>
      <vt:lpstr>Axis</vt:lpstr>
      <vt:lpstr>Slicing</vt:lpstr>
      <vt:lpstr>Broadcasting (stretching arrays to get same size)</vt:lpstr>
      <vt:lpstr>View vs Copy</vt:lpstr>
      <vt:lpstr>.reshape does not always return a view</vt:lpstr>
      <vt:lpstr>Question – What is print(D, F) ?</vt:lpstr>
      <vt:lpstr>Masking</vt:lpstr>
      <vt:lpstr>Numpy is fast... but be aware of dtype</vt:lpstr>
      <vt:lpstr>numpy.int32 – 32 bit signed two’s-complement integers</vt:lpstr>
      <vt:lpstr>Linear algebra</vt:lpstr>
      <vt:lpstr>Singular value decomposition, np.linalg.svd</vt:lpstr>
      <vt:lpstr>… and in color</vt:lpstr>
      <vt:lpstr>… and in color (stacked)</vt:lpstr>
      <vt:lpstr>PowerPoint Presentation</vt:lpstr>
      <vt:lpstr>numpy.polyfit</vt:lpstr>
      <vt:lpstr>PowerPoint Presentation</vt:lpstr>
      <vt:lpstr>PowerPoint Presentation</vt:lpstr>
      <vt:lpstr>PowerPoint Presentation</vt:lpstr>
      <vt:lpstr>Animating bouncing balls</vt:lpstr>
      <vt:lpstr>PowerPoint Presentation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1748</cp:revision>
  <dcterms:created xsi:type="dcterms:W3CDTF">2017-10-19T06:54:16Z</dcterms:created>
  <dcterms:modified xsi:type="dcterms:W3CDTF">2026-03-24T13:38:05Z</dcterms:modified>
</cp:coreProperties>
</file>