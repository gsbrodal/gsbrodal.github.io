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479" r:id="rId2"/>
    <p:sldId id="650" r:id="rId3"/>
    <p:sldId id="616" r:id="rId4"/>
    <p:sldId id="620" r:id="rId5"/>
    <p:sldId id="640" r:id="rId6"/>
    <p:sldId id="642" r:id="rId7"/>
    <p:sldId id="647" r:id="rId8"/>
    <p:sldId id="644" r:id="rId9"/>
    <p:sldId id="652" r:id="rId10"/>
    <p:sldId id="651" r:id="rId11"/>
    <p:sldId id="674" r:id="rId12"/>
    <p:sldId id="654" r:id="rId13"/>
    <p:sldId id="645" r:id="rId14"/>
    <p:sldId id="659" r:id="rId15"/>
    <p:sldId id="658" r:id="rId16"/>
    <p:sldId id="657" r:id="rId17"/>
    <p:sldId id="655" r:id="rId18"/>
    <p:sldId id="661" r:id="rId19"/>
    <p:sldId id="656" r:id="rId20"/>
    <p:sldId id="665" r:id="rId21"/>
    <p:sldId id="666" r:id="rId22"/>
    <p:sldId id="667" r:id="rId23"/>
    <p:sldId id="669" r:id="rId24"/>
    <p:sldId id="677" r:id="rId25"/>
    <p:sldId id="676" r:id="rId26"/>
    <p:sldId id="671" r:id="rId27"/>
    <p:sldId id="675" r:id="rId28"/>
    <p:sldId id="639" r:id="rId29"/>
    <p:sldId id="619" r:id="rId30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2CC"/>
    <a:srgbClr val="FFA7A7"/>
    <a:srgbClr val="DEEBF7"/>
    <a:srgbClr val="E2F0D9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4754B0-7A90-44C6-94BF-56783CFA406E}" v="3" dt="2026-03-02T05:00:14.3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41" autoAdjust="0"/>
    <p:restoredTop sz="74929" autoAdjust="0"/>
  </p:normalViewPr>
  <p:slideViewPr>
    <p:cSldViewPr snapToGrid="0">
      <p:cViewPr varScale="1">
        <p:scale>
          <a:sx n="44" d="100"/>
          <a:sy n="44" d="100"/>
        </p:scale>
        <p:origin x="1284" y="36"/>
      </p:cViewPr>
      <p:guideLst/>
    </p:cSldViewPr>
  </p:slideViewPr>
  <p:outlineViewPr>
    <p:cViewPr>
      <p:scale>
        <a:sx n="33" d="100"/>
        <a:sy n="33" d="100"/>
      </p:scale>
      <p:origin x="0" y="-6808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th Stølting Brodal" userId="04ef4784-6591-4f86-a140-f5c3b108582a" providerId="ADAL" clId="{73BAC7D6-516A-44B5-B4B0-C7B08CA8B392}"/>
    <pc:docChg chg="undo custSel modSld">
      <pc:chgData name="Gerth Stølting Brodal" userId="04ef4784-6591-4f86-a140-f5c3b108582a" providerId="ADAL" clId="{73BAC7D6-516A-44B5-B4B0-C7B08CA8B392}" dt="2026-03-02T06:03:13.115" v="514" actId="20577"/>
      <pc:docMkLst>
        <pc:docMk/>
      </pc:docMkLst>
      <pc:sldChg chg="modSp mod">
        <pc:chgData name="Gerth Stølting Brodal" userId="04ef4784-6591-4f86-a140-f5c3b108582a" providerId="ADAL" clId="{73BAC7D6-516A-44B5-B4B0-C7B08CA8B392}" dt="2026-03-01T19:00:05.705" v="1" actId="790"/>
        <pc:sldMkLst>
          <pc:docMk/>
          <pc:sldMk cId="2977291474" sldId="479"/>
        </pc:sldMkLst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2977291474" sldId="479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2977291474" sldId="479"/>
            <ac:spMk id="3" creationId="{00000000-0000-0000-0000-000000000000}"/>
          </ac:spMkLst>
        </pc:spChg>
      </pc:sldChg>
      <pc:sldChg chg="modSp mod">
        <pc:chgData name="Gerth Stølting Brodal" userId="04ef4784-6591-4f86-a140-f5c3b108582a" providerId="ADAL" clId="{73BAC7D6-516A-44B5-B4B0-C7B08CA8B392}" dt="2026-03-01T19:07:41.164" v="4" actId="33524"/>
        <pc:sldMkLst>
          <pc:docMk/>
          <pc:sldMk cId="2384964314" sldId="616"/>
        </pc:sldMkLst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2384964314" sldId="616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7:41.164" v="4" actId="33524"/>
          <ac:spMkLst>
            <pc:docMk/>
            <pc:sldMk cId="2384964314" sldId="616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2384964314" sldId="616"/>
            <ac:spMk id="5" creationId="{00000000-0000-0000-0000-000000000000}"/>
          </ac:spMkLst>
        </pc:spChg>
      </pc:sldChg>
      <pc:sldChg chg="modSp mod">
        <pc:chgData name="Gerth Stølting Brodal" userId="04ef4784-6591-4f86-a140-f5c3b108582a" providerId="ADAL" clId="{73BAC7D6-516A-44B5-B4B0-C7B08CA8B392}" dt="2026-03-01T19:00:05.705" v="1" actId="790"/>
        <pc:sldMkLst>
          <pc:docMk/>
          <pc:sldMk cId="3634352186" sldId="619"/>
        </pc:sldMkLst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3634352186" sldId="619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3634352186" sldId="619"/>
            <ac:spMk id="3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01T19:00:05.705" v="1" actId="790"/>
          <ac:graphicFrameMkLst>
            <pc:docMk/>
            <pc:sldMk cId="3634352186" sldId="619"/>
            <ac:graphicFrameMk id="4" creationId="{00000000-0000-0000-0000-000000000000}"/>
          </ac:graphicFrameMkLst>
        </pc:graphicFrameChg>
      </pc:sldChg>
      <pc:sldChg chg="modSp mod modNotesTx">
        <pc:chgData name="Gerth Stølting Brodal" userId="04ef4784-6591-4f86-a140-f5c3b108582a" providerId="ADAL" clId="{73BAC7D6-516A-44B5-B4B0-C7B08CA8B392}" dt="2026-03-02T05:00:32.747" v="39" actId="6549"/>
        <pc:sldMkLst>
          <pc:docMk/>
          <pc:sldMk cId="746149862" sldId="620"/>
        </pc:sldMkLst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746149862" sldId="620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746149862" sldId="620"/>
            <ac:spMk id="5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746149862" sldId="620"/>
            <ac:spMk id="7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746149862" sldId="620"/>
            <ac:spMk id="1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746149862" sldId="620"/>
            <ac:spMk id="14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746149862" sldId="620"/>
            <ac:spMk id="15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746149862" sldId="620"/>
            <ac:spMk id="17" creationId="{00000000-0000-0000-0000-000000000000}"/>
          </ac:spMkLst>
        </pc:spChg>
      </pc:sldChg>
      <pc:sldChg chg="modSp mod">
        <pc:chgData name="Gerth Stølting Brodal" userId="04ef4784-6591-4f86-a140-f5c3b108582a" providerId="ADAL" clId="{73BAC7D6-516A-44B5-B4B0-C7B08CA8B392}" dt="2026-03-01T19:00:05.705" v="1" actId="790"/>
        <pc:sldMkLst>
          <pc:docMk/>
          <pc:sldMk cId="860418074" sldId="639"/>
        </pc:sldMkLst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860418074" sldId="639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860418074" sldId="639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860418074" sldId="639"/>
            <ac:spMk id="6" creationId="{00000000-0000-0000-0000-000000000000}"/>
          </ac:spMkLst>
        </pc:spChg>
      </pc:sldChg>
      <pc:sldChg chg="modSp mod">
        <pc:chgData name="Gerth Stølting Brodal" userId="04ef4784-6591-4f86-a140-f5c3b108582a" providerId="ADAL" clId="{73BAC7D6-516A-44B5-B4B0-C7B08CA8B392}" dt="2026-03-01T19:00:05.705" v="1" actId="790"/>
        <pc:sldMkLst>
          <pc:docMk/>
          <pc:sldMk cId="172260989" sldId="640"/>
        </pc:sldMkLst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172260989" sldId="640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172260989" sldId="640"/>
            <ac:spMk id="6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01T19:00:05.705" v="1" actId="790"/>
          <ac:graphicFrameMkLst>
            <pc:docMk/>
            <pc:sldMk cId="172260989" sldId="640"/>
            <ac:graphicFrameMk id="4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3-01T19:00:05.705" v="1" actId="790"/>
          <ac:graphicFrameMkLst>
            <pc:docMk/>
            <pc:sldMk cId="172260989" sldId="640"/>
            <ac:graphicFrameMk id="5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01T19:00:05.705" v="1" actId="790"/>
        <pc:sldMkLst>
          <pc:docMk/>
          <pc:sldMk cId="2019816354" sldId="642"/>
        </pc:sldMkLst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2019816354" sldId="642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2019816354" sldId="642"/>
            <ac:spMk id="17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2019816354" sldId="642"/>
            <ac:spMk id="19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2019816354" sldId="642"/>
            <ac:spMk id="20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2019816354" sldId="642"/>
            <ac:spMk id="21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2019816354" sldId="642"/>
            <ac:spMk id="2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2019816354" sldId="642"/>
            <ac:spMk id="2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2019816354" sldId="642"/>
            <ac:spMk id="28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2019816354" sldId="642"/>
            <ac:spMk id="29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01T19:00:05.705" v="1" actId="790"/>
          <ac:graphicFrameMkLst>
            <pc:docMk/>
            <pc:sldMk cId="2019816354" sldId="642"/>
            <ac:graphicFrameMk id="7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02T05:12:35.248" v="70" actId="20577"/>
        <pc:sldMkLst>
          <pc:docMk/>
          <pc:sldMk cId="1249989982" sldId="644"/>
        </pc:sldMkLst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1249989982" sldId="644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1249989982" sldId="644"/>
            <ac:spMk id="8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1249989982" sldId="644"/>
            <ac:spMk id="10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1249989982" sldId="644"/>
            <ac:spMk id="11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1249989982" sldId="644"/>
            <ac:spMk id="14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2T05:11:22.465" v="69" actId="14100"/>
          <ac:spMkLst>
            <pc:docMk/>
            <pc:sldMk cId="1249989982" sldId="644"/>
            <ac:spMk id="19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1249989982" sldId="644"/>
            <ac:spMk id="25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1249989982" sldId="644"/>
            <ac:spMk id="29" creationId="{9B6C28E5-F5C8-487A-B19B-23CD331EF8CD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1249989982" sldId="644"/>
            <ac:spMk id="31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1249989982" sldId="644"/>
            <ac:spMk id="32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02T05:12:35.248" v="70" actId="20577"/>
          <ac:graphicFrameMkLst>
            <pc:docMk/>
            <pc:sldMk cId="1249989982" sldId="644"/>
            <ac:graphicFrameMk id="5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01T19:00:05.705" v="1" actId="790"/>
        <pc:sldMkLst>
          <pc:docMk/>
          <pc:sldMk cId="2529791201" sldId="645"/>
        </pc:sldMkLst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2529791201" sldId="645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2529791201" sldId="645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2529791201" sldId="645"/>
            <ac:spMk id="7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2529791201" sldId="645"/>
            <ac:spMk id="8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2529791201" sldId="645"/>
            <ac:spMk id="9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2529791201" sldId="645"/>
            <ac:spMk id="10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2529791201" sldId="645"/>
            <ac:spMk id="11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2529791201" sldId="645"/>
            <ac:spMk id="12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01T19:00:05.705" v="1" actId="790"/>
          <ac:graphicFrameMkLst>
            <pc:docMk/>
            <pc:sldMk cId="2529791201" sldId="645"/>
            <ac:graphicFrameMk id="4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3-01T19:00:05.705" v="1" actId="790"/>
          <ac:graphicFrameMkLst>
            <pc:docMk/>
            <pc:sldMk cId="2529791201" sldId="645"/>
            <ac:graphicFrameMk id="5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01T19:00:05.705" v="1" actId="790"/>
        <pc:sldMkLst>
          <pc:docMk/>
          <pc:sldMk cId="4233564356" sldId="647"/>
        </pc:sldMkLst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4233564356" sldId="647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4233564356" sldId="647"/>
            <ac:spMk id="6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4233564356" sldId="647"/>
            <ac:spMk id="7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4233564356" sldId="647"/>
            <ac:spMk id="11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4233564356" sldId="647"/>
            <ac:spMk id="14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4233564356" sldId="647"/>
            <ac:spMk id="17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4233564356" sldId="647"/>
            <ac:spMk id="18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01T19:00:05.705" v="1" actId="790"/>
          <ac:graphicFrameMkLst>
            <pc:docMk/>
            <pc:sldMk cId="4233564356" sldId="647"/>
            <ac:graphicFrameMk id="4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3-01T19:00:05.705" v="1" actId="790"/>
          <ac:graphicFrameMkLst>
            <pc:docMk/>
            <pc:sldMk cId="4233564356" sldId="647"/>
            <ac:graphicFrameMk id="5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01T19:00:05.705" v="1" actId="790"/>
        <pc:sldMkLst>
          <pc:docMk/>
          <pc:sldMk cId="293888708" sldId="650"/>
        </pc:sldMkLst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293888708" sldId="650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293888708" sldId="650"/>
            <ac:spMk id="3" creationId="{00000000-0000-0000-0000-000000000000}"/>
          </ac:spMkLst>
        </pc:spChg>
      </pc:sldChg>
      <pc:sldChg chg="modSp mod">
        <pc:chgData name="Gerth Stølting Brodal" userId="04ef4784-6591-4f86-a140-f5c3b108582a" providerId="ADAL" clId="{73BAC7D6-516A-44B5-B4B0-C7B08CA8B392}" dt="2026-03-01T19:00:05.705" v="1" actId="790"/>
        <pc:sldMkLst>
          <pc:docMk/>
          <pc:sldMk cId="1233999097" sldId="651"/>
        </pc:sldMkLst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1233999097" sldId="651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1233999097" sldId="651"/>
            <ac:spMk id="6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01T19:00:05.705" v="1" actId="790"/>
          <ac:graphicFrameMkLst>
            <pc:docMk/>
            <pc:sldMk cId="1233999097" sldId="651"/>
            <ac:graphicFrameMk id="5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01T19:00:05.705" v="1" actId="790"/>
        <pc:sldMkLst>
          <pc:docMk/>
          <pc:sldMk cId="2946504512" sldId="652"/>
        </pc:sldMkLst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2946504512" sldId="652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2946504512" sldId="652"/>
            <ac:spMk id="6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01T19:00:05.705" v="1" actId="790"/>
          <ac:graphicFrameMkLst>
            <pc:docMk/>
            <pc:sldMk cId="2946504512" sldId="652"/>
            <ac:graphicFrameMk id="4" creationId="{00000000-0000-0000-0000-000000000000}"/>
          </ac:graphicFrameMkLst>
        </pc:graphicFrameChg>
      </pc:sldChg>
      <pc:sldChg chg="modSp mod modNotesTx">
        <pc:chgData name="Gerth Stølting Brodal" userId="04ef4784-6591-4f86-a140-f5c3b108582a" providerId="ADAL" clId="{73BAC7D6-516A-44B5-B4B0-C7B08CA8B392}" dt="2026-03-02T05:24:01.662" v="154" actId="20577"/>
        <pc:sldMkLst>
          <pc:docMk/>
          <pc:sldMk cId="3378995729" sldId="654"/>
        </pc:sldMkLst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3378995729" sldId="654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3378995729" sldId="654"/>
            <ac:spMk id="6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01T19:00:05.705" v="1" actId="790"/>
          <ac:graphicFrameMkLst>
            <pc:docMk/>
            <pc:sldMk cId="3378995729" sldId="654"/>
            <ac:graphicFrameMk id="5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3-01T19:00:05.705" v="1" actId="790"/>
          <ac:graphicFrameMkLst>
            <pc:docMk/>
            <pc:sldMk cId="3378995729" sldId="654"/>
            <ac:graphicFrameMk id="7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01T19:00:05.705" v="1" actId="790"/>
        <pc:sldMkLst>
          <pc:docMk/>
          <pc:sldMk cId="888733723" sldId="655"/>
        </pc:sldMkLst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888733723" sldId="655"/>
            <ac:spMk id="6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888733723" sldId="655"/>
            <ac:spMk id="1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888733723" sldId="655"/>
            <ac:spMk id="1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888733723" sldId="655"/>
            <ac:spMk id="14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888733723" sldId="655"/>
            <ac:spMk id="15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888733723" sldId="655"/>
            <ac:spMk id="16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888733723" sldId="655"/>
            <ac:spMk id="18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888733723" sldId="655"/>
            <ac:spMk id="21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888733723" sldId="655"/>
            <ac:spMk id="2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888733723" sldId="655"/>
            <ac:spMk id="24" creationId="{00000000-0000-0000-0000-000000000000}"/>
          </ac:spMkLst>
        </pc:spChg>
      </pc:sldChg>
      <pc:sldChg chg="modSp mod">
        <pc:chgData name="Gerth Stølting Brodal" userId="04ef4784-6591-4f86-a140-f5c3b108582a" providerId="ADAL" clId="{73BAC7D6-516A-44B5-B4B0-C7B08CA8B392}" dt="2026-03-01T19:00:05.705" v="1" actId="790"/>
        <pc:sldMkLst>
          <pc:docMk/>
          <pc:sldMk cId="2163815290" sldId="656"/>
        </pc:sldMkLst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2163815290" sldId="656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2163815290" sldId="656"/>
            <ac:spMk id="3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01T19:00:05.705" v="1" actId="790"/>
          <ac:graphicFrameMkLst>
            <pc:docMk/>
            <pc:sldMk cId="2163815290" sldId="656"/>
            <ac:graphicFrameMk id="4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01T19:00:05.705" v="1" actId="790"/>
        <pc:sldMkLst>
          <pc:docMk/>
          <pc:sldMk cId="1185943605" sldId="657"/>
        </pc:sldMkLst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1185943605" sldId="657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1185943605" sldId="657"/>
            <ac:spMk id="3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01T19:00:05.705" v="1" actId="790"/>
          <ac:graphicFrameMkLst>
            <pc:docMk/>
            <pc:sldMk cId="1185943605" sldId="657"/>
            <ac:graphicFrameMk id="4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01T19:00:05.705" v="1" actId="790"/>
        <pc:sldMkLst>
          <pc:docMk/>
          <pc:sldMk cId="14148027" sldId="658"/>
        </pc:sldMkLst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14148027" sldId="658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14148027" sldId="658"/>
            <ac:spMk id="3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01T19:00:05.705" v="1" actId="790"/>
          <ac:graphicFrameMkLst>
            <pc:docMk/>
            <pc:sldMk cId="14148027" sldId="658"/>
            <ac:graphicFrameMk id="5" creationId="{00000000-0000-0000-0000-000000000000}"/>
          </ac:graphicFrameMkLst>
        </pc:graphicFrameChg>
      </pc:sldChg>
      <pc:sldChg chg="modSp mod modNotesTx">
        <pc:chgData name="Gerth Stølting Brodal" userId="04ef4784-6591-4f86-a140-f5c3b108582a" providerId="ADAL" clId="{73BAC7D6-516A-44B5-B4B0-C7B08CA8B392}" dt="2026-03-02T05:31:03.630" v="389" actId="20577"/>
        <pc:sldMkLst>
          <pc:docMk/>
          <pc:sldMk cId="1240346704" sldId="659"/>
        </pc:sldMkLst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1240346704" sldId="659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1240346704" sldId="659"/>
            <ac:spMk id="3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01T19:00:05.705" v="1" actId="790"/>
          <ac:graphicFrameMkLst>
            <pc:docMk/>
            <pc:sldMk cId="1240346704" sldId="659"/>
            <ac:graphicFrameMk id="4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01T19:00:05.705" v="1" actId="790"/>
        <pc:sldMkLst>
          <pc:docMk/>
          <pc:sldMk cId="763960458" sldId="661"/>
        </pc:sldMkLst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763960458" sldId="661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763960458" sldId="661"/>
            <ac:spMk id="6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763960458" sldId="661"/>
            <ac:spMk id="7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763960458" sldId="661"/>
            <ac:spMk id="9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763960458" sldId="661"/>
            <ac:spMk id="11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763960458" sldId="661"/>
            <ac:spMk id="1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763960458" sldId="661"/>
            <ac:spMk id="1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763960458" sldId="661"/>
            <ac:spMk id="14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763960458" sldId="661"/>
            <ac:spMk id="15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763960458" sldId="661"/>
            <ac:spMk id="18" creationId="{00000000-0000-0000-0000-000000000000}"/>
          </ac:spMkLst>
        </pc:spChg>
      </pc:sldChg>
      <pc:sldChg chg="modSp mod">
        <pc:chgData name="Gerth Stølting Brodal" userId="04ef4784-6591-4f86-a140-f5c3b108582a" providerId="ADAL" clId="{73BAC7D6-516A-44B5-B4B0-C7B08CA8B392}" dt="2026-03-01T19:00:05.705" v="1" actId="790"/>
        <pc:sldMkLst>
          <pc:docMk/>
          <pc:sldMk cId="1613640469" sldId="665"/>
        </pc:sldMkLst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1613640469" sldId="665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1613640469" sldId="665"/>
            <ac:spMk id="19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1613640469" sldId="665"/>
            <ac:spMk id="20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1613640469" sldId="665"/>
            <ac:spMk id="2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1613640469" sldId="665"/>
            <ac:spMk id="2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1613640469" sldId="665"/>
            <ac:spMk id="24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1613640469" sldId="665"/>
            <ac:spMk id="28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1613640469" sldId="665"/>
            <ac:spMk id="29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01T19:00:05.705" v="1" actId="790"/>
          <ac:graphicFrameMkLst>
            <pc:docMk/>
            <pc:sldMk cId="1613640469" sldId="665"/>
            <ac:graphicFrameMk id="4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3-01T19:00:05.705" v="1" actId="790"/>
          <ac:graphicFrameMkLst>
            <pc:docMk/>
            <pc:sldMk cId="1613640469" sldId="665"/>
            <ac:graphicFrameMk id="9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01T19:00:05.705" v="1" actId="790"/>
        <pc:sldMkLst>
          <pc:docMk/>
          <pc:sldMk cId="3824142588" sldId="666"/>
        </pc:sldMkLst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3824142588" sldId="666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3824142588" sldId="666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3824142588" sldId="666"/>
            <ac:spMk id="8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3824142588" sldId="666"/>
            <ac:spMk id="9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3824142588" sldId="666"/>
            <ac:spMk id="11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3824142588" sldId="666"/>
            <ac:spMk id="12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01T19:00:05.705" v="1" actId="790"/>
          <ac:graphicFrameMkLst>
            <pc:docMk/>
            <pc:sldMk cId="3824142588" sldId="666"/>
            <ac:graphicFrameMk id="5" creationId="{00000000-0000-0000-0000-000000000000}"/>
          </ac:graphicFrameMkLst>
        </pc:graphicFrameChg>
      </pc:sldChg>
      <pc:sldChg chg="modSp mod modNotesTx">
        <pc:chgData name="Gerth Stølting Brodal" userId="04ef4784-6591-4f86-a140-f5c3b108582a" providerId="ADAL" clId="{73BAC7D6-516A-44B5-B4B0-C7B08CA8B392}" dt="2026-03-02T05:59:11.446" v="478" actId="20577"/>
        <pc:sldMkLst>
          <pc:docMk/>
          <pc:sldMk cId="825996582" sldId="667"/>
        </pc:sldMkLst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825996582" sldId="667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825996582" sldId="667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825996582" sldId="667"/>
            <ac:spMk id="5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825996582" sldId="667"/>
            <ac:spMk id="11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01T19:00:05.705" v="1" actId="790"/>
          <ac:graphicFrameMkLst>
            <pc:docMk/>
            <pc:sldMk cId="825996582" sldId="667"/>
            <ac:graphicFrameMk id="4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3-01T19:00:05.705" v="1" actId="790"/>
          <ac:graphicFrameMkLst>
            <pc:docMk/>
            <pc:sldMk cId="825996582" sldId="667"/>
            <ac:graphicFrameMk id="6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3-01T19:00:05.705" v="1" actId="790"/>
          <ac:graphicFrameMkLst>
            <pc:docMk/>
            <pc:sldMk cId="825996582" sldId="667"/>
            <ac:graphicFrameMk id="7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01T19:00:05.705" v="1" actId="790"/>
        <pc:sldMkLst>
          <pc:docMk/>
          <pc:sldMk cId="2050772099" sldId="669"/>
        </pc:sldMkLst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2050772099" sldId="669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2050772099" sldId="669"/>
            <ac:spMk id="5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01T19:00:05.705" v="1" actId="790"/>
          <ac:graphicFrameMkLst>
            <pc:docMk/>
            <pc:sldMk cId="2050772099" sldId="669"/>
            <ac:graphicFrameMk id="4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3-01T19:00:05.705" v="1" actId="790"/>
          <ac:graphicFrameMkLst>
            <pc:docMk/>
            <pc:sldMk cId="2050772099" sldId="669"/>
            <ac:graphicFrameMk id="6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3-01T19:00:05.705" v="1" actId="790"/>
          <ac:graphicFrameMkLst>
            <pc:docMk/>
            <pc:sldMk cId="2050772099" sldId="669"/>
            <ac:graphicFrameMk id="7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3-01T19:00:05.705" v="1" actId="790"/>
          <ac:graphicFrameMkLst>
            <pc:docMk/>
            <pc:sldMk cId="2050772099" sldId="669"/>
            <ac:graphicFrameMk id="8" creationId="{00000000-0000-0000-0000-000000000000}"/>
          </ac:graphicFrameMkLst>
        </pc:graphicFrameChg>
      </pc:sldChg>
      <pc:sldChg chg="modSp mod modNotesTx">
        <pc:chgData name="Gerth Stølting Brodal" userId="04ef4784-6591-4f86-a140-f5c3b108582a" providerId="ADAL" clId="{73BAC7D6-516A-44B5-B4B0-C7B08CA8B392}" dt="2026-03-01T19:00:05.705" v="1" actId="790"/>
        <pc:sldMkLst>
          <pc:docMk/>
          <pc:sldMk cId="2744095658" sldId="671"/>
        </pc:sldMkLst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2744095658" sldId="671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2744095658" sldId="671"/>
            <ac:spMk id="3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01T19:00:05.705" v="1" actId="790"/>
          <ac:graphicFrameMkLst>
            <pc:docMk/>
            <pc:sldMk cId="2744095658" sldId="671"/>
            <ac:graphicFrameMk id="4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3-01T19:00:05.705" v="1" actId="790"/>
          <ac:graphicFrameMkLst>
            <pc:docMk/>
            <pc:sldMk cId="2744095658" sldId="671"/>
            <ac:graphicFrameMk id="5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3-01T19:00:05.705" v="1" actId="790"/>
          <ac:graphicFrameMkLst>
            <pc:docMk/>
            <pc:sldMk cId="2744095658" sldId="671"/>
            <ac:graphicFrameMk id="6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3-01T19:00:05.705" v="1" actId="790"/>
          <ac:graphicFrameMkLst>
            <pc:docMk/>
            <pc:sldMk cId="2744095658" sldId="671"/>
            <ac:graphicFrameMk id="7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02T05:21:37.527" v="76" actId="20577"/>
        <pc:sldMkLst>
          <pc:docMk/>
          <pc:sldMk cId="2697473546" sldId="674"/>
        </pc:sldMkLst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2697473546" sldId="674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2697473546" sldId="674"/>
            <ac:spMk id="4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2697473546" sldId="674"/>
            <ac:spMk id="5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02T05:21:37.527" v="76" actId="20577"/>
          <ac:graphicFrameMkLst>
            <pc:docMk/>
            <pc:sldMk cId="2697473546" sldId="674"/>
            <ac:graphicFrameMk id="6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02T06:03:13.115" v="514" actId="20577"/>
        <pc:sldMkLst>
          <pc:docMk/>
          <pc:sldMk cId="2502188167" sldId="675"/>
        </pc:sldMkLst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2502188167" sldId="675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2502188167" sldId="675"/>
            <ac:spMk id="3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02T06:03:13.115" v="514" actId="20577"/>
          <ac:graphicFrameMkLst>
            <pc:docMk/>
            <pc:sldMk cId="2502188167" sldId="675"/>
            <ac:graphicFrameMk id="4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01T19:00:05.705" v="1" actId="790"/>
        <pc:sldMkLst>
          <pc:docMk/>
          <pc:sldMk cId="1482295650" sldId="676"/>
        </pc:sldMkLst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1482295650" sldId="676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1482295650" sldId="676"/>
            <ac:spMk id="3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01T19:00:05.705" v="1" actId="790"/>
          <ac:graphicFrameMkLst>
            <pc:docMk/>
            <pc:sldMk cId="1482295650" sldId="676"/>
            <ac:graphicFrameMk id="4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3-01T19:00:05.705" v="1" actId="790"/>
          <ac:graphicFrameMkLst>
            <pc:docMk/>
            <pc:sldMk cId="1482295650" sldId="676"/>
            <ac:graphicFrameMk id="5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3-01T19:00:05.705" v="1" actId="790"/>
          <ac:graphicFrameMkLst>
            <pc:docMk/>
            <pc:sldMk cId="1482295650" sldId="676"/>
            <ac:graphicFrameMk id="6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3-01T19:00:05.705" v="1" actId="790"/>
          <ac:graphicFrameMkLst>
            <pc:docMk/>
            <pc:sldMk cId="1482295650" sldId="676"/>
            <ac:graphicFrameMk id="7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01T19:00:05.705" v="1" actId="790"/>
        <pc:sldMkLst>
          <pc:docMk/>
          <pc:sldMk cId="672956344" sldId="677"/>
        </pc:sldMkLst>
        <pc:spChg chg="mod">
          <ac:chgData name="Gerth Stølting Brodal" userId="04ef4784-6591-4f86-a140-f5c3b108582a" providerId="ADAL" clId="{73BAC7D6-516A-44B5-B4B0-C7B08CA8B392}" dt="2026-03-01T19:00:05.705" v="1" actId="790"/>
          <ac:spMkLst>
            <pc:docMk/>
            <pc:sldMk cId="672956344" sldId="677"/>
            <ac:spMk id="2" creationId="{97A22691-6935-4323-BF7E-DD0D3FF821DA}"/>
          </ac:spMkLst>
        </pc:spChg>
        <pc:graphicFrameChg chg="modGraphic">
          <ac:chgData name="Gerth Stølting Brodal" userId="04ef4784-6591-4f86-a140-f5c3b108582a" providerId="ADAL" clId="{73BAC7D6-516A-44B5-B4B0-C7B08CA8B392}" dt="2026-03-01T19:00:05.705" v="1" actId="790"/>
          <ac:graphicFrameMkLst>
            <pc:docMk/>
            <pc:sldMk cId="672956344" sldId="677"/>
            <ac:graphicFrameMk id="6" creationId="{DFAC4F92-C1E1-4968-8DE4-029350FF6B1A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1A172F-81D4-4DC4-9113-1DBD56EC3646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563DD8-32AB-41BE-B1C6-8EAC45222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505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753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Example</a:t>
            </a:r>
            <a:r>
              <a:rPr lang="da-DK" dirty="0"/>
              <a:t> of a </a:t>
            </a:r>
            <a:r>
              <a:rPr lang="da-DK" dirty="0" err="1"/>
              <a:t>builtin</a:t>
            </a:r>
            <a:r>
              <a:rPr lang="da-DK" dirty="0"/>
              <a:t> class is "list"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2519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Byte magazine 1981 broad Object</a:t>
            </a:r>
            <a:r>
              <a:rPr lang="en-US" baseline="0" dirty="0"/>
              <a:t> Oriented Programming to a wider audience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0165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baseline="0" dirty="0"/>
              <a:t>”</a:t>
            </a:r>
            <a:r>
              <a:rPr lang="en-US" dirty="0"/>
              <a:t>Design patterns offer standard solutions for common problems encountered in software design.”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“Gang of Four” Book 1994 identified 23 common “patterns” used in Object Oriented programming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baseline="0" dirty="0"/>
              <a:t>Henrik Bærbak Christensen </a:t>
            </a:r>
            <a:r>
              <a:rPr lang="da-DK" baseline="0" dirty="0" err="1"/>
              <a:t>inspired</a:t>
            </a:r>
            <a:r>
              <a:rPr lang="da-DK" baseline="0" dirty="0"/>
              <a:t> by </a:t>
            </a:r>
            <a:r>
              <a:rPr lang="da-DK" baseline="0" dirty="0" err="1"/>
              <a:t>Shwalloway</a:t>
            </a:r>
            <a:r>
              <a:rPr lang="da-DK" baseline="0" dirty="0"/>
              <a:t> &amp; Trott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a-DK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7566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str</a:t>
            </a:r>
            <a:r>
              <a:rPr lang="da-DK" dirty="0"/>
              <a:t>() is</a:t>
            </a:r>
            <a:r>
              <a:rPr lang="da-DK" baseline="0" dirty="0"/>
              <a:t> </a:t>
            </a:r>
            <a:r>
              <a:rPr lang="da-DK" baseline="0" dirty="0" err="1"/>
              <a:t>really</a:t>
            </a:r>
            <a:r>
              <a:rPr lang="da-DK" baseline="0" dirty="0"/>
              <a:t> the </a:t>
            </a:r>
            <a:r>
              <a:rPr lang="da-DK" baseline="0" dirty="0" err="1"/>
              <a:t>constructor</a:t>
            </a:r>
            <a:r>
              <a:rPr lang="da-DK" baseline="0" dirty="0"/>
              <a:t> for the </a:t>
            </a:r>
            <a:r>
              <a:rPr lang="da-DK" baseline="0" dirty="0" err="1"/>
              <a:t>class</a:t>
            </a:r>
            <a:r>
              <a:rPr lang="da-DK" baseline="0" dirty="0"/>
              <a:t> </a:t>
            </a:r>
          </a:p>
          <a:p>
            <a:r>
              <a:rPr lang="da-DK" baseline="0" dirty="0"/>
              <a:t>__</a:t>
            </a:r>
            <a:r>
              <a:rPr lang="da-DK" baseline="0" dirty="0" err="1"/>
              <a:t>getitem</a:t>
            </a:r>
            <a:r>
              <a:rPr lang="da-DK" baseline="0" dirty="0"/>
              <a:t>__(x) </a:t>
            </a:r>
            <a:r>
              <a:rPr lang="da-DK" baseline="0" dirty="0" err="1"/>
              <a:t>eq</a:t>
            </a:r>
            <a:r>
              <a:rPr lang="da-DK" baseline="0" dirty="0"/>
              <a:t>. to [x]</a:t>
            </a:r>
          </a:p>
          <a:p>
            <a:r>
              <a:rPr lang="en-US" dirty="0" err="1"/>
              <a:t>repr</a:t>
            </a:r>
            <a:r>
              <a:rPr lang="en-US" dirty="0"/>
              <a:t>('</a:t>
            </a:r>
            <a:r>
              <a:rPr lang="en-US" dirty="0" err="1"/>
              <a:t>abc</a:t>
            </a:r>
            <a:r>
              <a:rPr lang="en-US" dirty="0"/>
              <a:t>') = "'</a:t>
            </a:r>
            <a:r>
              <a:rPr lang="en-US" dirty="0" err="1"/>
              <a:t>abc</a:t>
            </a:r>
            <a:r>
              <a:rPr lang="en-US" dirty="0"/>
              <a:t>'“</a:t>
            </a:r>
            <a:r>
              <a:rPr lang="en-US" baseline="0" dirty="0"/>
              <a:t> whereas str(‘</a:t>
            </a:r>
            <a:r>
              <a:rPr lang="en-US" baseline="0" dirty="0" err="1"/>
              <a:t>abc</a:t>
            </a:r>
            <a:r>
              <a:rPr lang="en-US" baseline="0" dirty="0"/>
              <a:t>’) = ‘</a:t>
            </a:r>
            <a:r>
              <a:rPr lang="en-US" baseline="0" dirty="0" err="1"/>
              <a:t>abc</a:t>
            </a:r>
            <a:r>
              <a:rPr lang="en-US" baseline="0" dirty="0"/>
              <a:t>’; IDLE shell prints </a:t>
            </a:r>
            <a:r>
              <a:rPr lang="en-US" baseline="0" dirty="0" err="1"/>
              <a:t>repr</a:t>
            </a:r>
            <a:r>
              <a:rPr lang="en-US" baseline="0" dirty="0"/>
              <a:t> by default, usually a valid Python expression to be evaluated by eval()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5371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argument </a:t>
            </a:r>
            <a:r>
              <a:rPr lang="da-DK" dirty="0" err="1"/>
              <a:t>named</a:t>
            </a:r>
            <a:r>
              <a:rPr lang="da-DK" dirty="0"/>
              <a:t> </a:t>
            </a:r>
            <a:r>
              <a:rPr lang="da-DK" dirty="0" err="1"/>
              <a:t>student_id</a:t>
            </a:r>
            <a:r>
              <a:rPr lang="da-DK" dirty="0"/>
              <a:t>, </a:t>
            </a:r>
            <a:r>
              <a:rPr lang="da-DK" dirty="0" err="1"/>
              <a:t>since</a:t>
            </a:r>
            <a:r>
              <a:rPr lang="da-DK" dirty="0"/>
              <a:t> ”id” is a </a:t>
            </a:r>
            <a:r>
              <a:rPr lang="da-DK" dirty="0" err="1"/>
              <a:t>buildt</a:t>
            </a:r>
            <a:r>
              <a:rPr lang="da-DK" dirty="0"/>
              <a:t> in </a:t>
            </a:r>
            <a:r>
              <a:rPr lang="da-DK" dirty="0" err="1"/>
              <a:t>function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7456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'Gladstone Gander‘ = Fætter højben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490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3732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 also create instances using Student(name='Pluto')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7860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print([Student()]) instead calls __</a:t>
            </a:r>
            <a:r>
              <a:rPr lang="en-US" dirty="0" err="1"/>
              <a:t>repr</a:t>
            </a:r>
            <a:r>
              <a:rPr lang="en-US" dirty="0"/>
              <a:t>__ on the Student class, since the class list’s __str__ method uses the __</a:t>
            </a:r>
            <a:r>
              <a:rPr lang="en-US" dirty="0" err="1"/>
              <a:t>repr</a:t>
            </a:r>
            <a:r>
              <a:rPr lang="en-US" dirty="0"/>
              <a:t>__ attribute of the list values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8374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attributes must be </a:t>
            </a:r>
            <a:r>
              <a:rPr lang="en-US" b="1" dirty="0"/>
              <a:t>declared</a:t>
            </a:r>
            <a:r>
              <a:rPr lang="en-US" b="0" dirty="0"/>
              <a:t> and have a default value, so that they are always defined</a:t>
            </a:r>
            <a:endParaRPr lang="da-DK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917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obj.__</a:t>
            </a:r>
            <a:r>
              <a:rPr lang="en-US" dirty="0" err="1"/>
              <a:t>dict</a:t>
            </a:r>
            <a:r>
              <a:rPr lang="en-US" dirty="0"/>
              <a:t>__</a:t>
            </a:r>
            <a:r>
              <a:rPr lang="en-US" baseline="0" dirty="0"/>
              <a:t> returns the dictionary’s available attributes</a:t>
            </a:r>
          </a:p>
          <a:p>
            <a:r>
              <a:rPr lang="en-US" baseline="0" dirty="0" err="1"/>
              <a:t>obj</a:t>
            </a:r>
            <a:r>
              <a:rPr lang="en-US" baseline="0" dirty="0"/>
              <a:t>.__class__ returns the class of the object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2790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argument </a:t>
            </a:r>
            <a:r>
              <a:rPr lang="da-DK" dirty="0" err="1"/>
              <a:t>named</a:t>
            </a:r>
            <a:r>
              <a:rPr lang="da-DK" dirty="0"/>
              <a:t> </a:t>
            </a:r>
            <a:r>
              <a:rPr lang="da-DK" dirty="0" err="1"/>
              <a:t>student_id</a:t>
            </a:r>
            <a:r>
              <a:rPr lang="da-DK" dirty="0"/>
              <a:t>, </a:t>
            </a:r>
            <a:r>
              <a:rPr lang="da-DK" dirty="0" err="1"/>
              <a:t>since</a:t>
            </a:r>
            <a:r>
              <a:rPr lang="da-DK" dirty="0"/>
              <a:t> ”id” is a </a:t>
            </a:r>
            <a:r>
              <a:rPr lang="da-DK" dirty="0" err="1"/>
              <a:t>buildt</a:t>
            </a:r>
            <a:r>
              <a:rPr lang="da-DK" dirty="0"/>
              <a:t> in </a:t>
            </a:r>
            <a:r>
              <a:rPr lang="da-DK" dirty="0" err="1"/>
              <a:t>function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2088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(2) </a:t>
            </a:r>
            <a:r>
              <a:rPr lang="en-US" dirty="0" err="1"/>
              <a:t>self.next_id</a:t>
            </a:r>
            <a:r>
              <a:rPr lang="en-US" baseline="0" dirty="0"/>
              <a:t> += 1 will imply all objects to get ID = 1 and </a:t>
            </a:r>
            <a:r>
              <a:rPr lang="en-US" baseline="0" dirty="0" err="1"/>
              <a:t>next_id</a:t>
            </a:r>
            <a:r>
              <a:rPr lang="en-US" baseline="0" dirty="0"/>
              <a:t> =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3091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Other languages do not allow to both have a class and object attribute with the same name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6176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ISO message is verbatim</a:t>
            </a:r>
            <a:r>
              <a:rPr lang="en-US" baseline="0" noProof="0" dirty="0"/>
              <a:t> error message from computer </a:t>
            </a:r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2512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Default hash(</a:t>
            </a:r>
            <a:r>
              <a:rPr lang="da-DK" dirty="0" err="1"/>
              <a:t>object</a:t>
            </a:r>
            <a:r>
              <a:rPr lang="da-DK" dirty="0"/>
              <a:t>) = </a:t>
            </a:r>
            <a:r>
              <a:rPr lang="da-DK" dirty="0" err="1"/>
              <a:t>memory</a:t>
            </a:r>
            <a:r>
              <a:rPr lang="da-DK" dirty="0"/>
              <a:t> </a:t>
            </a:r>
            <a:r>
              <a:rPr lang="da-DK" dirty="0" err="1"/>
              <a:t>address</a:t>
            </a:r>
            <a:r>
              <a:rPr lang="da-DK" dirty="0"/>
              <a:t> // 16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146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82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57188" indent="-357188">
              <a:buClr>
                <a:srgbClr val="C00000"/>
              </a:buClr>
              <a:buFont typeface="Wingdings" panose="05000000000000000000" pitchFamily="2" charset="2"/>
              <a:buChar char="§"/>
              <a:defRPr/>
            </a:lvl1pPr>
            <a:lvl2pPr>
              <a:buClr>
                <a:srgbClr val="C00000"/>
              </a:buClr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473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645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052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978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3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479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789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81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605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641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0A9CD-0304-4E0B-9E82-E7E0115DE05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796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List_of_object-oriented_programming_language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chive.org/details/byte-magazine-1981-08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jpeg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tutorial/classes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ython.org/dev/peps/pep-0008/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-course.eu/python3_magic_methods.php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602" y="2920558"/>
            <a:ext cx="11783368" cy="1325563"/>
          </a:xfrm>
        </p:spPr>
        <p:txBody>
          <a:bodyPr>
            <a:normAutofit/>
          </a:bodyPr>
          <a:lstStyle/>
          <a:p>
            <a:pPr algn="r"/>
            <a:r>
              <a:rPr lang="en-US" noProof="0" dirty="0"/>
              <a:t>Object oriented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25756" y="3920647"/>
            <a:ext cx="3995057" cy="2937353"/>
          </a:xfrm>
        </p:spPr>
        <p:txBody>
          <a:bodyPr>
            <a:normAutofit/>
          </a:bodyPr>
          <a:lstStyle/>
          <a:p>
            <a:r>
              <a:rPr lang="en-US" noProof="0" dirty="0"/>
              <a:t>classes, objects</a:t>
            </a:r>
          </a:p>
          <a:p>
            <a:r>
              <a:rPr lang="en-US" noProof="0" dirty="0"/>
              <a:t>self</a:t>
            </a:r>
          </a:p>
          <a:p>
            <a:r>
              <a:rPr lang="en-US" noProof="0" dirty="0"/>
              <a:t>construction</a:t>
            </a:r>
          </a:p>
          <a:p>
            <a:r>
              <a:rPr lang="en-US" noProof="0" dirty="0"/>
              <a:t>encapsulation</a:t>
            </a:r>
          </a:p>
        </p:txBody>
      </p:sp>
    </p:spTree>
    <p:extLst>
      <p:ext uri="{BB962C8B-B14F-4D97-AF65-F5344CB8AC3E}">
        <p14:creationId xmlns:p14="http://schemas.microsoft.com/office/powerpoint/2010/main" val="2977291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Object Oriented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94076"/>
            <a:ext cx="10515600" cy="5063923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b="1" noProof="0" dirty="0">
                <a:solidFill>
                  <a:schemeClr val="accent1">
                    <a:lumMod val="50000"/>
                  </a:schemeClr>
                </a:solidFill>
              </a:rPr>
              <a:t>Programming paradigm</a:t>
            </a:r>
            <a:r>
              <a:rPr lang="en-US" noProof="0" dirty="0"/>
              <a:t>, other paradigms are e.g.</a:t>
            </a:r>
          </a:p>
          <a:p>
            <a:pPr lvl="1"/>
            <a:r>
              <a:rPr lang="en-US" i="1" noProof="0" dirty="0"/>
              <a:t>functional programming</a:t>
            </a:r>
            <a:r>
              <a:rPr lang="en-US" noProof="0" dirty="0"/>
              <a:t> where the focus is on functions, lambda’s and higher order functions, and </a:t>
            </a:r>
          </a:p>
          <a:p>
            <a:pPr lvl="1"/>
            <a:r>
              <a:rPr lang="en-US" i="1" noProof="0" dirty="0"/>
              <a:t>imperative programming</a:t>
            </a:r>
            <a:r>
              <a:rPr lang="en-US" noProof="0" dirty="0"/>
              <a:t> focusing on sequences of statements changing the state of the program</a:t>
            </a:r>
          </a:p>
          <a:p>
            <a:pPr>
              <a:spcBef>
                <a:spcPts val="600"/>
              </a:spcBef>
            </a:pPr>
            <a:r>
              <a:rPr lang="en-US" noProof="0" dirty="0"/>
              <a:t>Core concepts are </a:t>
            </a:r>
            <a:r>
              <a:rPr lang="en-US" b="1" noProof="0" dirty="0">
                <a:solidFill>
                  <a:schemeClr val="accent1">
                    <a:lumMod val="50000"/>
                  </a:schemeClr>
                </a:solidFill>
              </a:rPr>
              <a:t>objects</a:t>
            </a:r>
            <a:r>
              <a:rPr lang="en-US" noProof="0" dirty="0"/>
              <a:t>,</a:t>
            </a:r>
            <a:r>
              <a:rPr lang="en-US" b="1" noProof="0" dirty="0">
                <a:solidFill>
                  <a:schemeClr val="accent1">
                    <a:lumMod val="50000"/>
                  </a:schemeClr>
                </a:solidFill>
              </a:rPr>
              <a:t> methods </a:t>
            </a:r>
            <a:r>
              <a:rPr lang="en-US" noProof="0" dirty="0"/>
              <a:t>and </a:t>
            </a:r>
            <a:r>
              <a:rPr lang="en-US" b="1" noProof="0" dirty="0">
                <a:solidFill>
                  <a:schemeClr val="accent1">
                    <a:lumMod val="50000"/>
                  </a:schemeClr>
                </a:solidFill>
              </a:rPr>
              <a:t>classes</a:t>
            </a:r>
            <a:r>
              <a:rPr lang="en-US" noProof="0" dirty="0"/>
              <a:t>, </a:t>
            </a:r>
          </a:p>
          <a:p>
            <a:pPr lvl="1"/>
            <a:r>
              <a:rPr lang="en-US" noProof="0" dirty="0"/>
              <a:t>allowing one to construct </a:t>
            </a:r>
            <a:r>
              <a:rPr lang="en-US" i="1" noProof="0" dirty="0"/>
              <a:t>abstract data types</a:t>
            </a:r>
            <a:r>
              <a:rPr lang="en-US" noProof="0" dirty="0"/>
              <a:t>, i.e. user </a:t>
            </a:r>
            <a:r>
              <a:rPr lang="en-US" i="1" noProof="0" dirty="0"/>
              <a:t>defined types</a:t>
            </a:r>
          </a:p>
          <a:p>
            <a:pPr lvl="1"/>
            <a:r>
              <a:rPr lang="en-US" noProof="0" dirty="0"/>
              <a:t>objects have states</a:t>
            </a:r>
          </a:p>
          <a:p>
            <a:pPr lvl="1"/>
            <a:r>
              <a:rPr lang="en-US" noProof="0" dirty="0"/>
              <a:t>methods manipulate objects, defining the interface of the object to the rest of the program</a:t>
            </a:r>
          </a:p>
          <a:p>
            <a:r>
              <a:rPr lang="en-US" noProof="0" dirty="0"/>
              <a:t>OO supported by </a:t>
            </a:r>
            <a:r>
              <a:rPr lang="en-US" noProof="0" dirty="0">
                <a:hlinkClick r:id="rId3"/>
              </a:rPr>
              <a:t>many programming languages</a:t>
            </a:r>
            <a:r>
              <a:rPr lang="en-US" noProof="0" dirty="0"/>
              <a:t>, including Python</a:t>
            </a:r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3888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062" y="-51865"/>
            <a:ext cx="10515600" cy="1325563"/>
          </a:xfrm>
        </p:spPr>
        <p:txBody>
          <a:bodyPr>
            <a:normAutofit/>
          </a:bodyPr>
          <a:lstStyle/>
          <a:p>
            <a:r>
              <a:rPr lang="en-US" noProof="0" dirty="0"/>
              <a:t>Object Oriented Programming - History</a:t>
            </a:r>
            <a:br>
              <a:rPr lang="en-US" noProof="0" dirty="0"/>
            </a:br>
            <a:r>
              <a:rPr lang="en-US" sz="2800" noProof="0" dirty="0"/>
              <a:t>(selected programming languages)</a:t>
            </a:r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4062" y="1273698"/>
            <a:ext cx="9022815" cy="5821465"/>
          </a:xfrm>
        </p:spPr>
        <p:txBody>
          <a:bodyPr>
            <a:normAutofit fontScale="92500" lnSpcReduction="20000"/>
          </a:bodyPr>
          <a:lstStyle/>
          <a:p>
            <a:pPr marL="1520825" indent="-1520825">
              <a:buNone/>
              <a:tabLst>
                <a:tab pos="1524000" algn="l"/>
                <a:tab pos="1789113" algn="l"/>
              </a:tabLst>
            </a:pPr>
            <a:r>
              <a:rPr lang="en-US" sz="2400" b="1" noProof="0" dirty="0">
                <a:solidFill>
                  <a:srgbClr val="C00000"/>
                </a:solidFill>
              </a:rPr>
              <a:t>Mid 1960’s</a:t>
            </a:r>
            <a:r>
              <a:rPr lang="en-US" sz="2400" noProof="0" dirty="0"/>
              <a:t>	</a:t>
            </a:r>
            <a:r>
              <a:rPr lang="en-US" sz="2400" b="1" noProof="0" dirty="0"/>
              <a:t>Simula 67</a:t>
            </a:r>
            <a:r>
              <a:rPr lang="en-US" sz="2400" noProof="0" dirty="0"/>
              <a:t> </a:t>
            </a:r>
          </a:p>
          <a:p>
            <a:pPr marL="1520825" indent="-1520825">
              <a:buNone/>
              <a:tabLst>
                <a:tab pos="1524000" algn="l"/>
                <a:tab pos="1789113" algn="l"/>
              </a:tabLst>
            </a:pPr>
            <a:r>
              <a:rPr lang="en-US" sz="2400" noProof="0" dirty="0"/>
              <a:t>	(Ole-Johan Dahl and Kristen Nygaard, Norsk </a:t>
            </a:r>
            <a:r>
              <a:rPr lang="en-US" sz="2400" noProof="0" dirty="0" err="1"/>
              <a:t>Regnesentral</a:t>
            </a:r>
            <a:r>
              <a:rPr lang="en-US" sz="2400" noProof="0" dirty="0"/>
              <a:t> Oslo)</a:t>
            </a:r>
          </a:p>
          <a:p>
            <a:pPr marL="0" lvl="1" indent="0">
              <a:buNone/>
              <a:tabLst>
                <a:tab pos="1524000" algn="l"/>
                <a:tab pos="1789113" algn="l"/>
              </a:tabLst>
            </a:pPr>
            <a:r>
              <a:rPr lang="en-US" noProof="0" dirty="0"/>
              <a:t>	Introduced classes, objects, virtual procedures</a:t>
            </a:r>
          </a:p>
          <a:p>
            <a:pPr marL="1520825" indent="-1520825">
              <a:spcBef>
                <a:spcPts val="1200"/>
              </a:spcBef>
              <a:buNone/>
              <a:tabLst>
                <a:tab pos="1524000" algn="l"/>
                <a:tab pos="1789113" algn="l"/>
              </a:tabLst>
            </a:pPr>
            <a:r>
              <a:rPr lang="en-US" sz="2400" b="1" noProof="0" dirty="0">
                <a:solidFill>
                  <a:srgbClr val="C00000"/>
                </a:solidFill>
              </a:rPr>
              <a:t>1970’s</a:t>
            </a:r>
            <a:r>
              <a:rPr lang="en-US" sz="2400" noProof="0" dirty="0"/>
              <a:t>	</a:t>
            </a:r>
            <a:r>
              <a:rPr lang="en-US" sz="2400" b="1" noProof="0" dirty="0"/>
              <a:t>Smalltalk</a:t>
            </a:r>
            <a:r>
              <a:rPr lang="en-US" sz="2400" noProof="0" dirty="0"/>
              <a:t> (Alan Kay, Dan Ingalls, Adele Goldberg, Xerox PARC)</a:t>
            </a:r>
          </a:p>
          <a:p>
            <a:pPr marL="1520825" lvl="1" indent="-1520825">
              <a:spcBef>
                <a:spcPts val="1200"/>
              </a:spcBef>
              <a:buNone/>
              <a:tabLst>
                <a:tab pos="1789113" algn="l"/>
              </a:tabLst>
            </a:pPr>
            <a:r>
              <a:rPr lang="en-US" noProof="0" dirty="0"/>
              <a:t>	Object-oriented programming, fully dynamic system </a:t>
            </a:r>
            <a:br>
              <a:rPr lang="en-US" noProof="0" dirty="0"/>
            </a:br>
            <a:r>
              <a:rPr lang="en-US" noProof="0" dirty="0"/>
              <a:t>(opposed to the static nature of Simula 67 )</a:t>
            </a:r>
          </a:p>
          <a:p>
            <a:pPr marL="1520825" lvl="1" indent="-1520825">
              <a:spcBef>
                <a:spcPts val="1200"/>
              </a:spcBef>
              <a:buNone/>
              <a:tabLst>
                <a:tab pos="1524000" algn="l"/>
                <a:tab pos="1789113" algn="l"/>
              </a:tabLst>
            </a:pPr>
            <a:r>
              <a:rPr lang="en-US" b="1" noProof="0" dirty="0">
                <a:solidFill>
                  <a:srgbClr val="C00000"/>
                </a:solidFill>
              </a:rPr>
              <a:t>1985</a:t>
            </a:r>
            <a:r>
              <a:rPr lang="en-US" noProof="0" dirty="0"/>
              <a:t>	</a:t>
            </a:r>
            <a:r>
              <a:rPr lang="en-US" b="1" noProof="0" dirty="0"/>
              <a:t>Eiffel</a:t>
            </a:r>
            <a:r>
              <a:rPr lang="en-US" noProof="0" dirty="0"/>
              <a:t> (Bertrand Meyer, Eiffel Software)</a:t>
            </a:r>
          </a:p>
          <a:p>
            <a:pPr marL="0" lvl="2" indent="0">
              <a:spcBef>
                <a:spcPts val="1200"/>
              </a:spcBef>
              <a:buNone/>
              <a:tabLst>
                <a:tab pos="1524000" algn="l"/>
                <a:tab pos="1789113" algn="l"/>
              </a:tabLst>
            </a:pPr>
            <a:r>
              <a:rPr lang="en-US" sz="2400" noProof="0" dirty="0"/>
              <a:t>	Focus on software quality, capturing the full software cycle</a:t>
            </a:r>
          </a:p>
          <a:p>
            <a:pPr marL="1520825" lvl="1" indent="-1520825">
              <a:spcBef>
                <a:spcPts val="1200"/>
              </a:spcBef>
              <a:buNone/>
              <a:tabLst>
                <a:tab pos="1524000" algn="l"/>
                <a:tab pos="1789113" algn="l"/>
              </a:tabLst>
            </a:pPr>
            <a:r>
              <a:rPr lang="en-US" b="1" noProof="0" dirty="0">
                <a:solidFill>
                  <a:srgbClr val="C00000"/>
                </a:solidFill>
              </a:rPr>
              <a:t>1985</a:t>
            </a:r>
            <a:r>
              <a:rPr lang="en-US" noProof="0" dirty="0"/>
              <a:t>	</a:t>
            </a:r>
            <a:r>
              <a:rPr lang="en-US" b="1" noProof="0" dirty="0"/>
              <a:t>C++</a:t>
            </a:r>
            <a:r>
              <a:rPr lang="en-US" noProof="0" dirty="0"/>
              <a:t> (Bjarne Stroustrup [MSc Aarhus 1975], AT&amp;T Bell Labs)</a:t>
            </a:r>
          </a:p>
          <a:p>
            <a:pPr marL="1520825" lvl="1" indent="-1520825">
              <a:spcBef>
                <a:spcPts val="1200"/>
              </a:spcBef>
              <a:buNone/>
              <a:tabLst>
                <a:tab pos="1524000" algn="l"/>
                <a:tab pos="1789113" algn="l"/>
              </a:tabLst>
            </a:pPr>
            <a:r>
              <a:rPr lang="en-US" b="1" noProof="0" dirty="0">
                <a:solidFill>
                  <a:srgbClr val="C00000"/>
                </a:solidFill>
              </a:rPr>
              <a:t>1995</a:t>
            </a:r>
            <a:r>
              <a:rPr lang="en-US" noProof="0" dirty="0"/>
              <a:t>	</a:t>
            </a:r>
            <a:r>
              <a:rPr lang="en-US" b="1" noProof="0" dirty="0"/>
              <a:t>Java</a:t>
            </a:r>
            <a:r>
              <a:rPr lang="en-US" noProof="0" dirty="0"/>
              <a:t> (James Gosling, Sun)</a:t>
            </a:r>
          </a:p>
          <a:p>
            <a:pPr marL="1520825" lvl="1" indent="-1520825">
              <a:spcBef>
                <a:spcPts val="1200"/>
              </a:spcBef>
              <a:buNone/>
              <a:tabLst>
                <a:tab pos="1524000" algn="l"/>
                <a:tab pos="1789113" algn="l"/>
              </a:tabLst>
            </a:pPr>
            <a:r>
              <a:rPr lang="en-US" b="1" noProof="0" dirty="0">
                <a:solidFill>
                  <a:srgbClr val="C00000"/>
                </a:solidFill>
              </a:rPr>
              <a:t>2000</a:t>
            </a:r>
            <a:r>
              <a:rPr lang="en-US" noProof="0" dirty="0"/>
              <a:t>	</a:t>
            </a:r>
            <a:r>
              <a:rPr lang="en-US" b="1" noProof="0" dirty="0"/>
              <a:t>C#</a:t>
            </a:r>
            <a:r>
              <a:rPr lang="en-US" noProof="0" dirty="0"/>
              <a:t> (Anders Hejlsberg (studied at DTU) et al., Microsoft)</a:t>
            </a:r>
          </a:p>
          <a:p>
            <a:pPr marL="1520825" lvl="1" indent="-1520825">
              <a:spcBef>
                <a:spcPts val="1200"/>
              </a:spcBef>
              <a:buAutoNum type="arabicPlain" startAt="1991"/>
              <a:tabLst>
                <a:tab pos="1524000" algn="l"/>
                <a:tab pos="1789113" algn="l"/>
              </a:tabLst>
            </a:pPr>
            <a:r>
              <a:rPr lang="en-US" b="1" noProof="0" dirty="0"/>
              <a:t>Python</a:t>
            </a:r>
            <a:r>
              <a:rPr lang="en-US" noProof="0" dirty="0"/>
              <a:t> (Guido van Rossum)</a:t>
            </a:r>
          </a:p>
          <a:p>
            <a:pPr marL="0" lvl="1" indent="0">
              <a:spcBef>
                <a:spcPts val="1200"/>
              </a:spcBef>
              <a:spcAft>
                <a:spcPts val="1200"/>
              </a:spcAft>
              <a:buNone/>
              <a:tabLst>
                <a:tab pos="1524000" algn="l"/>
                <a:tab pos="1789113" algn="l"/>
              </a:tabLst>
            </a:pPr>
            <a:r>
              <a:rPr lang="en-US" noProof="0" dirty="0"/>
              <a:t>	Multi-paradigm programming language, fully dynamic system</a:t>
            </a:r>
          </a:p>
          <a:p>
            <a:pPr marL="892175" lvl="1" indent="-892175">
              <a:spcBef>
                <a:spcPts val="1200"/>
              </a:spcBef>
              <a:buNone/>
              <a:tabLst>
                <a:tab pos="981075" algn="l"/>
                <a:tab pos="1789113" algn="l"/>
              </a:tabLst>
            </a:pPr>
            <a:r>
              <a:rPr lang="en-US" b="1" noProof="0" dirty="0"/>
              <a:t>Note</a:t>
            </a:r>
            <a:r>
              <a:rPr lang="en-US" noProof="0" dirty="0"/>
              <a:t>: 	Java, C++, Python, C# are among Top 5 on TIOBE March 2026 index of popular languages (only non-OO language among Top 5 was C)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878" y="2352197"/>
            <a:ext cx="2048685" cy="2755602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9716877" y="5107799"/>
            <a:ext cx="2048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>
                <a:solidFill>
                  <a:srgbClr val="C00000"/>
                </a:solidFill>
                <a:hlinkClick r:id="rId4"/>
              </a:rPr>
              <a:t>Byte Magazine, August 1981</a:t>
            </a:r>
            <a:endParaRPr lang="en-US" noProof="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4964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780" y="434399"/>
            <a:ext cx="10515600" cy="1325563"/>
          </a:xfrm>
        </p:spPr>
        <p:txBody>
          <a:bodyPr>
            <a:normAutofit/>
          </a:bodyPr>
          <a:lstStyle/>
          <a:p>
            <a:r>
              <a:rPr lang="en-US" noProof="0" dirty="0"/>
              <a:t>Design Patterns (not part of this course)</a:t>
            </a:r>
            <a:br>
              <a:rPr lang="en-US" noProof="0" dirty="0"/>
            </a:br>
            <a:r>
              <a:rPr lang="en-US" sz="3600" i="1" noProof="0" dirty="0" err="1"/>
              <a:t>reoccuring</a:t>
            </a:r>
            <a:r>
              <a:rPr lang="en-US" sz="3600" i="1" noProof="0" dirty="0"/>
              <a:t> patterns in software design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8268" y="2129294"/>
            <a:ext cx="2913602" cy="3368124"/>
          </a:xfrm>
        </p:spPr>
      </p:pic>
      <p:sp>
        <p:nvSpPr>
          <p:cNvPr id="5" name="TextBox 4"/>
          <p:cNvSpPr txBox="1"/>
          <p:nvPr/>
        </p:nvSpPr>
        <p:spPr>
          <a:xfrm>
            <a:off x="322780" y="5497418"/>
            <a:ext cx="2815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The Classic book 1994</a:t>
            </a:r>
          </a:p>
          <a:p>
            <a:pPr algn="ctr"/>
            <a:r>
              <a:rPr lang="en-US" noProof="0" dirty="0"/>
              <a:t>(C++ cookbook)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38268" y="5497418"/>
            <a:ext cx="30444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A very alternative book 2004</a:t>
            </a:r>
          </a:p>
          <a:p>
            <a:pPr algn="ctr"/>
            <a:r>
              <a:rPr lang="en-US" noProof="0" dirty="0"/>
              <a:t>(Java, very visual)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2980" y="2567568"/>
            <a:ext cx="1568987" cy="2479765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2699" y="2567569"/>
            <a:ext cx="1875130" cy="2479764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860" y="2566190"/>
            <a:ext cx="2014688" cy="2481143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125203" y="5047333"/>
            <a:ext cx="2110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Java cookbook 2003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5264" y="5047333"/>
            <a:ext cx="2110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Java textbook 2004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99935" y="5047333"/>
            <a:ext cx="2192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Java textbook 2010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780" y="2141525"/>
            <a:ext cx="2681805" cy="3355893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4408714" y="6310897"/>
            <a:ext cx="7557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noProof="0" dirty="0">
                <a:solidFill>
                  <a:srgbClr val="C00000"/>
                </a:solidFill>
              </a:rPr>
              <a:t>...and many more books on the topic of Design Patterns, also with Python</a:t>
            </a:r>
          </a:p>
        </p:txBody>
      </p:sp>
    </p:spTree>
    <p:extLst>
      <p:ext uri="{BB962C8B-B14F-4D97-AF65-F5344CB8AC3E}">
        <p14:creationId xmlns:p14="http://schemas.microsoft.com/office/powerpoint/2010/main" val="746149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703" y="467551"/>
            <a:ext cx="10515600" cy="1325563"/>
          </a:xfrm>
        </p:spPr>
        <p:txBody>
          <a:bodyPr/>
          <a:lstStyle/>
          <a:p>
            <a:r>
              <a:rPr lang="en-US" noProof="0" dirty="0"/>
              <a:t>Some known classes, objects, and methods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8332664"/>
              </p:ext>
            </p:extLst>
          </p:nvPr>
        </p:nvGraphicFramePr>
        <p:xfrm>
          <a:off x="159847" y="1939164"/>
          <a:ext cx="6950837" cy="222504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332992">
                  <a:extLst>
                    <a:ext uri="{9D8B030D-6E8A-4147-A177-3AD203B41FA5}">
                      <a16:colId xmlns:a16="http://schemas.microsoft.com/office/drawing/2014/main" val="3349743415"/>
                    </a:ext>
                  </a:extLst>
                </a:gridCol>
                <a:gridCol w="2176780">
                  <a:extLst>
                    <a:ext uri="{9D8B030D-6E8A-4147-A177-3AD203B41FA5}">
                      <a16:colId xmlns:a16="http://schemas.microsoft.com/office/drawing/2014/main" val="3302447303"/>
                    </a:ext>
                  </a:extLst>
                </a:gridCol>
                <a:gridCol w="3441065">
                  <a:extLst>
                    <a:ext uri="{9D8B030D-6E8A-4147-A177-3AD203B41FA5}">
                      <a16:colId xmlns:a16="http://schemas.microsoft.com/office/drawing/2014/main" val="20954204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Type / class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Objects</a:t>
                      </a:r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Methods (examples)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727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int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0</a:t>
                      </a:r>
                      <a:r>
                        <a:rPr lang="en-US" baseline="0" noProof="0" dirty="0"/>
                        <a:t> </a:t>
                      </a:r>
                      <a:r>
                        <a:rPr lang="en-US" noProof="0" dirty="0"/>
                        <a:t> -7  42</a:t>
                      </a:r>
                      <a:r>
                        <a:rPr lang="en-US" baseline="0" noProof="0" dirty="0"/>
                        <a:t> 1234567</a:t>
                      </a:r>
                      <a:endParaRPr lang="en-US" noProof="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.__add__(x),</a:t>
                      </a:r>
                      <a:r>
                        <a:rPr lang="en-US" baseline="0" noProof="0" dirty="0"/>
                        <a:t> .__eq__(x), .__str__()</a:t>
                      </a:r>
                      <a:endParaRPr lang="en-US" noProof="0" dirty="0"/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335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str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""</a:t>
                      </a:r>
                      <a:r>
                        <a:rPr lang="en-US" baseline="0" noProof="0" dirty="0"/>
                        <a:t> </a:t>
                      </a:r>
                      <a:r>
                        <a:rPr lang="en-US" noProof="0" dirty="0"/>
                        <a:t> '</a:t>
                      </a:r>
                      <a:r>
                        <a:rPr lang="en-US" noProof="0" dirty="0" err="1"/>
                        <a:t>abc</a:t>
                      </a:r>
                      <a:r>
                        <a:rPr lang="en-US" noProof="0" dirty="0"/>
                        <a:t>'  '12_ a'</a:t>
                      </a:r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.</a:t>
                      </a:r>
                      <a:r>
                        <a:rPr lang="en-US" noProof="0" dirty="0" err="1"/>
                        <a:t>isdigit</a:t>
                      </a:r>
                      <a:r>
                        <a:rPr lang="en-US" noProof="0" dirty="0"/>
                        <a:t>(), .lower(), .__</a:t>
                      </a:r>
                      <a:r>
                        <a:rPr lang="en-US" noProof="0" dirty="0" err="1"/>
                        <a:t>len</a:t>
                      </a:r>
                      <a:r>
                        <a:rPr lang="en-US" noProof="0" dirty="0"/>
                        <a:t>__()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7210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list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[]  [1,2,3]</a:t>
                      </a:r>
                      <a:r>
                        <a:rPr lang="en-US" baseline="0" noProof="0" dirty="0"/>
                        <a:t> </a:t>
                      </a:r>
                      <a:r>
                        <a:rPr lang="en-US" noProof="0" dirty="0"/>
                        <a:t> ['a', 'b', 'c']</a:t>
                      </a:r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.append(x), .clear(), .__</a:t>
                      </a:r>
                      <a:r>
                        <a:rPr lang="en-US" noProof="0" dirty="0" err="1"/>
                        <a:t>mul</a:t>
                      </a:r>
                      <a:r>
                        <a:rPr lang="en-US" noProof="0" dirty="0"/>
                        <a:t>__(x)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4015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 err="1"/>
                        <a:t>dict</a:t>
                      </a:r>
                      <a:endParaRPr lang="en-US" noProof="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{'foo' : 42, 'bar' : 5}</a:t>
                      </a:r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.keys(), .get(),</a:t>
                      </a:r>
                      <a:r>
                        <a:rPr lang="en-US" baseline="0" noProof="0" dirty="0"/>
                        <a:t> .__</a:t>
                      </a:r>
                      <a:r>
                        <a:rPr lang="en-US" baseline="0" noProof="0" dirty="0" err="1"/>
                        <a:t>getitem</a:t>
                      </a:r>
                      <a:r>
                        <a:rPr lang="en-US" baseline="0" noProof="0" dirty="0"/>
                        <a:t>__(x)</a:t>
                      </a:r>
                      <a:endParaRPr lang="en-US" noProof="0" dirty="0"/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366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 err="1"/>
                        <a:t>NoneType</a:t>
                      </a:r>
                      <a:endParaRPr lang="en-US" noProof="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None</a:t>
                      </a:r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.__str__()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780274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6342251"/>
              </p:ext>
            </p:extLst>
          </p:nvPr>
        </p:nvGraphicFramePr>
        <p:xfrm>
          <a:off x="7284540" y="1939164"/>
          <a:ext cx="4727893" cy="47306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7893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372017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229972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 + 7  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+ calls .__add__(7)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(5).__add__(7)  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eq. to 5 + 7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(7).__eq__(7)  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eq. to 7 == 7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True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aBCd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'.lower()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abcd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abcde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'.__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__()  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# .__</a:t>
                      </a:r>
                      <a:r>
                        <a:rPr lang="en-US" sz="1400" b="1" baseline="0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__() called by </a:t>
                      </a:r>
                      <a:r>
                        <a:rPr lang="en-US" sz="1400" b="1" baseline="0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(...)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['x', 'y'].__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mul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__(2)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['x', 'y', 'x', 'y']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{'foo' : 42}.__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getitem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__('foo')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# eq. to {'foo' : 42}['foo']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42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None.__str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__() 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# used by str(...)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'None'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abc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'.__str__(), '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abc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'.__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repr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__()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abc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"'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abc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'")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6" name="Content Placeholder 2"/>
          <p:cNvSpPr txBox="1">
            <a:spLocks/>
          </p:cNvSpPr>
          <p:nvPr/>
        </p:nvSpPr>
        <p:spPr>
          <a:xfrm>
            <a:off x="517198" y="4689296"/>
            <a:ext cx="6446340" cy="16466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7188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noProof="0" dirty="0"/>
              <a:t>Example</a:t>
            </a:r>
            <a:r>
              <a:rPr lang="en-US" sz="2000" noProof="0" dirty="0"/>
              <a:t>: </a:t>
            </a:r>
          </a:p>
          <a:p>
            <a:pPr marL="452438" indent="0">
              <a:buNone/>
            </a:pPr>
            <a:r>
              <a:rPr lang="en-US" sz="2000" noProof="0" dirty="0"/>
              <a:t>The function </a:t>
            </a:r>
            <a:r>
              <a:rPr lang="en-US" sz="2000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str(obj)</a:t>
            </a:r>
            <a:r>
              <a:rPr lang="en-US" sz="2000" noProof="0" dirty="0"/>
              <a:t> calls the methods </a:t>
            </a:r>
            <a:r>
              <a:rPr lang="en-US" sz="2000" noProof="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obj.__str</a:t>
            </a:r>
            <a:r>
              <a:rPr lang="en-US" sz="2000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  <a:r>
              <a:rPr lang="en-US" sz="2000" noProof="0" dirty="0"/>
              <a:t> or </a:t>
            </a:r>
            <a:r>
              <a:rPr lang="en-US" sz="2000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obj.__</a:t>
            </a:r>
            <a:r>
              <a:rPr lang="en-US" sz="2000" noProof="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repr</a:t>
            </a:r>
            <a:r>
              <a:rPr lang="en-US" sz="2000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  <a:r>
              <a:rPr lang="en-US" sz="2000" noProof="0" dirty="0"/>
              <a:t>, if </a:t>
            </a:r>
            <a:r>
              <a:rPr lang="en-US" sz="2000" noProof="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obj.__str</a:t>
            </a:r>
            <a:r>
              <a:rPr lang="en-US" sz="2000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sz="2000" noProof="0" dirty="0"/>
              <a:t> does not exist. </a:t>
            </a:r>
          </a:p>
          <a:p>
            <a:pPr marL="452438" indent="0">
              <a:buNone/>
            </a:pPr>
            <a:r>
              <a:rPr lang="en-US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2000" noProof="0" dirty="0"/>
              <a:t> calls </a:t>
            </a:r>
            <a:r>
              <a:rPr lang="en-US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sz="2000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2260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Classes and Objects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0161400"/>
              </p:ext>
            </p:extLst>
          </p:nvPr>
        </p:nvGraphicFramePr>
        <p:xfrm>
          <a:off x="1783023" y="2969555"/>
          <a:ext cx="2776855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685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827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 Student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4085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800" i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set_name</a:t>
                      </a:r>
                      <a:r>
                        <a:rPr lang="en-US" sz="1800" i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(name)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800" i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set_id</a:t>
                      </a:r>
                      <a:r>
                        <a:rPr lang="en-US" sz="1800" i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i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student_id</a:t>
                      </a:r>
                      <a:r>
                        <a:rPr lang="en-US" sz="1800" i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800" i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get_name</a:t>
                      </a:r>
                      <a:r>
                        <a:rPr lang="en-US" sz="1800" i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800" i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get_id</a:t>
                      </a:r>
                      <a:r>
                        <a:rPr lang="en-US" sz="1800" i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104346"/>
              </p:ext>
            </p:extLst>
          </p:nvPr>
        </p:nvGraphicFramePr>
        <p:xfrm>
          <a:off x="7190678" y="4624589"/>
          <a:ext cx="334069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069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529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student_SM</a:t>
                      </a:r>
                      <a:endParaRPr lang="en-US" sz="1800" b="0" i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3830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800" i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 = 'Scrooge McDuck'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800" b="0" i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id</a:t>
                      </a:r>
                      <a:r>
                        <a:rPr lang="en-US" sz="1800" b="0" i="0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'777'</a:t>
                      </a:r>
                      <a:endParaRPr lang="en-US" sz="1800" b="0" i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532039"/>
              </p:ext>
            </p:extLst>
          </p:nvPr>
        </p:nvGraphicFramePr>
        <p:xfrm>
          <a:off x="7190678" y="3381035"/>
          <a:ext cx="334069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069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741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student_MM</a:t>
                      </a:r>
                      <a:endParaRPr lang="en-US" sz="1800" b="0" i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6224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800" i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 = 'Mickey Mouse'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800" b="0" i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id</a:t>
                      </a:r>
                      <a:r>
                        <a:rPr lang="en-US" sz="1800" b="0" i="0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'243'</a:t>
                      </a:r>
                      <a:endParaRPr lang="en-US" sz="1800" b="0" i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9205231"/>
              </p:ext>
            </p:extLst>
          </p:nvPr>
        </p:nvGraphicFramePr>
        <p:xfrm>
          <a:off x="7190677" y="2137481"/>
          <a:ext cx="334069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069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547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student_DD</a:t>
                      </a:r>
                      <a:r>
                        <a:rPr lang="en-US" sz="1800" b="0" i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5204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800" i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 = 'Donald Duck'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800" b="0" i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id</a:t>
                      </a:r>
                      <a:r>
                        <a:rPr lang="en-US" sz="1800" b="0" i="0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'107'</a:t>
                      </a:r>
                      <a:endParaRPr lang="en-US" sz="1800" b="0" i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pSp>
        <p:nvGrpSpPr>
          <p:cNvPr id="27" name="Group 26"/>
          <p:cNvGrpSpPr/>
          <p:nvPr/>
        </p:nvGrpSpPr>
        <p:grpSpPr>
          <a:xfrm>
            <a:off x="4761181" y="2640401"/>
            <a:ext cx="1954924" cy="2246909"/>
            <a:chOff x="4603531" y="2640401"/>
            <a:chExt cx="2322786" cy="2246909"/>
          </a:xfrm>
        </p:grpSpPr>
        <p:cxnSp>
          <p:nvCxnSpPr>
            <p:cNvPr id="11" name="Straight Arrow Connector 10"/>
            <p:cNvCxnSpPr/>
            <p:nvPr/>
          </p:nvCxnSpPr>
          <p:spPr>
            <a:xfrm>
              <a:off x="4603531" y="3883955"/>
              <a:ext cx="2322786" cy="0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>
              <a:off x="4603531" y="4183500"/>
              <a:ext cx="2322786" cy="703810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 flipV="1">
              <a:off x="4603531" y="2640401"/>
              <a:ext cx="2322786" cy="1012328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/>
          <p:cNvSpPr txBox="1"/>
          <p:nvPr/>
        </p:nvSpPr>
        <p:spPr>
          <a:xfrm>
            <a:off x="4624546" y="5118536"/>
            <a:ext cx="24594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noProof="0" dirty="0">
                <a:solidFill>
                  <a:srgbClr val="C00000"/>
                </a:solidFill>
              </a:rPr>
              <a:t>creating </a:t>
            </a:r>
            <a:r>
              <a:rPr lang="en-US" sz="2400" b="1" noProof="0" dirty="0">
                <a:solidFill>
                  <a:srgbClr val="C00000"/>
                </a:solidFill>
              </a:rPr>
              <a:t>instances</a:t>
            </a:r>
            <a:r>
              <a:rPr lang="en-US" sz="2400" noProof="0" dirty="0">
                <a:solidFill>
                  <a:srgbClr val="C00000"/>
                </a:solidFill>
              </a:rPr>
              <a:t> of class </a:t>
            </a:r>
            <a:r>
              <a:rPr lang="en-US" sz="2400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 </a:t>
            </a:r>
            <a:r>
              <a:rPr lang="en-US" sz="2400" noProof="0" dirty="0">
                <a:solidFill>
                  <a:srgbClr val="C00000"/>
                </a:solidFill>
              </a:rPr>
              <a:t>using </a:t>
            </a:r>
            <a:r>
              <a:rPr lang="en-US" sz="2400" b="1" noProof="0" dirty="0">
                <a:solidFill>
                  <a:srgbClr val="C00000"/>
                </a:solidFill>
              </a:rPr>
              <a:t>constructor</a:t>
            </a:r>
            <a:r>
              <a:rPr lang="en-US" sz="2400" noProof="0" dirty="0">
                <a:solidFill>
                  <a:srgbClr val="C00000"/>
                </a:solidFill>
              </a:rPr>
              <a:t> </a:t>
            </a:r>
            <a:r>
              <a:rPr lang="en-US" sz="2400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75908" y="2404571"/>
            <a:ext cx="15014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C00000"/>
                </a:solidFill>
              </a:rPr>
              <a:t>data attributes</a:t>
            </a:r>
            <a:endParaRPr lang="en-US" sz="2400" noProof="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190677" y="1208615"/>
            <a:ext cx="33406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noProof="0" dirty="0">
                <a:solidFill>
                  <a:srgbClr val="C00000"/>
                </a:solidFill>
              </a:rPr>
              <a:t>objects</a:t>
            </a:r>
          </a:p>
          <a:p>
            <a:pPr algn="ctr"/>
            <a:r>
              <a:rPr lang="en-US" sz="2400" noProof="0" dirty="0">
                <a:solidFill>
                  <a:srgbClr val="C00000"/>
                </a:solidFill>
                <a:cs typeface="Courier New" panose="02070309020205020404" pitchFamily="49" charset="0"/>
              </a:rPr>
              <a:t>(instances)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53689" y="6376417"/>
            <a:ext cx="39274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noProof="0" dirty="0">
                <a:solidFill>
                  <a:schemeClr val="bg1">
                    <a:lumMod val="50000"/>
                  </a:schemeClr>
                </a:solidFill>
                <a:hlinkClick r:id="rId3"/>
              </a:rPr>
              <a:t>docs.python.org/3/tutorial/classes.html</a:t>
            </a:r>
            <a:endParaRPr lang="en-US" noProof="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Right Brace 21"/>
          <p:cNvSpPr/>
          <p:nvPr/>
        </p:nvSpPr>
        <p:spPr>
          <a:xfrm>
            <a:off x="10639273" y="2496820"/>
            <a:ext cx="136635" cy="646501"/>
          </a:xfrm>
          <a:prstGeom prst="rightBrace">
            <a:avLst>
              <a:gd name="adj1" fmla="val 41795"/>
              <a:gd name="adj2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1783023" y="1996003"/>
            <a:ext cx="2776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noProof="0" dirty="0">
                <a:solidFill>
                  <a:srgbClr val="C00000"/>
                </a:solidFill>
              </a:rPr>
              <a:t>class</a:t>
            </a:r>
          </a:p>
          <a:p>
            <a:pPr algn="ctr"/>
            <a:r>
              <a:rPr lang="en-US" sz="2400" noProof="0" dirty="0">
                <a:solidFill>
                  <a:srgbClr val="C00000"/>
                </a:solidFill>
              </a:rPr>
              <a:t>(type)</a:t>
            </a:r>
          </a:p>
        </p:txBody>
      </p:sp>
      <p:sp>
        <p:nvSpPr>
          <p:cNvPr id="28" name="Right Brace 27"/>
          <p:cNvSpPr/>
          <p:nvPr/>
        </p:nvSpPr>
        <p:spPr>
          <a:xfrm flipH="1">
            <a:off x="1477418" y="3338923"/>
            <a:ext cx="130665" cy="1321583"/>
          </a:xfrm>
          <a:prstGeom prst="rightBrace">
            <a:avLst>
              <a:gd name="adj1" fmla="val 41795"/>
              <a:gd name="adj2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9" name="TextBox 28"/>
          <p:cNvSpPr txBox="1"/>
          <p:nvPr/>
        </p:nvSpPr>
        <p:spPr>
          <a:xfrm>
            <a:off x="-23995" y="3571371"/>
            <a:ext cx="15014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noProof="0" dirty="0">
                <a:solidFill>
                  <a:srgbClr val="C00000"/>
                </a:solidFill>
              </a:rPr>
              <a:t>class  methods</a:t>
            </a:r>
            <a:endParaRPr lang="en-US" sz="2400" noProof="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9816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Using the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noProof="0" dirty="0"/>
              <a:t> class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4627206"/>
              </p:ext>
            </p:extLst>
          </p:nvPr>
        </p:nvGraphicFramePr>
        <p:xfrm>
          <a:off x="609173" y="1690688"/>
          <a:ext cx="6736080" cy="483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3608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student_DD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student_MM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student_SM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student_DD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.set_name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('Donald Duck')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student_DD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.set_id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('107')</a:t>
                      </a:r>
                    </a:p>
                    <a:p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student_MM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.set_name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('Mickey Mouse')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student_MM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.set_id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('243')</a:t>
                      </a:r>
                    </a:p>
                    <a:p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student_SM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.set_name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('Scrooge McDuck')</a:t>
                      </a:r>
                    </a:p>
                    <a:p>
                      <a:pPr>
                        <a:spcAft>
                          <a:spcPts val="1200"/>
                        </a:spcAft>
                      </a:pP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student_SM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.set_id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('777')</a:t>
                      </a:r>
                    </a:p>
                    <a:p>
                      <a:pPr>
                        <a:spcAft>
                          <a:spcPts val="1200"/>
                        </a:spcAft>
                      </a:pP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students = [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student_DD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student_MM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student_SM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student in students: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.get_name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(),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'has id',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.get_id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2323598"/>
              </p:ext>
            </p:extLst>
          </p:nvPr>
        </p:nvGraphicFramePr>
        <p:xfrm>
          <a:off x="7572278" y="1690688"/>
          <a:ext cx="399923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923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Donald Duck has id 107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Mickey Mouse has id 243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Scrooge McDuck has id 777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sp>
        <p:nvSpPr>
          <p:cNvPr id="6" name="Right Brace 5"/>
          <p:cNvSpPr/>
          <p:nvPr/>
        </p:nvSpPr>
        <p:spPr>
          <a:xfrm>
            <a:off x="7007950" y="2125617"/>
            <a:ext cx="133830" cy="740366"/>
          </a:xfrm>
          <a:prstGeom prst="rightBrace">
            <a:avLst>
              <a:gd name="adj1" fmla="val 41795"/>
              <a:gd name="adj2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Right Brace 6"/>
          <p:cNvSpPr/>
          <p:nvPr/>
        </p:nvSpPr>
        <p:spPr>
          <a:xfrm>
            <a:off x="7006547" y="3016251"/>
            <a:ext cx="161508" cy="1755446"/>
          </a:xfrm>
          <a:prstGeom prst="rightBrace">
            <a:avLst>
              <a:gd name="adj1" fmla="val 41795"/>
              <a:gd name="adj2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9" name="Straight Arrow Connector 8"/>
          <p:cNvCxnSpPr>
            <a:stCxn id="11" idx="1"/>
          </p:cNvCxnSpPr>
          <p:nvPr/>
        </p:nvCxnSpPr>
        <p:spPr>
          <a:xfrm flipH="1" flipV="1">
            <a:off x="7168055" y="2743200"/>
            <a:ext cx="1016876" cy="115506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184931" y="3298099"/>
            <a:ext cx="37022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C00000"/>
                </a:solidFill>
              </a:rPr>
              <a:t>Call </a:t>
            </a:r>
            <a:r>
              <a:rPr lang="en-US" sz="2400" b="1" noProof="0" dirty="0">
                <a:solidFill>
                  <a:srgbClr val="C00000"/>
                </a:solidFill>
              </a:rPr>
              <a:t>constructor</a:t>
            </a:r>
            <a:r>
              <a:rPr lang="en-US" sz="2400" noProof="0" dirty="0">
                <a:solidFill>
                  <a:srgbClr val="C00000"/>
                </a:solidFill>
              </a:rPr>
              <a:t> for class </a:t>
            </a:r>
            <a:r>
              <a:rPr lang="en-US" sz="2400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sz="2400" noProof="0" dirty="0">
                <a:solidFill>
                  <a:srgbClr val="C00000"/>
                </a:solidFill>
              </a:rPr>
              <a:t>. Each call returns a new </a:t>
            </a:r>
            <a:r>
              <a:rPr lang="en-US" sz="2400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sz="2400" noProof="0" dirty="0">
                <a:solidFill>
                  <a:srgbClr val="C00000"/>
                </a:solidFill>
              </a:rPr>
              <a:t> object.</a:t>
            </a:r>
            <a:endParaRPr lang="en-US" sz="2400" noProof="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2" name="Straight Arrow Connector 11"/>
          <p:cNvCxnSpPr>
            <a:stCxn id="14" idx="1"/>
          </p:cNvCxnSpPr>
          <p:nvPr/>
        </p:nvCxnSpPr>
        <p:spPr>
          <a:xfrm flipH="1" flipV="1">
            <a:off x="7298648" y="3976226"/>
            <a:ext cx="886283" cy="102397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84931" y="4584699"/>
            <a:ext cx="37022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C00000"/>
                </a:solidFill>
              </a:rPr>
              <a:t>Call class methods to set data attributes</a:t>
            </a:r>
            <a:endParaRPr lang="en-US" sz="2400" noProof="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 flipH="1" flipV="1">
            <a:off x="7279115" y="6011920"/>
            <a:ext cx="878743" cy="2388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157858" y="5671466"/>
            <a:ext cx="37022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C00000"/>
                </a:solidFill>
              </a:rPr>
              <a:t>Call class methods to read data attributes</a:t>
            </a:r>
            <a:endParaRPr lang="en-US" sz="2400" noProof="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Right Brace 17"/>
          <p:cNvSpPr/>
          <p:nvPr/>
        </p:nvSpPr>
        <p:spPr>
          <a:xfrm>
            <a:off x="7007950" y="5641737"/>
            <a:ext cx="133830" cy="740366"/>
          </a:xfrm>
          <a:prstGeom prst="rightBrace">
            <a:avLst>
              <a:gd name="adj1" fmla="val 41795"/>
              <a:gd name="adj2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33564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574079"/>
              </p:ext>
            </p:extLst>
          </p:nvPr>
        </p:nvGraphicFramePr>
        <p:xfrm>
          <a:off x="2913858" y="1315224"/>
          <a:ext cx="482473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2473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3387911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Student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'''Documentation of class.'''</a:t>
                      </a:r>
                    </a:p>
                    <a:p>
                      <a:endParaRPr lang="en-US" sz="1800" b="1" noProof="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set_name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name):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.name = name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set_id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student_id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.id =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student_id</a:t>
                      </a:r>
                      <a:endParaRPr lang="en-US" sz="18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get_name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.name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get_id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.id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214" y="124375"/>
            <a:ext cx="3912476" cy="1325563"/>
          </a:xfrm>
        </p:spPr>
        <p:txBody>
          <a:bodyPr/>
          <a:lstStyle/>
          <a:p>
            <a:r>
              <a:rPr lang="en-US" noProof="0" dirty="0"/>
              <a:t>class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04084" y="5779170"/>
            <a:ext cx="4351282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noProof="0" dirty="0"/>
              <a:t>Note</a:t>
            </a:r>
            <a:r>
              <a:rPr lang="en-US" noProof="0" dirty="0"/>
              <a:t> In other OO programming languages the explicit reference to </a:t>
            </a:r>
            <a:r>
              <a:rPr lang="en-US" b="1" noProof="0" dirty="0">
                <a:solidFill>
                  <a:schemeClr val="accent1">
                    <a:lumMod val="50000"/>
                  </a:schemeClr>
                </a:solidFill>
              </a:rPr>
              <a:t>self</a:t>
            </a:r>
            <a:r>
              <a:rPr lang="en-US" noProof="0" dirty="0"/>
              <a:t>  is not required (in Java and C++ </a:t>
            </a:r>
            <a:r>
              <a:rPr lang="en-US" b="1" noProof="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noProof="0" dirty="0"/>
              <a:t> is the keyword </a:t>
            </a:r>
            <a:r>
              <a:rPr lang="en-US" b="1" noProof="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noProof="0" dirty="0"/>
              <a:t>)</a:t>
            </a:r>
          </a:p>
        </p:txBody>
      </p:sp>
      <p:grpSp>
        <p:nvGrpSpPr>
          <p:cNvPr id="41" name="Group 40"/>
          <p:cNvGrpSpPr/>
          <p:nvPr/>
        </p:nvGrpSpPr>
        <p:grpSpPr>
          <a:xfrm>
            <a:off x="94537" y="2525555"/>
            <a:ext cx="2480441" cy="2945425"/>
            <a:chOff x="94537" y="2525555"/>
            <a:chExt cx="2480441" cy="2945425"/>
          </a:xfrm>
        </p:grpSpPr>
        <p:sp>
          <p:nvSpPr>
            <p:cNvPr id="9" name="Right Brace 8"/>
            <p:cNvSpPr/>
            <p:nvPr/>
          </p:nvSpPr>
          <p:spPr>
            <a:xfrm flipH="1">
              <a:off x="2444313" y="2525555"/>
              <a:ext cx="130665" cy="1321583"/>
            </a:xfrm>
            <a:prstGeom prst="rightBrace">
              <a:avLst>
                <a:gd name="adj1" fmla="val 41795"/>
                <a:gd name="adj2" fmla="val 50000"/>
              </a:avLst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4537" y="2586181"/>
              <a:ext cx="219758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noProof="0" dirty="0">
                  <a:solidFill>
                    <a:srgbClr val="C00000"/>
                  </a:solidFill>
                </a:rPr>
                <a:t>often called </a:t>
              </a:r>
              <a:r>
                <a:rPr lang="en-US" b="1" noProof="0" dirty="0">
                  <a:solidFill>
                    <a:srgbClr val="C00000"/>
                  </a:solidFill>
                </a:rPr>
                <a:t>mutator methods</a:t>
              </a:r>
              <a:r>
                <a:rPr lang="en-US" noProof="0" dirty="0">
                  <a:solidFill>
                    <a:srgbClr val="C00000"/>
                  </a:solidFill>
                </a:rPr>
                <a:t>, since they change the state of an object</a:t>
              </a:r>
              <a:endParaRPr lang="en-US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1" name="Right Brace 10"/>
            <p:cNvSpPr/>
            <p:nvPr/>
          </p:nvSpPr>
          <p:spPr>
            <a:xfrm flipH="1">
              <a:off x="2444313" y="4149397"/>
              <a:ext cx="130665" cy="1321583"/>
            </a:xfrm>
            <a:prstGeom prst="rightBrace">
              <a:avLst>
                <a:gd name="adj1" fmla="val 41795"/>
                <a:gd name="adj2" fmla="val 50000"/>
              </a:avLst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4537" y="4210023"/>
              <a:ext cx="219758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noProof="0" dirty="0">
                  <a:solidFill>
                    <a:srgbClr val="C00000"/>
                  </a:solidFill>
                </a:rPr>
                <a:t>often called </a:t>
              </a:r>
              <a:r>
                <a:rPr lang="en-US" b="1" noProof="0" dirty="0">
                  <a:solidFill>
                    <a:srgbClr val="C00000"/>
                  </a:solidFill>
                </a:rPr>
                <a:t>accessor methods</a:t>
              </a:r>
              <a:r>
                <a:rPr lang="en-US" noProof="0" dirty="0">
                  <a:solidFill>
                    <a:srgbClr val="C00000"/>
                  </a:solidFill>
                </a:rPr>
                <a:t>, since they only read the state of an object</a:t>
              </a:r>
              <a:endParaRPr lang="en-US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290706" y="1376074"/>
            <a:ext cx="2682787" cy="923330"/>
            <a:chOff x="290706" y="1376074"/>
            <a:chExt cx="2682787" cy="923330"/>
          </a:xfrm>
        </p:grpSpPr>
        <p:sp>
          <p:nvSpPr>
            <p:cNvPr id="25" name="TextBox 24"/>
            <p:cNvSpPr txBox="1"/>
            <p:nvPr/>
          </p:nvSpPr>
          <p:spPr>
            <a:xfrm>
              <a:off x="290706" y="1376074"/>
              <a:ext cx="248044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noProof="0" dirty="0">
                  <a:solidFill>
                    <a:srgbClr val="C00000"/>
                  </a:solidFill>
                </a:rPr>
                <a:t>class definitions start with the keyword </a:t>
              </a:r>
              <a:r>
                <a:rPr lang="en-US" b="1" noProof="0" dirty="0">
                  <a:solidFill>
                    <a:schemeClr val="accent1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class</a:t>
              </a:r>
              <a:r>
                <a:rPr lang="en-US" noProof="0" dirty="0">
                  <a:solidFill>
                    <a:srgbClr val="C00000"/>
                  </a:solidFill>
                </a:rPr>
                <a:t> </a:t>
              </a:r>
              <a:endParaRPr lang="en-US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5" name="Straight Arrow Connector 14"/>
            <p:cNvCxnSpPr>
              <a:cxnSpLocks/>
            </p:cNvCxnSpPr>
            <p:nvPr/>
          </p:nvCxnSpPr>
          <p:spPr>
            <a:xfrm>
              <a:off x="2111454" y="1858058"/>
              <a:ext cx="862039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/>
          <p:cNvGrpSpPr/>
          <p:nvPr/>
        </p:nvGrpSpPr>
        <p:grpSpPr>
          <a:xfrm>
            <a:off x="4647384" y="551385"/>
            <a:ext cx="3599156" cy="1195145"/>
            <a:chOff x="4699482" y="1041888"/>
            <a:chExt cx="3599156" cy="1195145"/>
          </a:xfrm>
        </p:grpSpPr>
        <p:sp>
          <p:nvSpPr>
            <p:cNvPr id="19" name="TextBox 18"/>
            <p:cNvSpPr txBox="1"/>
            <p:nvPr/>
          </p:nvSpPr>
          <p:spPr>
            <a:xfrm>
              <a:off x="4816431" y="1041888"/>
              <a:ext cx="34822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noProof="0" dirty="0">
                  <a:solidFill>
                    <a:srgbClr val="C00000"/>
                  </a:solidFill>
                </a:rPr>
                <a:t>name of class (followed by colon)</a:t>
              </a:r>
              <a:endParaRPr lang="en-US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grpSp>
          <p:nvGrpSpPr>
            <p:cNvPr id="24" name="Group 23"/>
            <p:cNvGrpSpPr/>
            <p:nvPr/>
          </p:nvGrpSpPr>
          <p:grpSpPr>
            <a:xfrm>
              <a:off x="4699482" y="1415797"/>
              <a:ext cx="466602" cy="821236"/>
              <a:chOff x="5105525" y="1764068"/>
              <a:chExt cx="394435" cy="844096"/>
            </a:xfrm>
          </p:grpSpPr>
          <p:cxnSp>
            <p:nvCxnSpPr>
              <p:cNvPr id="23" name="Straight Arrow Connector 22"/>
              <p:cNvCxnSpPr/>
              <p:nvPr/>
            </p:nvCxnSpPr>
            <p:spPr>
              <a:xfrm flipH="1">
                <a:off x="5105525" y="1764068"/>
                <a:ext cx="394435" cy="844096"/>
              </a:xfrm>
              <a:prstGeom prst="straightConnector1">
                <a:avLst/>
              </a:prstGeom>
              <a:ln w="19050">
                <a:solidFill>
                  <a:schemeClr val="accent5">
                    <a:lumMod val="20000"/>
                    <a:lumOff val="8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/>
              <p:cNvCxnSpPr/>
              <p:nvPr/>
            </p:nvCxnSpPr>
            <p:spPr>
              <a:xfrm flipH="1">
                <a:off x="5105525" y="1764068"/>
                <a:ext cx="394435" cy="844096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0" name="Group 39"/>
          <p:cNvGrpSpPr/>
          <p:nvPr/>
        </p:nvGrpSpPr>
        <p:grpSpPr>
          <a:xfrm>
            <a:off x="625423" y="5315136"/>
            <a:ext cx="5034397" cy="1311581"/>
            <a:chOff x="625423" y="5315136"/>
            <a:chExt cx="5034397" cy="1311581"/>
          </a:xfrm>
        </p:grpSpPr>
        <p:cxnSp>
          <p:nvCxnSpPr>
            <p:cNvPr id="28" name="Straight Arrow Connector 27"/>
            <p:cNvCxnSpPr/>
            <p:nvPr/>
          </p:nvCxnSpPr>
          <p:spPr>
            <a:xfrm flipV="1">
              <a:off x="3357998" y="5315136"/>
              <a:ext cx="257561" cy="629142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625423" y="5980386"/>
              <a:ext cx="503439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noProof="0" dirty="0">
                  <a:solidFill>
                    <a:srgbClr val="C00000"/>
                  </a:solidFill>
                </a:rPr>
                <a:t>class method definitions start with keyword </a:t>
              </a:r>
              <a:r>
                <a:rPr lang="en-US" b="1" noProof="0" dirty="0">
                  <a:solidFill>
                    <a:schemeClr val="accent1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def</a:t>
              </a:r>
              <a:r>
                <a:rPr lang="en-US" b="1" noProof="0" dirty="0">
                  <a:solidFill>
                    <a:schemeClr val="accent1">
                      <a:lumMod val="50000"/>
                    </a:schemeClr>
                  </a:solidFill>
                </a:rPr>
                <a:t> </a:t>
              </a:r>
              <a:r>
                <a:rPr lang="en-US" noProof="0" dirty="0">
                  <a:solidFill>
                    <a:srgbClr val="C00000"/>
                  </a:solidFill>
                </a:rPr>
                <a:t>(like normal function definitions)</a:t>
              </a:r>
              <a:endParaRPr lang="en-US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5959808" y="1864159"/>
            <a:ext cx="6232192" cy="1200329"/>
            <a:chOff x="5959808" y="1803202"/>
            <a:chExt cx="6232192" cy="1200329"/>
          </a:xfrm>
        </p:grpSpPr>
        <p:cxnSp>
          <p:nvCxnSpPr>
            <p:cNvPr id="26" name="Straight Arrow Connector 25"/>
            <p:cNvCxnSpPr/>
            <p:nvPr/>
          </p:nvCxnSpPr>
          <p:spPr>
            <a:xfrm flipH="1">
              <a:off x="5959808" y="2150593"/>
              <a:ext cx="2290813" cy="383112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>
              <a:off x="8246540" y="1803202"/>
              <a:ext cx="394546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noProof="0" dirty="0">
                  <a:solidFill>
                    <a:srgbClr val="C00000"/>
                  </a:solidFill>
                </a:rPr>
                <a:t>the first argument to all class methods is a reference to the object called upon, and by convention the first argument should be named </a:t>
              </a:r>
              <a:r>
                <a:rPr lang="en-US" b="1" noProof="0" dirty="0">
                  <a:solidFill>
                    <a:schemeClr val="accent1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self</a:t>
              </a:r>
              <a:r>
                <a:rPr lang="en-US" b="1" noProof="0" dirty="0">
                  <a:solidFill>
                    <a:schemeClr val="accent1">
                      <a:lumMod val="50000"/>
                    </a:schemeClr>
                  </a:solidFill>
                </a:rPr>
                <a:t> </a:t>
              </a:r>
              <a:r>
                <a:rPr lang="en-US" noProof="0" dirty="0">
                  <a:solidFill>
                    <a:srgbClr val="C00000"/>
                  </a:solidFill>
                </a:rPr>
                <a:t>.</a:t>
              </a:r>
              <a:endParaRPr lang="en-US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4699482" y="3064488"/>
            <a:ext cx="7355884" cy="998967"/>
            <a:chOff x="4699482" y="3003531"/>
            <a:chExt cx="7355884" cy="998967"/>
          </a:xfrm>
        </p:grpSpPr>
        <p:cxnSp>
          <p:nvCxnSpPr>
            <p:cNvPr id="33" name="Straight Arrow Connector 32"/>
            <p:cNvCxnSpPr/>
            <p:nvPr/>
          </p:nvCxnSpPr>
          <p:spPr>
            <a:xfrm flipH="1" flipV="1">
              <a:off x="4699482" y="3003531"/>
              <a:ext cx="3547058" cy="262087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>
            <a:xfrm>
              <a:off x="8246540" y="3079168"/>
              <a:ext cx="380882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noProof="0" dirty="0">
                  <a:solidFill>
                    <a:srgbClr val="C00000"/>
                  </a:solidFill>
                </a:rPr>
                <a:t>use </a:t>
              </a:r>
              <a:r>
                <a:rPr lang="en-US" b="1" noProof="0" dirty="0">
                  <a:solidFill>
                    <a:schemeClr val="accent1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self.</a:t>
              </a:r>
              <a:r>
                <a:rPr lang="en-US" noProof="0" dirty="0">
                  <a:solidFill>
                    <a:srgbClr val="C00000"/>
                  </a:solidFill>
                </a:rPr>
                <a:t> to access an attribute of an object or class method (attribute reference)</a:t>
              </a:r>
              <a:endParaRPr lang="en-US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79EBC16-68DA-4E82-8FAA-9AA5C3343F7A}"/>
              </a:ext>
            </a:extLst>
          </p:cNvPr>
          <p:cNvGrpSpPr/>
          <p:nvPr/>
        </p:nvGrpSpPr>
        <p:grpSpPr>
          <a:xfrm>
            <a:off x="7078016" y="787156"/>
            <a:ext cx="3959299" cy="1178064"/>
            <a:chOff x="4699482" y="1058969"/>
            <a:chExt cx="1566120" cy="1178064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B6C28E5-F5C8-487A-B19B-23CD331EF8CD}"/>
                </a:ext>
              </a:extLst>
            </p:cNvPr>
            <p:cNvSpPr txBox="1"/>
            <p:nvPr/>
          </p:nvSpPr>
          <p:spPr>
            <a:xfrm>
              <a:off x="5162114" y="1058969"/>
              <a:ext cx="1103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noProof="0" dirty="0">
                  <a:solidFill>
                    <a:srgbClr val="C00000"/>
                  </a:solidFill>
                </a:rPr>
                <a:t>docstring containing documentation for class</a:t>
              </a:r>
              <a:endParaRPr lang="en-US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F64D4BF0-D871-4525-A362-16BB4E26C535}"/>
                </a:ext>
              </a:extLst>
            </p:cNvPr>
            <p:cNvGrpSpPr/>
            <p:nvPr/>
          </p:nvGrpSpPr>
          <p:grpSpPr>
            <a:xfrm>
              <a:off x="4699482" y="1415797"/>
              <a:ext cx="466602" cy="821236"/>
              <a:chOff x="5105525" y="1764068"/>
              <a:chExt cx="394435" cy="844096"/>
            </a:xfrm>
          </p:grpSpPr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B9188330-EDB0-4B00-8449-F86B3BD57DED}"/>
                  </a:ext>
                </a:extLst>
              </p:cNvPr>
              <p:cNvCxnSpPr/>
              <p:nvPr/>
            </p:nvCxnSpPr>
            <p:spPr>
              <a:xfrm flipH="1">
                <a:off x="5105525" y="1764068"/>
                <a:ext cx="394435" cy="844096"/>
              </a:xfrm>
              <a:prstGeom prst="straightConnector1">
                <a:avLst/>
              </a:prstGeom>
              <a:ln w="19050">
                <a:solidFill>
                  <a:schemeClr val="accent5">
                    <a:lumMod val="20000"/>
                    <a:lumOff val="8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C8348190-5FBF-41D1-8ACA-82E778F7AA3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05525" y="1764068"/>
                <a:ext cx="394435" cy="844096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249989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When are object attributes initialized ?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6710285"/>
              </p:ext>
            </p:extLst>
          </p:nvPr>
        </p:nvGraphicFramePr>
        <p:xfrm>
          <a:off x="2582779" y="1920420"/>
          <a:ext cx="7958455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5845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Student()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x.set_name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("Gladstone Gander")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x.get_name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'Gladstone Gander'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x.get_id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AttributeError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'Student' object has no attribute 'id'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sp>
        <p:nvSpPr>
          <p:cNvPr id="6" name="Content Placeholder 2"/>
          <p:cNvSpPr txBox="1">
            <a:spLocks/>
          </p:cNvSpPr>
          <p:nvPr/>
        </p:nvSpPr>
        <p:spPr>
          <a:xfrm>
            <a:off x="529936" y="4643720"/>
            <a:ext cx="11132127" cy="18889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7188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 dirty="0"/>
              <a:t>Default </a:t>
            </a:r>
            <a:r>
              <a:rPr lang="en-US" noProof="0" dirty="0" err="1"/>
              <a:t>behaviour</a:t>
            </a:r>
            <a:r>
              <a:rPr lang="en-US" noProof="0" dirty="0"/>
              <a:t> of a class is that instances are created with no attributes defined, but has access to the attributes / methods of the class</a:t>
            </a:r>
            <a:endParaRPr lang="en-US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noProof="0" dirty="0"/>
              <a:t>In the previous class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noProof="0" dirty="0"/>
              <a:t> both the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noProof="0" dirty="0"/>
              <a:t> and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en-US" noProof="0" dirty="0"/>
              <a:t> attributes were first created when set by </a:t>
            </a:r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set_name</a:t>
            </a:r>
            <a:r>
              <a:rPr lang="en-US" noProof="0" dirty="0"/>
              <a:t> and </a:t>
            </a:r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set_id</a:t>
            </a:r>
            <a:r>
              <a:rPr lang="en-US" noProof="0" dirty="0"/>
              <a:t>, respectively</a:t>
            </a:r>
            <a:endParaRPr lang="en-US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4376" y="3317934"/>
            <a:ext cx="487666" cy="40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504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Class construction and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944322"/>
              </p:ext>
            </p:extLst>
          </p:nvPr>
        </p:nvGraphicFramePr>
        <p:xfrm>
          <a:off x="3374755" y="3946916"/>
          <a:ext cx="5530721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0721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54734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43325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Student: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init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(self):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self.name = None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self.id = None</a:t>
                      </a:r>
                    </a:p>
                    <a:p>
                      <a:endParaRPr lang="en-US" sz="1800" b="1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... 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previous method definitions ...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1825625"/>
            <a:ext cx="10603832" cy="1986354"/>
          </a:xfrm>
        </p:spPr>
        <p:txBody>
          <a:bodyPr>
            <a:normAutofit/>
          </a:bodyPr>
          <a:lstStyle/>
          <a:p>
            <a:r>
              <a:rPr lang="en-US" noProof="0" dirty="0"/>
              <a:t>When an object is created using </a:t>
            </a:r>
            <a:r>
              <a:rPr lang="en-US" i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class_name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noProof="0" dirty="0"/>
              <a:t>it’s initializer </a:t>
            </a:r>
            <a:r>
              <a:rPr lang="en-US" noProof="0" dirty="0" err="1"/>
              <a:t>metod</a:t>
            </a:r>
            <a:r>
              <a:rPr lang="en-US" noProof="0" dirty="0"/>
              <a:t>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noProof="0" dirty="0"/>
              <a:t> is called. </a:t>
            </a:r>
          </a:p>
          <a:p>
            <a:r>
              <a:rPr lang="en-US" noProof="0" dirty="0"/>
              <a:t>To initialize objects to contain default values, (re)define this function.</a:t>
            </a:r>
          </a:p>
        </p:txBody>
      </p:sp>
    </p:spTree>
    <p:extLst>
      <p:ext uri="{BB962C8B-B14F-4D97-AF65-F5344CB8AC3E}">
        <p14:creationId xmlns:p14="http://schemas.microsoft.com/office/powerpoint/2010/main" val="1233999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Question – What is printed ?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451273" y="2284229"/>
            <a:ext cx="2507672" cy="3355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7188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lphaLcParenR"/>
            </a:pPr>
            <a:r>
              <a:rPr lang="en-US" noProof="0" dirty="0"/>
              <a:t>1</a:t>
            </a:r>
          </a:p>
          <a:p>
            <a:pPr marL="514350" indent="-514350">
              <a:buFont typeface="+mj-lt"/>
              <a:buAutoNum type="alphaLcParenR"/>
            </a:pPr>
            <a:r>
              <a:rPr lang="en-US" noProof="0" dirty="0"/>
              <a:t>2</a:t>
            </a:r>
          </a:p>
          <a:p>
            <a:pPr marL="514350" indent="-514350">
              <a:buFont typeface="+mj-lt"/>
              <a:buAutoNum type="alphaLcParenR"/>
            </a:pPr>
            <a:r>
              <a:rPr lang="en-US" noProof="0" dirty="0"/>
              <a:t>3</a:t>
            </a:r>
          </a:p>
          <a:p>
            <a:pPr marL="514350" indent="-514350">
              <a:buFont typeface="+mj-lt"/>
              <a:buAutoNum type="alphaLcParenR"/>
            </a:pPr>
            <a:r>
              <a:rPr lang="en-US" noProof="0" dirty="0"/>
              <a:t>4</a:t>
            </a:r>
          </a:p>
          <a:p>
            <a:pPr marL="514350" indent="-514350">
              <a:buFont typeface="+mj-lt"/>
              <a:buAutoNum type="alphaLcParenR"/>
            </a:pPr>
            <a:r>
              <a:rPr lang="en-US" noProof="0" dirty="0"/>
              <a:t>5</a:t>
            </a:r>
          </a:p>
          <a:p>
            <a:pPr marL="514350" indent="-514350">
              <a:buFont typeface="+mj-lt"/>
              <a:buAutoNum type="alphaLcParenR"/>
            </a:pPr>
            <a:r>
              <a:rPr lang="en-US" noProof="0" dirty="0"/>
              <a:t>Don’t know</a:t>
            </a:r>
          </a:p>
        </p:txBody>
      </p:sp>
      <p:sp>
        <p:nvSpPr>
          <p:cNvPr id="5" name="Smiley Face 4" descr="QuizAnswer"/>
          <p:cNvSpPr/>
          <p:nvPr/>
        </p:nvSpPr>
        <p:spPr>
          <a:xfrm>
            <a:off x="7972797" y="3364699"/>
            <a:ext cx="374567" cy="363338"/>
          </a:xfrm>
          <a:prstGeom prst="smileyFace">
            <a:avLst>
              <a:gd name="adj" fmla="val 4653"/>
            </a:avLst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7026104"/>
              </p:ext>
            </p:extLst>
          </p:nvPr>
        </p:nvGraphicFramePr>
        <p:xfrm>
          <a:off x="1503595" y="2284229"/>
          <a:ext cx="4717096" cy="29657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7096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40545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229972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sz="18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__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init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__(self):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	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self.v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0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sz="18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f(self):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	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self.v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self.v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+ 1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	return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self.v</a:t>
                      </a:r>
                      <a:b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endParaRPr lang="en-US" sz="18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C()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x.f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+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x.f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7473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noProof="0" dirty="0"/>
              <a:t> with arguments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4043811"/>
              </p:ext>
            </p:extLst>
          </p:nvPr>
        </p:nvGraphicFramePr>
        <p:xfrm>
          <a:off x="648193" y="4338802"/>
          <a:ext cx="72821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218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54734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43325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Student: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init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(self,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name=None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student_id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=None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self.name = name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self.id =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student_id</a:t>
                      </a:r>
                      <a:endParaRPr lang="en-US" sz="1800" b="1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lang="en-US" sz="1800" b="1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... 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previous method definitions ...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1825625"/>
            <a:ext cx="10603832" cy="1986354"/>
          </a:xfrm>
        </p:spPr>
        <p:txBody>
          <a:bodyPr>
            <a:normAutofit/>
          </a:bodyPr>
          <a:lstStyle/>
          <a:p>
            <a:r>
              <a:rPr lang="en-US" noProof="0" dirty="0"/>
              <a:t>When creating objects using </a:t>
            </a:r>
            <a:r>
              <a:rPr lang="en-US" i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class_name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i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noProof="0" dirty="0"/>
              <a:t> the initializer method is called as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__(</a:t>
            </a:r>
            <a:r>
              <a:rPr lang="en-US" i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noProof="0" dirty="0"/>
          </a:p>
          <a:p>
            <a:r>
              <a:rPr lang="en-US" noProof="0" dirty="0"/>
              <a:t>To initialize objects to contain default values, (re)define this function to do the appropriate initialization</a:t>
            </a: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16306565"/>
              </p:ext>
            </p:extLst>
          </p:nvPr>
        </p:nvGraphicFramePr>
        <p:xfrm>
          <a:off x="8223559" y="4338802"/>
          <a:ext cx="3316605" cy="21094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66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1743739">
                <a:tc>
                  <a:txBody>
                    <a:bodyPr/>
                    <a:lstStyle/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 = Student('Pluto')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p.get_name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Pluto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p.get_id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None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8995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301" y="365125"/>
            <a:ext cx="10905499" cy="1325563"/>
          </a:xfrm>
        </p:spPr>
        <p:txBody>
          <a:bodyPr/>
          <a:lstStyle/>
          <a:p>
            <a:r>
              <a:rPr lang="en-US" noProof="0" dirty="0"/>
              <a:t>Are accessor and mutator methods necessary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6597" y="2021779"/>
            <a:ext cx="4964412" cy="525689"/>
          </a:xfrm>
        </p:spPr>
        <p:txBody>
          <a:bodyPr/>
          <a:lstStyle/>
          <a:p>
            <a:pPr marL="0" indent="0" algn="ctr">
              <a:buNone/>
            </a:pPr>
            <a:r>
              <a:rPr lang="en-US" noProof="0" dirty="0">
                <a:solidFill>
                  <a:schemeClr val="accent1">
                    <a:lumMod val="50000"/>
                  </a:schemeClr>
                </a:solidFill>
              </a:rPr>
              <a:t>No - but good programming style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701434"/>
              </p:ext>
            </p:extLst>
          </p:nvPr>
        </p:nvGraphicFramePr>
        <p:xfrm>
          <a:off x="6106380" y="1934528"/>
          <a:ext cx="5507355" cy="4642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735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40545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pair.py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229972">
                <a:tc>
                  <a:txBody>
                    <a:bodyPr/>
                    <a:lstStyle/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 Pair:</a:t>
                      </a:r>
                    </a:p>
                    <a:p>
                      <a:pPr marL="0" indent="0">
                        <a:spcAft>
                          <a:spcPts val="60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""" invariant: </a:t>
                      </a:r>
                      <a:r>
                        <a:rPr lang="en-US" sz="1800" b="1" baseline="0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the_sum</a:t>
                      </a:r>
                      <a:r>
                        <a:rPr lang="en-US" sz="18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a + b """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def __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init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__(self, a, b):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self.a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a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self.b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b</a:t>
                      </a:r>
                    </a:p>
                    <a:p>
                      <a:pPr marL="0" indent="0">
                        <a:spcAft>
                          <a:spcPts val="60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self.the_sum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self.a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+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self.b</a:t>
                      </a:r>
                      <a:endParaRPr lang="en-US" sz="18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def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set_a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(self, a):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self.a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a</a:t>
                      </a:r>
                    </a:p>
                    <a:p>
                      <a:pPr marL="0" indent="0">
                        <a:spcAft>
                          <a:spcPts val="60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self.the_sum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self.a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+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self.b</a:t>
                      </a:r>
                      <a:endParaRPr lang="en-US" sz="18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def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set_b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(self, b):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self.b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b</a:t>
                      </a:r>
                    </a:p>
                    <a:p>
                      <a:pPr marL="0" indent="0">
                        <a:spcAft>
                          <a:spcPts val="60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self.the_sum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self.a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+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self.b</a:t>
                      </a:r>
                      <a:endParaRPr lang="en-US" sz="18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def sum(self):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self.the_sum</a:t>
                      </a:r>
                      <a:endParaRPr lang="en-US" sz="18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891953"/>
              </p:ext>
            </p:extLst>
          </p:nvPr>
        </p:nvGraphicFramePr>
        <p:xfrm>
          <a:off x="448301" y="3101978"/>
          <a:ext cx="550100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10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 = Pair(3, 5)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p.sum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p.set_a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(4)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p.sum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p.a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access object attribute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p.b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0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update object attribute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p.sum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      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the_sum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not updated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grpSp>
        <p:nvGrpSpPr>
          <p:cNvPr id="13" name="Group 12"/>
          <p:cNvGrpSpPr/>
          <p:nvPr/>
        </p:nvGrpSpPr>
        <p:grpSpPr>
          <a:xfrm>
            <a:off x="6106381" y="2785947"/>
            <a:ext cx="500578" cy="3778718"/>
            <a:chOff x="5998093" y="2797979"/>
            <a:chExt cx="500578" cy="3778718"/>
          </a:xfrm>
        </p:grpSpPr>
        <p:sp>
          <p:nvSpPr>
            <p:cNvPr id="7" name="Right Brace 6"/>
            <p:cNvSpPr/>
            <p:nvPr/>
          </p:nvSpPr>
          <p:spPr>
            <a:xfrm flipH="1">
              <a:off x="6390671" y="4173886"/>
              <a:ext cx="108000" cy="1733624"/>
            </a:xfrm>
            <a:prstGeom prst="rightBrace">
              <a:avLst>
                <a:gd name="adj1" fmla="val 41795"/>
                <a:gd name="adj2" fmla="val 50000"/>
              </a:avLst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8" name="Right Brace 7"/>
            <p:cNvSpPr/>
            <p:nvPr/>
          </p:nvSpPr>
          <p:spPr>
            <a:xfrm flipH="1">
              <a:off x="6372513" y="3116181"/>
              <a:ext cx="126158" cy="892354"/>
            </a:xfrm>
            <a:prstGeom prst="rightBrace">
              <a:avLst>
                <a:gd name="adj1" fmla="val 41795"/>
                <a:gd name="adj2" fmla="val 50000"/>
              </a:avLst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9" name="Right Brace 8"/>
            <p:cNvSpPr/>
            <p:nvPr/>
          </p:nvSpPr>
          <p:spPr>
            <a:xfrm flipH="1">
              <a:off x="6372513" y="6108948"/>
              <a:ext cx="108000" cy="405904"/>
            </a:xfrm>
            <a:prstGeom prst="rightBrace">
              <a:avLst>
                <a:gd name="adj1" fmla="val 41795"/>
                <a:gd name="adj2" fmla="val 50000"/>
              </a:avLst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TextBox 9"/>
            <p:cNvSpPr txBox="1"/>
            <p:nvPr/>
          </p:nvSpPr>
          <p:spPr>
            <a:xfrm rot="16200000">
              <a:off x="5378522" y="3422639"/>
              <a:ext cx="16186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noProof="0" dirty="0">
                  <a:solidFill>
                    <a:srgbClr val="C00000"/>
                  </a:solidFill>
                </a:rPr>
                <a:t>constructor</a:t>
              </a:r>
              <a:endParaRPr lang="en-US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 rot="16200000">
              <a:off x="5640281" y="5849554"/>
              <a:ext cx="1084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noProof="0" dirty="0">
                  <a:solidFill>
                    <a:srgbClr val="C00000"/>
                  </a:solidFill>
                </a:rPr>
                <a:t>accessor</a:t>
              </a:r>
              <a:endParaRPr lang="en-US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 rot="16200000">
              <a:off x="5385056" y="4798545"/>
              <a:ext cx="16186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noProof="0" dirty="0">
                  <a:solidFill>
                    <a:srgbClr val="C00000"/>
                  </a:solidFill>
                </a:rPr>
                <a:t>mutator</a:t>
              </a:r>
              <a:endParaRPr lang="en-US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3564" y="6096916"/>
            <a:ext cx="487666" cy="40590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9311" y="5616284"/>
            <a:ext cx="487666" cy="40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791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Converting objects to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noProof="0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5572" y="1690689"/>
            <a:ext cx="8685628" cy="1488610"/>
          </a:xfrm>
        </p:spPr>
        <p:txBody>
          <a:bodyPr>
            <a:normAutofit/>
          </a:bodyPr>
          <a:lstStyle/>
          <a:p>
            <a:r>
              <a:rPr lang="en-US" sz="2400" noProof="0" dirty="0"/>
              <a:t>To be able to convert an object to a string using 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str(</a:t>
            </a:r>
            <a:r>
              <a:rPr lang="en-US" sz="2400" i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object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noProof="0" dirty="0"/>
              <a:t>, define the method 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__str__</a:t>
            </a:r>
            <a:endParaRPr lang="en-US" sz="2400" noProof="0" dirty="0"/>
          </a:p>
          <a:p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__str__</a:t>
            </a:r>
            <a:r>
              <a:rPr lang="en-US" sz="2400" noProof="0" dirty="0"/>
              <a:t>  is e.g. used by 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7235566"/>
              </p:ext>
            </p:extLst>
          </p:nvPr>
        </p:nvGraphicFramePr>
        <p:xfrm>
          <a:off x="1991703" y="3252357"/>
          <a:ext cx="8208594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08594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Student_constructor.py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Student: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__str__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(self):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return </a:t>
                      </a:r>
                      <a:r>
                        <a:rPr lang="en-US" sz="18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f"Student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('{self.name}', '{self.id}')"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... 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previous method definitions ...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student_DD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# without __str__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&lt;__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main__.Student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object at 0x03AB6B90&gt;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student_DD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# with __str__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Student('Donald Duck', '107')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0346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Defining order on instances of a class (sorting)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2309654"/>
            <a:ext cx="5192487" cy="2931432"/>
          </a:xfrm>
        </p:spPr>
        <p:txBody>
          <a:bodyPr>
            <a:normAutofit/>
          </a:bodyPr>
          <a:lstStyle/>
          <a:p>
            <a:r>
              <a:rPr lang="en-US" sz="2400" noProof="0" dirty="0"/>
              <a:t>To define an order on objects, define the “&lt;“ operator by defining 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sz="2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lt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</a:p>
          <a:p>
            <a:endParaRPr lang="en-US" sz="24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noProof="0" dirty="0"/>
              <a:t>When ”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noProof="0" dirty="0"/>
              <a:t>” is defined a list 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L</a:t>
            </a:r>
            <a:r>
              <a:rPr lang="en-US" sz="2400" noProof="0" dirty="0"/>
              <a:t> of students can be sorted using 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sorted(L)</a:t>
            </a:r>
            <a:r>
              <a:rPr lang="en-US" sz="2400" noProof="0" dirty="0"/>
              <a:t> and </a:t>
            </a:r>
            <a:r>
              <a:rPr lang="en-US" sz="2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L.sort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834742"/>
              </p:ext>
            </p:extLst>
          </p:nvPr>
        </p:nvGraphicFramePr>
        <p:xfrm>
          <a:off x="5992961" y="2309654"/>
          <a:ext cx="56438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4388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Student: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lt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(self, other):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self.id &lt; other.id</a:t>
                      </a:r>
                    </a:p>
                    <a:p>
                      <a:endParaRPr lang="en-US" sz="1800" b="1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... 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previous method definitions ...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student_DD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student_MM</a:t>
                      </a:r>
                      <a:endParaRPr lang="en-US" sz="18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True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[x.id for x in students]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['243', '107', '777']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[x.id for x in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sorted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(students)]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['107', '243', '777']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480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Nothing is private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6616" y="1792436"/>
            <a:ext cx="5834743" cy="4723458"/>
          </a:xfrm>
        </p:spPr>
        <p:txBody>
          <a:bodyPr>
            <a:normAutofit/>
          </a:bodyPr>
          <a:lstStyle/>
          <a:p>
            <a:pPr fontAlgn="ctr"/>
            <a:r>
              <a:rPr lang="en-US" noProof="0" dirty="0"/>
              <a:t>Python does not support </a:t>
            </a:r>
            <a:r>
              <a:rPr lang="en-US" b="1" noProof="0" dirty="0"/>
              <a:t>hiding information </a:t>
            </a:r>
            <a:r>
              <a:rPr lang="en-US" noProof="0" dirty="0"/>
              <a:t>inside objects </a:t>
            </a:r>
          </a:p>
          <a:p>
            <a:pPr fontAlgn="ctr"/>
            <a:r>
              <a:rPr lang="en-US" noProof="0" dirty="0"/>
              <a:t>Recommendation is to start attributes with underscore, if these should be used only locally inside a class, i.e. be considered ”private”</a:t>
            </a:r>
          </a:p>
          <a:p>
            <a:pPr marL="0" indent="0" fontAlgn="ctr">
              <a:buNone/>
            </a:pPr>
            <a:endParaRPr lang="en-US" noProof="0" dirty="0"/>
          </a:p>
          <a:p>
            <a:pPr fontAlgn="t"/>
            <a:r>
              <a:rPr lang="en-US" b="1" noProof="0" dirty="0">
                <a:solidFill>
                  <a:schemeClr val="accent1">
                    <a:lumMod val="50000"/>
                  </a:schemeClr>
                </a:solidFill>
              </a:rPr>
              <a:t>PEP8: “</a:t>
            </a:r>
            <a:r>
              <a:rPr lang="en-US" noProof="0" dirty="0">
                <a:solidFill>
                  <a:schemeClr val="accent1">
                    <a:lumMod val="50000"/>
                  </a:schemeClr>
                </a:solidFill>
              </a:rPr>
              <a:t>Use one leading underscore only for non-public methods and instance variables“</a:t>
            </a:r>
            <a:endParaRPr lang="en-US" b="1" noProof="0" dirty="0">
              <a:solidFill>
                <a:schemeClr val="accent1">
                  <a:lumMod val="50000"/>
                </a:schemeClr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2609941"/>
              </p:ext>
            </p:extLst>
          </p:nvPr>
        </p:nvGraphicFramePr>
        <p:xfrm>
          <a:off x="7189774" y="1486694"/>
          <a:ext cx="4669589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9589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private_attributes.py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My_Class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set_xy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(self, x, y):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self._x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x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self._y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y</a:t>
                      </a:r>
                    </a:p>
                    <a:p>
                      <a:endParaRPr lang="en-US" sz="18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get_sum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(self):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self._x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+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self._y</a:t>
                      </a:r>
                      <a:endParaRPr lang="en-US" sz="18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lang="en-US" sz="18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obj =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My_Class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obj.set_xy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(3, 5)</a:t>
                      </a:r>
                    </a:p>
                    <a:p>
                      <a:endParaRPr lang="en-US" sz="18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print('Sum =',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obj.get_sum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())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print('_x =',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obj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._x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Sum = 8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_x = 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5943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750" y="365125"/>
            <a:ext cx="4529447" cy="1325563"/>
          </a:xfrm>
        </p:spPr>
        <p:txBody>
          <a:bodyPr/>
          <a:lstStyle/>
          <a:p>
            <a:r>
              <a:rPr lang="en-US" noProof="0" dirty="0"/>
              <a:t>C++ private, public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092" y="1732574"/>
            <a:ext cx="4685368" cy="489372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noProof="0" dirty="0"/>
              <a:t>C++ vs Python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 argument types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 return types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noProof="0" dirty="0"/>
              <a:t> = </a:t>
            </a:r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NoneType</a:t>
            </a:r>
            <a:endParaRPr lang="en-US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 </a:t>
            </a:r>
            <a:r>
              <a:rPr lang="en-US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US" noProof="0" dirty="0"/>
              <a:t> / </a:t>
            </a:r>
            <a:r>
              <a:rPr lang="en-US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br>
              <a:rPr lang="en-US" noProof="0" dirty="0"/>
            </a:br>
            <a:r>
              <a:rPr lang="en-US" noProof="0" dirty="0"/>
              <a:t> access specifier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 types of data attributes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 data attributes must</a:t>
            </a:r>
            <a:br>
              <a:rPr lang="en-US" noProof="0" dirty="0"/>
            </a:br>
            <a:r>
              <a:rPr lang="en-US" noProof="0" dirty="0"/>
              <a:t> be defined in class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 object creation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 no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noProof="0" dirty="0"/>
              <a:t> in class methods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1149258"/>
              </p:ext>
            </p:extLst>
          </p:nvPr>
        </p:nvGraphicFramePr>
        <p:xfrm>
          <a:off x="5556737" y="365125"/>
          <a:ext cx="6326505" cy="617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65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54734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private_attributes.cpp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433253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#include &lt;iostream&gt;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using namespace std;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 </a:t>
                      </a:r>
                      <a:r>
                        <a:rPr lang="en-US" sz="18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My_Class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{</a:t>
                      </a:r>
                    </a:p>
                    <a:p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private: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int 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</a:p>
                    <a:p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public: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void </a:t>
                      </a:r>
                      <a:r>
                        <a:rPr lang="en-US" sz="18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set_xy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(int a, int b) {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x = a;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y = b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};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int </a:t>
                      </a:r>
                      <a:r>
                        <a:rPr lang="en-US" sz="18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get_sum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{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x + y;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};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};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main() {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8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My_Class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obj;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8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obj.</a:t>
                      </a:r>
                      <a:r>
                        <a:rPr lang="en-US" sz="18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set_xy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(3, 5);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8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cout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&lt;&lt; "Sum = " &lt;&lt; </a:t>
                      </a:r>
                      <a:r>
                        <a:rPr lang="en-US" sz="18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obj.</a:t>
                      </a:r>
                      <a:r>
                        <a:rPr lang="en-US" sz="18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get_sum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&lt;&lt; </a:t>
                      </a:r>
                      <a:r>
                        <a:rPr lang="en-US" sz="18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endl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8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cout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&lt;&lt; "x = " &lt;&lt; </a:t>
                      </a:r>
                      <a:r>
                        <a:rPr lang="en-US" sz="18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obj.</a:t>
                      </a:r>
                      <a:r>
                        <a:rPr lang="en-US" sz="18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&lt;&lt; </a:t>
                      </a:r>
                      <a:r>
                        <a:rPr lang="en-US" sz="18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endl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5" name="Oval 4"/>
          <p:cNvSpPr/>
          <p:nvPr/>
        </p:nvSpPr>
        <p:spPr>
          <a:xfrm>
            <a:off x="8811490" y="5925787"/>
            <a:ext cx="324000" cy="32400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9619270" y="6487596"/>
            <a:ext cx="1995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rgbClr val="C00000"/>
                </a:solidFill>
              </a:rPr>
              <a:t>invalid reference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9206999" y="6224131"/>
            <a:ext cx="400139" cy="37855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7640199" y="239832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noProof="0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5646299" y="371277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noProof="0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5709260" y="2084325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noProof="0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14" name="Oval 13"/>
          <p:cNvSpPr/>
          <p:nvPr/>
        </p:nvSpPr>
        <p:spPr>
          <a:xfrm>
            <a:off x="6634699" y="234752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noProof="0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5" name="Oval 14"/>
          <p:cNvSpPr/>
          <p:nvPr/>
        </p:nvSpPr>
        <p:spPr>
          <a:xfrm>
            <a:off x="6770249" y="179922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noProof="0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6" name="Oval 15"/>
          <p:cNvSpPr/>
          <p:nvPr/>
        </p:nvSpPr>
        <p:spPr>
          <a:xfrm>
            <a:off x="7185902" y="2084325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noProof="0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18" name="Oval 17"/>
          <p:cNvSpPr/>
          <p:nvPr/>
        </p:nvSpPr>
        <p:spPr>
          <a:xfrm>
            <a:off x="8631490" y="239832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noProof="0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19" name="Oval 18"/>
          <p:cNvSpPr/>
          <p:nvPr/>
        </p:nvSpPr>
        <p:spPr>
          <a:xfrm>
            <a:off x="5561897" y="262714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noProof="0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20" name="Oval 19"/>
          <p:cNvSpPr/>
          <p:nvPr/>
        </p:nvSpPr>
        <p:spPr>
          <a:xfrm>
            <a:off x="5698199" y="262758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noProof="0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21" name="Oval 20"/>
          <p:cNvSpPr/>
          <p:nvPr/>
        </p:nvSpPr>
        <p:spPr>
          <a:xfrm>
            <a:off x="5646299" y="518597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noProof="0" dirty="0">
                <a:solidFill>
                  <a:srgbClr val="C00000"/>
                </a:solidFill>
              </a:rPr>
              <a:t>7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7155" y="6367051"/>
            <a:ext cx="487666" cy="405904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7460199" y="3465967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noProof="0" dirty="0">
                <a:solidFill>
                  <a:srgbClr val="C00000"/>
                </a:solidFill>
              </a:rPr>
              <a:t>8</a:t>
            </a:r>
          </a:p>
        </p:txBody>
      </p:sp>
      <p:sp>
        <p:nvSpPr>
          <p:cNvPr id="24" name="Oval 23"/>
          <p:cNvSpPr/>
          <p:nvPr/>
        </p:nvSpPr>
        <p:spPr>
          <a:xfrm>
            <a:off x="7453094" y="239832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noProof="0" dirty="0">
                <a:solidFill>
                  <a:srgbClr val="C00000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8887337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114" y="402361"/>
            <a:ext cx="10515600" cy="1325563"/>
          </a:xfrm>
        </p:spPr>
        <p:txBody>
          <a:bodyPr/>
          <a:lstStyle/>
          <a:p>
            <a:r>
              <a:rPr lang="en-US" noProof="0" dirty="0"/>
              <a:t>Java private, public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5058952"/>
              </p:ext>
            </p:extLst>
          </p:nvPr>
        </p:nvGraphicFramePr>
        <p:xfrm>
          <a:off x="4865914" y="633548"/>
          <a:ext cx="7009130" cy="563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0913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54734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private_attributes.java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433253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 </a:t>
                      </a:r>
                      <a:r>
                        <a:rPr lang="en-US" sz="18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My_Class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{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private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int 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public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void </a:t>
                      </a:r>
                      <a:r>
                        <a:rPr lang="en-US" sz="18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set_xy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(int a, int b) {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x = a;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 = b;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}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public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int </a:t>
                      </a:r>
                      <a:r>
                        <a:rPr lang="en-US" sz="18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get_sum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{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return x + y; };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};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 </a:t>
                      </a:r>
                      <a:r>
                        <a:rPr lang="en-US" sz="18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private_attributes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{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public static void main(String </a:t>
                      </a:r>
                      <a:r>
                        <a:rPr lang="en-US" sz="18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[]){  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My_Class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obj = new </a:t>
                      </a:r>
                      <a:r>
                        <a:rPr lang="en-US" sz="18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My_Class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();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obj.</a:t>
                      </a:r>
                      <a:r>
                        <a:rPr lang="en-US" sz="18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set_xy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(3, 5);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System.out.println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("Sum = " + </a:t>
                      </a:r>
                      <a:r>
                        <a:rPr lang="en-US" sz="18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obj.</a:t>
                      </a:r>
                      <a:r>
                        <a:rPr lang="en-US" sz="18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get_sum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);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System.out.println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("x = " + </a:t>
                      </a:r>
                      <a:r>
                        <a:rPr lang="en-US" sz="18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obj.</a:t>
                      </a:r>
                      <a:r>
                        <a:rPr lang="en-US" sz="18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);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}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70114" y="1727924"/>
            <a:ext cx="4685368" cy="489372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noProof="0" dirty="0"/>
              <a:t>Java vs Python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 argument types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 return types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noProof="0" dirty="0"/>
              <a:t> = </a:t>
            </a:r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NoneType</a:t>
            </a:r>
            <a:endParaRPr lang="en-US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 </a:t>
            </a:r>
            <a:r>
              <a:rPr lang="en-US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US" noProof="0" dirty="0"/>
              <a:t> / </a:t>
            </a:r>
            <a:r>
              <a:rPr lang="en-US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br>
              <a:rPr lang="en-US" noProof="0" dirty="0"/>
            </a:br>
            <a:r>
              <a:rPr lang="en-US" noProof="0" dirty="0"/>
              <a:t> access specifier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 types of data attributes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 data attributes must</a:t>
            </a:r>
            <a:br>
              <a:rPr lang="en-US" noProof="0" dirty="0"/>
            </a:br>
            <a:r>
              <a:rPr lang="en-US" noProof="0" dirty="0"/>
              <a:t> be defined in class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 object creation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 no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noProof="0" dirty="0"/>
              <a:t> in class methods</a:t>
            </a:r>
          </a:p>
        </p:txBody>
      </p:sp>
      <p:sp>
        <p:nvSpPr>
          <p:cNvPr id="6" name="Oval 5"/>
          <p:cNvSpPr/>
          <p:nvPr/>
        </p:nvSpPr>
        <p:spPr>
          <a:xfrm>
            <a:off x="9769432" y="5228333"/>
            <a:ext cx="324000" cy="32400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7372951" y="5803394"/>
            <a:ext cx="1995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noProof="0" dirty="0">
                <a:solidFill>
                  <a:srgbClr val="C00000"/>
                </a:solidFill>
              </a:rPr>
              <a:t>invalid reference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9329057" y="5617938"/>
            <a:ext cx="366041" cy="28268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916470" y="1597735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noProof="0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6104797" y="1632575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noProof="0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6432552" y="1274932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noProof="0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12" name="Oval 11"/>
          <p:cNvSpPr/>
          <p:nvPr/>
        </p:nvSpPr>
        <p:spPr>
          <a:xfrm>
            <a:off x="4965482" y="1779111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noProof="0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4965482" y="1446616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noProof="0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4" name="Oval 13"/>
          <p:cNvSpPr/>
          <p:nvPr/>
        </p:nvSpPr>
        <p:spPr>
          <a:xfrm>
            <a:off x="7610548" y="1454311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noProof="0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15" name="Oval 14"/>
          <p:cNvSpPr/>
          <p:nvPr/>
        </p:nvSpPr>
        <p:spPr>
          <a:xfrm>
            <a:off x="8877980" y="1597735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noProof="0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16" name="Oval 15"/>
          <p:cNvSpPr/>
          <p:nvPr/>
        </p:nvSpPr>
        <p:spPr>
          <a:xfrm>
            <a:off x="6305976" y="262758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noProof="0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6283231" y="1632575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noProof="0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18" name="Oval 17"/>
          <p:cNvSpPr/>
          <p:nvPr/>
        </p:nvSpPr>
        <p:spPr>
          <a:xfrm>
            <a:off x="5239657" y="4231813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noProof="0" dirty="0">
                <a:solidFill>
                  <a:srgbClr val="C00000"/>
                </a:solidFill>
              </a:rPr>
              <a:t>7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5097" y="5669597"/>
            <a:ext cx="487666" cy="405904"/>
          </a:xfrm>
          <a:prstGeom prst="rect">
            <a:avLst/>
          </a:prstGeom>
        </p:spPr>
      </p:pic>
      <p:sp>
        <p:nvSpPr>
          <p:cNvPr id="22" name="Oval 21"/>
          <p:cNvSpPr/>
          <p:nvPr/>
        </p:nvSpPr>
        <p:spPr>
          <a:xfrm>
            <a:off x="4965482" y="2862179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noProof="0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20" name="Oval 19"/>
          <p:cNvSpPr/>
          <p:nvPr/>
        </p:nvSpPr>
        <p:spPr>
          <a:xfrm>
            <a:off x="7736470" y="262758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noProof="0" dirty="0">
                <a:solidFill>
                  <a:srgbClr val="C00000"/>
                </a:solidFill>
              </a:rPr>
              <a:t>8</a:t>
            </a:r>
          </a:p>
        </p:txBody>
      </p:sp>
      <p:sp>
        <p:nvSpPr>
          <p:cNvPr id="21" name="Oval 20"/>
          <p:cNvSpPr/>
          <p:nvPr/>
        </p:nvSpPr>
        <p:spPr>
          <a:xfrm>
            <a:off x="7724050" y="1591118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noProof="0" dirty="0">
                <a:solidFill>
                  <a:srgbClr val="C00000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7639604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Name mangling (partial privacy)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5987143" cy="4640489"/>
          </a:xfrm>
        </p:spPr>
        <p:txBody>
          <a:bodyPr>
            <a:normAutofit/>
          </a:bodyPr>
          <a:lstStyle/>
          <a:p>
            <a:r>
              <a:rPr lang="en-US" sz="2400" noProof="0" dirty="0"/>
              <a:t>Python handles references to class attributes inside a class definition with </a:t>
            </a:r>
            <a:r>
              <a:rPr lang="en-US" sz="2400" i="1" noProof="0" dirty="0"/>
              <a:t>at least two leading underscores and at most one trailing underscore</a:t>
            </a:r>
            <a:r>
              <a:rPr lang="en-US" sz="2400" noProof="0" dirty="0"/>
              <a:t> in a special way: 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sz="2400" i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attribute</a:t>
            </a:r>
            <a:r>
              <a:rPr lang="en-US" sz="2400" noProof="0" dirty="0"/>
              <a:t> is textually replaced by 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sz="2400" i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classname</a:t>
            </a:r>
            <a:r>
              <a:rPr lang="en-US" sz="2400" i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__attribute</a:t>
            </a:r>
          </a:p>
          <a:p>
            <a:endParaRPr lang="en-US" sz="2400" noProof="0" dirty="0"/>
          </a:p>
          <a:p>
            <a:r>
              <a:rPr lang="en-US" sz="2400" noProof="0" dirty="0"/>
              <a:t>Note that [Guttag, p. 200] states ”that attribute is not visible outside the class” – which only is partially correct (see example)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003274"/>
              </p:ext>
            </p:extLst>
          </p:nvPr>
        </p:nvGraphicFramePr>
        <p:xfrm>
          <a:off x="7091804" y="1825624"/>
          <a:ext cx="46103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1034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name_mangeling.py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MySecretBox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__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init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__(self, secret):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__secret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secret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MySecretBox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(42)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x.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__secret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en-US" sz="18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AttributeError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'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MySecretBox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 object has no attribute '__secret'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print(x.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MySecretBox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__secret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42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38152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Class attributes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556651"/>
              </p:ext>
            </p:extLst>
          </p:nvPr>
        </p:nvGraphicFramePr>
        <p:xfrm>
          <a:off x="2174526" y="2109584"/>
          <a:ext cx="2776855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685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827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 Student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4085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800" b="1" i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next_id</a:t>
                      </a:r>
                      <a:r>
                        <a:rPr lang="en-US" sz="1800" b="1" i="0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3</a:t>
                      </a:r>
                      <a:endParaRPr lang="en-US" sz="1800" b="1" i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800" i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set_name</a:t>
                      </a:r>
                      <a:r>
                        <a:rPr lang="en-US" sz="1800" i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(name)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800" i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set_id</a:t>
                      </a:r>
                      <a:r>
                        <a:rPr lang="en-US" sz="1800" i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i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student_id</a:t>
                      </a:r>
                      <a:r>
                        <a:rPr lang="en-US" sz="1800" i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800" i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get_name</a:t>
                      </a:r>
                      <a:r>
                        <a:rPr lang="en-US" sz="1800" i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800" i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get_id</a:t>
                      </a:r>
                      <a:r>
                        <a:rPr lang="en-US" sz="1800" i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053277"/>
              </p:ext>
            </p:extLst>
          </p:nvPr>
        </p:nvGraphicFramePr>
        <p:xfrm>
          <a:off x="6754502" y="2417008"/>
          <a:ext cx="334069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069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547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student_DD</a:t>
                      </a:r>
                      <a:r>
                        <a:rPr lang="en-US" sz="1800" b="0" i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5204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800" i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 = 'Donald Duck'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800" b="0" i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id</a:t>
                      </a:r>
                      <a:r>
                        <a:rPr lang="en-US" sz="1800" b="0" i="0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'2'</a:t>
                      </a:r>
                      <a:endParaRPr lang="en-US" sz="1800" b="0" i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cxnSp>
        <p:nvCxnSpPr>
          <p:cNvPr id="11" name="Straight Arrow Connector 10"/>
          <p:cNvCxnSpPr/>
          <p:nvPr/>
        </p:nvCxnSpPr>
        <p:spPr>
          <a:xfrm>
            <a:off x="5294198" y="3023984"/>
            <a:ext cx="1117487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339733" y="2684098"/>
            <a:ext cx="15014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C00000"/>
                </a:solidFill>
              </a:rPr>
              <a:t>data attributes</a:t>
            </a:r>
            <a:endParaRPr lang="en-US" sz="2400" noProof="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54502" y="1836486"/>
            <a:ext cx="3340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noProof="0" dirty="0">
                <a:solidFill>
                  <a:srgbClr val="C00000"/>
                </a:solidFill>
              </a:rPr>
              <a:t>object</a:t>
            </a:r>
            <a:endParaRPr lang="en-US" sz="2400" noProof="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2" name="Right Brace 21"/>
          <p:cNvSpPr/>
          <p:nvPr/>
        </p:nvSpPr>
        <p:spPr>
          <a:xfrm>
            <a:off x="10203098" y="2776345"/>
            <a:ext cx="136635" cy="646501"/>
          </a:xfrm>
          <a:prstGeom prst="rightBrace">
            <a:avLst>
              <a:gd name="adj1" fmla="val 41795"/>
              <a:gd name="adj2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2174526" y="1549597"/>
            <a:ext cx="27768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noProof="0" dirty="0">
                <a:solidFill>
                  <a:srgbClr val="C00000"/>
                </a:solidFill>
              </a:rPr>
              <a:t>class</a:t>
            </a:r>
            <a:endParaRPr lang="en-US" sz="2400" noProof="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8" name="Right Brace 27"/>
          <p:cNvSpPr/>
          <p:nvPr/>
        </p:nvSpPr>
        <p:spPr>
          <a:xfrm flipH="1">
            <a:off x="1929985" y="2547258"/>
            <a:ext cx="107906" cy="1711307"/>
          </a:xfrm>
          <a:prstGeom prst="rightBrace">
            <a:avLst>
              <a:gd name="adj1" fmla="val 41795"/>
              <a:gd name="adj2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9" name="TextBox 28"/>
          <p:cNvSpPr txBox="1"/>
          <p:nvPr/>
        </p:nvSpPr>
        <p:spPr>
          <a:xfrm>
            <a:off x="428572" y="2933693"/>
            <a:ext cx="15014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noProof="0" dirty="0">
                <a:solidFill>
                  <a:srgbClr val="C00000"/>
                </a:solidFill>
              </a:rPr>
              <a:t>class  attributes</a:t>
            </a:r>
            <a:endParaRPr lang="en-US" sz="2400" noProof="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4" name="Content Placeholder 2"/>
          <p:cNvSpPr>
            <a:spLocks noGrp="1"/>
          </p:cNvSpPr>
          <p:nvPr>
            <p:ph idx="1"/>
          </p:nvPr>
        </p:nvSpPr>
        <p:spPr>
          <a:xfrm>
            <a:off x="838200" y="4552008"/>
            <a:ext cx="10515600" cy="2305992"/>
          </a:xfrm>
        </p:spPr>
        <p:txBody>
          <a:bodyPr>
            <a:normAutofit fontScale="92500" lnSpcReduction="10000"/>
          </a:bodyPr>
          <a:lstStyle/>
          <a:p>
            <a:r>
              <a:rPr lang="en-US" i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</a:t>
            </a:r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i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attribute</a:t>
            </a:r>
            <a:r>
              <a:rPr lang="en-US" noProof="0" dirty="0"/>
              <a:t> first searches the objects attributes to find a match, if no match, continuous to search the attributes of the class</a:t>
            </a:r>
          </a:p>
          <a:p>
            <a:r>
              <a:rPr lang="en-US" noProof="0" dirty="0"/>
              <a:t>Assignments to </a:t>
            </a:r>
            <a:r>
              <a:rPr lang="en-US" i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</a:t>
            </a:r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i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attribute</a:t>
            </a:r>
            <a:r>
              <a:rPr lang="en-US" noProof="0" dirty="0"/>
              <a:t> are always to the objects attribute (possibly creating the attribute)</a:t>
            </a:r>
          </a:p>
          <a:p>
            <a:r>
              <a:rPr lang="en-US" noProof="0" dirty="0"/>
              <a:t>Class attributes can be </a:t>
            </a:r>
            <a:r>
              <a:rPr lang="en-US" noProof="0" dirty="0" err="1"/>
              <a:t>accesed</a:t>
            </a:r>
            <a:r>
              <a:rPr lang="en-US" noProof="0" dirty="0"/>
              <a:t> directly as </a:t>
            </a:r>
            <a:r>
              <a:rPr lang="en-US" i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i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attribute</a:t>
            </a:r>
            <a:br>
              <a:rPr lang="en-US" i="1" noProof="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noProof="0" dirty="0"/>
              <a:t>(or </a:t>
            </a:r>
            <a:r>
              <a:rPr lang="en-US" i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</a:t>
            </a:r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.__class__</a:t>
            </a:r>
            <a:r>
              <a:rPr lang="en-US" i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.attribute</a:t>
            </a:r>
            <a:r>
              <a:rPr lang="en-US" noProof="0" dirty="0"/>
              <a:t>)</a:t>
            </a:r>
            <a:endParaRPr lang="en-US" i="1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136404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5475514" cy="1325563"/>
          </a:xfrm>
        </p:spPr>
        <p:txBody>
          <a:bodyPr/>
          <a:lstStyle/>
          <a:p>
            <a:r>
              <a:rPr lang="en-US" noProof="0" dirty="0"/>
              <a:t>Class data attribute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36510"/>
            <a:ext cx="5301343" cy="5021489"/>
          </a:xfrm>
        </p:spPr>
        <p:txBody>
          <a:bodyPr>
            <a:normAutofit/>
          </a:bodyPr>
          <a:lstStyle/>
          <a:p>
            <a:r>
              <a:rPr lang="en-US" sz="2400" b="1" noProof="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next_id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noProof="0" dirty="0">
                <a:cs typeface="Courier New" panose="02070309020205020404" pitchFamily="49" charset="0"/>
              </a:rPr>
              <a:t>is a class attribute</a:t>
            </a:r>
          </a:p>
          <a:p>
            <a:r>
              <a:rPr lang="en-US" sz="2400" noProof="0" dirty="0">
                <a:cs typeface="Courier New" panose="02070309020205020404" pitchFamily="49" charset="0"/>
              </a:rPr>
              <a:t>Accessed using </a:t>
            </a:r>
            <a:r>
              <a:rPr lang="en-US" sz="2400" b="1" noProof="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Student.next_id</a:t>
            </a:r>
            <a:endParaRPr lang="en-US" sz="2400" b="1" noProof="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noProof="0" dirty="0">
                <a:cs typeface="Courier New" panose="02070309020205020404" pitchFamily="49" charset="0"/>
              </a:rPr>
              <a:t>The lookup     can be replaced with </a:t>
            </a:r>
            <a:r>
              <a:rPr lang="en-US" sz="2400" b="1" noProof="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sz="2400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400" b="1" noProof="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next_id</a:t>
            </a:r>
            <a:r>
              <a:rPr lang="en-US" sz="2400" noProof="0" dirty="0">
                <a:cs typeface="Courier New" panose="02070309020205020404" pitchFamily="49" charset="0"/>
              </a:rPr>
              <a:t>, since only the class has this attribute, looking up in the object will be propagated to a lookup in the class attributes</a:t>
            </a:r>
            <a:endParaRPr lang="en-US" sz="2400" noProof="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noProof="0" dirty="0">
                <a:cs typeface="Courier New" panose="02070309020205020404" pitchFamily="49" charset="0"/>
              </a:rPr>
              <a:t>In the update     it is crucial that we update the class attribute, since otherwise the incremented value will be assigned as an object attribute</a:t>
            </a:r>
          </a:p>
          <a:p>
            <a:pPr marL="0" indent="0">
              <a:buNone/>
              <a:tabLst>
                <a:tab pos="358775" algn="l"/>
              </a:tabLst>
            </a:pPr>
            <a:r>
              <a:rPr lang="en-US" sz="2400" noProof="0" dirty="0">
                <a:cs typeface="Courier New" panose="02070309020205020404" pitchFamily="49" charset="0"/>
              </a:rPr>
              <a:t>	(What will the result be?)</a:t>
            </a:r>
            <a:endParaRPr lang="en-US" sz="24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7267782"/>
              </p:ext>
            </p:extLst>
          </p:nvPr>
        </p:nvGraphicFramePr>
        <p:xfrm>
          <a:off x="6488706" y="195941"/>
          <a:ext cx="5507355" cy="647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735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student_auto_id.py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next_id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1  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class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attribute</a:t>
                      </a:r>
                      <a:endParaRPr lang="en-US" sz="18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init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name):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.name = name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.id = str(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Student.next_id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Student.next_id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+= 1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get_name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.name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get_id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.id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students = [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('Scrooge McDuck'),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('Donald Duck'),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('Mickey Mouse')]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student in students: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</a:t>
                      </a:r>
                      <a:r>
                        <a:rPr lang="en-US" sz="18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student.get_name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(),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"has student id",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</a:t>
                      </a:r>
                      <a:r>
                        <a:rPr lang="en-US" sz="18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student.get_id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002510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Scrooge McDuck has student id 1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Donald Duck has student id 2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Mickey Mouse has student id 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5356274"/>
                  </a:ext>
                </a:extLst>
              </a:tr>
            </a:tbl>
          </a:graphicData>
        </a:graphic>
      </p:graphicFrame>
      <p:sp>
        <p:nvSpPr>
          <p:cNvPr id="8" name="Oval 7"/>
          <p:cNvSpPr/>
          <p:nvPr/>
        </p:nvSpPr>
        <p:spPr>
          <a:xfrm>
            <a:off x="10485499" y="156803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noProof="0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7405433" y="2028866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noProof="0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2745757" y="2874316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noProof="0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3018490" y="4641438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noProof="0" dirty="0">
                <a:solidFill>
                  <a:srgbClr val="C0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8241425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Question – What does </a:t>
            </a:r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obj.get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noProof="0" dirty="0"/>
              <a:t> return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86599" y="2566677"/>
            <a:ext cx="4637316" cy="282257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US" noProof="0" dirty="0"/>
              <a:t>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pPr marL="514350" indent="-514350">
              <a:buFont typeface="+mj-lt"/>
              <a:buAutoNum type="alphaLcParenR"/>
            </a:pPr>
            <a:r>
              <a:rPr lang="en-US" noProof="0" dirty="0"/>
              <a:t>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pPr marL="514350" indent="-514350">
              <a:buFont typeface="+mj-lt"/>
              <a:buAutoNum type="alphaLcParenR"/>
            </a:pPr>
            <a:r>
              <a:rPr lang="en-US" noProof="0" dirty="0"/>
              <a:t>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pPr marL="514350" indent="-514350">
              <a:buFont typeface="+mj-lt"/>
              <a:buAutoNum type="alphaLcParenR"/>
            </a:pPr>
            <a:r>
              <a:rPr lang="en-US" noProof="0" dirty="0"/>
              <a:t> </a:t>
            </a:r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UnboundLocalError</a:t>
            </a:r>
            <a:endParaRPr lang="en-US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4350" indent="-514350">
              <a:buFont typeface="+mj-lt"/>
              <a:buAutoNum type="alphaLcParenR"/>
            </a:pPr>
            <a:r>
              <a:rPr lang="en-US" noProof="0" dirty="0"/>
              <a:t> Don’t know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217004"/>
              </p:ext>
            </p:extLst>
          </p:nvPr>
        </p:nvGraphicFramePr>
        <p:xfrm>
          <a:off x="958780" y="2222378"/>
          <a:ext cx="5178251" cy="3240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78251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40545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229972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MyClass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x = 2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endParaRPr lang="en-US" sz="18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</a:t>
                      </a:r>
                      <a:r>
                        <a:rPr lang="en-US" sz="18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get(</a:t>
                      </a:r>
                      <a:r>
                        <a:rPr lang="en-US" sz="18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</a:t>
                      </a:r>
                      <a:r>
                        <a:rPr lang="en-US" sz="1800" b="1" baseline="0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.x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800" b="1" baseline="0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.x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+ 1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return 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MyClass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.x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+ </a:t>
                      </a:r>
                      <a:r>
                        <a:rPr lang="en-US" sz="1800" b="1" baseline="0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.x</a:t>
                      </a:r>
                      <a:endParaRPr lang="en-US" sz="18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endParaRPr lang="en-US" sz="18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obj = 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MyClass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obj.get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?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5" name="Smiley Face 4" descr="QuizAnswer"/>
          <p:cNvSpPr/>
          <p:nvPr/>
        </p:nvSpPr>
        <p:spPr>
          <a:xfrm>
            <a:off x="6627174" y="3111330"/>
            <a:ext cx="374567" cy="363338"/>
          </a:xfrm>
          <a:prstGeom prst="smileyFace">
            <a:avLst>
              <a:gd name="adj" fmla="val 4653"/>
            </a:avLst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aphicFrame>
        <p:nvGraphicFramePr>
          <p:cNvPr id="6" name="Table 5" descr="QuizAnswer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1788272"/>
              </p:ext>
            </p:extLst>
          </p:nvPr>
        </p:nvGraphicFramePr>
        <p:xfrm>
          <a:off x="7256365" y="5462468"/>
          <a:ext cx="2230755" cy="115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075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946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 </a:t>
                      </a:r>
                      <a:r>
                        <a:rPr lang="en-US" sz="1800" b="0" i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MyClass</a:t>
                      </a:r>
                      <a:endParaRPr lang="en-US" sz="1800" b="0" i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4216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800" b="1" i="0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2</a:t>
                      </a:r>
                      <a:endParaRPr lang="en-US" sz="1800" b="1" i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800" i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get()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7" name="Table 6" descr="QuizAnswer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4801664"/>
              </p:ext>
            </p:extLst>
          </p:nvPr>
        </p:nvGraphicFramePr>
        <p:xfrm>
          <a:off x="10681355" y="5647884"/>
          <a:ext cx="865505" cy="7874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5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946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obj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4216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800" i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cxnSp>
        <p:nvCxnSpPr>
          <p:cNvPr id="8" name="Straight Arrow Connector 7" descr="QuizAnswer"/>
          <p:cNvCxnSpPr/>
          <p:nvPr/>
        </p:nvCxnSpPr>
        <p:spPr>
          <a:xfrm flipV="1">
            <a:off x="9594193" y="6041588"/>
            <a:ext cx="909833" cy="2222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 descr="QuizAnswer"/>
          <p:cNvSpPr/>
          <p:nvPr/>
        </p:nvSpPr>
        <p:spPr>
          <a:xfrm>
            <a:off x="10672903" y="6041587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Aft>
                <a:spcPts val="1200"/>
              </a:spcAft>
              <a:buClr>
                <a:schemeClr val="accent1">
                  <a:lumMod val="50000"/>
                </a:schemeClr>
              </a:buClr>
              <a:defRPr/>
            </a:pPr>
            <a:r>
              <a:rPr lang="en-US" b="1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3</a:t>
            </a:r>
          </a:p>
        </p:txBody>
      </p:sp>
    </p:spTree>
    <p:extLst>
      <p:ext uri="{BB962C8B-B14F-4D97-AF65-F5344CB8AC3E}">
        <p14:creationId xmlns:p14="http://schemas.microsoft.com/office/powerpoint/2010/main" val="825996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606204" cy="1325563"/>
          </a:xfrm>
        </p:spPr>
        <p:txBody>
          <a:bodyPr/>
          <a:lstStyle/>
          <a:p>
            <a:r>
              <a:rPr lang="en-US" noProof="0" dirty="0"/>
              <a:t>Class data attribute example (in Python)</a:t>
            </a:r>
            <a:endParaRPr lang="en-US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56626"/>
              </p:ext>
            </p:extLst>
          </p:nvPr>
        </p:nvGraphicFramePr>
        <p:xfrm>
          <a:off x="6892724" y="1847638"/>
          <a:ext cx="455168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168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70561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class_attributes.py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55905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My_Class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1  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class attribute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inc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My_Class.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8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</a:t>
                      </a:r>
                      <a:r>
                        <a:rPr lang="en-US" sz="18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+ 1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obj1 = </a:t>
                      </a:r>
                      <a:r>
                        <a:rPr lang="en-US" sz="18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My_Class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obj2 = </a:t>
                      </a:r>
                      <a:r>
                        <a:rPr lang="en-US" sz="18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My_Class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obj1.inc()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obj2.inc()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print(obj1.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obj2.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27056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941581"/>
                  </a:ext>
                </a:extLst>
              </a:tr>
              <a:tr h="270561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3 3</a:t>
                      </a:r>
                      <a:endParaRPr lang="en-US" sz="18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877464"/>
                  </a:ext>
                </a:extLst>
              </a:tr>
            </a:tbl>
          </a:graphicData>
        </a:graphic>
      </p:graphicFrame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163847" y="5965499"/>
            <a:ext cx="8004717" cy="892501"/>
          </a:xfrm>
        </p:spPr>
        <p:txBody>
          <a:bodyPr>
            <a:normAutofit/>
          </a:bodyPr>
          <a:lstStyle/>
          <a:p>
            <a:r>
              <a:rPr lang="en-US" sz="2000" noProof="0" dirty="0"/>
              <a:t>Note that </a:t>
            </a:r>
            <a:r>
              <a:rPr lang="en-US" sz="2000" noProof="0" dirty="0" err="1">
                <a:latin typeface="Courier New" panose="02070309020205020404" pitchFamily="49" charset="0"/>
              </a:rPr>
              <a:t>My_Class.x</a:t>
            </a:r>
            <a:r>
              <a:rPr lang="en-US" sz="2000" noProof="0" dirty="0"/>
              <a:t> and </a:t>
            </a:r>
            <a:r>
              <a:rPr lang="en-US" sz="2000" noProof="0" dirty="0" err="1">
                <a:latin typeface="Courier New" panose="02070309020205020404" pitchFamily="49" charset="0"/>
              </a:rPr>
              <a:t>self.x</a:t>
            </a:r>
            <a:r>
              <a:rPr lang="en-US" sz="2000" noProof="0" dirty="0"/>
              <a:t> refer to the same class attribute (since </a:t>
            </a:r>
            <a:r>
              <a:rPr lang="en-US" sz="2000" noProof="0" dirty="0" err="1">
                <a:latin typeface="Courier New" panose="02070309020205020404" pitchFamily="49" charset="0"/>
              </a:rPr>
              <a:t>self.x</a:t>
            </a:r>
            <a:r>
              <a:rPr lang="en-US" sz="2000" noProof="0" dirty="0">
                <a:latin typeface="Courier New" panose="02070309020205020404" pitchFamily="49" charset="0"/>
              </a:rPr>
              <a:t> </a:t>
            </a:r>
            <a:r>
              <a:rPr lang="en-US" sz="2000" noProof="0" dirty="0"/>
              <a:t>has never been assigned a value)</a:t>
            </a:r>
            <a:endParaRPr lang="en-US" sz="2000" noProof="0" dirty="0">
              <a:latin typeface="Courier New" panose="02070309020205020404" pitchFamily="49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097440"/>
              </p:ext>
            </p:extLst>
          </p:nvPr>
        </p:nvGraphicFramePr>
        <p:xfrm>
          <a:off x="1220167" y="3090825"/>
          <a:ext cx="2230755" cy="115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075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946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 </a:t>
                      </a:r>
                      <a:r>
                        <a:rPr lang="en-US" sz="1800" b="0" i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My_Class</a:t>
                      </a:r>
                      <a:endParaRPr lang="en-US" sz="1800" b="0" i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4216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800" b="1" i="0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1</a:t>
                      </a:r>
                      <a:endParaRPr lang="en-US" sz="1800" b="1" i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800" i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inc</a:t>
                      </a:r>
                      <a:r>
                        <a:rPr lang="en-US" sz="1800" i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3955442"/>
              </p:ext>
            </p:extLst>
          </p:nvPr>
        </p:nvGraphicFramePr>
        <p:xfrm>
          <a:off x="4778266" y="2652514"/>
          <a:ext cx="865505" cy="7874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5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946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obj1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4216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800" i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166917"/>
              </p:ext>
            </p:extLst>
          </p:nvPr>
        </p:nvGraphicFramePr>
        <p:xfrm>
          <a:off x="4780677" y="3984020"/>
          <a:ext cx="865505" cy="7874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5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946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obj2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4216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800" i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cxnSp>
        <p:nvCxnSpPr>
          <p:cNvPr id="9" name="Straight Arrow Connector 8"/>
          <p:cNvCxnSpPr/>
          <p:nvPr/>
        </p:nvCxnSpPr>
        <p:spPr>
          <a:xfrm flipV="1">
            <a:off x="3557995" y="3171463"/>
            <a:ext cx="1112390" cy="500704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3557995" y="3846200"/>
            <a:ext cx="1112390" cy="488519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07720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22691-6935-4323-BF7E-DD0D3FF82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dict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noProof="0" dirty="0">
                <a:solidFill>
                  <a:schemeClr val="tx1"/>
                </a:solidFill>
              </a:rPr>
              <a:t>,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__name__</a:t>
            </a:r>
            <a:r>
              <a:rPr lang="en-US" noProof="0" dirty="0">
                <a:solidFill>
                  <a:schemeClr val="tx1"/>
                </a:solidFill>
              </a:rPr>
              <a:t> and </a:t>
            </a:r>
            <a:r>
              <a:rPr lang="en-US" noProof="0" dirty="0"/>
              <a:t>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__class__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FAC4F92-C1E1-4968-8DE4-029350FF6B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712020"/>
              </p:ext>
            </p:extLst>
          </p:nvPr>
        </p:nvGraphicFramePr>
        <p:xfrm>
          <a:off x="177800" y="1876424"/>
          <a:ext cx="11842750" cy="481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4275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MM = Student('Mickey Mouse')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MM.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dict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                          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objects attributes</a:t>
                      </a:r>
                      <a:endParaRPr lang="en-US" sz="16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{'name': 'Mickey Mouse', 'id': '1'}</a:t>
                      </a:r>
                      <a:endParaRPr lang="en-US" sz="1600" b="1" baseline="0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MM.</a:t>
                      </a:r>
                      <a:r>
                        <a:rPr lang="en-US" sz="16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__class</a:t>
                      </a:r>
                      <a:r>
                        <a:rPr lang="en-US" sz="16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                         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objects class (reference to object of type class)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&lt;class '__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main__.Student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'&gt;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Student.</a:t>
                      </a:r>
                      <a:r>
                        <a:rPr lang="en-US" sz="16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__name</a:t>
                      </a:r>
                      <a:r>
                        <a:rPr lang="en-US" sz="16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                     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class name (string)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'Student'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Student.</a:t>
                      </a:r>
                      <a:r>
                        <a:rPr lang="en-US" sz="16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</a:t>
                      </a:r>
                      <a:r>
                        <a:rPr lang="en-US" sz="16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dict</a:t>
                      </a:r>
                      <a:r>
                        <a:rPr lang="en-US" sz="16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                     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class attributes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mappingproxy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({</a:t>
                      </a:r>
                      <a:b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'__module__': '__main__’,                                        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module where class defined</a:t>
                      </a:r>
                      <a:b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next_id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': 2,                                                    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class data </a:t>
                      </a:r>
                      <a:r>
                        <a:rPr lang="en-US" sz="1600" b="1" baseline="0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attriute</a:t>
                      </a:r>
                      <a:b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'__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init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__': &lt;function Student.__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init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 at 0x000002831344CD30&gt;,   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class method</a:t>
                      </a:r>
                      <a:b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get_name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': &lt;function 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Student.get_name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at 0x000002831344CE50&gt;,   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class method</a:t>
                      </a:r>
                      <a:b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get_id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': &lt;function 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Student.get_id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at 0x000002831344CEE0&gt;,       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class method</a:t>
                      </a:r>
                      <a:b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'__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dict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__': &lt;attribute '__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dict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__' of 'Student' objects&gt;,         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attributes of class</a:t>
                      </a:r>
                      <a:b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'__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weakref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__': &lt;attribute '__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weakref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__' of 'Student' objects&gt;,  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#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(for garbage collecting)</a:t>
                      </a:r>
                      <a:b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'__doc__': None                                                  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docstring</a:t>
                      </a:r>
                      <a:b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29563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332514" cy="1325563"/>
          </a:xfrm>
        </p:spPr>
        <p:txBody>
          <a:bodyPr/>
          <a:lstStyle/>
          <a:p>
            <a:r>
              <a:rPr lang="en-US" noProof="0" dirty="0"/>
              <a:t>Java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212771" cy="4351338"/>
          </a:xfrm>
        </p:spPr>
        <p:txBody>
          <a:bodyPr/>
          <a:lstStyle/>
          <a:p>
            <a:r>
              <a:rPr lang="en-US" noProof="0" dirty="0"/>
              <a:t>In Java </a:t>
            </a:r>
            <a:r>
              <a:rPr lang="en-US" i="1" noProof="0" dirty="0"/>
              <a:t>class attributes,</a:t>
            </a:r>
            <a:r>
              <a:rPr lang="en-US" noProof="0" dirty="0"/>
              <a:t> i.e. attribute values shared by all instances, are labeled </a:t>
            </a:r>
            <a:r>
              <a:rPr lang="en-US" b="1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</a:p>
          <a:p>
            <a:r>
              <a:rPr lang="en-US" noProof="0" dirty="0"/>
              <a:t>Python allows both class and instance attributes with the same name – in Java at most one of them can exist</a:t>
            </a:r>
            <a:endParaRPr lang="en-US" b="1" noProof="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987526"/>
              </p:ext>
            </p:extLst>
          </p:nvPr>
        </p:nvGraphicFramePr>
        <p:xfrm>
          <a:off x="5355771" y="807720"/>
          <a:ext cx="6189980" cy="5489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8998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71901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static_attributes.java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9195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My_Class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{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public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static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int x = 1;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public 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void </a:t>
                      </a:r>
                      <a:r>
                        <a:rPr lang="en-US" sz="18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inc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{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+= 1; };</a:t>
                      </a:r>
                    </a:p>
                    <a:p>
                      <a:pPr>
                        <a:spcAft>
                          <a:spcPts val="120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 </a:t>
                      </a:r>
                      <a:r>
                        <a:rPr lang="en-US" sz="18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static_attributes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{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public static void main(String </a:t>
                      </a:r>
                      <a:r>
                        <a:rPr lang="en-US" sz="18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[]){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My_Class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obj1 = new </a:t>
                      </a:r>
                      <a:r>
                        <a:rPr lang="en-US" sz="18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My_Class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();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My_Class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obj2 = new </a:t>
                      </a:r>
                      <a:r>
                        <a:rPr lang="en-US" sz="18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My_Class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();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 obj1.inc();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 obj2.inc();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 </a:t>
                      </a:r>
                      <a:r>
                        <a:rPr lang="en-US" sz="18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System.out.println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obj1.x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);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 </a:t>
                      </a:r>
                      <a:r>
                        <a:rPr lang="en-US" sz="18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System.out.println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obj2.x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);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}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7190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Java</a:t>
                      </a:r>
                      <a:r>
                        <a:rPr lang="en-US" sz="1800" b="1" baseline="0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output</a:t>
                      </a:r>
                      <a:endParaRPr lang="en-US" sz="1800" b="1" noProof="0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941581"/>
                  </a:ext>
                </a:extLst>
              </a:tr>
              <a:tr h="673604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sz="18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87746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2461369"/>
              </p:ext>
            </p:extLst>
          </p:nvPr>
        </p:nvGraphicFramePr>
        <p:xfrm>
          <a:off x="1730688" y="5738538"/>
          <a:ext cx="1325880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 </a:t>
                      </a:r>
                      <a:r>
                        <a:rPr lang="en-US" sz="1000" b="0" i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My_Class</a:t>
                      </a:r>
                      <a:endParaRPr lang="en-US" sz="1000" b="0" i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853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000" b="1" i="0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1</a:t>
                      </a:r>
                      <a:endParaRPr lang="en-US" sz="1000" b="1" i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000" i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inc</a:t>
                      </a:r>
                      <a:r>
                        <a:rPr lang="en-US" sz="1000" i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183418"/>
              </p:ext>
            </p:extLst>
          </p:nvPr>
        </p:nvGraphicFramePr>
        <p:xfrm>
          <a:off x="3755722" y="5564652"/>
          <a:ext cx="56388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8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obj1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000" i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3973219"/>
              </p:ext>
            </p:extLst>
          </p:nvPr>
        </p:nvGraphicFramePr>
        <p:xfrm>
          <a:off x="3758941" y="6190152"/>
          <a:ext cx="56388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8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obj2</a:t>
                      </a:r>
                      <a:endParaRPr lang="en-US" sz="1800" b="0" i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000" i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cxnSp>
        <p:nvCxnSpPr>
          <p:cNvPr id="8" name="Straight Arrow Connector 7"/>
          <p:cNvCxnSpPr/>
          <p:nvPr/>
        </p:nvCxnSpPr>
        <p:spPr>
          <a:xfrm flipV="1">
            <a:off x="3190769" y="5808493"/>
            <a:ext cx="472224" cy="24383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3190770" y="6233601"/>
            <a:ext cx="472223" cy="20039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22956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332514" cy="1325563"/>
          </a:xfrm>
        </p:spPr>
        <p:txBody>
          <a:bodyPr/>
          <a:lstStyle/>
          <a:p>
            <a:r>
              <a:rPr lang="en-US" noProof="0" dirty="0"/>
              <a:t>C++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37944"/>
            <a:ext cx="4212771" cy="4945289"/>
          </a:xfrm>
        </p:spPr>
        <p:txBody>
          <a:bodyPr>
            <a:normAutofit lnSpcReduction="10000"/>
          </a:bodyPr>
          <a:lstStyle/>
          <a:p>
            <a:r>
              <a:rPr lang="en-US" noProof="0" dirty="0"/>
              <a:t>In C++ </a:t>
            </a:r>
            <a:r>
              <a:rPr lang="en-US" i="1" noProof="0" dirty="0"/>
              <a:t>class attributes,</a:t>
            </a:r>
            <a:r>
              <a:rPr lang="en-US" noProof="0" dirty="0"/>
              <a:t> i.e. attribute values shared by all instances, are labeled </a:t>
            </a:r>
            <a:r>
              <a:rPr lang="en-US" b="1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</a:p>
          <a:p>
            <a:r>
              <a:rPr lang="en-US" noProof="0" dirty="0"/>
              <a:t>ISO C++ forbids in-class initialization of non-const static member</a:t>
            </a:r>
          </a:p>
          <a:p>
            <a:r>
              <a:rPr lang="en-US" noProof="0" dirty="0"/>
              <a:t>Python allows both class and instance attributes with the same name – in C++ at most one of them can exist</a:t>
            </a:r>
            <a:endParaRPr lang="en-US" b="1" noProof="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b="1" noProof="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03044"/>
              </p:ext>
            </p:extLst>
          </p:nvPr>
        </p:nvGraphicFramePr>
        <p:xfrm>
          <a:off x="5497286" y="535577"/>
          <a:ext cx="6189980" cy="6114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8998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71901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static_attributes.cpp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9195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#include &lt;iostream&gt;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using namespace std;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My_Class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{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public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static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int x; 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// "= 1" is not allowed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void </a:t>
                      </a:r>
                      <a:r>
                        <a:rPr lang="en-US" sz="18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inc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{ x += 1; };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};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 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My_Class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::x = 1; 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// class initialization</a:t>
                      </a:r>
                      <a:endParaRPr lang="en-US" sz="1800" b="1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 main(){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8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My_Class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obj1;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8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My_Class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obj2;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obj1.inc();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obj2.inc();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8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cout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&lt;&lt; 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obj1.x 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&lt;&lt; </a:t>
                      </a:r>
                      <a:r>
                        <a:rPr lang="en-US" sz="18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endl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8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cout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&lt;&lt; 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obj2.x 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&lt;&lt; </a:t>
                      </a:r>
                      <a:r>
                        <a:rPr lang="en-US" sz="18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endl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  <a:endParaRPr lang="en-US" sz="18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7190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C++</a:t>
                      </a:r>
                      <a:r>
                        <a:rPr lang="en-US" sz="1800" b="1" baseline="0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output</a:t>
                      </a:r>
                      <a:endParaRPr lang="en-US" sz="1800" b="1" noProof="0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941581"/>
                  </a:ext>
                </a:extLst>
              </a:tr>
              <a:tr h="673604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sz="18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87746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6887892"/>
              </p:ext>
            </p:extLst>
          </p:nvPr>
        </p:nvGraphicFramePr>
        <p:xfrm>
          <a:off x="1666211" y="5831619"/>
          <a:ext cx="1325880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 </a:t>
                      </a:r>
                      <a:r>
                        <a:rPr lang="en-US" sz="1000" b="0" i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My_Class</a:t>
                      </a:r>
                      <a:endParaRPr lang="en-US" sz="1000" b="0" i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853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000" b="1" i="0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1</a:t>
                      </a:r>
                      <a:endParaRPr lang="en-US" sz="1000" b="1" i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000" i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inc</a:t>
                      </a:r>
                      <a:r>
                        <a:rPr lang="en-US" sz="1000" i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3551873"/>
              </p:ext>
            </p:extLst>
          </p:nvPr>
        </p:nvGraphicFramePr>
        <p:xfrm>
          <a:off x="3691245" y="5657733"/>
          <a:ext cx="56388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8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obj1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000" i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9582861"/>
              </p:ext>
            </p:extLst>
          </p:nvPr>
        </p:nvGraphicFramePr>
        <p:xfrm>
          <a:off x="3694464" y="6283233"/>
          <a:ext cx="56388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8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obj2</a:t>
                      </a:r>
                      <a:endParaRPr lang="en-US" sz="1800" b="0" i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000" i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cxnSp>
        <p:nvCxnSpPr>
          <p:cNvPr id="8" name="Straight Arrow Connector 7"/>
          <p:cNvCxnSpPr/>
          <p:nvPr/>
        </p:nvCxnSpPr>
        <p:spPr>
          <a:xfrm flipV="1">
            <a:off x="3126292" y="5901574"/>
            <a:ext cx="472224" cy="24383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3126293" y="6326682"/>
            <a:ext cx="472223" cy="20039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40956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07975"/>
            <a:ext cx="10515600" cy="1325563"/>
          </a:xfrm>
        </p:spPr>
        <p:txBody>
          <a:bodyPr/>
          <a:lstStyle/>
          <a:p>
            <a:r>
              <a:rPr lang="en-US" noProof="0" dirty="0"/>
              <a:t>Constants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A simple usage of class data attributes is to store a set of constants (but there is nothing preventing anyone to chance these values)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5641428"/>
              </p:ext>
            </p:extLst>
          </p:nvPr>
        </p:nvGraphicFramePr>
        <p:xfrm>
          <a:off x="4386897" y="3350678"/>
          <a:ext cx="3418205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82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31857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275215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 Color: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RED   </a:t>
                      </a:r>
                      <a:r>
                        <a:rPr lang="en-US" sz="1800" b="1" baseline="0" noProof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"ff0000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GREEN = "00ff00"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BLUE  = "0000ff"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Color.RED</a:t>
                      </a:r>
                      <a:endParaRPr lang="en-US" sz="18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'ff0000'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21881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02063"/>
            <a:ext cx="11016343" cy="1325563"/>
          </a:xfrm>
        </p:spPr>
        <p:txBody>
          <a:bodyPr/>
          <a:lstStyle/>
          <a:p>
            <a:r>
              <a:rPr lang="en-US" noProof="0" dirty="0"/>
              <a:t>PEP8 Style Guide for Python Code (some quotes)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18669"/>
          </a:xfrm>
        </p:spPr>
        <p:txBody>
          <a:bodyPr>
            <a:normAutofit/>
          </a:bodyPr>
          <a:lstStyle/>
          <a:p>
            <a:r>
              <a:rPr lang="en-US" noProof="0" dirty="0">
                <a:solidFill>
                  <a:schemeClr val="accent1">
                    <a:lumMod val="50000"/>
                  </a:schemeClr>
                </a:solidFill>
              </a:rPr>
              <a:t>Class names</a:t>
            </a:r>
            <a:r>
              <a:rPr lang="en-US" noProof="0" dirty="0"/>
              <a:t> should normally use the </a:t>
            </a:r>
            <a:r>
              <a:rPr lang="en-US" noProof="0" dirty="0" err="1">
                <a:solidFill>
                  <a:schemeClr val="accent1">
                    <a:lumMod val="50000"/>
                  </a:schemeClr>
                </a:solidFill>
              </a:rPr>
              <a:t>CapWords</a:t>
            </a:r>
            <a:r>
              <a:rPr lang="en-US" noProof="0" dirty="0"/>
              <a:t> convention.</a:t>
            </a:r>
          </a:p>
          <a:p>
            <a:r>
              <a:rPr lang="en-US" noProof="0" dirty="0"/>
              <a:t>Always use </a:t>
            </a:r>
            <a:r>
              <a:rPr lang="en-US" noProof="0" dirty="0">
                <a:solidFill>
                  <a:schemeClr val="accent1">
                    <a:lumMod val="50000"/>
                  </a:schemeClr>
                </a:solidFill>
              </a:rPr>
              <a:t>self</a:t>
            </a:r>
            <a:r>
              <a:rPr lang="en-US" noProof="0" dirty="0"/>
              <a:t> for the first argument to instance methods.</a:t>
            </a:r>
          </a:p>
          <a:p>
            <a:r>
              <a:rPr lang="en-US" noProof="0" dirty="0"/>
              <a:t>Use one </a:t>
            </a:r>
            <a:r>
              <a:rPr lang="en-US" noProof="0" dirty="0">
                <a:solidFill>
                  <a:schemeClr val="accent1">
                    <a:lumMod val="50000"/>
                  </a:schemeClr>
                </a:solidFill>
              </a:rPr>
              <a:t>leading underscore </a:t>
            </a:r>
            <a:r>
              <a:rPr lang="en-US" noProof="0" dirty="0"/>
              <a:t>only for </a:t>
            </a:r>
            <a:r>
              <a:rPr lang="en-US" noProof="0" dirty="0">
                <a:solidFill>
                  <a:schemeClr val="accent1">
                    <a:lumMod val="50000"/>
                  </a:schemeClr>
                </a:solidFill>
              </a:rPr>
              <a:t>non-public methods and instance </a:t>
            </a:r>
            <a:r>
              <a:rPr lang="en-US" noProof="0" dirty="0"/>
              <a:t>variables.</a:t>
            </a:r>
          </a:p>
          <a:p>
            <a:r>
              <a:rPr lang="en-US" noProof="0" dirty="0"/>
              <a:t>For </a:t>
            </a:r>
            <a:r>
              <a:rPr lang="en-US" noProof="0" dirty="0">
                <a:solidFill>
                  <a:schemeClr val="accent1">
                    <a:lumMod val="50000"/>
                  </a:schemeClr>
                </a:solidFill>
              </a:rPr>
              <a:t>simple public data attributes</a:t>
            </a:r>
            <a:r>
              <a:rPr lang="en-US" noProof="0" dirty="0"/>
              <a:t>, it is best to expose just the attribute name, </a:t>
            </a:r>
            <a:r>
              <a:rPr lang="en-US" noProof="0" dirty="0">
                <a:solidFill>
                  <a:srgbClr val="C00000"/>
                </a:solidFill>
              </a:rPr>
              <a:t>without complicated accessor/mutator methods</a:t>
            </a:r>
            <a:r>
              <a:rPr lang="en-US" noProof="0" dirty="0"/>
              <a:t>. </a:t>
            </a:r>
          </a:p>
          <a:p>
            <a:r>
              <a:rPr lang="en-US" noProof="0" dirty="0"/>
              <a:t>Always decide whether a class's methods and instance variables (collectively "attributes") should be </a:t>
            </a:r>
            <a:r>
              <a:rPr lang="en-US" noProof="0" dirty="0">
                <a:solidFill>
                  <a:schemeClr val="accent1">
                    <a:lumMod val="50000"/>
                  </a:schemeClr>
                </a:solidFill>
              </a:rPr>
              <a:t>public</a:t>
            </a:r>
            <a:r>
              <a:rPr lang="en-US" noProof="0" dirty="0"/>
              <a:t> or </a:t>
            </a:r>
            <a:r>
              <a:rPr lang="en-US" noProof="0" dirty="0">
                <a:solidFill>
                  <a:schemeClr val="accent1">
                    <a:lumMod val="50000"/>
                  </a:schemeClr>
                </a:solidFill>
              </a:rPr>
              <a:t>non-public</a:t>
            </a:r>
            <a:r>
              <a:rPr lang="en-US" noProof="0" dirty="0"/>
              <a:t>. </a:t>
            </a:r>
            <a:br>
              <a:rPr lang="en-US" noProof="0" dirty="0"/>
            </a:br>
            <a:r>
              <a:rPr lang="en-US" noProof="0" dirty="0"/>
              <a:t>If in doubt, choose non-public; it's easier to make it public later than to make a public attribute non-public.</a:t>
            </a:r>
          </a:p>
          <a:p>
            <a:endParaRPr lang="en-US" noProof="0" dirty="0"/>
          </a:p>
        </p:txBody>
      </p:sp>
      <p:sp>
        <p:nvSpPr>
          <p:cNvPr id="6" name="Rectangle 5"/>
          <p:cNvSpPr/>
          <p:nvPr/>
        </p:nvSpPr>
        <p:spPr>
          <a:xfrm>
            <a:off x="8201047" y="6374962"/>
            <a:ext cx="38116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noProof="0" dirty="0">
                <a:solidFill>
                  <a:schemeClr val="bg1">
                    <a:lumMod val="50000"/>
                  </a:schemeClr>
                </a:solidFill>
                <a:hlinkClick r:id="rId2"/>
              </a:rPr>
              <a:t>www.python.org/dev/peps/pep-0008/</a:t>
            </a:r>
            <a:endParaRPr lang="en-US" noProof="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04180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5543" y="354240"/>
            <a:ext cx="10515600" cy="1325563"/>
          </a:xfrm>
        </p:spPr>
        <p:txBody>
          <a:bodyPr/>
          <a:lstStyle/>
          <a:p>
            <a:r>
              <a:rPr lang="en-US" noProof="0" dirty="0"/>
              <a:t>Some methods many classes have</a:t>
            </a:r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4024928"/>
              </p:ext>
            </p:extLst>
          </p:nvPr>
        </p:nvGraphicFramePr>
        <p:xfrm>
          <a:off x="853612" y="1633503"/>
          <a:ext cx="10467531" cy="448056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3230880">
                  <a:extLst>
                    <a:ext uri="{9D8B030D-6E8A-4147-A177-3AD203B41FA5}">
                      <a16:colId xmlns:a16="http://schemas.microsoft.com/office/drawing/2014/main" val="3349743415"/>
                    </a:ext>
                  </a:extLst>
                </a:gridCol>
                <a:gridCol w="7236651">
                  <a:extLst>
                    <a:ext uri="{9D8B030D-6E8A-4147-A177-3AD203B41FA5}">
                      <a16:colId xmlns:a16="http://schemas.microsoft.com/office/drawing/2014/main" val="33024473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Method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Description</a:t>
                      </a:r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727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__eq__(self, other)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Used to test if two elements are equal</a:t>
                      </a:r>
                      <a:br>
                        <a:rPr lang="en-US" sz="2000" noProof="0" dirty="0"/>
                      </a:br>
                      <a:r>
                        <a:rPr lang="en-US" sz="2000" noProof="0" dirty="0"/>
                        <a:t>Two elements</a:t>
                      </a:r>
                      <a:r>
                        <a:rPr lang="en-US" sz="2000" baseline="0" noProof="0" dirty="0"/>
                        <a:t> where __eq__ is true must have equal __hash__</a:t>
                      </a:r>
                      <a:endParaRPr lang="en-US" sz="2000" noProof="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335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__str__(self)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Used by</a:t>
                      </a:r>
                      <a:r>
                        <a:rPr lang="en-US" sz="2000" baseline="0" noProof="0" dirty="0"/>
                        <a:t> </a:t>
                      </a:r>
                      <a:r>
                        <a:rPr lang="en-US" sz="2000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</a:t>
                      </a:r>
                      <a:r>
                        <a:rPr lang="en-US" sz="2000" baseline="0" noProof="0" dirty="0"/>
                        <a:t> and </a:t>
                      </a:r>
                      <a:r>
                        <a:rPr lang="en-US" sz="2000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</a:t>
                      </a:r>
                      <a:endParaRPr lang="en-US" sz="20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7210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</a:t>
                      </a:r>
                      <a:r>
                        <a:rPr lang="en-US" sz="20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repr</a:t>
                      </a:r>
                      <a:r>
                        <a:rPr lang="en-US" sz="20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__(self)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Used by </a:t>
                      </a:r>
                      <a:r>
                        <a:rPr lang="en-US" sz="20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repr</a:t>
                      </a:r>
                      <a:r>
                        <a:rPr lang="en-US" sz="2000" noProof="0" dirty="0"/>
                        <a:t>, e.g. for printing</a:t>
                      </a:r>
                      <a:r>
                        <a:rPr lang="en-US" sz="2000" baseline="0" noProof="0" dirty="0"/>
                        <a:t> to the IDE shell</a:t>
                      </a:r>
                      <a:br>
                        <a:rPr lang="en-US" sz="2000" baseline="0" noProof="0" dirty="0"/>
                      </a:br>
                      <a:r>
                        <a:rPr lang="en-US" sz="2000" baseline="0" noProof="0" dirty="0"/>
                        <a:t>(usually something that is a valid Python expression for </a:t>
                      </a:r>
                      <a:r>
                        <a:rPr lang="en-US" sz="2000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eval()</a:t>
                      </a:r>
                      <a:r>
                        <a:rPr lang="en-US" sz="2000" baseline="0" noProof="0" dirty="0"/>
                        <a:t>)</a:t>
                      </a:r>
                      <a:endParaRPr lang="en-US" sz="2000" noProof="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4419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</a:t>
                      </a:r>
                      <a:r>
                        <a:rPr lang="en-US" sz="20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</a:t>
                      </a:r>
                      <a:r>
                        <a:rPr lang="en-US" sz="20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__(self)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Length</a:t>
                      </a:r>
                      <a:r>
                        <a:rPr lang="en-US" sz="2000" baseline="0" noProof="0" dirty="0"/>
                        <a:t> (integer) of object, e.g. lists, strings, tuples, sets, dictionaries</a:t>
                      </a:r>
                      <a:endParaRPr lang="en-US" sz="2000" noProof="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4015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__doc__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The</a:t>
                      </a:r>
                      <a:r>
                        <a:rPr lang="en-US" sz="2000" baseline="0" noProof="0" dirty="0"/>
                        <a:t> docstring of the class</a:t>
                      </a:r>
                      <a:endParaRPr lang="en-US" sz="2000" noProof="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366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__hash__(self)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Returns hash value (integer)</a:t>
                      </a:r>
                      <a:r>
                        <a:rPr lang="en-US" sz="2000" baseline="0" noProof="0" dirty="0"/>
                        <a:t> of object</a:t>
                      </a:r>
                      <a:br>
                        <a:rPr lang="en-US" sz="2000" baseline="0" noProof="0" dirty="0"/>
                      </a:br>
                      <a:r>
                        <a:rPr lang="en-US" sz="2000" baseline="0" noProof="0" dirty="0"/>
                        <a:t>Dictionary keys and set values must have a __hash__ method</a:t>
                      </a:r>
                      <a:endParaRPr lang="en-US" sz="2000" noProof="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7802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</a:t>
                      </a:r>
                      <a:r>
                        <a:rPr lang="en-US" sz="20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lt</a:t>
                      </a:r>
                      <a:r>
                        <a:rPr lang="en-US" sz="20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__(self, other)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Comparison</a:t>
                      </a:r>
                      <a:r>
                        <a:rPr lang="en-US" sz="2000" baseline="0" noProof="0" dirty="0"/>
                        <a:t> (less than, &lt;) used by </a:t>
                      </a:r>
                      <a:r>
                        <a:rPr lang="en-US" sz="2000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sorted</a:t>
                      </a:r>
                      <a:r>
                        <a:rPr lang="en-US" sz="2000" baseline="0" noProof="0" dirty="0"/>
                        <a:t> and </a:t>
                      </a:r>
                      <a:r>
                        <a:rPr lang="en-US" sz="2000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sort()</a:t>
                      </a:r>
                      <a:endParaRPr lang="en-US" sz="20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6331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</a:t>
                      </a:r>
                      <a:r>
                        <a:rPr lang="en-US" sz="20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init</a:t>
                      </a:r>
                      <a:r>
                        <a:rPr lang="en-US" sz="20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__(self,...)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Class initializer</a:t>
                      </a:r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1437311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4502552" y="6307366"/>
            <a:ext cx="75662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noProof="0" dirty="0"/>
              <a:t>Overloading operators: </a:t>
            </a:r>
            <a:r>
              <a:rPr lang="en-US" noProof="0" dirty="0">
                <a:hlinkClick r:id="rId3"/>
              </a:rPr>
              <a:t>www.python-course.eu/python3_magic_methods.php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34352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7F7F7F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40197</TotalTime>
  <Words>4279</Words>
  <Application>Microsoft Office PowerPoint</Application>
  <PresentationFormat>Widescreen</PresentationFormat>
  <Paragraphs>615</Paragraphs>
  <Slides>29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Calibri Light</vt:lpstr>
      <vt:lpstr>Courier New</vt:lpstr>
      <vt:lpstr>Wingdings</vt:lpstr>
      <vt:lpstr>Office Theme</vt:lpstr>
      <vt:lpstr>Object oriented programming</vt:lpstr>
      <vt:lpstr>Object Oriented Programming</vt:lpstr>
      <vt:lpstr>Object Oriented Programming - History (selected programming languages)</vt:lpstr>
      <vt:lpstr>Design Patterns (not part of this course) reoccuring patterns in software design</vt:lpstr>
      <vt:lpstr>Some known classes, objects, and methods</vt:lpstr>
      <vt:lpstr>Classes and Objects</vt:lpstr>
      <vt:lpstr>Using the Student class</vt:lpstr>
      <vt:lpstr>class Student</vt:lpstr>
      <vt:lpstr>When are object attributes initialized ?</vt:lpstr>
      <vt:lpstr>Class construction and __init__</vt:lpstr>
      <vt:lpstr>Question – What is printed ?</vt:lpstr>
      <vt:lpstr>__init__ with arguments</vt:lpstr>
      <vt:lpstr>Are accessor and mutator methods necessary ?</vt:lpstr>
      <vt:lpstr>Converting objects to str </vt:lpstr>
      <vt:lpstr>Defining order on instances of a class (sorting)</vt:lpstr>
      <vt:lpstr>Nothing is private in Python</vt:lpstr>
      <vt:lpstr>C++ private, public</vt:lpstr>
      <vt:lpstr>Java private, public</vt:lpstr>
      <vt:lpstr>Name mangling (partial privacy)</vt:lpstr>
      <vt:lpstr>Class attributes</vt:lpstr>
      <vt:lpstr>Class data attribute</vt:lpstr>
      <vt:lpstr>Question – What does obj.get() return ?</vt:lpstr>
      <vt:lpstr>Class data attribute example (in Python)</vt:lpstr>
      <vt:lpstr>__dict__, __name__ and  __class__</vt:lpstr>
      <vt:lpstr>Java static</vt:lpstr>
      <vt:lpstr>C++ static</vt:lpstr>
      <vt:lpstr>Constants</vt:lpstr>
      <vt:lpstr>PEP8 Style Guide for Python Code (some quotes)</vt:lpstr>
      <vt:lpstr>Some methods many classes have</vt:lpstr>
    </vt:vector>
  </TitlesOfParts>
  <Company>Aarhus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Gerth Stølting Brodal</dc:creator>
  <cp:lastModifiedBy>Gerth Stølting Brodal</cp:lastModifiedBy>
  <cp:revision>1197</cp:revision>
  <dcterms:created xsi:type="dcterms:W3CDTF">2017-10-19T06:54:16Z</dcterms:created>
  <dcterms:modified xsi:type="dcterms:W3CDTF">2026-03-02T06:03:13Z</dcterms:modified>
</cp:coreProperties>
</file>