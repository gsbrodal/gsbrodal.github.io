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70" r:id="rId2"/>
    <p:sldId id="383" r:id="rId3"/>
    <p:sldId id="380" r:id="rId4"/>
    <p:sldId id="382" r:id="rId5"/>
    <p:sldId id="381" r:id="rId6"/>
    <p:sldId id="291" r:id="rId7"/>
    <p:sldId id="390" r:id="rId8"/>
    <p:sldId id="384" r:id="rId9"/>
    <p:sldId id="272" r:id="rId10"/>
    <p:sldId id="389" r:id="rId11"/>
    <p:sldId id="273" r:id="rId12"/>
    <p:sldId id="385" r:id="rId13"/>
    <p:sldId id="388" r:id="rId14"/>
    <p:sldId id="386" r:id="rId15"/>
    <p:sldId id="391" r:id="rId16"/>
    <p:sldId id="387" r:id="rId17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2CC"/>
    <a:srgbClr val="FFA7A7"/>
    <a:srgbClr val="DEEBF7"/>
    <a:srgbClr val="E2F0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1" autoAdjust="0"/>
    <p:restoredTop sz="85755" autoAdjust="0"/>
  </p:normalViewPr>
  <p:slideViewPr>
    <p:cSldViewPr snapToGrid="0">
      <p:cViewPr>
        <p:scale>
          <a:sx n="400" d="100"/>
          <a:sy n="400" d="100"/>
        </p:scale>
        <p:origin x="-4708" y="-6316"/>
      </p:cViewPr>
      <p:guideLst/>
    </p:cSldViewPr>
  </p:slideViewPr>
  <p:outlineViewPr>
    <p:cViewPr>
      <p:scale>
        <a:sx n="33" d="100"/>
        <a:sy n="33" d="100"/>
      </p:scale>
      <p:origin x="0" y="-43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113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th Stølting Brodal" userId="04ef4784-6591-4f86-a140-f5c3b108582a" providerId="ADAL" clId="{E3FB3D3F-03A2-4D0F-876D-930F74083705}"/>
    <pc:docChg chg="modSld">
      <pc:chgData name="Gerth Stølting Brodal" userId="04ef4784-6591-4f86-a140-f5c3b108582a" providerId="ADAL" clId="{E3FB3D3F-03A2-4D0F-876D-930F74083705}" dt="2026-01-28T07:59:36.755" v="1" actId="14100"/>
      <pc:docMkLst>
        <pc:docMk/>
      </pc:docMkLst>
      <pc:sldChg chg="modSp mod">
        <pc:chgData name="Gerth Stølting Brodal" userId="04ef4784-6591-4f86-a140-f5c3b108582a" providerId="ADAL" clId="{E3FB3D3F-03A2-4D0F-876D-930F74083705}" dt="2026-01-28T07:59:36.755" v="1" actId="14100"/>
        <pc:sldMkLst>
          <pc:docMk/>
          <pc:sldMk cId="1044916503" sldId="382"/>
        </pc:sldMkLst>
        <pc:spChg chg="mod">
          <ac:chgData name="Gerth Stølting Brodal" userId="04ef4784-6591-4f86-a140-f5c3b108582a" providerId="ADAL" clId="{E3FB3D3F-03A2-4D0F-876D-930F74083705}" dt="2026-01-28T07:59:36.755" v="1" actId="14100"/>
          <ac:spMkLst>
            <pc:docMk/>
            <pc:sldMk cId="1044916503" sldId="382"/>
            <ac:spMk id="4" creationId="{00000000-0000-0000-0000-000000000000}"/>
          </ac:spMkLst>
        </pc:spChg>
        <pc:spChg chg="mod">
          <ac:chgData name="Gerth Stølting Brodal" userId="04ef4784-6591-4f86-a140-f5c3b108582a" providerId="ADAL" clId="{E3FB3D3F-03A2-4D0F-876D-930F74083705}" dt="2026-01-28T07:59:28.084" v="0" actId="14100"/>
          <ac:spMkLst>
            <pc:docMk/>
            <pc:sldMk cId="1044916503" sldId="382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A172F-81D4-4DC4-9113-1DBD56EC3646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563DD8-32AB-41BE-B1C6-8EAC4522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0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Example</a:t>
            </a:r>
            <a:r>
              <a:rPr lang="da-DK" dirty="0"/>
              <a:t>: ”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before</a:t>
            </a:r>
            <a:r>
              <a:rPr lang="da-DK" dirty="0"/>
              <a:t>” = ask user for an </a:t>
            </a:r>
            <a:r>
              <a:rPr lang="da-DK" dirty="0" err="1"/>
              <a:t>integer</a:t>
            </a:r>
            <a:r>
              <a:rPr lang="da-DK" dirty="0"/>
              <a:t>, print </a:t>
            </a:r>
            <a:r>
              <a:rPr lang="da-DK" dirty="0" err="1"/>
              <a:t>if</a:t>
            </a:r>
            <a:r>
              <a:rPr lang="da-DK" dirty="0"/>
              <a:t> it is </a:t>
            </a:r>
            <a:r>
              <a:rPr lang="da-DK" dirty="0" err="1"/>
              <a:t>even</a:t>
            </a:r>
            <a:r>
              <a:rPr lang="da-DK" dirty="0"/>
              <a:t> or </a:t>
            </a:r>
            <a:r>
              <a:rPr lang="da-DK" dirty="0" err="1"/>
              <a:t>odd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475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Nice thing about Python “if</a:t>
            </a:r>
            <a:r>
              <a:rPr lang="en-US" baseline="0" dirty="0"/>
              <a:t> x=3:” will give a syntax error, opposed to other languages... like C, C++ &lt;&lt; java???&gt;&gt;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Remember “:”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718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Nice thing about Python “if</a:t>
            </a:r>
            <a:r>
              <a:rPr lang="en-US" baseline="0" dirty="0"/>
              <a:t> x=3:” will give a syntax error, opposed to other languages... like C, C++ &lt;&lt; java???&gt;&gt;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124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Nice thing about Python “if</a:t>
            </a:r>
            <a:r>
              <a:rPr lang="en-US" baseline="0" dirty="0"/>
              <a:t> x=3:” will give a syntax error, opposed to other languages... like C, C++ &lt;&lt; java???&gt;&gt;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Ugly way to write if-</a:t>
            </a:r>
            <a:r>
              <a:rPr lang="en-US" baseline="0" dirty="0" err="1"/>
              <a:t>elif</a:t>
            </a:r>
            <a:r>
              <a:rPr lang="en-US" baseline="0" dirty="0"/>
              <a:t> is with nested if statements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896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y = 1 / x if x != 0 else 0.0</a:t>
            </a:r>
          </a:p>
          <a:p>
            <a:endParaRPr lang="en-US" dirty="0"/>
          </a:p>
          <a:p>
            <a:r>
              <a:rPr lang="en-US" dirty="0"/>
              <a:t>PEP308: 17 variations were considered, but “</a:t>
            </a:r>
            <a:r>
              <a:rPr lang="da-DK" dirty="0"/>
              <a:t>Guido van </a:t>
            </a:r>
            <a:r>
              <a:rPr lang="da-DK" dirty="0" err="1"/>
              <a:t>Rossum</a:t>
            </a:r>
            <a:r>
              <a:rPr lang="da-DK" dirty="0"/>
              <a:t> </a:t>
            </a:r>
            <a:r>
              <a:rPr lang="da-DK" dirty="0" err="1"/>
              <a:t>eventually</a:t>
            </a:r>
            <a:r>
              <a:rPr lang="da-DK" dirty="0"/>
              <a:t> </a:t>
            </a:r>
            <a:r>
              <a:rPr lang="da-DK" dirty="0" err="1"/>
              <a:t>chose</a:t>
            </a:r>
            <a:r>
              <a:rPr lang="da-DK" dirty="0"/>
              <a:t> a </a:t>
            </a:r>
            <a:r>
              <a:rPr lang="da-DK" dirty="0" err="1"/>
              <a:t>surprising</a:t>
            </a:r>
            <a:r>
              <a:rPr lang="da-DK" dirty="0"/>
              <a:t> </a:t>
            </a:r>
            <a:r>
              <a:rPr lang="da-DK" dirty="0" err="1"/>
              <a:t>syntax</a:t>
            </a:r>
            <a:r>
              <a:rPr lang="da-DK"/>
              <a:t>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969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Random-pair generates uniformly pairs of integers</a:t>
            </a:r>
            <a:r>
              <a:rPr lang="en-US" baseline="0" dirty="0"/>
              <a:t> where there is at least one integer in-between.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863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sqrt(20) = 4.472</a:t>
            </a:r>
          </a:p>
          <a:p>
            <a:r>
              <a:rPr lang="en-US" dirty="0"/>
              <a:t>high = x + 1 to ensure high &gt; sqrt(x</a:t>
            </a:r>
            <a:r>
              <a:rPr lang="en-US"/>
              <a:t>) also for x = 1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0155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Binary</a:t>
            </a:r>
            <a:r>
              <a:rPr lang="da-DK" dirty="0"/>
              <a:t> </a:t>
            </a:r>
            <a:r>
              <a:rPr lang="da-DK" dirty="0" err="1"/>
              <a:t>search</a:t>
            </a:r>
            <a:r>
              <a:rPr lang="da-DK" dirty="0"/>
              <a:t> is tricky, </a:t>
            </a:r>
            <a:r>
              <a:rPr lang="da-DK" dirty="0" err="1"/>
              <a:t>sometimes</a:t>
            </a:r>
            <a:r>
              <a:rPr lang="da-DK" dirty="0"/>
              <a:t>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use</a:t>
            </a:r>
            <a:r>
              <a:rPr lang="da-DK" dirty="0"/>
              <a:t> a </a:t>
            </a:r>
            <a:r>
              <a:rPr lang="da-DK" dirty="0" err="1"/>
              <a:t>library</a:t>
            </a:r>
            <a:r>
              <a:rPr lang="da-DK" dirty="0"/>
              <a:t> to </a:t>
            </a:r>
            <a:r>
              <a:rPr lang="da-DK" dirty="0" err="1"/>
              <a:t>make</a:t>
            </a:r>
            <a:r>
              <a:rPr lang="da-DK" dirty="0"/>
              <a:t> </a:t>
            </a:r>
            <a:r>
              <a:rPr lang="da-DK" dirty="0" err="1"/>
              <a:t>your</a:t>
            </a:r>
            <a:r>
              <a:rPr lang="da-DK" dirty="0"/>
              <a:t> </a:t>
            </a:r>
            <a:r>
              <a:rPr lang="da-DK" dirty="0" err="1"/>
              <a:t>life</a:t>
            </a:r>
            <a:r>
              <a:rPr lang="da-DK" dirty="0"/>
              <a:t> </a:t>
            </a:r>
            <a:r>
              <a:rPr lang="da-DK" dirty="0" err="1"/>
              <a:t>easier</a:t>
            </a:r>
            <a:endParaRPr lang="da-DK" dirty="0"/>
          </a:p>
          <a:p>
            <a:r>
              <a:rPr lang="en-US" dirty="0"/>
              <a:t>Sometimes you cannot use bisect, e.g. when bisecting for a float value, like the float sqrt(x)</a:t>
            </a:r>
          </a:p>
          <a:p>
            <a:r>
              <a:rPr lang="en-US" dirty="0" err="1"/>
              <a:t>int_sqrt</a:t>
            </a:r>
            <a:r>
              <a:rPr lang="en-US" dirty="0"/>
              <a:t>(x)</a:t>
            </a:r>
          </a:p>
          <a:p>
            <a:r>
              <a:rPr lang="en-US" dirty="0"/>
              <a:t>= </a:t>
            </a:r>
            <a:r>
              <a:rPr lang="en-US" dirty="0" err="1"/>
              <a:t>bisect_right</a:t>
            </a:r>
            <a:r>
              <a:rPr lang="en-US" dirty="0"/>
              <a:t>(range(x + 1), False, key=lambda r: r*r &gt; x) – 1</a:t>
            </a:r>
          </a:p>
          <a:p>
            <a:r>
              <a:rPr lang="en-US" dirty="0"/>
              <a:t>= </a:t>
            </a:r>
            <a:r>
              <a:rPr lang="en-US" dirty="0" err="1"/>
              <a:t>bisect_right</a:t>
            </a:r>
            <a:r>
              <a:rPr lang="en-US" dirty="0"/>
              <a:t>(range(x + 1), x, key=lambda i: i*i) –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= </a:t>
            </a:r>
            <a:r>
              <a:rPr lang="en-US" dirty="0" err="1"/>
              <a:t>bisect_right</a:t>
            </a:r>
            <a:r>
              <a:rPr lang="en-US" dirty="0"/>
              <a:t>([x**2 for x in range(x+2)], x) – 1  # inefficient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2796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</a:t>
            </a:r>
            <a:r>
              <a:rPr lang="en-US" baseline="0" dirty="0"/>
              <a:t> </a:t>
            </a:r>
            <a:r>
              <a:rPr lang="en-US" b="1" baseline="0" dirty="0">
                <a:solidFill>
                  <a:srgbClr val="FF0000"/>
                </a:solidFill>
              </a:rPr>
              <a:t>newton-visualization.py </a:t>
            </a:r>
            <a:r>
              <a:rPr lang="en-US" b="0" baseline="0" dirty="0">
                <a:solidFill>
                  <a:srgbClr val="FF0000"/>
                </a:solidFill>
              </a:rPr>
              <a:t>to show animation of 1/n and </a:t>
            </a:r>
            <a:r>
              <a:rPr lang="en-US" b="0" baseline="0" dirty="0" err="1">
                <a:solidFill>
                  <a:srgbClr val="FF0000"/>
                </a:solidFill>
              </a:rPr>
              <a:t>sqrt</a:t>
            </a:r>
            <a:r>
              <a:rPr lang="en-US" b="0" baseline="0" dirty="0">
                <a:solidFill>
                  <a:srgbClr val="FF0000"/>
                </a:solidFill>
              </a:rPr>
              <a:t>(n). To compute </a:t>
            </a:r>
            <a:r>
              <a:rPr lang="en-US" b="0" baseline="0" dirty="0" err="1">
                <a:solidFill>
                  <a:srgbClr val="FF0000"/>
                </a:solidFill>
              </a:rPr>
              <a:t>sqrt</a:t>
            </a:r>
            <a:r>
              <a:rPr lang="en-US" b="0" baseline="0" dirty="0">
                <a:solidFill>
                  <a:srgbClr val="FF0000"/>
                </a:solidFill>
              </a:rPr>
              <a:t>(n) is an exercise.</a:t>
            </a:r>
            <a:endParaRPr lang="en-US" b="1" dirty="0">
              <a:solidFill>
                <a:srgbClr val="FF0000"/>
              </a:solidFill>
            </a:endParaRPr>
          </a:p>
          <a:p>
            <a:endParaRPr lang="en-US" dirty="0"/>
          </a:p>
          <a:p>
            <a:r>
              <a:rPr lang="en-US" dirty="0"/>
              <a:t>x = 0.6 generates a different</a:t>
            </a:r>
            <a:r>
              <a:rPr lang="en-US" baseline="0" dirty="0"/>
              <a:t> result than Python computes 1 / 0.6</a:t>
            </a:r>
            <a:endParaRPr lang="en-US" dirty="0"/>
          </a:p>
          <a:p>
            <a:endParaRPr lang="en-US" dirty="0"/>
          </a:p>
          <a:p>
            <a:r>
              <a:rPr lang="en-US" dirty="0"/>
              <a:t>Code only works for x &lt;= 1 (otherwise</a:t>
            </a:r>
            <a:r>
              <a:rPr lang="en-US" baseline="0" dirty="0"/>
              <a:t> adjust by powers of two to enforce interval)</a:t>
            </a:r>
          </a:p>
          <a:p>
            <a:endParaRPr lang="en-US" baseline="0" dirty="0"/>
          </a:p>
          <a:p>
            <a:r>
              <a:rPr lang="en-US" baseline="0" dirty="0"/>
              <a:t>Newton-Raphson converges fast, if starting close to the root, and </a:t>
            </a:r>
            <a:r>
              <a:rPr lang="en-US" b="1" baseline="0" dirty="0"/>
              <a:t>≈ doubles the number of correct digits</a:t>
            </a:r>
            <a:r>
              <a:rPr lang="en-US" baseline="0" dirty="0"/>
              <a:t> in each iteration, provided some conditions around the root is satisfied</a:t>
            </a:r>
          </a:p>
          <a:p>
            <a:endParaRPr lang="en-US" baseline="0" dirty="0"/>
          </a:p>
          <a:p>
            <a:r>
              <a:rPr lang="en-US" baseline="0" dirty="0"/>
              <a:t>Implementing in hardware, it is crucial to observe that we can increase the numeric precision while running the algorithm, </a:t>
            </a:r>
            <a:r>
              <a:rPr lang="en-US" baseline="0" dirty="0" err="1"/>
              <a:t>ie</a:t>
            </a:r>
            <a:r>
              <a:rPr lang="en-US" baseline="0" dirty="0"/>
              <a:t>. the final running time will be dominated by the final iterations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603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8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7188" indent="-357188">
              <a:buClr>
                <a:srgbClr val="C00000"/>
              </a:buClr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7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45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5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78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79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8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1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05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41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A9CD-0304-4E0B-9E82-E7E0115DE05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9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2.5/whatsnew/pep-308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Newton's_method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8083" y="2933084"/>
            <a:ext cx="10515600" cy="1325563"/>
          </a:xfrm>
        </p:spPr>
        <p:txBody>
          <a:bodyPr/>
          <a:lstStyle/>
          <a:p>
            <a:pPr algn="r"/>
            <a:r>
              <a:rPr lang="en-US" dirty="0"/>
              <a:t>Control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6772" y="4118650"/>
            <a:ext cx="3995057" cy="2675278"/>
          </a:xfrm>
        </p:spPr>
        <p:txBody>
          <a:bodyPr>
            <a:normAutofit/>
          </a:bodyPr>
          <a:lstStyle/>
          <a:p>
            <a:r>
              <a:rPr lang="en-US" dirty="0"/>
              <a:t>input()</a:t>
            </a:r>
          </a:p>
          <a:p>
            <a:r>
              <a:rPr lang="en-US" dirty="0"/>
              <a:t>if-</a:t>
            </a:r>
            <a:r>
              <a:rPr lang="en-US" dirty="0" err="1"/>
              <a:t>elif</a:t>
            </a:r>
            <a:r>
              <a:rPr lang="en-US" dirty="0"/>
              <a:t>-else</a:t>
            </a:r>
          </a:p>
          <a:p>
            <a:r>
              <a:rPr lang="en-US" dirty="0"/>
              <a:t>while-break-continue</a:t>
            </a:r>
          </a:p>
        </p:txBody>
      </p:sp>
    </p:spTree>
    <p:extLst>
      <p:ext uri="{BB962C8B-B14F-4D97-AF65-F5344CB8AC3E}">
        <p14:creationId xmlns:p14="http://schemas.microsoft.com/office/powerpoint/2010/main" val="1102549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75669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builtin</a:t>
            </a:r>
            <a:r>
              <a:rPr lang="en-US" dirty="0"/>
              <a:t> function 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input(</a:t>
            </a:r>
            <a:r>
              <a:rPr lang="en-US" i="1" dirty="0">
                <a:solidFill>
                  <a:srgbClr val="C00000"/>
                </a:solidFill>
              </a:rPr>
              <a:t>message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prints </a:t>
            </a:r>
            <a:r>
              <a:rPr lang="en-US" i="1" dirty="0"/>
              <a:t>message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and waits for the user provides a line of input and presses return. </a:t>
            </a:r>
            <a:br>
              <a:rPr lang="en-US" dirty="0"/>
            </a:br>
            <a:r>
              <a:rPr lang="en-US" dirty="0"/>
              <a:t>The line of input is returned as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endParaRPr lang="en-US" dirty="0"/>
          </a:p>
          <a:p>
            <a:r>
              <a:rPr lang="en-US" dirty="0"/>
              <a:t>If you e.g. expect input to be an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/>
              <a:t>, then remember to convert the input using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US" i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986670"/>
              </p:ext>
            </p:extLst>
          </p:nvPr>
        </p:nvGraphicFramePr>
        <p:xfrm>
          <a:off x="6701742" y="4001294"/>
          <a:ext cx="5015248" cy="2591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524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13378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name-age.py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783445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 = input('Name: ')</a:t>
                      </a:r>
                    </a:p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age =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(input('Age: '))</a:t>
                      </a:r>
                    </a:p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print(name, 'is', age, 'years old')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313378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765046"/>
                  </a:ext>
                </a:extLst>
              </a:tr>
              <a:tr h="945817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Name: Donald Duck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Age: 84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Donald Duck is 84 years old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568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6381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2894610" y="2790393"/>
            <a:ext cx="6341423" cy="24901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Branching – do either this or that ?</a:t>
            </a:r>
          </a:p>
        </p:txBody>
      </p:sp>
      <p:cxnSp>
        <p:nvCxnSpPr>
          <p:cNvPr id="11" name="Straight Arrow Connector 10"/>
          <p:cNvCxnSpPr>
            <a:stCxn id="4" idx="2"/>
            <a:endCxn id="9" idx="0"/>
          </p:cNvCxnSpPr>
          <p:nvPr/>
        </p:nvCxnSpPr>
        <p:spPr>
          <a:xfrm flipH="1">
            <a:off x="6112824" y="2525425"/>
            <a:ext cx="3958" cy="529937"/>
          </a:xfrm>
          <a:prstGeom prst="straightConnector1">
            <a:avLst/>
          </a:prstGeom>
          <a:ln w="41275" cap="rnd">
            <a:solidFill>
              <a:schemeClr val="tx1">
                <a:lumMod val="95000"/>
                <a:lumOff val="5000"/>
              </a:schemeClr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6" idx="0"/>
          </p:cNvCxnSpPr>
          <p:nvPr/>
        </p:nvCxnSpPr>
        <p:spPr>
          <a:xfrm flipH="1">
            <a:off x="4602679" y="3751614"/>
            <a:ext cx="868878" cy="622125"/>
          </a:xfrm>
          <a:prstGeom prst="straightConnector1">
            <a:avLst/>
          </a:prstGeom>
          <a:ln w="41275" cap="rnd">
            <a:solidFill>
              <a:schemeClr val="tx1">
                <a:lumMod val="95000"/>
                <a:lumOff val="5000"/>
              </a:schemeClr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endCxn id="7" idx="0"/>
          </p:cNvCxnSpPr>
          <p:nvPr/>
        </p:nvCxnSpPr>
        <p:spPr>
          <a:xfrm>
            <a:off x="6777842" y="3751614"/>
            <a:ext cx="775855" cy="622125"/>
          </a:xfrm>
          <a:prstGeom prst="straightConnector1">
            <a:avLst/>
          </a:prstGeom>
          <a:ln w="41275" cap="rnd">
            <a:solidFill>
              <a:schemeClr val="tx1">
                <a:lumMod val="95000"/>
                <a:lumOff val="5000"/>
              </a:schemeClr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2"/>
          </p:cNvCxnSpPr>
          <p:nvPr/>
        </p:nvCxnSpPr>
        <p:spPr>
          <a:xfrm flipH="1">
            <a:off x="6777842" y="5069991"/>
            <a:ext cx="775855" cy="711747"/>
          </a:xfrm>
          <a:prstGeom prst="straightConnector1">
            <a:avLst/>
          </a:prstGeom>
          <a:ln w="41275" cap="rnd">
            <a:solidFill>
              <a:schemeClr val="tx1">
                <a:lumMod val="95000"/>
                <a:lumOff val="5000"/>
              </a:schemeClr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2"/>
          </p:cNvCxnSpPr>
          <p:nvPr/>
        </p:nvCxnSpPr>
        <p:spPr>
          <a:xfrm>
            <a:off x="4602679" y="5069991"/>
            <a:ext cx="868878" cy="711747"/>
          </a:xfrm>
          <a:prstGeom prst="straightConnector1">
            <a:avLst/>
          </a:prstGeom>
          <a:ln w="41275" cap="rnd">
            <a:solidFill>
              <a:schemeClr val="tx1">
                <a:lumMod val="95000"/>
                <a:lumOff val="5000"/>
              </a:schemeClr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953000" y="1829173"/>
            <a:ext cx="2327564" cy="6962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Code before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949042" y="5781738"/>
            <a:ext cx="2327564" cy="6962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Code after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438897" y="4373739"/>
            <a:ext cx="2327564" cy="6962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 this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89915" y="4373739"/>
            <a:ext cx="2327564" cy="6962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 that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49042" y="3055362"/>
            <a:ext cx="2327564" cy="6962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make decision 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50870" y="3822314"/>
            <a:ext cx="1698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6502" y="3822314"/>
            <a:ext cx="1698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49042" y="3435217"/>
            <a:ext cx="232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rgbClr val="C00000"/>
                </a:solidFill>
                <a:cs typeface="Courier New" panose="02070309020205020404" pitchFamily="49" charset="0"/>
              </a:rPr>
              <a:t>boolean</a:t>
            </a:r>
            <a:r>
              <a:rPr lang="en-US" sz="1400" dirty="0">
                <a:solidFill>
                  <a:srgbClr val="C00000"/>
                </a:solidFill>
                <a:cs typeface="Courier New" panose="02070309020205020404" pitchFamily="49" charset="0"/>
              </a:rPr>
              <a:t> expression</a:t>
            </a:r>
          </a:p>
        </p:txBody>
      </p:sp>
    </p:spTree>
    <p:extLst>
      <p:ext uri="{BB962C8B-B14F-4D97-AF65-F5344CB8AC3E}">
        <p14:creationId xmlns:p14="http://schemas.microsoft.com/office/powerpoint/2010/main" val="328472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5" grpId="0" animBg="1"/>
      <p:bldP spid="6" grpId="0" animBg="1"/>
      <p:bldP spid="7" grpId="0" animBg="1"/>
      <p:bldP spid="9" grpId="0" animBg="1"/>
      <p:bldP spid="27" grpId="0"/>
      <p:bldP spid="28" grpId="0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if-else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752" y="2165154"/>
            <a:ext cx="4339442" cy="37481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da-DK" sz="2400" i="1" dirty="0" err="1"/>
              <a:t>boolean</a:t>
            </a:r>
            <a:r>
              <a:rPr lang="da-DK" sz="2400" i="1" dirty="0"/>
              <a:t> </a:t>
            </a:r>
            <a:r>
              <a:rPr lang="da-DK" sz="2400" i="1" dirty="0" err="1"/>
              <a:t>expression</a:t>
            </a:r>
            <a:r>
              <a:rPr lang="da-DK" sz="2400" dirty="0"/>
              <a:t>:</a:t>
            </a:r>
          </a:p>
          <a:p>
            <a:pPr marL="0" indent="0">
              <a:buNone/>
            </a:pPr>
            <a:r>
              <a:rPr lang="da-DK" sz="2400" dirty="0"/>
              <a:t>	</a:t>
            </a:r>
            <a:r>
              <a:rPr lang="da-DK" sz="2400" i="1" dirty="0" err="1"/>
              <a:t>code</a:t>
            </a:r>
            <a:endParaRPr lang="da-DK" sz="2400" i="1" dirty="0"/>
          </a:p>
          <a:p>
            <a:pPr marL="0" indent="0">
              <a:buNone/>
            </a:pPr>
            <a:r>
              <a:rPr lang="da-DK" sz="2400" i="1" dirty="0"/>
              <a:t>	</a:t>
            </a:r>
            <a:r>
              <a:rPr lang="da-DK" sz="2400" i="1" dirty="0" err="1"/>
              <a:t>code</a:t>
            </a:r>
            <a:endParaRPr lang="da-DK" sz="2400" i="1" dirty="0"/>
          </a:p>
          <a:p>
            <a:pPr marL="0" indent="0">
              <a:buNone/>
            </a:pPr>
            <a:r>
              <a:rPr lang="da-DK" sz="2400" i="1" dirty="0"/>
              <a:t>	</a:t>
            </a:r>
            <a:r>
              <a:rPr lang="da-DK" sz="2400" i="1" dirty="0" err="1"/>
              <a:t>code</a:t>
            </a:r>
            <a:endParaRPr lang="da-DK" sz="2400" i="1" dirty="0"/>
          </a:p>
          <a:p>
            <a:pPr marL="0" indent="0">
              <a:buNone/>
            </a:pPr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a-DK" sz="2400" dirty="0"/>
              <a:t>	</a:t>
            </a:r>
            <a:r>
              <a:rPr lang="da-DK" sz="2400" i="1" dirty="0" err="1"/>
              <a:t>code</a:t>
            </a:r>
            <a:endParaRPr lang="da-DK" sz="2400" i="1" dirty="0"/>
          </a:p>
          <a:p>
            <a:pPr marL="0" indent="0">
              <a:buNone/>
            </a:pPr>
            <a:r>
              <a:rPr lang="da-DK" sz="2400" i="1" dirty="0"/>
              <a:t>	</a:t>
            </a:r>
            <a:r>
              <a:rPr lang="da-DK" sz="2400" i="1" dirty="0" err="1"/>
              <a:t>code</a:t>
            </a:r>
            <a:endParaRPr lang="da-DK" sz="2400" i="1" dirty="0"/>
          </a:p>
          <a:p>
            <a:pPr marL="0" indent="0">
              <a:buNone/>
            </a:pPr>
            <a:r>
              <a:rPr lang="da-DK" sz="2400" i="1" dirty="0"/>
              <a:t>	</a:t>
            </a:r>
            <a:r>
              <a:rPr lang="da-DK" sz="2400" i="1" dirty="0" err="1"/>
              <a:t>code</a:t>
            </a:r>
            <a:endParaRPr lang="da-DK" sz="2400" i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74431"/>
              </p:ext>
            </p:extLst>
          </p:nvPr>
        </p:nvGraphicFramePr>
        <p:xfrm>
          <a:off x="7818439" y="3039183"/>
          <a:ext cx="314932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932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81604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if-else.py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998821">
                <a:tc>
                  <a:txBody>
                    <a:bodyPr/>
                    <a:lstStyle/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x % 2 ==</a:t>
                      </a:r>
                      <a:r>
                        <a:rPr lang="da-DK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0:</a:t>
                      </a:r>
                    </a:p>
                    <a:p>
                      <a:r>
                        <a:rPr lang="da-DK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</a:t>
                      </a:r>
                      <a:r>
                        <a:rPr lang="da-DK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even</a:t>
                      </a:r>
                      <a:r>
                        <a:rPr lang="da-DK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r>
                        <a:rPr lang="da-DK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</a:t>
                      </a:r>
                      <a:r>
                        <a:rPr lang="da-DK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da-DK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print('</a:t>
                      </a:r>
                      <a:r>
                        <a:rPr lang="da-DK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odd</a:t>
                      </a:r>
                      <a:r>
                        <a:rPr lang="da-DK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4" name="Left Brace 3"/>
          <p:cNvSpPr/>
          <p:nvPr/>
        </p:nvSpPr>
        <p:spPr>
          <a:xfrm>
            <a:off x="2801724" y="2712017"/>
            <a:ext cx="83128" cy="1104406"/>
          </a:xfrm>
          <a:prstGeom prst="leftBrace">
            <a:avLst>
              <a:gd name="adj1" fmla="val 44618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614192" y="2979964"/>
            <a:ext cx="11875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rgbClr val="C00000"/>
                </a:solidFill>
              </a:rPr>
              <a:t>identical indentation</a:t>
            </a:r>
          </a:p>
        </p:txBody>
      </p:sp>
      <p:sp>
        <p:nvSpPr>
          <p:cNvPr id="10" name="Left Brace 9"/>
          <p:cNvSpPr/>
          <p:nvPr/>
        </p:nvSpPr>
        <p:spPr>
          <a:xfrm>
            <a:off x="2801724" y="4513484"/>
            <a:ext cx="83128" cy="1131732"/>
          </a:xfrm>
          <a:prstGeom prst="leftBrace">
            <a:avLst>
              <a:gd name="adj1" fmla="val 48437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614192" y="4766446"/>
            <a:ext cx="11875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rgbClr val="C00000"/>
                </a:solidFill>
              </a:rPr>
              <a:t>identical indentation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7745" y="6387725"/>
            <a:ext cx="947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Identical indentation for a sequence of lines = the same spaces/tabs should precede code</a:t>
            </a:r>
          </a:p>
        </p:txBody>
      </p:sp>
    </p:spTree>
    <p:extLst>
      <p:ext uri="{BB962C8B-B14F-4D97-AF65-F5344CB8AC3E}">
        <p14:creationId xmlns:p14="http://schemas.microsoft.com/office/powerpoint/2010/main" val="1044916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10" grpId="0" animBg="1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090049"/>
              </p:ext>
            </p:extLst>
          </p:nvPr>
        </p:nvGraphicFramePr>
        <p:xfrm>
          <a:off x="4682610" y="4438921"/>
          <a:ext cx="314932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932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81604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if-else.py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998821">
                <a:tc>
                  <a:txBody>
                    <a:bodyPr/>
                    <a:lstStyle/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x % 2 ==</a:t>
                      </a:r>
                      <a:r>
                        <a:rPr lang="da-DK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0:</a:t>
                      </a:r>
                    </a:p>
                    <a:p>
                      <a:r>
                        <a:rPr lang="da-DK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</a:t>
                      </a:r>
                      <a:r>
                        <a:rPr lang="da-DK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even</a:t>
                      </a:r>
                      <a:r>
                        <a:rPr lang="da-DK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r>
                        <a:rPr lang="da-DK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</a:t>
                      </a:r>
                      <a:r>
                        <a:rPr lang="da-DK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da-DK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pass</a:t>
                      </a:r>
                      <a:endParaRPr lang="da-DK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13" name="Content Placeholder 2"/>
          <p:cNvSpPr txBox="1">
            <a:spLocks/>
          </p:cNvSpPr>
          <p:nvPr/>
        </p:nvSpPr>
        <p:spPr>
          <a:xfrm>
            <a:off x="925283" y="1546163"/>
            <a:ext cx="11080669" cy="2135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dirty="0"/>
              <a:t>is a </a:t>
            </a:r>
            <a:r>
              <a:rPr lang="da-DK" dirty="0" err="1"/>
              <a:t>Python</a:t>
            </a:r>
            <a:r>
              <a:rPr lang="da-DK" dirty="0"/>
              <a:t> statement </a:t>
            </a:r>
            <a:r>
              <a:rPr lang="da-DK" dirty="0" err="1"/>
              <a:t>doing</a:t>
            </a:r>
            <a:r>
              <a:rPr lang="da-DK" dirty="0"/>
              <a:t> </a:t>
            </a:r>
            <a:r>
              <a:rPr lang="da-DK" dirty="0" err="1"/>
              <a:t>nothing</a:t>
            </a:r>
            <a:r>
              <a:rPr lang="da-DK" dirty="0"/>
              <a:t>. Can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used</a:t>
            </a:r>
            <a:r>
              <a:rPr lang="da-DK" dirty="0"/>
              <a:t> </a:t>
            </a:r>
            <a:r>
              <a:rPr lang="da-DK" dirty="0" err="1"/>
              <a:t>where</a:t>
            </a:r>
            <a:r>
              <a:rPr lang="da-DK" dirty="0"/>
              <a:t> a statement is </a:t>
            </a:r>
            <a:r>
              <a:rPr lang="da-DK" dirty="0" err="1"/>
              <a:t>required</a:t>
            </a:r>
            <a:r>
              <a:rPr lang="da-DK" dirty="0"/>
              <a:t> but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want</a:t>
            </a:r>
            <a:r>
              <a:rPr lang="da-DK" dirty="0"/>
              <a:t> to skip (</a:t>
            </a:r>
            <a:r>
              <a:rPr lang="da-DK" dirty="0" err="1"/>
              <a:t>e.g</a:t>
            </a:r>
            <a:r>
              <a:rPr lang="da-DK" dirty="0"/>
              <a:t>.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will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writen</a:t>
            </a:r>
            <a:r>
              <a:rPr lang="da-DK" dirty="0"/>
              <a:t> </a:t>
            </a:r>
            <a:r>
              <a:rPr lang="da-DK" dirty="0" err="1"/>
              <a:t>later</a:t>
            </a:r>
            <a:r>
              <a:rPr lang="da-DK" dirty="0"/>
              <a:t>)</a:t>
            </a:r>
          </a:p>
          <a:p>
            <a:endParaRPr lang="da-DK" dirty="0"/>
          </a:p>
          <a:p>
            <a:r>
              <a:rPr lang="da-DK" dirty="0" err="1"/>
              <a:t>Example</a:t>
            </a:r>
            <a:r>
              <a:rPr lang="da-DK" dirty="0"/>
              <a:t> (bad </a:t>
            </a:r>
            <a:r>
              <a:rPr lang="da-DK" dirty="0" err="1"/>
              <a:t>example</a:t>
            </a:r>
            <a:r>
              <a:rPr lang="da-DK" dirty="0"/>
              <a:t>, </a:t>
            </a:r>
            <a:r>
              <a:rPr lang="da-DK" dirty="0" err="1"/>
              <a:t>since</a:t>
            </a:r>
            <a:r>
              <a:rPr lang="da-DK" dirty="0"/>
              <a:t>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da-DK" dirty="0"/>
              <a:t> </a:t>
            </a:r>
            <a:r>
              <a:rPr lang="da-DK" dirty="0" err="1"/>
              <a:t>could</a:t>
            </a:r>
            <a:r>
              <a:rPr lang="da-DK" dirty="0"/>
              <a:t> just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omitted</a:t>
            </a:r>
            <a:r>
              <a:rPr lang="da-DK" dirty="0"/>
              <a:t>):</a:t>
            </a:r>
          </a:p>
        </p:txBody>
      </p:sp>
    </p:spTree>
    <p:extLst>
      <p:ext uri="{BB962C8B-B14F-4D97-AF65-F5344CB8AC3E}">
        <p14:creationId xmlns:p14="http://schemas.microsoft.com/office/powerpoint/2010/main" val="2354709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if-</a:t>
            </a:r>
            <a:r>
              <a:rPr lang="en-US" dirty="0" err="1"/>
              <a:t>elif</a:t>
            </a:r>
            <a:r>
              <a:rPr lang="en-US" dirty="0"/>
              <a:t>-else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6896725" cy="27909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da-DK" sz="2400" i="1" dirty="0" err="1"/>
              <a:t>condition</a:t>
            </a:r>
            <a:r>
              <a:rPr lang="da-DK" sz="2400" dirty="0"/>
              <a:t>:</a:t>
            </a:r>
          </a:p>
          <a:p>
            <a:pPr marL="0" indent="0">
              <a:buNone/>
            </a:pPr>
            <a:r>
              <a:rPr lang="da-DK" sz="2400" dirty="0"/>
              <a:t>	</a:t>
            </a:r>
            <a:r>
              <a:rPr lang="da-DK" sz="2400" i="1" dirty="0" err="1"/>
              <a:t>code</a:t>
            </a:r>
            <a:endParaRPr lang="da-DK" sz="2400" dirty="0"/>
          </a:p>
          <a:p>
            <a:pPr marL="0" indent="0">
              <a:buNone/>
            </a:pPr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400" i="1" dirty="0" err="1"/>
              <a:t>condition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  </a:t>
            </a:r>
            <a:r>
              <a:rPr lang="da-DK" sz="2400" dirty="0"/>
              <a:t># </a:t>
            </a:r>
            <a:r>
              <a:rPr lang="da-DK" sz="2400" dirty="0" err="1"/>
              <a:t>zero</a:t>
            </a:r>
            <a:r>
              <a:rPr lang="da-DK" sz="2400" dirty="0"/>
              <a:t> or more </a:t>
            </a:r>
            <a:r>
              <a:rPr lang="en-US" sz="2400" dirty="0"/>
              <a:t>“</a:t>
            </a:r>
            <a:r>
              <a:rPr lang="en-US" sz="2400" dirty="0" err="1"/>
              <a:t>elfi</a:t>
            </a:r>
            <a:r>
              <a:rPr lang="en-US" sz="2400" dirty="0"/>
              <a:t>“ ≡ “else if”</a:t>
            </a:r>
            <a:endParaRPr lang="da-DK" sz="2400" dirty="0"/>
          </a:p>
          <a:p>
            <a:pPr marL="0" indent="0">
              <a:buNone/>
            </a:pPr>
            <a:r>
              <a:rPr lang="da-DK" sz="2400" dirty="0"/>
              <a:t>	</a:t>
            </a:r>
            <a:r>
              <a:rPr lang="da-DK" sz="2400" i="1" dirty="0" err="1"/>
              <a:t>code</a:t>
            </a:r>
            <a:endParaRPr lang="da-DK" sz="2400" i="1" dirty="0"/>
          </a:p>
          <a:p>
            <a:pPr marL="0" indent="0">
              <a:buNone/>
            </a:pPr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  </a:t>
            </a:r>
            <a:r>
              <a:rPr lang="da-DK" sz="2400" dirty="0"/>
              <a:t># </a:t>
            </a:r>
            <a:r>
              <a:rPr lang="da-DK" sz="2400" dirty="0" err="1"/>
              <a:t>optional</a:t>
            </a:r>
            <a:endParaRPr lang="da-DK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2400" dirty="0"/>
              <a:t>	</a:t>
            </a:r>
            <a:r>
              <a:rPr lang="da-DK" sz="2400" i="1" dirty="0" err="1"/>
              <a:t>code</a:t>
            </a:r>
            <a:endParaRPr lang="da-DK" sz="2400" i="1" dirty="0"/>
          </a:p>
          <a:p>
            <a:pPr marL="0" indent="0">
              <a:buNone/>
            </a:pPr>
            <a:endParaRPr lang="da-DK" sz="2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39210"/>
              </p:ext>
            </p:extLst>
          </p:nvPr>
        </p:nvGraphicFramePr>
        <p:xfrm>
          <a:off x="8437946" y="1929198"/>
          <a:ext cx="314932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932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81604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if-else.py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998821">
                <a:tc>
                  <a:txBody>
                    <a:bodyPr/>
                    <a:lstStyle/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x % 2 ==</a:t>
                      </a:r>
                      <a:r>
                        <a:rPr lang="da-DK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0:</a:t>
                      </a:r>
                    </a:p>
                    <a:p>
                      <a:r>
                        <a:rPr lang="da-DK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da-DK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even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da-DK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da-DK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</a:t>
                      </a:r>
                      <a:r>
                        <a:rPr lang="da-DK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da-DK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da-DK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odd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da-DK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171848"/>
              </p:ext>
            </p:extLst>
          </p:nvPr>
        </p:nvGraphicFramePr>
        <p:xfrm>
          <a:off x="8437945" y="695968"/>
          <a:ext cx="3149325" cy="10806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932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29386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714921">
                <a:tc>
                  <a:txBody>
                    <a:bodyPr/>
                    <a:lstStyle/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x == 0:</a:t>
                      </a:r>
                    </a:p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</a:t>
                      </a:r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zero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517772"/>
              </p:ext>
            </p:extLst>
          </p:nvPr>
        </p:nvGraphicFramePr>
        <p:xfrm>
          <a:off x="8437945" y="3639830"/>
          <a:ext cx="3149325" cy="2665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932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79801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elif.py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x &lt; 0:</a:t>
                      </a:r>
                    </a:p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print('negative')</a:t>
                      </a:r>
                    </a:p>
                    <a:p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elif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 == 0:</a:t>
                      </a:r>
                    </a:p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</a:t>
                      </a:r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zero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elif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 == 1:</a:t>
                      </a:r>
                    </a:p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</a:t>
                      </a:r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one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</a:t>
                      </a:r>
                    </a:p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print('&gt;= 2')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216545" y="4644357"/>
            <a:ext cx="3441057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kumimoji="0" lang="da-DK" altLang="da-DK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kumimoji="0" lang="da-DK" altLang="da-D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 alt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0" lang="da-DK" altLang="da-DK" b="0" i="1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code</a:t>
            </a:r>
            <a:r>
              <a:rPr kumimoji="0" lang="da-DK" altLang="da-D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kumimoji="0" lang="da-DK" altLang="da-DK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kumimoji="0" lang="da-DK" altLang="da-D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if (</a:t>
            </a:r>
            <a:r>
              <a:rPr kumimoji="0" lang="da-DK" altLang="da-DK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kumimoji="0" lang="da-DK" altLang="da-D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kumimoji="0" lang="da-DK" altLang="da-DK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da-DK" altLang="da-D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 alt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0" lang="da-DK" altLang="da-DK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code</a:t>
            </a:r>
            <a:r>
              <a:rPr kumimoji="0" lang="da-DK" altLang="da-D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kumimoji="0" lang="da-DK" altLang="da-DK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kumimoji="0" lang="da-DK" altLang="da-D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 alt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a-DK" altLang="da-DK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code</a:t>
            </a:r>
            <a:endParaRPr kumimoji="0" lang="da-DK" altLang="da-DK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35960" y="6212448"/>
            <a:ext cx="2114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Java, C, C++ syntax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2" y="6098212"/>
            <a:ext cx="4658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Other languages using indentation for blocking: ABC (1976), </a:t>
            </a:r>
            <a:r>
              <a:rPr lang="en-US" dirty="0" err="1">
                <a:solidFill>
                  <a:srgbClr val="C00000"/>
                </a:solidFill>
              </a:rPr>
              <a:t>occam</a:t>
            </a:r>
            <a:r>
              <a:rPr lang="en-US" dirty="0">
                <a:solidFill>
                  <a:srgbClr val="C00000"/>
                </a:solidFill>
              </a:rPr>
              <a:t> (1983), Miranda (1985)</a:t>
            </a:r>
          </a:p>
        </p:txBody>
      </p:sp>
    </p:spTree>
    <p:extLst>
      <p:ext uri="{BB962C8B-B14F-4D97-AF65-F5344CB8AC3E}">
        <p14:creationId xmlns:p14="http://schemas.microsoft.com/office/powerpoint/2010/main" val="959264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D2980-7746-9AC1-E353-FFBFA32F3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elif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make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nicer</a:t>
            </a:r>
            <a:r>
              <a:rPr lang="da-DK" dirty="0"/>
              <a:t> (</a:t>
            </a:r>
            <a:r>
              <a:rPr lang="da-DK" dirty="0" err="1"/>
              <a:t>less</a:t>
            </a:r>
            <a:r>
              <a:rPr lang="da-DK" dirty="0"/>
              <a:t> </a:t>
            </a:r>
            <a:r>
              <a:rPr lang="da-DK" dirty="0" err="1"/>
              <a:t>identation</a:t>
            </a:r>
            <a:r>
              <a:rPr lang="da-DK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7FCBA-4C22-0069-EFE4-B70D55B24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04F710B-956D-6723-B2F5-62E14699C9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545125"/>
              </p:ext>
            </p:extLst>
          </p:nvPr>
        </p:nvGraphicFramePr>
        <p:xfrm>
          <a:off x="1846472" y="2394073"/>
          <a:ext cx="3149325" cy="2665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932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79801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elif.py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x &lt; 0:</a:t>
                      </a:r>
                    </a:p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print('negative')</a:t>
                      </a:r>
                    </a:p>
                    <a:p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elif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 == 0:</a:t>
                      </a:r>
                    </a:p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</a:t>
                      </a:r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zero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elif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 == 1:</a:t>
                      </a:r>
                    </a:p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</a:t>
                      </a:r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one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</a:t>
                      </a:r>
                    </a:p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print('&gt;= 2')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B6B9DA-B672-2FE0-5D5B-88ABA077A7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806333"/>
              </p:ext>
            </p:extLst>
          </p:nvPr>
        </p:nvGraphicFramePr>
        <p:xfrm>
          <a:off x="5745272" y="2394073"/>
          <a:ext cx="4737348" cy="32144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734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79801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ugly-if.py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x &lt; 0:</a:t>
                      </a:r>
                    </a:p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print('negative')</a:t>
                      </a:r>
                    </a:p>
                    <a:p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 == 0:</a:t>
                      </a:r>
                    </a:p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print('</a:t>
                      </a:r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zero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 == 1:</a:t>
                      </a:r>
                    </a:p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print('</a:t>
                      </a:r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one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</a:t>
                      </a:r>
                    </a:p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print('&gt;= 2')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3739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Questions – What value is printed?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351227" y="2044897"/>
            <a:ext cx="3461999" cy="38679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defTabSz="1879600">
              <a:buSzPct val="100000"/>
              <a:buFont typeface="+mj-lt"/>
              <a:buAutoNum type="alphaLcParenR"/>
            </a:pPr>
            <a:r>
              <a:rPr lang="en-US" sz="3600" dirty="0"/>
              <a:t> 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514350" indent="-514350" defTabSz="1879600">
              <a:buSzPct val="100000"/>
              <a:buFont typeface="+mj-lt"/>
              <a:buAutoNum type="alphaLcParenR"/>
            </a:pPr>
            <a:r>
              <a:rPr lang="en-US" sz="3600" dirty="0"/>
              <a:t> 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marL="514350" indent="-514350" defTabSz="1879600">
              <a:buSzPct val="100000"/>
              <a:buFont typeface="+mj-lt"/>
              <a:buAutoNum type="alphaLcParenR"/>
            </a:pPr>
            <a:r>
              <a:rPr lang="en-US" sz="3600" dirty="0"/>
              <a:t> 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pPr marL="514350" indent="-514350" defTabSz="1879600">
              <a:buSzPct val="100000"/>
              <a:buFont typeface="+mj-lt"/>
              <a:buAutoNum type="alphaLcParenR"/>
            </a:pPr>
            <a:r>
              <a:rPr lang="en-US" sz="3600" dirty="0"/>
              <a:t> 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pPr marL="514350" indent="-514350" defTabSz="1879600">
              <a:buSzPct val="100000"/>
              <a:buFont typeface="+mj-lt"/>
              <a:buAutoNum type="alphaLcParenR"/>
            </a:pPr>
            <a:r>
              <a:rPr lang="en-US" sz="3600" dirty="0"/>
              <a:t> 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pPr marL="514350" indent="-514350" defTabSz="1879600">
              <a:buSzPct val="100000"/>
              <a:buFont typeface="+mj-lt"/>
              <a:buAutoNum type="alphaLcParenR"/>
            </a:pPr>
            <a:r>
              <a:rPr lang="en-US" sz="3600" dirty="0"/>
              <a:t> Don’t know</a:t>
            </a:r>
          </a:p>
        </p:txBody>
      </p:sp>
      <p:sp>
        <p:nvSpPr>
          <p:cNvPr id="5" name="Smiley Face 4" descr="QuizAnswer"/>
          <p:cNvSpPr/>
          <p:nvPr/>
        </p:nvSpPr>
        <p:spPr>
          <a:xfrm>
            <a:off x="6837764" y="3978856"/>
            <a:ext cx="374567" cy="363338"/>
          </a:xfrm>
          <a:prstGeom prst="smileyFace">
            <a:avLst>
              <a:gd name="adj" fmla="val 4653"/>
            </a:avLst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33286" y="2313447"/>
            <a:ext cx="406271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x = 1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if x == 2: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x = x + 1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x = x + 1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x = x + 1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x = x + 1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print(x)</a:t>
            </a:r>
          </a:p>
        </p:txBody>
      </p:sp>
    </p:spTree>
    <p:extLst>
      <p:ext uri="{BB962C8B-B14F-4D97-AF65-F5344CB8AC3E}">
        <p14:creationId xmlns:p14="http://schemas.microsoft.com/office/powerpoint/2010/main" val="4014275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if-statements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0562"/>
              </p:ext>
            </p:extLst>
          </p:nvPr>
        </p:nvGraphicFramePr>
        <p:xfrm>
          <a:off x="3369656" y="1690688"/>
          <a:ext cx="5452688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268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nested-if.py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3451910">
                <a:tc>
                  <a:txBody>
                    <a:bodyPr/>
                    <a:lstStyle/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x &lt; 0:</a:t>
                      </a:r>
                    </a:p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print('negative')</a:t>
                      </a:r>
                    </a:p>
                    <a:p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elif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 % 2 ==</a:t>
                      </a:r>
                      <a:r>
                        <a:rPr lang="da-DK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0:</a:t>
                      </a:r>
                    </a:p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x == 0:</a:t>
                      </a:r>
                    </a:p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print('</a:t>
                      </a:r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zero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elif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 == 2:</a:t>
                      </a:r>
                    </a:p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print('</a:t>
                      </a:r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even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prime</a:t>
                      </a:r>
                      <a:r>
                        <a:rPr lang="da-DK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number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</a:t>
                      </a:r>
                    </a:p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print('</a:t>
                      </a:r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even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composite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number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da-DK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</a:t>
                      </a:r>
                      <a:r>
                        <a:rPr lang="da-DK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x == 1:</a:t>
                      </a:r>
                    </a:p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print('</a:t>
                      </a:r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one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r>
                        <a:rPr lang="da-DK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</a:t>
                      </a:r>
                    </a:p>
                    <a:p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print('</a:t>
                      </a:r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some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odd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number</a:t>
                      </a:r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  <a:endParaRPr lang="da-DK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4924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DC123-E5D6-4B1E-838D-428C0508E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Common </a:t>
            </a:r>
            <a:r>
              <a:rPr lang="da-DK" dirty="0" err="1"/>
              <a:t>mistake</a:t>
            </a:r>
            <a:endParaRPr lang="da-DK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7B0A96-A9F4-4F69-8933-393AB0B1C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989440"/>
              </p:ext>
            </p:extLst>
          </p:nvPr>
        </p:nvGraphicFramePr>
        <p:xfrm>
          <a:off x="1973378" y="2331128"/>
          <a:ext cx="3763391" cy="32165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3391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13378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if-if.py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783445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int(input())</a:t>
                      </a:r>
                    </a:p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x == 0:</a:t>
                      </a:r>
                    </a:p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print('zero')</a:t>
                      </a:r>
                    </a:p>
                    <a:p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 % 2 == 0:</a:t>
                      </a:r>
                    </a:p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print('even')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313378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765046"/>
                  </a:ext>
                </a:extLst>
              </a:tr>
              <a:tr h="945817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zero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even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56812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A6A35F-BAC9-4890-8CB9-B588AA5F8D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953135"/>
              </p:ext>
            </p:extLst>
          </p:nvPr>
        </p:nvGraphicFramePr>
        <p:xfrm>
          <a:off x="6455233" y="2326478"/>
          <a:ext cx="3763391" cy="32165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3391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13378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if-elif.py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783445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int(input())</a:t>
                      </a:r>
                    </a:p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x == 0:</a:t>
                      </a:r>
                    </a:p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print('zero')</a:t>
                      </a:r>
                    </a:p>
                    <a:p>
                      <a:r>
                        <a:rPr lang="en-US" sz="18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elif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 % 2 == 0:</a:t>
                      </a:r>
                    </a:p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print('even')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313378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765046"/>
                  </a:ext>
                </a:extLst>
              </a:tr>
              <a:tr h="945817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zero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56812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F11C221-8A2B-4CD1-A546-36CEDD4082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379" y="5137151"/>
            <a:ext cx="487666" cy="40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70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00696" y="4085111"/>
            <a:ext cx="7362702" cy="6056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if-else </a:t>
            </a:r>
            <a:r>
              <a:rPr lang="en-US" i="1" dirty="0"/>
              <a:t>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3202" y="1690688"/>
            <a:ext cx="10515600" cy="4852616"/>
          </a:xfrm>
        </p:spPr>
        <p:txBody>
          <a:bodyPr>
            <a:noAutofit/>
          </a:bodyPr>
          <a:lstStyle/>
          <a:p>
            <a:r>
              <a:rPr lang="en-US" sz="2400" dirty="0"/>
              <a:t>A very common computation is</a:t>
            </a:r>
          </a:p>
          <a:p>
            <a:pPr marL="0" indent="0">
              <a:lnSpc>
                <a:spcPct val="50000"/>
              </a:lnSpc>
              <a:spcBef>
                <a:spcPts val="240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if </a:t>
            </a:r>
            <a:r>
              <a:rPr lang="en-US" sz="2400" i="1" dirty="0"/>
              <a:t>test</a:t>
            </a:r>
            <a:r>
              <a:rPr lang="en-US" sz="2400" dirty="0"/>
              <a:t>: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    x = </a:t>
            </a:r>
            <a:r>
              <a:rPr lang="en-US" sz="2400" i="1" dirty="0"/>
              <a:t>true-expression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else:</a:t>
            </a:r>
            <a:endParaRPr lang="en-US" sz="24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50000"/>
              </a:lnSpc>
              <a:spcAft>
                <a:spcPts val="1200"/>
              </a:spcAft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    x = </a:t>
            </a:r>
            <a:r>
              <a:rPr lang="en-US" sz="2400" i="1" dirty="0"/>
              <a:t>false-expression</a:t>
            </a:r>
          </a:p>
          <a:p>
            <a:pPr>
              <a:lnSpc>
                <a:spcPct val="50000"/>
              </a:lnSpc>
            </a:pPr>
            <a:r>
              <a:rPr lang="en-US" sz="2400" dirty="0"/>
              <a:t>In Python there is a shorthand for this:</a:t>
            </a:r>
          </a:p>
          <a:p>
            <a:pPr marL="0" indent="0"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x = </a:t>
            </a:r>
            <a:r>
              <a:rPr lang="en-US" sz="2400" i="1" dirty="0"/>
              <a:t>true-expression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if </a:t>
            </a:r>
            <a:r>
              <a:rPr lang="en-US" sz="2400" i="1" dirty="0"/>
              <a:t>test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else </a:t>
            </a:r>
            <a:r>
              <a:rPr lang="en-US" sz="2400" i="1" dirty="0"/>
              <a:t>false-expression</a:t>
            </a:r>
          </a:p>
          <a:p>
            <a:pPr marL="0" indent="0" algn="ctr">
              <a:buNone/>
            </a:pPr>
            <a:r>
              <a:rPr lang="en-US" sz="2400" dirty="0"/>
              <a:t>(see </a:t>
            </a:r>
            <a:r>
              <a:rPr lang="en-US" sz="2400" dirty="0">
                <a:hlinkClick r:id="rId3"/>
              </a:rPr>
              <a:t>What’s New in Python 2.5 - </a:t>
            </a:r>
            <a:r>
              <a:rPr lang="da-DK" sz="2400" b="1" dirty="0">
                <a:hlinkClick r:id="rId3"/>
              </a:rPr>
              <a:t>PEP 308: </a:t>
            </a:r>
            <a:r>
              <a:rPr lang="da-DK" sz="2400" b="1" dirty="0" err="1">
                <a:hlinkClick r:id="rId3"/>
              </a:rPr>
              <a:t>Conditional</a:t>
            </a:r>
            <a:r>
              <a:rPr lang="da-DK" sz="2400" b="1" dirty="0">
                <a:hlinkClick r:id="rId3"/>
              </a:rPr>
              <a:t> Expressions</a:t>
            </a:r>
            <a:r>
              <a:rPr lang="da-DK" sz="2400" b="1" dirty="0"/>
              <a:t>)</a:t>
            </a:r>
            <a:br>
              <a:rPr lang="da-DK" sz="2400" b="1" dirty="0"/>
            </a:br>
            <a:endParaRPr lang="en-US" sz="2400" dirty="0"/>
          </a:p>
          <a:p>
            <a:r>
              <a:rPr lang="en-US" sz="2400" dirty="0"/>
              <a:t>In C, C++, Java, </a:t>
            </a:r>
            <a:r>
              <a:rPr lang="en-US" sz="2400" dirty="0" err="1"/>
              <a:t>Javascript</a:t>
            </a:r>
            <a:r>
              <a:rPr lang="en-US" sz="2400" dirty="0"/>
              <a:t> the equivalent notation is (note the different order)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x = </a:t>
            </a:r>
            <a:r>
              <a:rPr lang="en-US" sz="2400" i="1" dirty="0"/>
              <a:t>test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? </a:t>
            </a:r>
            <a:r>
              <a:rPr lang="en-US" sz="2400" i="1" dirty="0"/>
              <a:t>true-expression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2400" i="1" dirty="0"/>
              <a:t>false-expression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5533901" y="2232559"/>
            <a:ext cx="5498276" cy="2006932"/>
            <a:chOff x="5533901" y="2232559"/>
            <a:chExt cx="5498276" cy="2006932"/>
          </a:xfrm>
        </p:grpSpPr>
        <p:sp>
          <p:nvSpPr>
            <p:cNvPr id="5" name="Cloud 4"/>
            <p:cNvSpPr/>
            <p:nvPr/>
          </p:nvSpPr>
          <p:spPr>
            <a:xfrm>
              <a:off x="7303325" y="2232559"/>
              <a:ext cx="3728852" cy="1389415"/>
            </a:xfrm>
            <a:prstGeom prst="cloud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think of this as the </a:t>
              </a:r>
              <a:br>
                <a:rPr 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</a:br>
              <a:r>
                <a:rPr 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“common case” and the “exceptional case”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>
            <a:xfrm flipH="1">
              <a:off x="5533901" y="3016251"/>
              <a:ext cx="2446317" cy="1223240"/>
            </a:xfrm>
            <a:prstGeom prst="straightConnector1">
              <a:avLst/>
            </a:prstGeom>
            <a:ln w="127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flipH="1">
              <a:off x="8787740" y="3301340"/>
              <a:ext cx="106878" cy="862505"/>
            </a:xfrm>
            <a:prstGeom prst="straightConnector1">
              <a:avLst/>
            </a:prstGeom>
            <a:ln w="127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7387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3071052" y="2944254"/>
            <a:ext cx="6341423" cy="22296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Repeat until done</a:t>
            </a:r>
          </a:p>
        </p:txBody>
      </p:sp>
      <p:cxnSp>
        <p:nvCxnSpPr>
          <p:cNvPr id="11" name="Straight Arrow Connector 10"/>
          <p:cNvCxnSpPr>
            <a:stCxn id="4" idx="2"/>
            <a:endCxn id="9" idx="0"/>
          </p:cNvCxnSpPr>
          <p:nvPr/>
        </p:nvCxnSpPr>
        <p:spPr>
          <a:xfrm>
            <a:off x="4629435" y="2686095"/>
            <a:ext cx="0" cy="1221367"/>
          </a:xfrm>
          <a:prstGeom prst="straightConnector1">
            <a:avLst/>
          </a:prstGeom>
          <a:ln w="41275" cap="rnd">
            <a:solidFill>
              <a:schemeClr val="tx1">
                <a:lumMod val="95000"/>
                <a:lumOff val="5000"/>
              </a:schemeClr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5211137" y="3372501"/>
            <a:ext cx="0" cy="534960"/>
          </a:xfrm>
          <a:prstGeom prst="straightConnector1">
            <a:avLst/>
          </a:prstGeom>
          <a:ln w="41275" cap="rnd">
            <a:solidFill>
              <a:schemeClr val="tx1">
                <a:lumMod val="95000"/>
                <a:lumOff val="5000"/>
              </a:schemeClr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9" idx="3"/>
            <a:endCxn id="6" idx="1"/>
          </p:cNvCxnSpPr>
          <p:nvPr/>
        </p:nvCxnSpPr>
        <p:spPr>
          <a:xfrm flipV="1">
            <a:off x="5793217" y="4251043"/>
            <a:ext cx="991065" cy="4545"/>
          </a:xfrm>
          <a:prstGeom prst="straightConnector1">
            <a:avLst/>
          </a:prstGeom>
          <a:ln w="41275" cap="rnd">
            <a:solidFill>
              <a:schemeClr val="tx1">
                <a:lumMod val="95000"/>
                <a:lumOff val="5000"/>
              </a:schemeClr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5" idx="0"/>
          </p:cNvCxnSpPr>
          <p:nvPr/>
        </p:nvCxnSpPr>
        <p:spPr>
          <a:xfrm>
            <a:off x="4629435" y="4061300"/>
            <a:ext cx="0" cy="1379540"/>
          </a:xfrm>
          <a:prstGeom prst="straightConnector1">
            <a:avLst/>
          </a:prstGeom>
          <a:ln w="41275" cap="rnd">
            <a:solidFill>
              <a:schemeClr val="tx1">
                <a:lumMod val="95000"/>
                <a:lumOff val="5000"/>
              </a:schemeClr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465653" y="1989843"/>
            <a:ext cx="2327564" cy="6962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Code before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465653" y="5440840"/>
            <a:ext cx="2327564" cy="6962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Code after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465653" y="3907462"/>
            <a:ext cx="2327564" cy="6962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repeat 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9047" y="3842789"/>
            <a:ext cx="898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41362" y="4750821"/>
            <a:ext cx="1698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91764" y="4286848"/>
            <a:ext cx="232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rgbClr val="C00000"/>
                </a:solidFill>
                <a:cs typeface="Courier New" panose="02070309020205020404" pitchFamily="49" charset="0"/>
              </a:rPr>
              <a:t>boolean</a:t>
            </a:r>
            <a:r>
              <a:rPr lang="en-US" sz="1400" dirty="0">
                <a:solidFill>
                  <a:srgbClr val="C00000"/>
                </a:solidFill>
                <a:cs typeface="Courier New" panose="02070309020205020404" pitchFamily="49" charset="0"/>
              </a:rPr>
              <a:t> expression</a:t>
            </a:r>
          </a:p>
        </p:txBody>
      </p:sp>
      <p:cxnSp>
        <p:nvCxnSpPr>
          <p:cNvPr id="54" name="Straight Connector 53"/>
          <p:cNvCxnSpPr/>
          <p:nvPr/>
        </p:nvCxnSpPr>
        <p:spPr>
          <a:xfrm>
            <a:off x="5211137" y="3361187"/>
            <a:ext cx="2735737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6" idx="0"/>
          </p:cNvCxnSpPr>
          <p:nvPr/>
        </p:nvCxnSpPr>
        <p:spPr>
          <a:xfrm flipH="1" flipV="1">
            <a:off x="7946874" y="3361185"/>
            <a:ext cx="6138" cy="546276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784282" y="3907461"/>
            <a:ext cx="2337459" cy="6871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 it once more</a:t>
            </a:r>
          </a:p>
        </p:txBody>
      </p:sp>
    </p:spTree>
    <p:extLst>
      <p:ext uri="{BB962C8B-B14F-4D97-AF65-F5344CB8AC3E}">
        <p14:creationId xmlns:p14="http://schemas.microsoft.com/office/powerpoint/2010/main" val="2286016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5" grpId="0" animBg="1"/>
      <p:bldP spid="27" grpId="0"/>
      <p:bldP spid="28" grpId="0"/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while-statement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433" y="1528632"/>
            <a:ext cx="6304608" cy="33503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400" i="1" dirty="0" err="1"/>
              <a:t>condition</a:t>
            </a:r>
            <a:r>
              <a:rPr lang="da-DK" sz="2400" dirty="0"/>
              <a:t>:</a:t>
            </a:r>
          </a:p>
          <a:p>
            <a:pPr marL="0" indent="0">
              <a:buNone/>
            </a:pP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a-DK" sz="2400" i="1" dirty="0" err="1"/>
              <a:t>code</a:t>
            </a:r>
            <a:endParaRPr lang="da-DK" sz="2400" i="1" dirty="0"/>
          </a:p>
          <a:p>
            <a:pPr marL="0" indent="0">
              <a:lnSpc>
                <a:spcPct val="50000"/>
              </a:lnSpc>
              <a:buNone/>
            </a:pP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a-DK" sz="2400" i="1" dirty="0"/>
              <a:t>...</a:t>
            </a:r>
          </a:p>
          <a:p>
            <a:pPr marL="0" indent="0">
              <a:buNone/>
            </a:pP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break # </a:t>
            </a:r>
            <a:r>
              <a:rPr lang="da-DK" sz="2400" dirty="0">
                <a:cs typeface="Courier New" panose="02070309020205020404" pitchFamily="49" charset="0"/>
              </a:rPr>
              <a:t>jump to </a:t>
            </a:r>
            <a:r>
              <a:rPr lang="da-DK" sz="2400" dirty="0" err="1">
                <a:cs typeface="Courier New" panose="02070309020205020404" pitchFamily="49" charset="0"/>
              </a:rPr>
              <a:t>code</a:t>
            </a:r>
            <a:r>
              <a:rPr lang="da-DK" sz="2400" dirty="0">
                <a:cs typeface="Courier New" panose="02070309020205020404" pitchFamily="49" charset="0"/>
              </a:rPr>
              <a:t> </a:t>
            </a:r>
            <a:r>
              <a:rPr lang="da-DK" sz="2400" dirty="0" err="1">
                <a:cs typeface="Courier New" panose="02070309020205020404" pitchFamily="49" charset="0"/>
              </a:rPr>
              <a:t>after</a:t>
            </a:r>
            <a:r>
              <a:rPr lang="da-DK" sz="2400" dirty="0">
                <a:cs typeface="Courier New" panose="02070309020205020404" pitchFamily="49" charset="0"/>
              </a:rPr>
              <a:t> </a:t>
            </a:r>
            <a:r>
              <a:rPr lang="da-DK" sz="2400" dirty="0" err="1">
                <a:cs typeface="Courier New" panose="02070309020205020404" pitchFamily="49" charset="0"/>
              </a:rPr>
              <a:t>while</a:t>
            </a:r>
            <a:r>
              <a:rPr lang="da-DK" sz="2400" dirty="0">
                <a:cs typeface="Courier New" panose="02070309020205020404" pitchFamily="49" charset="0"/>
              </a:rPr>
              <a:t> loop</a:t>
            </a:r>
            <a:endParaRPr lang="da-DK" sz="2400" dirty="0"/>
          </a:p>
          <a:p>
            <a:pPr marL="0" indent="0">
              <a:lnSpc>
                <a:spcPct val="50000"/>
              </a:lnSpc>
              <a:buNone/>
            </a:pP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a-DK" sz="2400" i="1" dirty="0"/>
              <a:t>...</a:t>
            </a:r>
          </a:p>
          <a:p>
            <a:pPr marL="0" indent="0">
              <a:buNone/>
            </a:pP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da-DK" sz="2400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da-DK" sz="2400" dirty="0">
                <a:cs typeface="Courier New" panose="02070309020205020404" pitchFamily="49" charset="0"/>
              </a:rPr>
              <a:t>jump to </a:t>
            </a:r>
            <a:r>
              <a:rPr lang="da-DK" sz="2400" dirty="0" err="1">
                <a:cs typeface="Courier New" panose="02070309020205020404" pitchFamily="49" charset="0"/>
              </a:rPr>
              <a:t>condition</a:t>
            </a:r>
            <a:r>
              <a:rPr lang="da-DK" sz="2400" dirty="0">
                <a:cs typeface="Courier New" panose="02070309020205020404" pitchFamily="49" charset="0"/>
              </a:rPr>
              <a:t> at the </a:t>
            </a:r>
            <a:br>
              <a:rPr lang="da-DK" sz="2400" dirty="0">
                <a:cs typeface="Courier New" panose="02070309020205020404" pitchFamily="49" charset="0"/>
              </a:rPr>
            </a:b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a-DK" sz="2400" i="1" dirty="0"/>
              <a:t>...   	</a:t>
            </a:r>
            <a:r>
              <a:rPr lang="da-DK" sz="2400" i="1"/>
              <a:t>   </a:t>
            </a:r>
            <a:r>
              <a:rPr lang="da-DK" sz="2400" i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240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da-DK" sz="2400">
                <a:cs typeface="Courier New" panose="02070309020205020404" pitchFamily="49" charset="0"/>
              </a:rPr>
              <a:t>  </a:t>
            </a:r>
            <a:r>
              <a:rPr lang="da-DK" sz="2400" dirty="0" err="1">
                <a:cs typeface="Courier New" panose="02070309020205020404" pitchFamily="49" charset="0"/>
              </a:rPr>
              <a:t>beginning</a:t>
            </a:r>
            <a:r>
              <a:rPr lang="da-DK" sz="2400" dirty="0">
                <a:cs typeface="Courier New" panose="02070309020205020404" pitchFamily="49" charset="0"/>
              </a:rPr>
              <a:t> of </a:t>
            </a:r>
            <a:r>
              <a:rPr lang="da-DK" sz="2400" dirty="0" err="1">
                <a:cs typeface="Courier New" panose="02070309020205020404" pitchFamily="49" charset="0"/>
              </a:rPr>
              <a:t>while</a:t>
            </a:r>
            <a:r>
              <a:rPr lang="da-DK" sz="2400" dirty="0">
                <a:cs typeface="Courier New" panose="02070309020205020404" pitchFamily="49" charset="0"/>
              </a:rPr>
              <a:t> loop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083718"/>
              </p:ext>
            </p:extLst>
          </p:nvPr>
        </p:nvGraphicFramePr>
        <p:xfrm>
          <a:off x="4234833" y="4357633"/>
          <a:ext cx="3016568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656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59827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1</a:t>
                      </a:r>
                    </a:p>
                    <a:p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while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</a:t>
                      </a:r>
                      <a:r>
                        <a:rPr lang="da-DK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&lt;= 5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print(x, end=' ')</a:t>
                      </a:r>
                    </a:p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x =</a:t>
                      </a:r>
                      <a:r>
                        <a:rPr lang="da-DK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 + 1</a:t>
                      </a:r>
                    </a:p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print('and', x)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600" b="1" baseline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600" b="1" baseline="0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182567"/>
                  </a:ext>
                </a:extLst>
              </a:tr>
              <a:tr h="234994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 2 3 4 5 and 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084691"/>
                  </a:ext>
                </a:extLst>
              </a:tr>
            </a:tbl>
          </a:graphicData>
        </a:graphic>
      </p:graphicFrame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383288" y="5750783"/>
            <a:ext cx="3105389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 alt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0" lang="da-DK" altLang="da-D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kumimoji="0" lang="da-DK" altLang="da-DK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kumimoji="0" lang="da-DK" altLang="da-D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 alt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0" lang="da-DK" altLang="da-DK" b="0" i="1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code</a:t>
            </a:r>
            <a:r>
              <a:rPr kumimoji="0" lang="da-DK" altLang="da-D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185" y="6212448"/>
            <a:ext cx="2114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Java, C, C++ syntax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723152"/>
              </p:ext>
            </p:extLst>
          </p:nvPr>
        </p:nvGraphicFramePr>
        <p:xfrm>
          <a:off x="7881258" y="3111135"/>
          <a:ext cx="3850005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00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79367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random-pair.py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092506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random import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randint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while True:</a:t>
                      </a: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x =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randint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(1, 10)</a:t>
                      </a: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y =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randint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(1, 10)</a:t>
                      </a: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abs(x - y) &gt;= 2: </a:t>
                      </a:r>
                    </a:p>
                    <a:p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break</a:t>
                      </a: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print('too close', x, y)</a:t>
                      </a: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print(x, y)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79367"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765046"/>
                  </a:ext>
                </a:extLst>
              </a:tr>
              <a:tr h="505989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too close 4 4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too close 10</a:t>
                      </a: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9</a:t>
                      </a:r>
                      <a:endParaRPr lang="en-US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8 5</a:t>
                      </a:r>
                      <a:endParaRPr lang="en-US" sz="1200" b="1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568129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10020648" y="2395536"/>
            <a:ext cx="245022" cy="11656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57867" y="1472206"/>
            <a:ext cx="3771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function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(a, b)</a:t>
            </a:r>
            <a:r>
              <a:rPr lang="en-US" dirty="0"/>
              <a:t> from module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en-US" dirty="0"/>
              <a:t> returns a random integer from {a, a + 1,..., b – 1, b}</a:t>
            </a:r>
          </a:p>
        </p:txBody>
      </p:sp>
    </p:spTree>
    <p:extLst>
      <p:ext uri="{BB962C8B-B14F-4D97-AF65-F5344CB8AC3E}">
        <p14:creationId xmlns:p14="http://schemas.microsoft.com/office/powerpoint/2010/main" val="2572527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animBg="1"/>
      <p:bldP spid="13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89"/>
          <p:cNvGrpSpPr/>
          <p:nvPr/>
        </p:nvGrpSpPr>
        <p:grpSpPr>
          <a:xfrm>
            <a:off x="2364872" y="5695901"/>
            <a:ext cx="8000753" cy="935755"/>
            <a:chOff x="2364872" y="5695901"/>
            <a:chExt cx="8000753" cy="935755"/>
          </a:xfrm>
        </p:grpSpPr>
        <p:grpSp>
          <p:nvGrpSpPr>
            <p:cNvPr id="69" name="Group 68"/>
            <p:cNvGrpSpPr/>
            <p:nvPr/>
          </p:nvGrpSpPr>
          <p:grpSpPr>
            <a:xfrm>
              <a:off x="2364872" y="6522436"/>
              <a:ext cx="8000753" cy="109220"/>
              <a:chOff x="2364872" y="6700236"/>
              <a:chExt cx="8000753" cy="109220"/>
            </a:xfrm>
          </p:grpSpPr>
          <p:sp>
            <p:nvSpPr>
              <p:cNvPr id="63" name="Oval 62"/>
              <p:cNvSpPr/>
              <p:nvPr/>
            </p:nvSpPr>
            <p:spPr>
              <a:xfrm>
                <a:off x="2364872" y="6701456"/>
                <a:ext cx="108000" cy="108000"/>
              </a:xfrm>
              <a:prstGeom prst="ellipse">
                <a:avLst/>
              </a:prstGeom>
              <a:solidFill>
                <a:srgbClr val="C00000"/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Connector 63"/>
              <p:cNvCxnSpPr>
                <a:stCxn id="63" idx="6"/>
                <a:endCxn id="65" idx="2"/>
              </p:cNvCxnSpPr>
              <p:nvPr/>
            </p:nvCxnSpPr>
            <p:spPr>
              <a:xfrm flipV="1">
                <a:off x="2472872" y="6754236"/>
                <a:ext cx="7784753" cy="122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Oval 64"/>
              <p:cNvSpPr/>
              <p:nvPr/>
            </p:nvSpPr>
            <p:spPr>
              <a:xfrm>
                <a:off x="10257625" y="6700236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3859847" y="5695901"/>
              <a:ext cx="482353" cy="109220"/>
              <a:chOff x="2364872" y="6700236"/>
              <a:chExt cx="482353" cy="109220"/>
            </a:xfrm>
          </p:grpSpPr>
          <p:sp>
            <p:nvSpPr>
              <p:cNvPr id="72" name="Oval 71"/>
              <p:cNvSpPr/>
              <p:nvPr/>
            </p:nvSpPr>
            <p:spPr>
              <a:xfrm>
                <a:off x="2364872" y="6701456"/>
                <a:ext cx="108000" cy="108000"/>
              </a:xfrm>
              <a:prstGeom prst="ellipse">
                <a:avLst/>
              </a:prstGeom>
              <a:solidFill>
                <a:srgbClr val="C00000"/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Connector 72"/>
              <p:cNvCxnSpPr>
                <a:stCxn id="72" idx="6"/>
                <a:endCxn id="74" idx="2"/>
              </p:cNvCxnSpPr>
              <p:nvPr/>
            </p:nvCxnSpPr>
            <p:spPr>
              <a:xfrm flipV="1">
                <a:off x="2472872" y="6754236"/>
                <a:ext cx="266353" cy="122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Oval 73"/>
              <p:cNvSpPr/>
              <p:nvPr/>
            </p:nvSpPr>
            <p:spPr>
              <a:xfrm>
                <a:off x="2739225" y="6700236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5" name="Group 74"/>
            <p:cNvGrpSpPr/>
            <p:nvPr/>
          </p:nvGrpSpPr>
          <p:grpSpPr>
            <a:xfrm>
              <a:off x="3491547" y="5862623"/>
              <a:ext cx="850653" cy="109220"/>
              <a:chOff x="2364872" y="6700236"/>
              <a:chExt cx="850653" cy="109220"/>
            </a:xfrm>
          </p:grpSpPr>
          <p:sp>
            <p:nvSpPr>
              <p:cNvPr id="77" name="Oval 76"/>
              <p:cNvSpPr/>
              <p:nvPr/>
            </p:nvSpPr>
            <p:spPr>
              <a:xfrm>
                <a:off x="2364872" y="6701456"/>
                <a:ext cx="108000" cy="108000"/>
              </a:xfrm>
              <a:prstGeom prst="ellipse">
                <a:avLst/>
              </a:prstGeom>
              <a:solidFill>
                <a:srgbClr val="C00000"/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8" name="Straight Connector 77"/>
              <p:cNvCxnSpPr>
                <a:stCxn id="77" idx="6"/>
                <a:endCxn id="79" idx="2"/>
              </p:cNvCxnSpPr>
              <p:nvPr/>
            </p:nvCxnSpPr>
            <p:spPr>
              <a:xfrm flipV="1">
                <a:off x="2472872" y="6754236"/>
                <a:ext cx="634653" cy="122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Oval 78"/>
              <p:cNvSpPr/>
              <p:nvPr/>
            </p:nvSpPr>
            <p:spPr>
              <a:xfrm>
                <a:off x="3107525" y="6700236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0" name="Group 79"/>
            <p:cNvGrpSpPr/>
            <p:nvPr/>
          </p:nvGrpSpPr>
          <p:grpSpPr>
            <a:xfrm>
              <a:off x="2364872" y="6205713"/>
              <a:ext cx="1980953" cy="109220"/>
              <a:chOff x="2364872" y="6700236"/>
              <a:chExt cx="1980953" cy="109220"/>
            </a:xfrm>
          </p:grpSpPr>
          <p:sp>
            <p:nvSpPr>
              <p:cNvPr id="82" name="Oval 81"/>
              <p:cNvSpPr/>
              <p:nvPr/>
            </p:nvSpPr>
            <p:spPr>
              <a:xfrm>
                <a:off x="2364872" y="6701456"/>
                <a:ext cx="108000" cy="108000"/>
              </a:xfrm>
              <a:prstGeom prst="ellipse">
                <a:avLst/>
              </a:prstGeom>
              <a:solidFill>
                <a:srgbClr val="C00000"/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3" name="Straight Connector 82"/>
              <p:cNvCxnSpPr>
                <a:stCxn id="82" idx="6"/>
                <a:endCxn id="84" idx="2"/>
              </p:cNvCxnSpPr>
              <p:nvPr/>
            </p:nvCxnSpPr>
            <p:spPr>
              <a:xfrm flipV="1">
                <a:off x="2472872" y="6754236"/>
                <a:ext cx="1764953" cy="122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Oval 83"/>
              <p:cNvSpPr/>
              <p:nvPr/>
            </p:nvSpPr>
            <p:spPr>
              <a:xfrm>
                <a:off x="4237825" y="6700236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5" name="Group 84"/>
            <p:cNvGrpSpPr/>
            <p:nvPr/>
          </p:nvGrpSpPr>
          <p:grpSpPr>
            <a:xfrm>
              <a:off x="2364872" y="6370015"/>
              <a:ext cx="3855057" cy="109220"/>
              <a:chOff x="2364872" y="6700236"/>
              <a:chExt cx="3855057" cy="109220"/>
            </a:xfrm>
          </p:grpSpPr>
          <p:sp>
            <p:nvSpPr>
              <p:cNvPr id="87" name="Oval 86"/>
              <p:cNvSpPr/>
              <p:nvPr/>
            </p:nvSpPr>
            <p:spPr>
              <a:xfrm>
                <a:off x="2364872" y="6701456"/>
                <a:ext cx="108000" cy="108000"/>
              </a:xfrm>
              <a:prstGeom prst="ellipse">
                <a:avLst/>
              </a:prstGeom>
              <a:solidFill>
                <a:srgbClr val="C00000"/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8" name="Straight Connector 87"/>
              <p:cNvCxnSpPr>
                <a:stCxn id="87" idx="6"/>
                <a:endCxn id="89" idx="2"/>
              </p:cNvCxnSpPr>
              <p:nvPr/>
            </p:nvCxnSpPr>
            <p:spPr>
              <a:xfrm flipV="1">
                <a:off x="2472872" y="6754236"/>
                <a:ext cx="3639057" cy="122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Oval 88"/>
              <p:cNvSpPr/>
              <p:nvPr/>
            </p:nvSpPr>
            <p:spPr>
              <a:xfrm>
                <a:off x="6111929" y="6700236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Computing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da-DK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rad>
                      </m:e>
                    </m:d>
                  </m:oMath>
                </a14:m>
                <a:r>
                  <a:rPr lang="en-US" dirty="0"/>
                  <a:t> using binary search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58258"/>
              </p:ext>
            </p:extLst>
          </p:nvPr>
        </p:nvGraphicFramePr>
        <p:xfrm>
          <a:off x="3478847" y="1592412"/>
          <a:ext cx="5234305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43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int-sqrt.py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249075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20</a:t>
                      </a:r>
                      <a:b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low = 0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high = x + 1</a:t>
                      </a:r>
                    </a:p>
                    <a:p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while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True:  </a:t>
                      </a:r>
                      <a:r>
                        <a:rPr lang="en-US" sz="18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low &lt;= </a:t>
                      </a:r>
                      <a:r>
                        <a:rPr lang="en-US" sz="18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sqrt</a:t>
                      </a:r>
                      <a:r>
                        <a:rPr lang="en-US" sz="18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 &lt; high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low + 1 == high: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break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mid = (high + low) // 2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mid * mid &lt;= x: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low = mid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continue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high = mid 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print(low)</a:t>
                      </a:r>
                      <a:r>
                        <a:rPr lang="en-US" sz="18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# low = floor(</a:t>
                      </a:r>
                      <a:r>
                        <a:rPr lang="en-US" sz="18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sqrt</a:t>
                      </a:r>
                      <a:r>
                        <a:rPr lang="en-US" sz="18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932816" y="300610"/>
            <a:ext cx="1999373" cy="67504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An exercise asks to simplify the code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98179" y="5711054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9793802" y="5711054"/>
                <a:ext cx="228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3802" y="5711054"/>
                <a:ext cx="228600" cy="369332"/>
              </a:xfrm>
              <a:prstGeom prst="rect">
                <a:avLst/>
              </a:prstGeom>
              <a:blipFill>
                <a:blip r:embed="rId4"/>
                <a:stretch>
                  <a:fillRect l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9955917" y="5711054"/>
                <a:ext cx="7721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5917" y="5711054"/>
                <a:ext cx="77213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/>
          <p:cNvSpPr txBox="1"/>
          <p:nvPr/>
        </p:nvSpPr>
        <p:spPr>
          <a:xfrm>
            <a:off x="2343160" y="5544714"/>
            <a:ext cx="617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24210" y="5647015"/>
            <a:ext cx="617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high</a:t>
            </a:r>
          </a:p>
        </p:txBody>
      </p:sp>
      <p:grpSp>
        <p:nvGrpSpPr>
          <p:cNvPr id="94" name="Group 93"/>
          <p:cNvGrpSpPr/>
          <p:nvPr/>
        </p:nvGrpSpPr>
        <p:grpSpPr>
          <a:xfrm>
            <a:off x="1944436" y="6034752"/>
            <a:ext cx="8801100" cy="127000"/>
            <a:chOff x="1944436" y="6034752"/>
            <a:chExt cx="8801100" cy="127000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1944436" y="6098540"/>
              <a:ext cx="88011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2413000" y="6034752"/>
              <a:ext cx="0" cy="127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2788109" y="6034752"/>
              <a:ext cx="0" cy="127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3163218" y="6034752"/>
              <a:ext cx="0" cy="127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538327" y="6034752"/>
              <a:ext cx="0" cy="12700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913436" y="6034752"/>
              <a:ext cx="0" cy="127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4288545" y="6034752"/>
              <a:ext cx="0" cy="127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663654" y="6034752"/>
              <a:ext cx="0" cy="127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5038763" y="6034752"/>
              <a:ext cx="0" cy="127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5413872" y="6034752"/>
              <a:ext cx="0" cy="127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5788981" y="6034752"/>
              <a:ext cx="0" cy="127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6164090" y="6034752"/>
              <a:ext cx="0" cy="127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6539199" y="6034752"/>
              <a:ext cx="0" cy="127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6914308" y="6034752"/>
              <a:ext cx="0" cy="127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7289417" y="6034752"/>
              <a:ext cx="0" cy="127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664526" y="6034752"/>
              <a:ext cx="0" cy="127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8039635" y="6034752"/>
              <a:ext cx="0" cy="127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/>
            <p:cNvSpPr/>
            <p:nvPr/>
          </p:nvSpPr>
          <p:spPr>
            <a:xfrm>
              <a:off x="3103551" y="6044252"/>
              <a:ext cx="108000" cy="108000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/>
            <p:cNvCxnSpPr/>
            <p:nvPr/>
          </p:nvCxnSpPr>
          <p:spPr>
            <a:xfrm>
              <a:off x="8414744" y="6034752"/>
              <a:ext cx="0" cy="127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8789853" y="6034752"/>
              <a:ext cx="0" cy="127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9164962" y="6034752"/>
              <a:ext cx="0" cy="127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9540071" y="6034752"/>
              <a:ext cx="0" cy="127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9915180" y="6034752"/>
              <a:ext cx="0" cy="127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0290285" y="6034752"/>
              <a:ext cx="0" cy="127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V="1">
              <a:off x="3168152" y="6099048"/>
              <a:ext cx="1102105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/>
            <p:cNvSpPr/>
            <p:nvPr/>
          </p:nvSpPr>
          <p:spPr>
            <a:xfrm>
              <a:off x="4234545" y="6043032"/>
              <a:ext cx="108000" cy="108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3226966" y="5445964"/>
                <a:ext cx="686470" cy="404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da-DK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ra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966" y="5445964"/>
                <a:ext cx="686470" cy="4049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4282532" y="5465549"/>
                <a:ext cx="522194" cy="3743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a-DK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2532" y="5465549"/>
                <a:ext cx="522194" cy="3743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/>
          <p:cNvCxnSpPr/>
          <p:nvPr/>
        </p:nvCxnSpPr>
        <p:spPr>
          <a:xfrm>
            <a:off x="3664668" y="5804714"/>
            <a:ext cx="248696" cy="2172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4121284" y="5747005"/>
            <a:ext cx="288695" cy="3086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795490" y="5487188"/>
            <a:ext cx="617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mid</a:t>
            </a:r>
          </a:p>
        </p:txBody>
      </p:sp>
      <p:cxnSp>
        <p:nvCxnSpPr>
          <p:cNvPr id="55" name="Straight Arrow Connector 54"/>
          <p:cNvCxnSpPr/>
          <p:nvPr/>
        </p:nvCxnSpPr>
        <p:spPr>
          <a:xfrm flipH="1">
            <a:off x="7405433" y="3466932"/>
            <a:ext cx="2134638" cy="2762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9320686" y="2704931"/>
                <a:ext cx="2009748" cy="858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dirty="0"/>
                  <a:t>Integer division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ox>
                            <m:box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da-DK" b="0" i="0" smtClean="0">
                                      <a:latin typeface="Courier New" panose="02070309020205020404" pitchFamily="49" charset="0"/>
                                      <a:cs typeface="Courier New" panose="02070309020205020404" pitchFamily="49" charset="0"/>
                                    </a:rPr>
                                    <m:t>high</m:t>
                                  </m:r>
                                  <m:r>
                                    <m:rPr>
                                      <m:nor/>
                                    </m:rPr>
                                    <a:rPr lang="da-DK" b="0" i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nor/>
                                    </m:rPr>
                                    <a:rPr lang="da-DK" b="0" i="0" smtClean="0">
                                      <a:latin typeface="Courier New" panose="02070309020205020404" pitchFamily="49" charset="0"/>
                                      <a:cs typeface="Courier New" panose="02070309020205020404" pitchFamily="49" charset="0"/>
                                    </a:rPr>
                                    <m:t>low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da-DK" b="0" i="0" smtClean="0">
                                      <a:latin typeface="Courier New" panose="02070309020205020404" pitchFamily="49" charset="0"/>
                                      <a:cs typeface="Courier New" panose="02070309020205020404" pitchFamily="49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0686" y="2704931"/>
                <a:ext cx="2009748" cy="858761"/>
              </a:xfrm>
              <a:prstGeom prst="rect">
                <a:avLst/>
              </a:prstGeom>
              <a:blipFill>
                <a:blip r:embed="rId8"/>
                <a:stretch>
                  <a:fillRect t="-4255" b="-1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Straight Arrow Connector 95"/>
          <p:cNvCxnSpPr/>
          <p:nvPr/>
        </p:nvCxnSpPr>
        <p:spPr>
          <a:xfrm flipH="1" flipV="1">
            <a:off x="6734432" y="4046048"/>
            <a:ext cx="2805639" cy="3581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/>
              <p:cNvSpPr txBox="1"/>
              <p:nvPr/>
            </p:nvSpPr>
            <p:spPr>
              <a:xfrm>
                <a:off x="9641428" y="4022340"/>
                <a:ext cx="1049839" cy="8340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da-DK" b="0" i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mid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≤</m:t>
                      </m:r>
                      <m:rad>
                        <m:radPr>
                          <m:degHide m:val="on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⇕</m:t>
                      </m:r>
                    </m:oMath>
                  </m:oMathPara>
                </a14:m>
                <a:endParaRPr lang="da-DK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da-DK" b="0" i="0" smtClean="0">
                              <a:latin typeface="Courier New" panose="02070309020205020404" pitchFamily="49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m:t>mid</m:t>
                          </m:r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a-DK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428" y="4022340"/>
                <a:ext cx="1049839" cy="834074"/>
              </a:xfrm>
              <a:prstGeom prst="rect">
                <a:avLst/>
              </a:prstGeom>
              <a:blipFill>
                <a:blip r:embed="rId9"/>
                <a:stretch>
                  <a:fillRect l="-4651" r="-2326" b="-29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" name="Straight Arrow Connector 99"/>
          <p:cNvCxnSpPr/>
          <p:nvPr/>
        </p:nvCxnSpPr>
        <p:spPr>
          <a:xfrm flipH="1">
            <a:off x="4368191" y="5888100"/>
            <a:ext cx="326286" cy="16778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/>
          <p:nvPr/>
        </p:nvCxnSpPr>
        <p:spPr>
          <a:xfrm>
            <a:off x="2840885" y="5823765"/>
            <a:ext cx="248696" cy="21724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>
            <a:off x="3237799" y="5792280"/>
            <a:ext cx="248696" cy="21724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3494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EB888-E169-9745-52B4-AD4A7CA42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650" y="365125"/>
            <a:ext cx="10515600" cy="1325563"/>
          </a:xfrm>
        </p:spPr>
        <p:txBody>
          <a:bodyPr/>
          <a:lstStyle/>
          <a:p>
            <a:r>
              <a:rPr lang="da-DK" dirty="0" err="1">
                <a:cs typeface="Courier New" panose="02070309020205020404" pitchFamily="49" charset="0"/>
              </a:rPr>
              <a:t>bisect</a:t>
            </a:r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15087-8789-1E86-2833-C8282CE6B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650" y="1825625"/>
            <a:ext cx="5345046" cy="2585349"/>
          </a:xfrm>
        </p:spPr>
        <p:txBody>
          <a:bodyPr>
            <a:normAutofit/>
          </a:bodyPr>
          <a:lstStyle/>
          <a:p>
            <a:r>
              <a:rPr lang="en-US" sz="2400" b="1" dirty="0"/>
              <a:t>Note  </a:t>
            </a:r>
            <a:r>
              <a:rPr lang="en-US" sz="2400" dirty="0"/>
              <a:t>Binary search on sorted lists is </a:t>
            </a:r>
            <a:r>
              <a:rPr lang="en-US" sz="2400"/>
              <a:t>supported by </a:t>
            </a:r>
            <a:r>
              <a:rPr lang="en-US" sz="2400" dirty="0"/>
              <a:t>the standard library module </a:t>
            </a:r>
            <a:r>
              <a:rPr lang="en-US" sz="2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bisect</a:t>
            </a:r>
          </a:p>
          <a:p>
            <a:r>
              <a:rPr lang="en-US" sz="24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bisect_left</a:t>
            </a:r>
            <a:r>
              <a:rPr lang="en-US" sz="2400" dirty="0"/>
              <a:t> and </a:t>
            </a:r>
            <a:r>
              <a:rPr lang="en-US" sz="24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bisect_right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return the </a:t>
            </a:r>
            <a:r>
              <a:rPr lang="en-US" sz="2400" i="1" dirty="0"/>
              <a:t>insertion point</a:t>
            </a:r>
            <a:r>
              <a:rPr lang="en-US" sz="2400" dirty="0"/>
              <a:t> before and after, respectively, of existing occurrences of the value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2F531C8-5154-8ABB-8F78-8E20CC7053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481968"/>
              </p:ext>
            </p:extLst>
          </p:nvPr>
        </p:nvGraphicFramePr>
        <p:xfrm>
          <a:off x="5991828" y="987000"/>
          <a:ext cx="5855980" cy="377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59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79367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binary_search_bisect.py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092506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bisect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import </a:t>
                      </a:r>
                      <a:r>
                        <a:rPr lang="en-US" sz="16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bisect_left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6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bisect_right</a:t>
                      </a:r>
                      <a:endParaRPr lang="en-US" sz="1600" b="1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 = [3, 4, 6, 7, 7, 7, 10, 11, 13, 16, 17]</a:t>
                      </a:r>
                    </a:p>
                    <a:p>
                      <a:endParaRPr 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6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bisect_left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(L, 7))</a:t>
                      </a: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6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bisect_right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(L, 7))</a:t>
                      </a: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6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bisect_left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(L, 14))</a:t>
                      </a: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6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bisect_right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(L, 14))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79367"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765046"/>
                  </a:ext>
                </a:extLst>
              </a:tr>
              <a:tr h="505989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  </a:t>
                      </a:r>
                      <a:r>
                        <a:rPr lang="en-US" sz="1600" b="1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</a:t>
                      </a:r>
                      <a:r>
                        <a:rPr lang="en-US" sz="1600" b="1" i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bisect_left</a:t>
                      </a:r>
                      <a:r>
                        <a:rPr lang="en-US" sz="1600" b="1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(L, 7)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  </a:t>
                      </a:r>
                      <a:r>
                        <a:rPr lang="en-US" sz="1600" b="1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</a:t>
                      </a:r>
                      <a:r>
                        <a:rPr lang="en-US" sz="1600" b="1" i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bisect_right</a:t>
                      </a:r>
                      <a:r>
                        <a:rPr lang="en-US" sz="1600" b="1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(L, 7)</a:t>
                      </a:r>
                      <a:endParaRPr lang="en-US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  </a:t>
                      </a:r>
                      <a:r>
                        <a:rPr lang="en-US" sz="1600" b="1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</a:t>
                      </a:r>
                      <a:r>
                        <a:rPr lang="en-US" sz="1600" b="1" i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bisect_left</a:t>
                      </a:r>
                      <a:r>
                        <a:rPr lang="en-US" sz="1600" b="1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(L, 14)</a:t>
                      </a:r>
                      <a:endParaRPr lang="en-US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  </a:t>
                      </a:r>
                      <a:r>
                        <a:rPr lang="en-US" sz="1600" b="1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</a:t>
                      </a:r>
                      <a:r>
                        <a:rPr lang="en-US" sz="1600" b="1" i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bisect_right</a:t>
                      </a:r>
                      <a:r>
                        <a:rPr lang="en-US" sz="1600" b="1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(L, 14)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endParaRPr lang="en-US" sz="1200" b="1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56812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9CAE249-0CFD-66AD-BC65-DF4033B6C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068799"/>
              </p:ext>
            </p:extLst>
          </p:nvPr>
        </p:nvGraphicFramePr>
        <p:xfrm>
          <a:off x="1514954" y="5751195"/>
          <a:ext cx="7059448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1768">
                  <a:extLst>
                    <a:ext uri="{9D8B030D-6E8A-4147-A177-3AD203B41FA5}">
                      <a16:colId xmlns:a16="http://schemas.microsoft.com/office/drawing/2014/main" val="3821525899"/>
                    </a:ext>
                  </a:extLst>
                </a:gridCol>
                <a:gridCol w="641768">
                  <a:extLst>
                    <a:ext uri="{9D8B030D-6E8A-4147-A177-3AD203B41FA5}">
                      <a16:colId xmlns:a16="http://schemas.microsoft.com/office/drawing/2014/main" val="3855207571"/>
                    </a:ext>
                  </a:extLst>
                </a:gridCol>
                <a:gridCol w="641768">
                  <a:extLst>
                    <a:ext uri="{9D8B030D-6E8A-4147-A177-3AD203B41FA5}">
                      <a16:colId xmlns:a16="http://schemas.microsoft.com/office/drawing/2014/main" val="4079671559"/>
                    </a:ext>
                  </a:extLst>
                </a:gridCol>
                <a:gridCol w="641768">
                  <a:extLst>
                    <a:ext uri="{9D8B030D-6E8A-4147-A177-3AD203B41FA5}">
                      <a16:colId xmlns:a16="http://schemas.microsoft.com/office/drawing/2014/main" val="1480018592"/>
                    </a:ext>
                  </a:extLst>
                </a:gridCol>
                <a:gridCol w="641768">
                  <a:extLst>
                    <a:ext uri="{9D8B030D-6E8A-4147-A177-3AD203B41FA5}">
                      <a16:colId xmlns:a16="http://schemas.microsoft.com/office/drawing/2014/main" val="3417030530"/>
                    </a:ext>
                  </a:extLst>
                </a:gridCol>
                <a:gridCol w="641768">
                  <a:extLst>
                    <a:ext uri="{9D8B030D-6E8A-4147-A177-3AD203B41FA5}">
                      <a16:colId xmlns:a16="http://schemas.microsoft.com/office/drawing/2014/main" val="382049569"/>
                    </a:ext>
                  </a:extLst>
                </a:gridCol>
                <a:gridCol w="641768">
                  <a:extLst>
                    <a:ext uri="{9D8B030D-6E8A-4147-A177-3AD203B41FA5}">
                      <a16:colId xmlns:a16="http://schemas.microsoft.com/office/drawing/2014/main" val="260403653"/>
                    </a:ext>
                  </a:extLst>
                </a:gridCol>
                <a:gridCol w="641768">
                  <a:extLst>
                    <a:ext uri="{9D8B030D-6E8A-4147-A177-3AD203B41FA5}">
                      <a16:colId xmlns:a16="http://schemas.microsoft.com/office/drawing/2014/main" val="2880502377"/>
                    </a:ext>
                  </a:extLst>
                </a:gridCol>
                <a:gridCol w="641768">
                  <a:extLst>
                    <a:ext uri="{9D8B030D-6E8A-4147-A177-3AD203B41FA5}">
                      <a16:colId xmlns:a16="http://schemas.microsoft.com/office/drawing/2014/main" val="927707823"/>
                    </a:ext>
                  </a:extLst>
                </a:gridCol>
                <a:gridCol w="641768">
                  <a:extLst>
                    <a:ext uri="{9D8B030D-6E8A-4147-A177-3AD203B41FA5}">
                      <a16:colId xmlns:a16="http://schemas.microsoft.com/office/drawing/2014/main" val="874554756"/>
                    </a:ext>
                  </a:extLst>
                </a:gridCol>
                <a:gridCol w="641768">
                  <a:extLst>
                    <a:ext uri="{9D8B030D-6E8A-4147-A177-3AD203B41FA5}">
                      <a16:colId xmlns:a16="http://schemas.microsoft.com/office/drawing/2014/main" val="16861871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/>
                        <a:t>0</a:t>
                      </a:r>
                      <a:endParaRPr lang="en-US" sz="1200" dirty="0"/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dirty="0"/>
                        <a:t>1</a:t>
                      </a:r>
                      <a:endParaRPr lang="en-US" sz="1200" dirty="0"/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dirty="0"/>
                        <a:t>2</a:t>
                      </a:r>
                      <a:endParaRPr lang="en-US" sz="1200" dirty="0"/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dirty="0"/>
                        <a:t>3</a:t>
                      </a:r>
                      <a:endParaRPr lang="en-US" sz="1200" dirty="0"/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dirty="0"/>
                        <a:t>4</a:t>
                      </a:r>
                      <a:endParaRPr lang="en-US" sz="1200" dirty="0"/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dirty="0"/>
                        <a:t>5</a:t>
                      </a:r>
                      <a:endParaRPr lang="en-US" sz="1200" dirty="0"/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dirty="0"/>
                        <a:t>6</a:t>
                      </a:r>
                      <a:endParaRPr lang="en-US" sz="1200" dirty="0"/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dirty="0"/>
                        <a:t>7</a:t>
                      </a:r>
                      <a:endParaRPr lang="en-US" sz="1200" dirty="0"/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dirty="0"/>
                        <a:t>8</a:t>
                      </a:r>
                      <a:endParaRPr lang="en-US" sz="1200" dirty="0"/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dirty="0"/>
                        <a:t>9</a:t>
                      </a:r>
                      <a:endParaRPr lang="en-US" sz="1200" dirty="0"/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dirty="0"/>
                        <a:t>10</a:t>
                      </a:r>
                      <a:endParaRPr lang="en-US" sz="1200" dirty="0"/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3261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17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267651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7508C72-EE9D-4F7B-EE7A-E2EE4DA95A02}"/>
              </a:ext>
            </a:extLst>
          </p:cNvPr>
          <p:cNvCxnSpPr>
            <a:cxnSpLocks/>
          </p:cNvCxnSpPr>
          <p:nvPr/>
        </p:nvCxnSpPr>
        <p:spPr>
          <a:xfrm>
            <a:off x="3735281" y="5465379"/>
            <a:ext cx="0" cy="2890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8A4B65A-06D7-11D9-1B7D-08BC26E2352F}"/>
              </a:ext>
            </a:extLst>
          </p:cNvPr>
          <p:cNvSpPr txBox="1"/>
          <p:nvPr/>
        </p:nvSpPr>
        <p:spPr>
          <a:xfrm>
            <a:off x="1950720" y="5149467"/>
            <a:ext cx="23014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bisect_left</a:t>
            </a:r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(L, 7)</a:t>
            </a:r>
            <a:endParaRPr lang="en-US" sz="14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7A7AE90-EA3B-A87C-0BB3-AEE4A06077F9}"/>
              </a:ext>
            </a:extLst>
          </p:cNvPr>
          <p:cNvCxnSpPr>
            <a:cxnSpLocks/>
          </p:cNvCxnSpPr>
          <p:nvPr/>
        </p:nvCxnSpPr>
        <p:spPr>
          <a:xfrm>
            <a:off x="5663605" y="5485197"/>
            <a:ext cx="0" cy="2890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C55346A-44F9-5112-9FB0-154AD01DE983}"/>
              </a:ext>
            </a:extLst>
          </p:cNvPr>
          <p:cNvSpPr txBox="1"/>
          <p:nvPr/>
        </p:nvSpPr>
        <p:spPr>
          <a:xfrm>
            <a:off x="4556496" y="5149467"/>
            <a:ext cx="3047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bisect_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right</a:t>
            </a:r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(L, 7)</a:t>
            </a:r>
            <a:endParaRPr 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240245-F323-65AC-AC86-6ABC0D8422D1}"/>
              </a:ext>
            </a:extLst>
          </p:cNvPr>
          <p:cNvSpPr txBox="1"/>
          <p:nvPr/>
        </p:nvSpPr>
        <p:spPr>
          <a:xfrm>
            <a:off x="6982179" y="5149467"/>
            <a:ext cx="47614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bisect_left</a:t>
            </a:r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(L, 14) = </a:t>
            </a:r>
            <a:r>
              <a:rPr lang="en-US" sz="1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bisect_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right</a:t>
            </a:r>
            <a:r>
              <a: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(L, 14)</a:t>
            </a:r>
            <a:endParaRPr lang="en-US" sz="1400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B8FBD1D-9C9D-9B7F-346A-48CEDA043D18}"/>
              </a:ext>
            </a:extLst>
          </p:cNvPr>
          <p:cNvCxnSpPr>
            <a:cxnSpLocks/>
          </p:cNvCxnSpPr>
          <p:nvPr/>
        </p:nvCxnSpPr>
        <p:spPr>
          <a:xfrm>
            <a:off x="7609595" y="5485196"/>
            <a:ext cx="0" cy="2890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7438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600" y="165432"/>
            <a:ext cx="10515600" cy="1325563"/>
          </a:xfrm>
        </p:spPr>
        <p:txBody>
          <a:bodyPr/>
          <a:lstStyle/>
          <a:p>
            <a:r>
              <a:rPr lang="en-US" dirty="0"/>
              <a:t>Division using the Newton-Raphson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700" y="1456947"/>
            <a:ext cx="6585954" cy="3052408"/>
          </a:xfrm>
        </p:spPr>
        <p:txBody>
          <a:bodyPr>
            <a:normAutofit/>
          </a:bodyPr>
          <a:lstStyle/>
          <a:p>
            <a:r>
              <a:rPr lang="en-US" b="1" dirty="0"/>
              <a:t>Goal:</a:t>
            </a:r>
            <a:r>
              <a:rPr lang="en-US" dirty="0"/>
              <a:t> Compute </a:t>
            </a:r>
            <a:r>
              <a:rPr lang="en-US" dirty="0">
                <a:solidFill>
                  <a:srgbClr val="C00000"/>
                </a:solidFill>
              </a:rPr>
              <a:t>1 / n</a:t>
            </a:r>
            <a:r>
              <a:rPr lang="en-US" dirty="0"/>
              <a:t> only using +, -, and *</a:t>
            </a:r>
          </a:p>
          <a:p>
            <a:r>
              <a:rPr lang="en-US" dirty="0"/>
              <a:t>x = 1 / n   ⟺   f(x) = n – 1 / x = 0</a:t>
            </a:r>
          </a:p>
          <a:p>
            <a:r>
              <a:rPr lang="en-US" dirty="0"/>
              <a:t>Problem reduces to finding </a:t>
            </a:r>
            <a:r>
              <a:rPr lang="en-US" dirty="0">
                <a:solidFill>
                  <a:srgbClr val="C00000"/>
                </a:solidFill>
              </a:rPr>
              <a:t>root</a:t>
            </a:r>
            <a:r>
              <a:rPr lang="en-US" dirty="0"/>
              <a:t> of f</a:t>
            </a:r>
          </a:p>
          <a:p>
            <a:r>
              <a:rPr lang="en-US" dirty="0"/>
              <a:t>Newton-Raphson: 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C00000"/>
                </a:solidFill>
              </a:rPr>
              <a:t>x := x-f(x)/f’(x) = x-(n-1/x)/(1/x</a:t>
            </a:r>
            <a:r>
              <a:rPr lang="en-US" baseline="30000" dirty="0">
                <a:solidFill>
                  <a:srgbClr val="C00000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) = (2-n∙x)∙x</a:t>
            </a:r>
            <a:r>
              <a:rPr lang="en-US" baseline="30000" dirty="0">
                <a:solidFill>
                  <a:srgbClr val="C00000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en-US" dirty="0"/>
              <a:t>since f’(x) = 1 / x</a:t>
            </a:r>
            <a:r>
              <a:rPr lang="en-US" baseline="30000" dirty="0"/>
              <a:t>2 </a:t>
            </a:r>
            <a:r>
              <a:rPr lang="en-US" dirty="0"/>
              <a:t> for  f(x) = n – 1 / x</a:t>
            </a:r>
            <a:endParaRPr lang="en-US" baseline="300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406273"/>
              </p:ext>
            </p:extLst>
          </p:nvPr>
        </p:nvGraphicFramePr>
        <p:xfrm>
          <a:off x="6725654" y="1289232"/>
          <a:ext cx="5216843" cy="515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684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division.py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 = 0.75  </a:t>
                      </a:r>
                      <a:r>
                        <a:rPr lang="pt-BR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n in [0.5, 1.0]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1.0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last = 0.0</a:t>
                      </a:r>
                    </a:p>
                    <a:p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while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last &lt; x: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print(x)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last = x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x = (2 - n * x) * x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print('</a:t>
                      </a:r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Apx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of 1.0 /', n, '=', x)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print('Python 1.0 /', n, '=', 1.0 / n)</a:t>
                      </a:r>
                      <a:endParaRPr lang="pt-BR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6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1.0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1.25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1.328125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1.33331298828125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1.3333333330228925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1.3333333333333333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Apx</a:t>
                      </a: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of 1.0 / 0.75 = 1.3333333333333333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1.0 / 0.75 = 1.3333333333333333</a:t>
                      </a:r>
                      <a:endParaRPr lang="pt-BR" sz="16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grpSp>
        <p:nvGrpSpPr>
          <p:cNvPr id="32" name="Group 31"/>
          <p:cNvGrpSpPr/>
          <p:nvPr/>
        </p:nvGrpSpPr>
        <p:grpSpPr>
          <a:xfrm>
            <a:off x="1383894" y="4755210"/>
            <a:ext cx="4355924" cy="1986561"/>
            <a:chOff x="651503" y="4396041"/>
            <a:chExt cx="4355924" cy="1986561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997120" y="5172162"/>
              <a:ext cx="3204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V="1">
              <a:off x="1229396" y="4396041"/>
              <a:ext cx="0" cy="18000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Freeform 12"/>
            <p:cNvSpPr/>
            <p:nvPr/>
          </p:nvSpPr>
          <p:spPr>
            <a:xfrm>
              <a:off x="1787857" y="4744777"/>
              <a:ext cx="2187717" cy="1637825"/>
            </a:xfrm>
            <a:custGeom>
              <a:avLst/>
              <a:gdLst>
                <a:gd name="connsiteX0" fmla="*/ 0 w 2197100"/>
                <a:gd name="connsiteY0" fmla="*/ 1054100 h 1054100"/>
                <a:gd name="connsiteX1" fmla="*/ 406400 w 2197100"/>
                <a:gd name="connsiteY1" fmla="*/ 266700 h 1054100"/>
                <a:gd name="connsiteX2" fmla="*/ 2197100 w 2197100"/>
                <a:gd name="connsiteY2" fmla="*/ 0 h 1054100"/>
                <a:gd name="connsiteX0" fmla="*/ 0 w 2197100"/>
                <a:gd name="connsiteY0" fmla="*/ 1054100 h 1054100"/>
                <a:gd name="connsiteX1" fmla="*/ 898854 w 2197100"/>
                <a:gd name="connsiteY1" fmla="*/ 240850 h 1054100"/>
                <a:gd name="connsiteX2" fmla="*/ 2197100 w 2197100"/>
                <a:gd name="connsiteY2" fmla="*/ 0 h 1054100"/>
                <a:gd name="connsiteX0" fmla="*/ 0 w 2197100"/>
                <a:gd name="connsiteY0" fmla="*/ 1054100 h 1054100"/>
                <a:gd name="connsiteX1" fmla="*/ 898854 w 2197100"/>
                <a:gd name="connsiteY1" fmla="*/ 240850 h 1054100"/>
                <a:gd name="connsiteX2" fmla="*/ 2197100 w 2197100"/>
                <a:gd name="connsiteY2" fmla="*/ 0 h 1054100"/>
                <a:gd name="connsiteX0" fmla="*/ 0 w 2197100"/>
                <a:gd name="connsiteY0" fmla="*/ 1054100 h 1054100"/>
                <a:gd name="connsiteX1" fmla="*/ 898854 w 2197100"/>
                <a:gd name="connsiteY1" fmla="*/ 240850 h 1054100"/>
                <a:gd name="connsiteX2" fmla="*/ 2197100 w 2197100"/>
                <a:gd name="connsiteY2" fmla="*/ 0 h 1054100"/>
                <a:gd name="connsiteX0" fmla="*/ 0 w 2197100"/>
                <a:gd name="connsiteY0" fmla="*/ 1054100 h 1054100"/>
                <a:gd name="connsiteX1" fmla="*/ 898854 w 2197100"/>
                <a:gd name="connsiteY1" fmla="*/ 240850 h 1054100"/>
                <a:gd name="connsiteX2" fmla="*/ 2197100 w 2197100"/>
                <a:gd name="connsiteY2" fmla="*/ 0 h 1054100"/>
                <a:gd name="connsiteX0" fmla="*/ 0 w 1837546"/>
                <a:gd name="connsiteY0" fmla="*/ 957881 h 957881"/>
                <a:gd name="connsiteX1" fmla="*/ 898854 w 1837546"/>
                <a:gd name="connsiteY1" fmla="*/ 144631 h 957881"/>
                <a:gd name="connsiteX2" fmla="*/ 1837546 w 1837546"/>
                <a:gd name="connsiteY2" fmla="*/ 0 h 957881"/>
                <a:gd name="connsiteX0" fmla="*/ 0 w 1837546"/>
                <a:gd name="connsiteY0" fmla="*/ 957881 h 957881"/>
                <a:gd name="connsiteX1" fmla="*/ 898854 w 1837546"/>
                <a:gd name="connsiteY1" fmla="*/ 144631 h 957881"/>
                <a:gd name="connsiteX2" fmla="*/ 1837546 w 1837546"/>
                <a:gd name="connsiteY2" fmla="*/ 0 h 957881"/>
                <a:gd name="connsiteX0" fmla="*/ 0 w 1837546"/>
                <a:gd name="connsiteY0" fmla="*/ 959582 h 959582"/>
                <a:gd name="connsiteX1" fmla="*/ 898854 w 1837546"/>
                <a:gd name="connsiteY1" fmla="*/ 146332 h 959582"/>
                <a:gd name="connsiteX2" fmla="*/ 1837546 w 1837546"/>
                <a:gd name="connsiteY2" fmla="*/ 1701 h 959582"/>
                <a:gd name="connsiteX0" fmla="*/ 0 w 1821683"/>
                <a:gd name="connsiteY0" fmla="*/ 1034234 h 1034234"/>
                <a:gd name="connsiteX1" fmla="*/ 898854 w 1821683"/>
                <a:gd name="connsiteY1" fmla="*/ 220984 h 1034234"/>
                <a:gd name="connsiteX2" fmla="*/ 1821683 w 1821683"/>
                <a:gd name="connsiteY2" fmla="*/ 179 h 1034234"/>
                <a:gd name="connsiteX0" fmla="*/ 0 w 1821683"/>
                <a:gd name="connsiteY0" fmla="*/ 1034055 h 1034055"/>
                <a:gd name="connsiteX1" fmla="*/ 898854 w 1821683"/>
                <a:gd name="connsiteY1" fmla="*/ 220805 h 1034055"/>
                <a:gd name="connsiteX2" fmla="*/ 1821683 w 1821683"/>
                <a:gd name="connsiteY2" fmla="*/ 0 h 1034055"/>
                <a:gd name="connsiteX0" fmla="*/ 0 w 1821683"/>
                <a:gd name="connsiteY0" fmla="*/ 1034055 h 1034055"/>
                <a:gd name="connsiteX1" fmla="*/ 898854 w 1821683"/>
                <a:gd name="connsiteY1" fmla="*/ 220805 h 1034055"/>
                <a:gd name="connsiteX2" fmla="*/ 1821683 w 1821683"/>
                <a:gd name="connsiteY2" fmla="*/ 0 h 1034055"/>
                <a:gd name="connsiteX0" fmla="*/ 0 w 1821683"/>
                <a:gd name="connsiteY0" fmla="*/ 1034055 h 1034055"/>
                <a:gd name="connsiteX1" fmla="*/ 898854 w 1821683"/>
                <a:gd name="connsiteY1" fmla="*/ 220805 h 1034055"/>
                <a:gd name="connsiteX2" fmla="*/ 1821683 w 1821683"/>
                <a:gd name="connsiteY2" fmla="*/ 0 h 1034055"/>
                <a:gd name="connsiteX0" fmla="*/ 0 w 1821683"/>
                <a:gd name="connsiteY0" fmla="*/ 1034055 h 1034055"/>
                <a:gd name="connsiteX1" fmla="*/ 898854 w 1821683"/>
                <a:gd name="connsiteY1" fmla="*/ 220805 h 1034055"/>
                <a:gd name="connsiteX2" fmla="*/ 1821683 w 1821683"/>
                <a:gd name="connsiteY2" fmla="*/ 0 h 1034055"/>
                <a:gd name="connsiteX0" fmla="*/ 0 w 1821683"/>
                <a:gd name="connsiteY0" fmla="*/ 1034055 h 1034055"/>
                <a:gd name="connsiteX1" fmla="*/ 898854 w 1821683"/>
                <a:gd name="connsiteY1" fmla="*/ 220805 h 1034055"/>
                <a:gd name="connsiteX2" fmla="*/ 1821683 w 1821683"/>
                <a:gd name="connsiteY2" fmla="*/ 0 h 1034055"/>
                <a:gd name="connsiteX0" fmla="*/ 0 w 1821683"/>
                <a:gd name="connsiteY0" fmla="*/ 1034055 h 1034055"/>
                <a:gd name="connsiteX1" fmla="*/ 898854 w 1821683"/>
                <a:gd name="connsiteY1" fmla="*/ 220805 h 1034055"/>
                <a:gd name="connsiteX2" fmla="*/ 1821683 w 1821683"/>
                <a:gd name="connsiteY2" fmla="*/ 0 h 1034055"/>
                <a:gd name="connsiteX0" fmla="*/ 0 w 1821683"/>
                <a:gd name="connsiteY0" fmla="*/ 1034055 h 1034055"/>
                <a:gd name="connsiteX1" fmla="*/ 898854 w 1821683"/>
                <a:gd name="connsiteY1" fmla="*/ 220805 h 1034055"/>
                <a:gd name="connsiteX2" fmla="*/ 1821683 w 1821683"/>
                <a:gd name="connsiteY2" fmla="*/ 0 h 1034055"/>
                <a:gd name="connsiteX0" fmla="*/ 0 w 1821683"/>
                <a:gd name="connsiteY0" fmla="*/ 1034055 h 1034055"/>
                <a:gd name="connsiteX1" fmla="*/ 898854 w 1821683"/>
                <a:gd name="connsiteY1" fmla="*/ 220805 h 1034055"/>
                <a:gd name="connsiteX2" fmla="*/ 1821683 w 1821683"/>
                <a:gd name="connsiteY2" fmla="*/ 0 h 10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1683" h="1034055">
                  <a:moveTo>
                    <a:pt x="0" y="1034055"/>
                  </a:moveTo>
                  <a:cubicBezTo>
                    <a:pt x="69353" y="708091"/>
                    <a:pt x="484201" y="397155"/>
                    <a:pt x="898854" y="220805"/>
                  </a:cubicBezTo>
                  <a:cubicBezTo>
                    <a:pt x="1313507" y="44455"/>
                    <a:pt x="1537718" y="24386"/>
                    <a:pt x="1821683" y="0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1934739" y="5891283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/>
            <p:cNvCxnSpPr/>
            <p:nvPr/>
          </p:nvCxnSpPr>
          <p:spPr>
            <a:xfrm flipV="1">
              <a:off x="1731433" y="4713029"/>
              <a:ext cx="1034513" cy="157135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/>
            <p:cNvSpPr/>
            <p:nvPr/>
          </p:nvSpPr>
          <p:spPr>
            <a:xfrm>
              <a:off x="2423501" y="5338833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/>
            <p:cNvCxnSpPr/>
            <p:nvPr/>
          </p:nvCxnSpPr>
          <p:spPr>
            <a:xfrm>
              <a:off x="2459501" y="5172161"/>
              <a:ext cx="0" cy="21188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1934739" y="5848043"/>
              <a:ext cx="3026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(x, f(x)) current approximation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51503" y="4751520"/>
              <a:ext cx="19057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x – f(x) / f’(x)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338629" y="5341371"/>
              <a:ext cx="23519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next approximation</a:t>
              </a:r>
            </a:p>
            <a:p>
              <a:endParaRPr lang="en-US" dirty="0"/>
            </a:p>
          </p:txBody>
        </p:sp>
        <p:sp>
          <p:nvSpPr>
            <p:cNvPr id="28" name="Oval 27"/>
            <p:cNvSpPr/>
            <p:nvPr/>
          </p:nvSpPr>
          <p:spPr>
            <a:xfrm>
              <a:off x="2693946" y="5136160"/>
              <a:ext cx="72000" cy="72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665658" y="5093435"/>
              <a:ext cx="12014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root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927927" y="4534654"/>
              <a:ext cx="1079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f(x)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2423501" y="5131908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/>
            <p:nvPr/>
          </p:nvCxnSpPr>
          <p:spPr>
            <a:xfrm flipH="1">
              <a:off x="1967377" y="5172161"/>
              <a:ext cx="6920" cy="75163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Rectangle 32"/>
          <p:cNvSpPr/>
          <p:nvPr/>
        </p:nvSpPr>
        <p:spPr>
          <a:xfrm>
            <a:off x="8149290" y="6488668"/>
            <a:ext cx="40427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dirty="0">
                <a:hlinkClick r:id="rId3"/>
              </a:rPr>
              <a:t>en.wikipedia.org/wiki/</a:t>
            </a:r>
            <a:r>
              <a:rPr lang="en-US" dirty="0" err="1">
                <a:hlinkClick r:id="rId3"/>
              </a:rPr>
              <a:t>Newton’s_method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646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7F7F7F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15169</TotalTime>
  <Words>2014</Words>
  <Application>Microsoft Office PowerPoint</Application>
  <PresentationFormat>Widescreen</PresentationFormat>
  <Paragraphs>347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Control structures</vt:lpstr>
      <vt:lpstr>input</vt:lpstr>
      <vt:lpstr>Branching – do either this or that ?</vt:lpstr>
      <vt:lpstr>Basic if-else</vt:lpstr>
      <vt:lpstr>pass</vt:lpstr>
      <vt:lpstr>if-elif-else</vt:lpstr>
      <vt:lpstr>elif can make code nicer (less identation)</vt:lpstr>
      <vt:lpstr>Questions – What value is printed?</vt:lpstr>
      <vt:lpstr>Nested if-statements</vt:lpstr>
      <vt:lpstr>Common mistake</vt:lpstr>
      <vt:lpstr>if-else expressions</vt:lpstr>
      <vt:lpstr>Repeat until done</vt:lpstr>
      <vt:lpstr>while-statement</vt:lpstr>
      <vt:lpstr>Computing ⌊√x⌋ using binary search</vt:lpstr>
      <vt:lpstr>bisect</vt:lpstr>
      <vt:lpstr>Division using the Newton-Raphson method</vt:lpstr>
    </vt:vector>
  </TitlesOfParts>
  <Company>Aarhus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Gerth Stølting Brodal</dc:creator>
  <cp:lastModifiedBy>Gerth Stølting Brodal</cp:lastModifiedBy>
  <cp:revision>494</cp:revision>
  <dcterms:created xsi:type="dcterms:W3CDTF">2017-10-19T06:54:16Z</dcterms:created>
  <dcterms:modified xsi:type="dcterms:W3CDTF">2026-01-28T07:59:37Z</dcterms:modified>
</cp:coreProperties>
</file>