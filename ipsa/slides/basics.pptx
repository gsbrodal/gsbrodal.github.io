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388" r:id="rId2"/>
    <p:sldId id="289" r:id="rId3"/>
    <p:sldId id="280" r:id="rId4"/>
    <p:sldId id="347" r:id="rId5"/>
    <p:sldId id="358" r:id="rId6"/>
    <p:sldId id="357" r:id="rId7"/>
    <p:sldId id="364" r:id="rId8"/>
    <p:sldId id="361" r:id="rId9"/>
    <p:sldId id="366" r:id="rId10"/>
    <p:sldId id="367" r:id="rId11"/>
    <p:sldId id="391" r:id="rId12"/>
    <p:sldId id="348" r:id="rId13"/>
    <p:sldId id="369" r:id="rId14"/>
    <p:sldId id="389" r:id="rId15"/>
    <p:sldId id="390" r:id="rId16"/>
    <p:sldId id="349" r:id="rId17"/>
    <p:sldId id="360" r:id="rId18"/>
    <p:sldId id="288" r:id="rId19"/>
    <p:sldId id="260" r:id="rId20"/>
    <p:sldId id="373" r:id="rId21"/>
    <p:sldId id="387" r:id="rId2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F3"/>
    <a:srgbClr val="FFFFFF"/>
    <a:srgbClr val="FFF2CC"/>
    <a:srgbClr val="FFA7A7"/>
    <a:srgbClr val="DEEBF7"/>
    <a:srgbClr val="E2F0D9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700D6-D51E-4F54-B323-5C08D6B7734D}" v="2" dt="2026-01-28T07:44:50.2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44" autoAdjust="0"/>
    <p:restoredTop sz="64930" autoAdjust="0"/>
  </p:normalViewPr>
  <p:slideViewPr>
    <p:cSldViewPr snapToGrid="0">
      <p:cViewPr varScale="1">
        <p:scale>
          <a:sx n="41" d="100"/>
          <a:sy n="41" d="100"/>
        </p:scale>
        <p:origin x="704" y="28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-1138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E3FB3D3F-03A2-4D0F-876D-930F74083705}"/>
    <pc:docChg chg="undo custSel modSld">
      <pc:chgData name="Gerth Stølting Brodal" userId="04ef4784-6591-4f86-a140-f5c3b108582a" providerId="ADAL" clId="{E3FB3D3F-03A2-4D0F-876D-930F74083705}" dt="2026-02-01T20:50:38.909" v="116" actId="20577"/>
      <pc:docMkLst>
        <pc:docMk/>
      </pc:docMkLst>
      <pc:sldChg chg="modSp mod modNotesTx">
        <pc:chgData name="Gerth Stølting Brodal" userId="04ef4784-6591-4f86-a140-f5c3b108582a" providerId="ADAL" clId="{E3FB3D3F-03A2-4D0F-876D-930F74083705}" dt="2026-02-01T20:50:38.909" v="116" actId="20577"/>
        <pc:sldMkLst>
          <pc:docMk/>
          <pc:sldMk cId="48303750" sldId="357"/>
        </pc:sldMkLst>
        <pc:spChg chg="mod">
          <ac:chgData name="Gerth Stølting Brodal" userId="04ef4784-6591-4f86-a140-f5c3b108582a" providerId="ADAL" clId="{E3FB3D3F-03A2-4D0F-876D-930F74083705}" dt="2026-02-01T20:50:38.909" v="116" actId="20577"/>
          <ac:spMkLst>
            <pc:docMk/>
            <pc:sldMk cId="48303750" sldId="357"/>
            <ac:spMk id="3" creationId="{00000000-0000-0000-0000-000000000000}"/>
          </ac:spMkLst>
        </pc:spChg>
      </pc:sldChg>
      <pc:sldChg chg="modNotesTx">
        <pc:chgData name="Gerth Stølting Brodal" userId="04ef4784-6591-4f86-a140-f5c3b108582a" providerId="ADAL" clId="{E3FB3D3F-03A2-4D0F-876D-930F74083705}" dt="2026-01-28T07:27:12.900" v="101" actId="6549"/>
        <pc:sldMkLst>
          <pc:docMk/>
          <pc:sldMk cId="247088337" sldId="361"/>
        </pc:sldMkLst>
      </pc:sldChg>
      <pc:sldChg chg="modNotesTx">
        <pc:chgData name="Gerth Stølting Brodal" userId="04ef4784-6591-4f86-a140-f5c3b108582a" providerId="ADAL" clId="{E3FB3D3F-03A2-4D0F-876D-930F74083705}" dt="2026-01-28T07:44:55.885" v="115" actId="113"/>
        <pc:sldMkLst>
          <pc:docMk/>
          <pc:sldMk cId="1315690994" sldId="38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57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594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PEP8: ”Compound statements (multiple statements on the same line) are generally discouraged.”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v-SE" dirty="0"/>
              <a:t>”x = 1 y = 2” on a </a:t>
            </a:r>
            <a:r>
              <a:rPr lang="sv-SE" dirty="0" err="1"/>
              <a:t>single</a:t>
            </a:r>
            <a:r>
              <a:rPr lang="sv-SE" dirty="0"/>
              <a:t> </a:t>
            </a:r>
            <a:r>
              <a:rPr lang="sv-SE" dirty="0" err="1"/>
              <a:t>line</a:t>
            </a:r>
            <a:r>
              <a:rPr lang="sv-SE" dirty="0"/>
              <a:t> </a:t>
            </a:r>
            <a:r>
              <a:rPr lang="sv-SE" dirty="0" err="1"/>
              <a:t>without</a:t>
            </a:r>
            <a:r>
              <a:rPr lang="sv-SE" baseline="0" dirty="0"/>
              <a:t> ”;” </a:t>
            </a:r>
            <a:r>
              <a:rPr lang="sv-SE" baseline="0" dirty="0" err="1"/>
              <a:t>generates</a:t>
            </a:r>
            <a:r>
              <a:rPr lang="sv-SE" baseline="0" dirty="0"/>
              <a:t> ”</a:t>
            </a:r>
            <a:r>
              <a:rPr lang="sv-SE" dirty="0" err="1"/>
              <a:t>SyntaxError</a:t>
            </a:r>
            <a:r>
              <a:rPr lang="sv-SE" dirty="0"/>
              <a:t>: invalid syntax”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414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0x10 is hexadecimal</a:t>
            </a:r>
          </a:p>
          <a:p>
            <a:r>
              <a:rPr lang="en-US" dirty="0"/>
              <a:t>0b111</a:t>
            </a:r>
            <a:r>
              <a:rPr lang="en-US" baseline="0" dirty="0"/>
              <a:t>1 is binary</a:t>
            </a:r>
          </a:p>
          <a:p>
            <a:r>
              <a:rPr lang="en-US" baseline="0" dirty="0"/>
              <a:t>PEP8 </a:t>
            </a:r>
            <a:r>
              <a:rPr lang="en-US" baseline="0" dirty="0" err="1"/>
              <a:t>anbefaler</a:t>
            </a:r>
            <a:r>
              <a:rPr lang="en-US" baseline="0" dirty="0"/>
              <a:t> </a:t>
            </a:r>
            <a:r>
              <a:rPr lang="en-US" baseline="0" dirty="0" err="1"/>
              <a:t>fx</a:t>
            </a:r>
            <a:r>
              <a:rPr lang="en-US" baseline="0" dirty="0"/>
              <a:t> at </a:t>
            </a:r>
            <a:r>
              <a:rPr lang="en-US" baseline="0" dirty="0" err="1"/>
              <a:t>klassenavne</a:t>
            </a:r>
            <a:r>
              <a:rPr lang="en-US" baseline="0" dirty="0"/>
              <a:t> er CamelCase</a:t>
            </a:r>
          </a:p>
          <a:p>
            <a:endParaRPr lang="en-US" baseline="0" dirty="0"/>
          </a:p>
          <a:p>
            <a:r>
              <a:rPr lang="en-US" baseline="0" dirty="0"/>
              <a:t>Note last three keywords starts with capital – these are constants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5449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print(42)</a:t>
            </a:r>
          </a:p>
          <a:p>
            <a:r>
              <a:rPr lang="en-US" dirty="0"/>
              <a:t>print = 42</a:t>
            </a:r>
          </a:p>
          <a:p>
            <a:r>
              <a:rPr lang="en-US" dirty="0"/>
              <a:t>print(42) – fails</a:t>
            </a:r>
          </a:p>
          <a:p>
            <a:r>
              <a:rPr lang="en-US" dirty="0"/>
              <a:t>import </a:t>
            </a:r>
            <a:r>
              <a:rPr lang="en-US" dirty="0" err="1"/>
              <a:t>builtins</a:t>
            </a:r>
            <a:endParaRPr lang="en-US" dirty="0"/>
          </a:p>
          <a:p>
            <a:r>
              <a:rPr lang="en-US" dirty="0" err="1"/>
              <a:t>builtins.print</a:t>
            </a:r>
            <a:r>
              <a:rPr lang="en-US" dirty="0"/>
              <a:t>(42)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9679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Since Python 3.11, can only print integers with at most 4300 digits (default value).</a:t>
            </a:r>
          </a:p>
          <a:p>
            <a:r>
              <a:rPr lang="en-US" dirty="0" err="1"/>
              <a:t>sys.set_int_max_str_digits</a:t>
            </a:r>
            <a:r>
              <a:rPr lang="en-US" dirty="0"/>
              <a:t>(0) allows an arbitrary number of digits to be printed</a:t>
            </a:r>
          </a:p>
          <a:p>
            <a:r>
              <a:rPr lang="en-US" dirty="0"/>
              <a:t>--7 is </a:t>
            </a:r>
            <a:r>
              <a:rPr lang="en-US" dirty="0" err="1"/>
              <a:t>is</a:t>
            </a:r>
            <a:r>
              <a:rPr lang="en-US" dirty="0"/>
              <a:t> </a:t>
            </a:r>
            <a:r>
              <a:rPr lang="en-US" dirty="0" err="1"/>
              <a:t>infact</a:t>
            </a:r>
            <a:r>
              <a:rPr lang="en-US" dirty="0"/>
              <a:t> -7 negated, i.e., (-7).__neg__()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6992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3497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usage of a comparison, and</a:t>
            </a:r>
            <a:r>
              <a:rPr lang="en-US" baseline="0" dirty="0"/>
              <a:t> result is a Boolean</a:t>
            </a:r>
          </a:p>
          <a:p>
            <a:endParaRPr lang="en-US" baseline="0" dirty="0"/>
          </a:p>
          <a:p>
            <a:r>
              <a:rPr lang="en-US" baseline="0" dirty="0"/>
              <a:t>import sys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 err="1"/>
              <a:t>sys.float_info</a:t>
            </a:r>
            <a:endParaRPr lang="en-US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/>
              <a:t>forward reference to string formatting in “operations.pptx” / next lecture</a:t>
            </a:r>
            <a:endParaRPr lang="en-US" dirty="0"/>
          </a:p>
          <a:p>
            <a:endParaRPr lang="en-US" dirty="0"/>
          </a:p>
          <a:p>
            <a:r>
              <a:rPr lang="en-US" dirty="0"/>
              <a:t>import fractions</a:t>
            </a:r>
          </a:p>
          <a:p>
            <a:r>
              <a:rPr lang="en-US" dirty="0" err="1"/>
              <a:t>fractions.Fraction</a:t>
            </a:r>
            <a:r>
              <a:rPr lang="en-US" dirty="0"/>
              <a:t>(10, 5)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4221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089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DETAILS SHOULD NOT BE CONSIDERED CURRICULUM !!! (not Part of Python</a:t>
            </a:r>
            <a:r>
              <a:rPr lang="en-US" baseline="0" dirty="0"/>
              <a:t> language definition anyway!)</a:t>
            </a:r>
            <a:endParaRPr lang="en-US" dirty="0"/>
          </a:p>
          <a:p>
            <a:endParaRPr lang="en-US" dirty="0"/>
          </a:p>
          <a:p>
            <a:r>
              <a:rPr lang="en-US" dirty="0"/>
              <a:t>s determines</a:t>
            </a:r>
            <a:r>
              <a:rPr lang="en-US" baseline="0" dirty="0"/>
              <a:t> sign for 0 and ∞</a:t>
            </a:r>
          </a:p>
          <a:p>
            <a:endParaRPr lang="en-US" baseline="0" dirty="0"/>
          </a:p>
          <a:p>
            <a:r>
              <a:rPr lang="en-US" baseline="0" dirty="0"/>
              <a:t>note -0.0 == +0.0 == 0.0</a:t>
            </a:r>
          </a:p>
          <a:p>
            <a:endParaRPr lang="en-US" baseline="0" dirty="0"/>
          </a:p>
          <a:p>
            <a:r>
              <a:rPr lang="en-US" baseline="0" dirty="0"/>
              <a:t>import math</a:t>
            </a:r>
          </a:p>
          <a:p>
            <a:r>
              <a:rPr lang="en-US" baseline="0" dirty="0" err="1"/>
              <a:t>math.copysign</a:t>
            </a:r>
            <a:r>
              <a:rPr lang="en-US" baseline="0" dirty="0"/>
              <a:t>(1, -0.0) == -1 </a:t>
            </a:r>
          </a:p>
          <a:p>
            <a:endParaRPr lang="en-US" baseline="0" dirty="0"/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sys.float_info.min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US" baseline="0" dirty="0"/>
              <a:t>1/2**1022 = 2.2250738585072014</a:t>
            </a:r>
            <a:r>
              <a:rPr lang="en-US" b="1" baseline="0" dirty="0"/>
              <a:t>e-308</a:t>
            </a:r>
            <a:r>
              <a:rPr lang="en-US" baseline="0" dirty="0"/>
              <a:t> is the smallest value with 52 bit precision</a:t>
            </a:r>
          </a:p>
          <a:p>
            <a:endParaRPr lang="en-US" baseline="0" dirty="0"/>
          </a:p>
          <a:p>
            <a:r>
              <a:rPr lang="en-US" baseline="0" dirty="0"/>
              <a:t>But the smallest value is 1 / 2**1074 = 4.9406564584</a:t>
            </a:r>
            <a:r>
              <a:rPr lang="en-US" b="1" baseline="0" dirty="0"/>
              <a:t>e-324</a:t>
            </a:r>
            <a:r>
              <a:rPr lang="en-US" baseline="0" dirty="0"/>
              <a:t> (but only one bit precision)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1866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4988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print(42)</a:t>
            </a:r>
          </a:p>
          <a:p>
            <a:r>
              <a:rPr lang="en-US" dirty="0"/>
              <a:t>print = 42</a:t>
            </a:r>
          </a:p>
          <a:p>
            <a:r>
              <a:rPr lang="en-US" dirty="0"/>
              <a:t>print(42) – fails</a:t>
            </a:r>
          </a:p>
          <a:p>
            <a:r>
              <a:rPr lang="en-US" dirty="0"/>
              <a:t>import </a:t>
            </a:r>
            <a:r>
              <a:rPr lang="en-US" dirty="0" err="1"/>
              <a:t>builtins</a:t>
            </a:r>
            <a:endParaRPr lang="en-US" dirty="0"/>
          </a:p>
          <a:p>
            <a:r>
              <a:rPr lang="en-US" dirty="0" err="1"/>
              <a:t>builtins.print</a:t>
            </a:r>
            <a:r>
              <a:rPr lang="en-US" dirty="0"/>
              <a:t>(42)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9253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PEP8: “</a:t>
            </a:r>
            <a:r>
              <a:rPr lang="en-US" b="1" dirty="0"/>
              <a:t>Limit all lines to a maximum of 79 characters.</a:t>
            </a:r>
            <a:r>
              <a:rPr lang="en-US" dirty="0"/>
              <a:t>”</a:t>
            </a:r>
          </a:p>
          <a:p>
            <a:endParaRPr lang="en-US" dirty="0"/>
          </a:p>
          <a:p>
            <a:r>
              <a:rPr lang="en-US" dirty="0"/>
              <a:t>the</a:t>
            </a:r>
            <a:r>
              <a:rPr lang="en-US" baseline="0" dirty="0"/>
              <a:t> </a:t>
            </a:r>
            <a:r>
              <a:rPr lang="en-US" baseline="0" dirty="0" err="1"/>
              <a:t>very_very_long_variable_name</a:t>
            </a:r>
            <a:r>
              <a:rPr lang="en-US" baseline="0" dirty="0"/>
              <a:t> version is stable </a:t>
            </a:r>
            <a:r>
              <a:rPr lang="en-US" baseline="0" dirty="0" err="1"/>
              <a:t>wrt</a:t>
            </a:r>
            <a:r>
              <a:rPr lang="en-US" baseline="0" dirty="0"/>
              <a:t> indentation when query-replacing variable names</a:t>
            </a:r>
          </a:p>
          <a:p>
            <a:endParaRPr lang="en-US" baseline="0" dirty="0"/>
          </a:p>
          <a:p>
            <a:r>
              <a:rPr lang="en-US" dirty="0"/>
              <a:t>print('"'"'"'"'"'"'"')   - even makes sense...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737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Help </a:t>
            </a:r>
            <a:r>
              <a:rPr lang="da-DK" dirty="0" err="1"/>
              <a:t>text</a:t>
            </a:r>
            <a:r>
              <a:rPr lang="da-DK" dirty="0"/>
              <a:t> is the __doc__ </a:t>
            </a:r>
            <a:r>
              <a:rPr lang="da-DK" dirty="0" err="1"/>
              <a:t>attribute</a:t>
            </a:r>
            <a:r>
              <a:rPr lang="da-DK" dirty="0"/>
              <a:t>, </a:t>
            </a:r>
            <a:r>
              <a:rPr lang="da-DK" dirty="0" err="1"/>
              <a:t>e.g</a:t>
            </a:r>
            <a:r>
              <a:rPr lang="da-DK" dirty="0"/>
              <a:t>. </a:t>
            </a:r>
            <a:r>
              <a:rPr lang="da-DK" dirty="0" err="1"/>
              <a:t>print.__doc</a:t>
            </a:r>
            <a:r>
              <a:rPr lang="da-DK" dirty="0"/>
              <a:t>__</a:t>
            </a:r>
          </a:p>
          <a:p>
            <a:r>
              <a:rPr lang="da-DK" dirty="0"/>
              <a:t>IDLE, </a:t>
            </a:r>
            <a:r>
              <a:rPr lang="da-DK" dirty="0" err="1"/>
              <a:t>VSCode</a:t>
            </a:r>
            <a:r>
              <a:rPr lang="da-DK" dirty="0"/>
              <a:t>, </a:t>
            </a:r>
            <a:r>
              <a:rPr lang="da-DK" dirty="0" err="1"/>
              <a:t>etc</a:t>
            </a:r>
            <a:r>
              <a:rPr lang="da-DK" dirty="0"/>
              <a:t> </a:t>
            </a:r>
            <a:r>
              <a:rPr lang="da-DK" dirty="0" err="1"/>
              <a:t>use</a:t>
            </a:r>
            <a:r>
              <a:rPr lang="da-DK" dirty="0"/>
              <a:t> </a:t>
            </a:r>
            <a:r>
              <a:rPr lang="da-DK" dirty="0" err="1"/>
              <a:t>this</a:t>
            </a:r>
            <a:r>
              <a:rPr lang="da-DK" dirty="0"/>
              <a:t> information as </a:t>
            </a:r>
            <a:r>
              <a:rPr lang="da-DK" dirty="0" err="1"/>
              <a:t>help</a:t>
            </a:r>
            <a:r>
              <a:rPr lang="da-DK" dirty="0"/>
              <a:t> </a:t>
            </a:r>
            <a:r>
              <a:rPr lang="da-DK" dirty="0" err="1"/>
              <a:t>desk</a:t>
            </a:r>
            <a:r>
              <a:rPr lang="da-DK" dirty="0"/>
              <a:t> </a:t>
            </a:r>
            <a:r>
              <a:rPr lang="da-DK" dirty="0" err="1"/>
              <a:t>while</a:t>
            </a:r>
            <a:r>
              <a:rPr lang="da-DK" dirty="0"/>
              <a:t> </a:t>
            </a:r>
            <a:r>
              <a:rPr lang="da-DK" dirty="0" err="1"/>
              <a:t>typing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9492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In </a:t>
            </a:r>
            <a:r>
              <a:rPr lang="da-DK" dirty="0" err="1"/>
              <a:t>Javascript</a:t>
            </a:r>
            <a:r>
              <a:rPr lang="da-DK" dirty="0"/>
              <a:t> and Java: ”X” + 1 </a:t>
            </a:r>
            <a:r>
              <a:rPr lang="da-DK" dirty="0" err="1"/>
              <a:t>computes</a:t>
            </a:r>
            <a:r>
              <a:rPr lang="da-DK" dirty="0"/>
              <a:t> to ”X1”, </a:t>
            </a:r>
            <a:r>
              <a:rPr lang="da-DK" dirty="0" err="1"/>
              <a:t>ie</a:t>
            </a:r>
            <a:r>
              <a:rPr lang="da-DK" dirty="0"/>
              <a:t> </a:t>
            </a:r>
            <a:r>
              <a:rPr lang="da-DK" dirty="0" err="1"/>
              <a:t>does</a:t>
            </a:r>
            <a:r>
              <a:rPr lang="da-DK" dirty="0"/>
              <a:t> the </a:t>
            </a:r>
            <a:r>
              <a:rPr lang="da-DK" dirty="0" err="1"/>
              <a:t>conversion</a:t>
            </a:r>
            <a:r>
              <a:rPr lang="da-DK" dirty="0"/>
              <a:t> to </a:t>
            </a:r>
            <a:r>
              <a:rPr lang="da-DK" dirty="0" err="1"/>
              <a:t>string</a:t>
            </a:r>
            <a:r>
              <a:rPr lang="da-DK" dirty="0"/>
              <a:t> </a:t>
            </a:r>
            <a:r>
              <a:rPr lang="da-DK" dirty="0" err="1"/>
              <a:t>automatically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9902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ev/peps/pep-0008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dev/peps/pep-0515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IEEE_754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nicode.org/Public/9.0.0/ucd/UnicodeData.txt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hyperlink" Target="https://www.python.org/dev/peps/pep-0257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reference/lexical_analysis.html#escape-sequences" TargetMode="External"/><Relationship Id="rId2" Type="http://schemas.openxmlformats.org/officeDocument/2006/relationships/hyperlink" Target="https://docs.python.org/3/library/re.html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1" y="2920558"/>
            <a:ext cx="10515600" cy="1325563"/>
          </a:xfrm>
        </p:spPr>
        <p:txBody>
          <a:bodyPr/>
          <a:lstStyle/>
          <a:p>
            <a:pPr algn="r"/>
            <a:r>
              <a:rPr lang="da-DK" dirty="0" err="1"/>
              <a:t>Python</a:t>
            </a:r>
            <a:r>
              <a:rPr lang="da-DK"/>
              <a:t> basics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36355" y="3920647"/>
            <a:ext cx="3995057" cy="2937353"/>
          </a:xfrm>
        </p:spPr>
        <p:txBody>
          <a:bodyPr>
            <a:normAutofit fontScale="92500" lnSpcReduction="20000"/>
          </a:bodyPr>
          <a:lstStyle/>
          <a:p>
            <a:r>
              <a:rPr lang="da-DK" dirty="0" err="1"/>
              <a:t>Comments</a:t>
            </a:r>
            <a:endParaRPr lang="da-DK" dirty="0"/>
          </a:p>
          <a:p>
            <a:r>
              <a:rPr lang="da-DK" dirty="0"/>
              <a:t>”;”</a:t>
            </a:r>
          </a:p>
          <a:p>
            <a:r>
              <a:rPr lang="da-DK" dirty="0"/>
              <a:t>Variable </a:t>
            </a:r>
            <a:r>
              <a:rPr lang="da-DK" dirty="0" err="1"/>
              <a:t>names</a:t>
            </a:r>
            <a:endParaRPr lang="da-DK" dirty="0"/>
          </a:p>
          <a:p>
            <a:r>
              <a:rPr lang="da-DK" dirty="0" err="1"/>
              <a:t>int</a:t>
            </a:r>
            <a:r>
              <a:rPr lang="da-DK" dirty="0"/>
              <a:t>, </a:t>
            </a:r>
            <a:r>
              <a:rPr lang="da-DK" dirty="0" err="1"/>
              <a:t>float</a:t>
            </a:r>
            <a:r>
              <a:rPr lang="da-DK" dirty="0"/>
              <a:t>, </a:t>
            </a:r>
            <a:r>
              <a:rPr lang="da-DK" dirty="0" err="1"/>
              <a:t>str</a:t>
            </a:r>
            <a:endParaRPr lang="da-DK" dirty="0"/>
          </a:p>
          <a:p>
            <a:r>
              <a:rPr lang="da-DK" dirty="0"/>
              <a:t>type </a:t>
            </a:r>
            <a:r>
              <a:rPr lang="da-DK" dirty="0" err="1"/>
              <a:t>conversion</a:t>
            </a:r>
            <a:endParaRPr lang="da-DK" dirty="0"/>
          </a:p>
          <a:p>
            <a:r>
              <a:rPr lang="da-DK" dirty="0" err="1"/>
              <a:t>assignment</a:t>
            </a:r>
            <a:r>
              <a:rPr lang="da-DK" dirty="0"/>
              <a:t> (=)</a:t>
            </a:r>
          </a:p>
          <a:p>
            <a:r>
              <a:rPr lang="en-US" dirty="0"/>
              <a:t>print(), help(), type()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3003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‘#’ indicates the beginning of a comment. </a:t>
            </a:r>
            <a:br>
              <a:rPr lang="en-US" dirty="0"/>
            </a:br>
            <a:r>
              <a:rPr lang="en-US" dirty="0"/>
              <a:t>From ‘#’ until of end of line is ignored by Python. </a:t>
            </a:r>
          </a:p>
          <a:p>
            <a:pPr marL="0" indent="0">
              <a:buNone/>
            </a:pPr>
            <a:endParaRPr lang="da-DK" dirty="0"/>
          </a:p>
          <a:p>
            <a:pPr marL="0" indent="0" algn="ctr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42  # and here goes the comment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Comments useful to describe what a piece of code is supposed to do, what kind of input is expected, what is the output, side effects...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Comments are aimed at people (including yourself) reading the code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2067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“;” in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6810" y="1825625"/>
            <a:ext cx="11226800" cy="5032375"/>
          </a:xfrm>
        </p:spPr>
        <p:txBody>
          <a:bodyPr>
            <a:normAutofit/>
          </a:bodyPr>
          <a:lstStyle/>
          <a:p>
            <a:r>
              <a:rPr lang="en-US" sz="2400" dirty="0"/>
              <a:t>Normally statements follow in </a:t>
            </a:r>
            <a:br>
              <a:rPr lang="en-US" sz="2400" dirty="0"/>
            </a:br>
            <a:r>
              <a:rPr lang="en-US" sz="2400" dirty="0"/>
              <a:t>consecutive lines with identical </a:t>
            </a:r>
            <a:br>
              <a:rPr lang="en-US" sz="2400" dirty="0"/>
            </a:br>
            <a:r>
              <a:rPr lang="en-US" sz="2400" dirty="0"/>
              <a:t>indentation</a:t>
            </a:r>
          </a:p>
          <a:p>
            <a:pPr marL="457200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x = 1</a:t>
            </a:r>
          </a:p>
          <a:p>
            <a:pPr marL="457200" lvl="1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	y = 1</a:t>
            </a:r>
          </a:p>
          <a:p>
            <a:r>
              <a:rPr lang="en-US" sz="2400" dirty="0"/>
              <a:t>but Python also allows multiple</a:t>
            </a:r>
            <a:br>
              <a:rPr lang="en-US" sz="2400" dirty="0"/>
            </a:br>
            <a:r>
              <a:rPr lang="en-US" sz="2400" dirty="0"/>
              <a:t>statements on one line, </a:t>
            </a:r>
            <a:br>
              <a:rPr lang="en-US" sz="2400" dirty="0"/>
            </a:br>
            <a:r>
              <a:rPr lang="en-US" sz="2400" dirty="0"/>
              <a:t>separated by “;”</a:t>
            </a:r>
          </a:p>
          <a:p>
            <a:pPr marL="0" indent="0">
              <a:buNone/>
            </a:pPr>
            <a:r>
              <a:rPr lang="en-US" sz="2400" dirty="0"/>
              <a:t>	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x = 1; y = 1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General Python </a:t>
            </a:r>
            <a:r>
              <a:rPr lang="en-US" sz="2400" dirty="0">
                <a:hlinkClick r:id="rId3"/>
              </a:rPr>
              <a:t>PEP 8</a:t>
            </a:r>
            <a:r>
              <a:rPr lang="en-US" sz="2400" dirty="0"/>
              <a:t> guideline: </a:t>
            </a:r>
            <a:r>
              <a:rPr lang="en-US" sz="2400" b="1" dirty="0">
                <a:solidFill>
                  <a:srgbClr val="C00000"/>
                </a:solidFill>
              </a:rPr>
              <a:t>avoid using “;”</a:t>
            </a:r>
          </a:p>
          <a:p>
            <a:r>
              <a:rPr lang="en-US" sz="2400" dirty="0"/>
              <a:t>Other languages like C, C++ and Java require “;” to end/separate statements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979" y="1288655"/>
            <a:ext cx="6005631" cy="35014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90642" y="4823962"/>
            <a:ext cx="3913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neither </a:t>
            </a:r>
            <a:r>
              <a:rPr lang="en-US" b="1" dirty="0" err="1">
                <a:solidFill>
                  <a:srgbClr val="C00000"/>
                </a:solidFill>
              </a:rPr>
              <a:t>pylint</a:t>
            </a:r>
            <a:r>
              <a:rPr lang="en-US" dirty="0"/>
              <a:t> or </a:t>
            </a:r>
            <a:r>
              <a:rPr lang="en-US" b="1" dirty="0">
                <a:solidFill>
                  <a:srgbClr val="C00000"/>
                </a:solidFill>
              </a:rPr>
              <a:t>flake8</a:t>
            </a:r>
            <a:r>
              <a:rPr lang="en-US" dirty="0"/>
              <a:t> like “;”</a:t>
            </a:r>
          </a:p>
        </p:txBody>
      </p:sp>
      <p:cxnSp>
        <p:nvCxnSpPr>
          <p:cNvPr id="7" name="Elbow Connector 6"/>
          <p:cNvCxnSpPr/>
          <p:nvPr/>
        </p:nvCxnSpPr>
        <p:spPr>
          <a:xfrm flipV="1">
            <a:off x="4078705" y="4439653"/>
            <a:ext cx="1744579" cy="589547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0635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9995" y="1440494"/>
            <a:ext cx="11542005" cy="397701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Variable name = sequence of </a:t>
            </a:r>
            <a:r>
              <a:rPr lang="en-US" b="1" dirty="0"/>
              <a:t>letters</a:t>
            </a:r>
            <a:r>
              <a:rPr lang="en-US" dirty="0"/>
              <a:t> ‘a’-’z’, ‘A’-’Z’, </a:t>
            </a:r>
            <a:r>
              <a:rPr lang="en-US" b="1" dirty="0"/>
              <a:t>digits</a:t>
            </a:r>
            <a:r>
              <a:rPr lang="en-US" dirty="0"/>
              <a:t> ‘0’-’9’, and </a:t>
            </a:r>
            <a:r>
              <a:rPr lang="en-US" b="1" dirty="0"/>
              <a:t>underscore</a:t>
            </a:r>
            <a:r>
              <a:rPr lang="en-US" dirty="0"/>
              <a:t> ‘_’ </a:t>
            </a:r>
          </a:p>
          <a:p>
            <a:pPr marL="914400" lvl="2" indent="0">
              <a:buNone/>
            </a:pPr>
            <a:endParaRPr lang="da-DK" dirty="0"/>
          </a:p>
          <a:p>
            <a:pPr marL="914400" lvl="2" indent="0">
              <a:buNone/>
            </a:pP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v, </a:t>
            </a:r>
            <a:r>
              <a:rPr lang="da-DK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volume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a-DK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height_of_box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a-DK" sz="2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WidthOfBox</a:t>
            </a:r>
            <a:r>
              <a:rPr lang="da-DK" sz="2600" dirty="0">
                <a:latin typeface="Courier New" panose="02070309020205020404" pitchFamily="49" charset="0"/>
                <a:cs typeface="Courier New" panose="02070309020205020404" pitchFamily="49" charset="0"/>
              </a:rPr>
              <a:t>, x0, _v12_34B, _</a:t>
            </a:r>
            <a:br>
              <a:rPr lang="en-US" dirty="0"/>
            </a:br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a name cannot start with a digit</a:t>
            </a:r>
          </a:p>
          <a:p>
            <a:pPr lvl="1"/>
            <a:r>
              <a:rPr lang="en-US" dirty="0"/>
              <a:t>names are case sensitive (</a:t>
            </a:r>
            <a:r>
              <a:rPr lang="en-US" dirty="0">
                <a:latin typeface="Courier"/>
              </a:rPr>
              <a:t>AB</a:t>
            </a:r>
            <a:r>
              <a:rPr lang="en-US" dirty="0"/>
              <a:t>, </a:t>
            </a:r>
            <a:r>
              <a:rPr lang="en-US" dirty="0">
                <a:latin typeface="Courier"/>
              </a:rPr>
              <a:t>Ab</a:t>
            </a:r>
            <a:r>
              <a:rPr lang="en-US" dirty="0"/>
              <a:t>, </a:t>
            </a:r>
            <a:r>
              <a:rPr lang="en-US" dirty="0" err="1">
                <a:latin typeface="Courier"/>
              </a:rPr>
              <a:t>aB</a:t>
            </a:r>
            <a:r>
              <a:rPr lang="en-US" dirty="0"/>
              <a:t> and </a:t>
            </a:r>
            <a:r>
              <a:rPr lang="en-US" dirty="0">
                <a:latin typeface="Courier"/>
              </a:rPr>
              <a:t>ab</a:t>
            </a:r>
            <a:r>
              <a:rPr lang="en-US" dirty="0"/>
              <a:t> are different variables)</a:t>
            </a:r>
          </a:p>
          <a:p>
            <a:pPr lvl="1"/>
            <a:endParaRPr lang="en-US" dirty="0"/>
          </a:p>
          <a:p>
            <a:r>
              <a:rPr lang="en-US" dirty="0"/>
              <a:t>Variable names are </a:t>
            </a:r>
            <a:r>
              <a:rPr lang="en-US" dirty="0">
                <a:solidFill>
                  <a:srgbClr val="C00000"/>
                </a:solidFill>
              </a:rPr>
              <a:t>references to objects in memory</a:t>
            </a:r>
          </a:p>
          <a:p>
            <a:r>
              <a:rPr lang="en-US" b="1" dirty="0"/>
              <a:t>Use meaningful variables names</a:t>
            </a:r>
          </a:p>
          <a:p>
            <a:r>
              <a:rPr lang="en-US" b="1" dirty="0"/>
              <a:t>Python 3 reserved keywords:</a:t>
            </a:r>
            <a:endParaRPr lang="en-US" sz="2600" dirty="0">
              <a:latin typeface="Couri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57289" y="2482684"/>
            <a:ext cx="41643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>
                <a:solidFill>
                  <a:srgbClr val="C00000"/>
                </a:solidFill>
              </a:rPr>
              <a:t>(</a:t>
            </a:r>
            <a:r>
              <a:rPr lang="da-DK" dirty="0" err="1">
                <a:solidFill>
                  <a:srgbClr val="C00000"/>
                </a:solidFill>
              </a:rPr>
              <a:t>snake_case</a:t>
            </a:r>
            <a:r>
              <a:rPr lang="da-DK" dirty="0">
                <a:solidFill>
                  <a:srgbClr val="C00000"/>
                </a:solidFill>
              </a:rPr>
              <a:t>)                         (</a:t>
            </a:r>
            <a:r>
              <a:rPr lang="da-DK" dirty="0" err="1">
                <a:solidFill>
                  <a:srgbClr val="C00000"/>
                </a:solidFill>
              </a:rPr>
              <a:t>CamelCase</a:t>
            </a:r>
            <a:r>
              <a:rPr lang="da-DK" dirty="0">
                <a:solidFill>
                  <a:srgbClr val="C00000"/>
                </a:solidFill>
              </a:rPr>
              <a:t>)</a:t>
            </a:r>
            <a:endParaRPr lang="en-US" dirty="0">
              <a:solidFill>
                <a:srgbClr val="C00000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D7C0AFF-3BA6-E948-38DA-52CC18F330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1036629"/>
              </p:ext>
            </p:extLst>
          </p:nvPr>
        </p:nvGraphicFramePr>
        <p:xfrm>
          <a:off x="1065620" y="5389614"/>
          <a:ext cx="10881360" cy="1310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8240">
                  <a:extLst>
                    <a:ext uri="{9D8B030D-6E8A-4147-A177-3AD203B41FA5}">
                      <a16:colId xmlns:a16="http://schemas.microsoft.com/office/drawing/2014/main" val="368083794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4035235451"/>
                    </a:ext>
                  </a:extLst>
                </a:gridCol>
                <a:gridCol w="1310640">
                  <a:extLst>
                    <a:ext uri="{9D8B030D-6E8A-4147-A177-3AD203B41FA5}">
                      <a16:colId xmlns:a16="http://schemas.microsoft.com/office/drawing/2014/main" val="1732578023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1784413622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364434188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3838293865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3679272849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46520465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14240485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assert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break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class</a:t>
                      </a:r>
                      <a:b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continue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del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2000" b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elif</a:t>
                      </a:r>
                      <a:endParaRPr lang="en-US" sz="2000" b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else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except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finally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global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lambda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nonlocal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pass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raise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return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try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</a:t>
                      </a: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with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yield</a:t>
                      </a:r>
                      <a:endParaRPr lang="da-DK" sz="2000" b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45720" marR="45720"/>
                </a:tc>
                <a:tc>
                  <a:txBody>
                    <a:bodyPr/>
                    <a:lstStyle/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</a:p>
                    <a:p>
                      <a:r>
                        <a:rPr lang="en-US" sz="2000" b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da-DK" sz="2000" b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45720" marR="45720"/>
                </a:tc>
                <a:extLst>
                  <a:ext uri="{0D108BD9-81ED-4DB2-BD59-A6C34878D82A}">
                    <a16:rowId xmlns:a16="http://schemas.microsoft.com/office/drawing/2014/main" val="1316587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647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9" descr="QuizAnsw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133564"/>
              </p:ext>
            </p:extLst>
          </p:nvPr>
        </p:nvGraphicFramePr>
        <p:xfrm>
          <a:off x="6991150" y="4098373"/>
          <a:ext cx="4876800" cy="15178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7680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83863">
                <a:tc>
                  <a:txBody>
                    <a:bodyPr/>
                    <a:lstStyle/>
                    <a:p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4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4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13023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 = 7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print(42)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Traceback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(most recent call last):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File "&lt;</a:t>
                      </a: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stdin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&gt;", line 1, in &lt;module&gt;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'</a:t>
                      </a:r>
                      <a:r>
                        <a:rPr lang="en-US" sz="14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4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 object is not callable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Question</a:t>
            </a:r>
            <a:r>
              <a:rPr lang="da-DK" dirty="0"/>
              <a:t> – Not a valid Pyton variable </a:t>
            </a:r>
            <a:r>
              <a:rPr lang="da-DK" dirty="0" err="1"/>
              <a:t>name</a:t>
            </a:r>
            <a:r>
              <a:rPr lang="da-DK" dirty="0"/>
              <a:t>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34495" y="2247614"/>
            <a:ext cx="4358329" cy="394091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" pitchFamily="49" charset="0"/>
              </a:rPr>
              <a:t>print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" pitchFamily="49" charset="0"/>
              </a:rPr>
              <a:t>for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" pitchFamily="49" charset="0"/>
              </a:rPr>
              <a:t>_100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" pitchFamily="49" charset="0"/>
              </a:rPr>
              <a:t>x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" pitchFamily="49" charset="0"/>
              </a:rPr>
              <a:t>_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 err="1">
                <a:latin typeface="Courier" pitchFamily="49" charset="0"/>
              </a:rPr>
              <a:t>python_for_ever</a:t>
            </a:r>
            <a:endParaRPr lang="da-DK" dirty="0">
              <a:latin typeface="Courier" pitchFamily="49" charset="0"/>
            </a:endParaRP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 err="1"/>
              <a:t>Don’t</a:t>
            </a:r>
            <a:r>
              <a:rPr lang="da-DK" dirty="0"/>
              <a:t> know</a:t>
            </a:r>
            <a:endParaRPr lang="en-US" dirty="0"/>
          </a:p>
        </p:txBody>
      </p:sp>
      <p:sp>
        <p:nvSpPr>
          <p:cNvPr id="8" name="Smiley Face 7" descr="QuizAnswer"/>
          <p:cNvSpPr/>
          <p:nvPr/>
        </p:nvSpPr>
        <p:spPr>
          <a:xfrm>
            <a:off x="795511" y="2758806"/>
            <a:ext cx="374567" cy="363338"/>
          </a:xfrm>
          <a:prstGeom prst="smileyFace">
            <a:avLst>
              <a:gd name="adj" fmla="val -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own Arrow 4"/>
          <p:cNvSpPr/>
          <p:nvPr/>
        </p:nvSpPr>
        <p:spPr>
          <a:xfrm rot="5400000">
            <a:off x="3936304" y="1653805"/>
            <a:ext cx="800135" cy="2712904"/>
          </a:xfrm>
          <a:prstGeom prst="down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Python reserved keyword</a:t>
            </a:r>
          </a:p>
        </p:txBody>
      </p:sp>
      <p:pic>
        <p:nvPicPr>
          <p:cNvPr id="9" name="Picture 8" descr="QuizAnswer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1150" y="4533565"/>
            <a:ext cx="487666" cy="405904"/>
          </a:xfrm>
          <a:prstGeom prst="rect">
            <a:avLst/>
          </a:prstGeom>
        </p:spPr>
      </p:pic>
      <p:sp>
        <p:nvSpPr>
          <p:cNvPr id="4" name="TextBox 3" descr="QuizAnswer"/>
          <p:cNvSpPr txBox="1"/>
          <p:nvPr/>
        </p:nvSpPr>
        <p:spPr>
          <a:xfrm>
            <a:off x="6889315" y="5700101"/>
            <a:ext cx="50644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urier"/>
              </a:rPr>
              <a:t>print</a:t>
            </a:r>
            <a:r>
              <a:rPr lang="en-US" dirty="0"/>
              <a:t> is a valid variable name, with default value a </a:t>
            </a:r>
            <a:r>
              <a:rPr lang="en-US" dirty="0" err="1"/>
              <a:t>builtin</a:t>
            </a:r>
            <a:r>
              <a:rPr lang="en-US" dirty="0"/>
              <a:t> </a:t>
            </a:r>
            <a:r>
              <a:rPr lang="en-US" i="1" dirty="0"/>
              <a:t>function</a:t>
            </a:r>
            <a:r>
              <a:rPr lang="en-US" dirty="0"/>
              <a:t> to print output to a shell – assigning a new value to </a:t>
            </a:r>
            <a:r>
              <a:rPr lang="en-US" dirty="0">
                <a:latin typeface="Courier"/>
              </a:rPr>
              <a:t>print</a:t>
            </a:r>
            <a:r>
              <a:rPr lang="en-US" dirty="0"/>
              <a:t> is very likely a bad idea </a:t>
            </a:r>
            <a:br>
              <a:rPr lang="en-US" dirty="0"/>
            </a:br>
            <a:r>
              <a:rPr lang="en-US" dirty="0"/>
              <a:t>(like many others </a:t>
            </a:r>
            <a:r>
              <a:rPr lang="en-US" dirty="0">
                <a:latin typeface="Courier"/>
              </a:rPr>
              <a:t>sum</a:t>
            </a:r>
            <a:r>
              <a:rPr lang="en-US" dirty="0"/>
              <a:t>, </a:t>
            </a:r>
            <a:r>
              <a:rPr lang="en-US" dirty="0" err="1">
                <a:latin typeface="Courier"/>
              </a:rPr>
              <a:t>int</a:t>
            </a:r>
            <a:r>
              <a:rPr lang="en-US" dirty="0"/>
              <a:t>, </a:t>
            </a:r>
            <a:r>
              <a:rPr lang="en-US" dirty="0" err="1">
                <a:latin typeface="Courier"/>
              </a:rPr>
              <a:t>str</a:t>
            </a:r>
            <a:r>
              <a:rPr lang="en-US" dirty="0"/>
              <a:t>, ...)</a:t>
            </a:r>
          </a:p>
        </p:txBody>
      </p:sp>
    </p:spTree>
    <p:extLst>
      <p:ext uri="{BB962C8B-B14F-4D97-AF65-F5344CB8AC3E}">
        <p14:creationId xmlns:p14="http://schemas.microsoft.com/office/powerpoint/2010/main" val="1252763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5" grpId="0" animBg="1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Integer</a:t>
            </a:r>
            <a:r>
              <a:rPr lang="da-DK" dirty="0"/>
              <a:t> </a:t>
            </a:r>
            <a:r>
              <a:rPr lang="da-DK" dirty="0" err="1"/>
              <a:t>literals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96556"/>
          </a:xfrm>
        </p:spPr>
        <p:txBody>
          <a:bodyPr/>
          <a:lstStyle/>
          <a:p>
            <a:pPr>
              <a:spcAft>
                <a:spcPts val="1200"/>
              </a:spcAft>
            </a:pPr>
            <a:r>
              <a:rPr lang="en-US" dirty="0"/>
              <a:t>.... </a:t>
            </a:r>
            <a:r>
              <a:rPr lang="en-US" dirty="0">
                <a:latin typeface="Courier"/>
              </a:rPr>
              <a:t>-4</a:t>
            </a:r>
            <a:r>
              <a:rPr lang="en-US" dirty="0"/>
              <a:t>, </a:t>
            </a:r>
            <a:r>
              <a:rPr lang="en-US" dirty="0">
                <a:latin typeface="Courier"/>
              </a:rPr>
              <a:t>-3</a:t>
            </a:r>
            <a:r>
              <a:rPr lang="en-US" dirty="0"/>
              <a:t>, </a:t>
            </a:r>
            <a:r>
              <a:rPr lang="en-US" dirty="0">
                <a:latin typeface="Courier"/>
              </a:rPr>
              <a:t>-2</a:t>
            </a:r>
            <a:r>
              <a:rPr lang="en-US" dirty="0"/>
              <a:t>, </a:t>
            </a:r>
            <a:r>
              <a:rPr lang="en-US" dirty="0">
                <a:latin typeface="Courier"/>
              </a:rPr>
              <a:t>-1</a:t>
            </a:r>
            <a:r>
              <a:rPr lang="en-US" dirty="0"/>
              <a:t>, </a:t>
            </a:r>
            <a:r>
              <a:rPr lang="en-US" dirty="0">
                <a:latin typeface="Courier"/>
              </a:rPr>
              <a:t>0</a:t>
            </a:r>
            <a:r>
              <a:rPr lang="en-US" dirty="0"/>
              <a:t>, </a:t>
            </a:r>
            <a:r>
              <a:rPr lang="en-US" dirty="0">
                <a:latin typeface="Courier"/>
              </a:rPr>
              <a:t>1</a:t>
            </a:r>
            <a:r>
              <a:rPr lang="en-US" dirty="0"/>
              <a:t>, </a:t>
            </a:r>
            <a:r>
              <a:rPr lang="en-US" dirty="0">
                <a:latin typeface="Courier"/>
              </a:rPr>
              <a:t>2</a:t>
            </a:r>
            <a:r>
              <a:rPr lang="en-US" dirty="0"/>
              <a:t>, </a:t>
            </a:r>
            <a:r>
              <a:rPr lang="en-US" dirty="0">
                <a:latin typeface="Courier"/>
              </a:rPr>
              <a:t>3</a:t>
            </a:r>
            <a:r>
              <a:rPr lang="en-US" dirty="0"/>
              <a:t>, </a:t>
            </a:r>
            <a:r>
              <a:rPr lang="en-US" dirty="0">
                <a:latin typeface="Courier"/>
              </a:rPr>
              <a:t>4</a:t>
            </a:r>
            <a:r>
              <a:rPr lang="en-US" dirty="0"/>
              <a:t> ....</a:t>
            </a:r>
          </a:p>
          <a:p>
            <a:pPr>
              <a:spcAft>
                <a:spcPts val="1200"/>
              </a:spcAft>
            </a:pPr>
            <a:r>
              <a:rPr lang="en-US" dirty="0"/>
              <a:t>Python integers can have an arbitrary number of digits</a:t>
            </a:r>
            <a:br>
              <a:rPr lang="en-US" dirty="0"/>
            </a:br>
            <a:r>
              <a:rPr lang="en-US" dirty="0"/>
              <a:t>(only limited by machine memory)</a:t>
            </a:r>
          </a:p>
          <a:p>
            <a:pPr>
              <a:spcAft>
                <a:spcPts val="1200"/>
              </a:spcAft>
            </a:pPr>
            <a:r>
              <a:rPr lang="en-US" dirty="0"/>
              <a:t>Can be preceded by a plus </a:t>
            </a:r>
            <a:r>
              <a:rPr lang="en-US" dirty="0">
                <a:latin typeface="Courier"/>
              </a:rPr>
              <a:t>(+</a:t>
            </a:r>
            <a:r>
              <a:rPr lang="en-US" dirty="0"/>
              <a:t>) or minus (</a:t>
            </a:r>
            <a:r>
              <a:rPr lang="en-US" dirty="0">
                <a:latin typeface="Courier"/>
              </a:rPr>
              <a:t>-</a:t>
            </a:r>
            <a:r>
              <a:rPr lang="en-US" dirty="0"/>
              <a:t>)</a:t>
            </a:r>
          </a:p>
          <a:p>
            <a:pPr>
              <a:spcAft>
                <a:spcPts val="1200"/>
              </a:spcAft>
            </a:pPr>
            <a:r>
              <a:rPr lang="en-US" dirty="0"/>
              <a:t>Leading zeros are not allowed (e.g. 7 cannot be written as 007)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dirty="0"/>
              <a:t>For readability underscores (</a:t>
            </a:r>
            <a:r>
              <a:rPr lang="en-US" dirty="0">
                <a:latin typeface="Courier"/>
              </a:rPr>
              <a:t>_</a:t>
            </a:r>
            <a:r>
              <a:rPr lang="en-US" dirty="0"/>
              <a:t>) can be added between digits,</a:t>
            </a:r>
          </a:p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dirty="0">
                <a:latin typeface="Courier"/>
              </a:rPr>
              <a:t>2_147_483_647</a:t>
            </a:r>
            <a:endParaRPr lang="en-US" dirty="0"/>
          </a:p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2400" dirty="0"/>
              <a:t>(for more, see </a:t>
            </a:r>
            <a:r>
              <a:rPr lang="da-DK" sz="2400" dirty="0">
                <a:hlinkClick r:id="rId3"/>
              </a:rPr>
              <a:t>PEP 515 - Underscores in </a:t>
            </a:r>
            <a:r>
              <a:rPr lang="da-DK" sz="2400" dirty="0" err="1">
                <a:hlinkClick r:id="rId3"/>
              </a:rPr>
              <a:t>Numeric</a:t>
            </a:r>
            <a:r>
              <a:rPr lang="da-DK" sz="2400" dirty="0">
                <a:hlinkClick r:id="rId3"/>
              </a:rPr>
              <a:t> </a:t>
            </a:r>
            <a:r>
              <a:rPr lang="da-DK" sz="2400" dirty="0" err="1">
                <a:hlinkClick r:id="rId3"/>
              </a:rPr>
              <a:t>Literals</a:t>
            </a:r>
            <a:r>
              <a:rPr lang="en-US" sz="2400" dirty="0"/>
              <a:t>)</a:t>
            </a:r>
            <a:endParaRPr lang="da-DK" sz="2400" b="1" dirty="0"/>
          </a:p>
        </p:txBody>
      </p:sp>
    </p:spTree>
    <p:extLst>
      <p:ext uri="{BB962C8B-B14F-4D97-AF65-F5344CB8AC3E}">
        <p14:creationId xmlns:p14="http://schemas.microsoft.com/office/powerpoint/2010/main" val="48303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Question</a:t>
            </a:r>
            <a:r>
              <a:rPr lang="da-DK" dirty="0"/>
              <a:t> – </a:t>
            </a:r>
            <a:r>
              <a:rPr lang="da-DK" dirty="0" err="1"/>
              <a:t>What</a:t>
            </a:r>
            <a:r>
              <a:rPr lang="da-DK" dirty="0"/>
              <a:t> statement </a:t>
            </a:r>
            <a:r>
              <a:rPr lang="da-DK" dirty="0" err="1"/>
              <a:t>will</a:t>
            </a:r>
            <a:r>
              <a:rPr lang="da-DK" dirty="0"/>
              <a:t> not </a:t>
            </a:r>
            <a:r>
              <a:rPr lang="da-DK" dirty="0" err="1"/>
              <a:t>fail</a:t>
            </a:r>
            <a:r>
              <a:rPr lang="da-DK" dirty="0"/>
              <a:t>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48857" y="2443557"/>
            <a:ext cx="3456606" cy="327222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"/>
              </a:rPr>
              <a:t>x = _42</a:t>
            </a:r>
          </a:p>
          <a:p>
            <a:pPr marL="514350" indent="-514350">
              <a:buFont typeface="+mj-lt"/>
              <a:buAutoNum type="alphaLcParenR"/>
            </a:pPr>
            <a:r>
              <a:rPr lang="da-DK" dirty="0"/>
              <a:t> </a:t>
            </a:r>
            <a:r>
              <a:rPr lang="da-DK" dirty="0">
                <a:latin typeface="Courier"/>
              </a:rPr>
              <a:t>_10 = -1_1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 </a:t>
            </a:r>
            <a:r>
              <a:rPr lang="en-US" dirty="0">
                <a:latin typeface="Courier"/>
              </a:rPr>
              <a:t>x = 1__0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 </a:t>
            </a:r>
            <a:r>
              <a:rPr lang="en-US" dirty="0">
                <a:latin typeface="Courier"/>
              </a:rPr>
              <a:t>x = +1_0_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 Don’t know</a:t>
            </a:r>
          </a:p>
        </p:txBody>
      </p:sp>
      <p:sp>
        <p:nvSpPr>
          <p:cNvPr id="4" name="Smiley Face 3" descr="QuizAnswer"/>
          <p:cNvSpPr/>
          <p:nvPr/>
        </p:nvSpPr>
        <p:spPr>
          <a:xfrm>
            <a:off x="3699989" y="2985425"/>
            <a:ext cx="374567" cy="363338"/>
          </a:xfrm>
          <a:prstGeom prst="smileyFace">
            <a:avLst/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364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da-DK" dirty="0" err="1"/>
              <a:t>Float</a:t>
            </a:r>
            <a:r>
              <a:rPr lang="da-DK" dirty="0"/>
              <a:t> </a:t>
            </a:r>
            <a:r>
              <a:rPr lang="da-DK" dirty="0" err="1"/>
              <a:t>literals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25771"/>
            <a:ext cx="6163307" cy="563222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Decimal numbers are represented using </a:t>
            </a:r>
            <a:r>
              <a:rPr lang="en-US" b="1" dirty="0"/>
              <a:t>float</a:t>
            </a:r>
            <a:r>
              <a:rPr lang="en-US" dirty="0"/>
              <a:t> – contain “.” or “e”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>
                <a:latin typeface="Courier"/>
              </a:rPr>
              <a:t>3.1415</a:t>
            </a:r>
          </a:p>
          <a:p>
            <a:pPr lvl="1"/>
            <a:r>
              <a:rPr lang="en-US" dirty="0">
                <a:latin typeface="Courier"/>
              </a:rPr>
              <a:t>-.00134</a:t>
            </a:r>
          </a:p>
          <a:p>
            <a:pPr lvl="1"/>
            <a:r>
              <a:rPr lang="en-US" dirty="0">
                <a:latin typeface="Courier"/>
              </a:rPr>
              <a:t>124e3 = 124</a:t>
            </a:r>
            <a:r>
              <a:rPr lang="en-US" dirty="0">
                <a:latin typeface="Courier"/>
                <a:cs typeface="Courier New" panose="02070309020205020404" pitchFamily="49" charset="0"/>
              </a:rPr>
              <a:t>∙</a:t>
            </a:r>
            <a:r>
              <a:rPr lang="en-US" dirty="0">
                <a:latin typeface="Courier"/>
              </a:rPr>
              <a:t>10</a:t>
            </a:r>
            <a:r>
              <a:rPr lang="en-US" baseline="30000" dirty="0">
                <a:latin typeface="Courier"/>
              </a:rPr>
              <a:t>3</a:t>
            </a:r>
          </a:p>
          <a:p>
            <a:pPr lvl="1"/>
            <a:r>
              <a:rPr lang="en-US" dirty="0">
                <a:latin typeface="Courier"/>
              </a:rPr>
              <a:t>-2.345e2 = -234.5</a:t>
            </a:r>
          </a:p>
          <a:p>
            <a:pPr lvl="1"/>
            <a:r>
              <a:rPr lang="en-US" dirty="0">
                <a:latin typeface="Courier"/>
              </a:rPr>
              <a:t>12.3e-4 = 0.00123</a:t>
            </a:r>
            <a:endParaRPr lang="en-US" b="1" dirty="0"/>
          </a:p>
          <a:p>
            <a:r>
              <a:rPr lang="en-US" dirty="0"/>
              <a:t>       Floats are often only approximations, e.g. </a:t>
            </a:r>
            <a:r>
              <a:rPr lang="en-US" dirty="0">
                <a:latin typeface="Courier"/>
              </a:rPr>
              <a:t>0.1</a:t>
            </a:r>
            <a:r>
              <a:rPr lang="en-US" dirty="0"/>
              <a:t> is </a:t>
            </a:r>
            <a:r>
              <a:rPr lang="en-US" i="1" dirty="0"/>
              <a:t>not</a:t>
            </a:r>
            <a:r>
              <a:rPr lang="en-US" dirty="0"/>
              <a:t> 1/10</a:t>
            </a:r>
          </a:p>
          <a:p>
            <a:r>
              <a:rPr lang="en-US" dirty="0"/>
              <a:t>Extreme values (</a:t>
            </a:r>
            <a:r>
              <a:rPr lang="en-US" dirty="0" err="1"/>
              <a:t>CPython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max = 1.7976931348623157e+308 </a:t>
            </a:r>
          </a:p>
          <a:p>
            <a:pPr lvl="1"/>
            <a:r>
              <a:rPr lang="en-US" dirty="0"/>
              <a:t>min = 2.2250738585072014e-308</a:t>
            </a:r>
          </a:p>
          <a:p>
            <a:r>
              <a:rPr lang="en-US" dirty="0"/>
              <a:t>NB:  Use module </a:t>
            </a:r>
            <a:r>
              <a:rPr lang="en-US" dirty="0">
                <a:latin typeface="Courier"/>
              </a:rPr>
              <a:t>fractions</a:t>
            </a:r>
            <a:r>
              <a:rPr lang="en-US" dirty="0"/>
              <a:t> for exact fractions/rational numbers.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367592"/>
              </p:ext>
            </p:extLst>
          </p:nvPr>
        </p:nvGraphicFramePr>
        <p:xfrm>
          <a:off x="7544168" y="174045"/>
          <a:ext cx="4483418" cy="652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341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3284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829802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0.1 + 0.2 + 0.3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0.6000000000000001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(0.1 + 0.2) + 0.3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0.6000000000000001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0.1 + (0.2 + 0.3)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0.6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type(0.1)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'float'&gt;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1e200 * 1e300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0.1+(0.2+0.3) == (0.1+0.2)+0.3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0.1 + 0.2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0.3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== y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</a:p>
                    <a:p>
                      <a:pPr marL="266700" indent="-266700" algn="l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:.30f}')  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30 decimals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0.300000000000000044408920985006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pt-BR" sz="16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:.30f}')  </a:t>
                      </a:r>
                      <a:r>
                        <a:rPr lang="pt-BR" sz="16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30 decimals</a:t>
                      </a:r>
                      <a:endParaRPr lang="pt-BR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0.299999999999999988897769753748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sys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sys.float_info.min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2.2250738585072014e-308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sys.float_info.max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1.7976931348623157e+308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6" name="Down Arrow 5"/>
          <p:cNvSpPr/>
          <p:nvPr/>
        </p:nvSpPr>
        <p:spPr>
          <a:xfrm rot="2717048">
            <a:off x="10077728" y="1260924"/>
            <a:ext cx="874691" cy="1920288"/>
          </a:xfrm>
          <a:prstGeom prst="down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/>
              <a:t>Associativity rule does not apply to floats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507" y="3160074"/>
            <a:ext cx="487666" cy="40590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1954" y="4041885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88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Question</a:t>
            </a:r>
            <a:r>
              <a:rPr lang="da-DK" dirty="0"/>
              <a:t> – </a:t>
            </a:r>
            <a:r>
              <a:rPr lang="da-DK" dirty="0" err="1"/>
              <a:t>What</a:t>
            </a:r>
            <a:r>
              <a:rPr lang="da-DK" dirty="0"/>
              <a:t> addition </a:t>
            </a:r>
            <a:r>
              <a:rPr lang="da-DK" dirty="0" err="1"/>
              <a:t>order</a:t>
            </a:r>
            <a:r>
              <a:rPr lang="da-DK" dirty="0"/>
              <a:t> is ”</a:t>
            </a:r>
            <a:r>
              <a:rPr lang="da-DK" dirty="0" err="1"/>
              <a:t>best</a:t>
            </a:r>
            <a:r>
              <a:rPr lang="da-DK" dirty="0"/>
              <a:t>”?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7163" y="1789038"/>
            <a:ext cx="8361286" cy="3272224"/>
          </a:xfrm>
        </p:spPr>
        <p:txBody>
          <a:bodyPr>
            <a:noAutofit/>
          </a:bodyPr>
          <a:lstStyle/>
          <a:p>
            <a:pPr marL="514350" indent="-514350">
              <a:buSzPct val="100000"/>
              <a:buFont typeface="+mj-lt"/>
              <a:buAutoNum type="alphaLcParenR"/>
            </a:pPr>
            <a:r>
              <a:rPr lang="en-US" sz="2400" dirty="0"/>
              <a:t> 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1e10 + 1e-10 + -5e-12 + -1e10</a:t>
            </a:r>
            <a:endParaRPr lang="pt-BR" sz="2400" dirty="0">
              <a:latin typeface="+mj-lt"/>
              <a:cs typeface="Courier New" panose="02070309020205020404" pitchFamily="49" charset="0"/>
            </a:endParaRPr>
          </a:p>
          <a:p>
            <a:pPr marL="514350" indent="-514350">
              <a:buSzPct val="100000"/>
              <a:buFont typeface="+mj-lt"/>
              <a:buAutoNum type="alphaLcParenR"/>
            </a:pPr>
            <a:r>
              <a:rPr lang="pt-BR" sz="2400" dirty="0">
                <a:latin typeface="+mj-lt"/>
                <a:cs typeface="Courier New" panose="02070309020205020404" pitchFamily="49" charset="0"/>
              </a:rPr>
              <a:t> 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1e10 + -1e10 + 1e-10 + -5e-12</a:t>
            </a:r>
          </a:p>
          <a:p>
            <a:pPr marL="514350" indent="-514350">
              <a:buSzPct val="100000"/>
              <a:buFont typeface="+mj-lt"/>
              <a:buAutoNum type="alphaLcParenR"/>
            </a:pPr>
            <a:r>
              <a:rPr lang="en-US" sz="2400" dirty="0"/>
              <a:t> 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1e-10 + 1e10 + -1e10 + -5e-12</a:t>
            </a:r>
          </a:p>
          <a:p>
            <a:pPr marL="514350" indent="-514350">
              <a:buSzPct val="100000"/>
              <a:buFont typeface="+mj-lt"/>
              <a:buAutoNum type="alphaLcParenR"/>
            </a:pPr>
            <a:r>
              <a:rPr lang="pt-BR" sz="2400" dirty="0">
                <a:latin typeface="+mj-lt"/>
                <a:cs typeface="Courier New" panose="02070309020205020404" pitchFamily="49" charset="0"/>
              </a:rPr>
              <a:t> </a:t>
            </a:r>
            <a:r>
              <a:rPr lang="pt-BR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-5e-12 + -1e10 + 1e10 + 1e-10</a:t>
            </a:r>
          </a:p>
          <a:p>
            <a:pPr marL="514350" indent="-514350">
              <a:buSzPct val="100000"/>
              <a:buFont typeface="+mj-lt"/>
              <a:buAutoNum type="alphaLcParenR"/>
            </a:pPr>
            <a:r>
              <a:rPr lang="en-US" sz="2400" dirty="0"/>
              <a:t> Any order is equally good</a:t>
            </a:r>
          </a:p>
          <a:p>
            <a:pPr marL="514350" indent="-514350">
              <a:buFont typeface="+mj-lt"/>
              <a:buAutoNum type="alphaLcParenR"/>
            </a:pPr>
            <a:r>
              <a:rPr lang="en-US" sz="2400" dirty="0"/>
              <a:t> Don’t know</a:t>
            </a:r>
          </a:p>
        </p:txBody>
      </p:sp>
      <p:sp>
        <p:nvSpPr>
          <p:cNvPr id="4" name="Smiley Face 3" descr="QuizAnswer"/>
          <p:cNvSpPr/>
          <p:nvPr/>
        </p:nvSpPr>
        <p:spPr>
          <a:xfrm>
            <a:off x="463633" y="2263531"/>
            <a:ext cx="374567" cy="363338"/>
          </a:xfrm>
          <a:prstGeom prst="smileyFace">
            <a:avLst/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4" descr="QuizAnsw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6980169"/>
              </p:ext>
            </p:extLst>
          </p:nvPr>
        </p:nvGraphicFramePr>
        <p:xfrm>
          <a:off x="6685565" y="3790686"/>
          <a:ext cx="5245767" cy="26658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45767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79801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1e10 + 1e-10 + -5e-12 + -1e10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1e10 + -1e10 + 1e-10 + -5e-12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9.500000000000001e-11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1e-10 + 1e10 + -1e10 + -5e-12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-5e-12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-5e-12 + -1e10 + 1e10 + 1e-10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1e-10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pic>
        <p:nvPicPr>
          <p:cNvPr id="6" name="Picture 5" descr="QuizAnswer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0758" y="5027290"/>
            <a:ext cx="487666" cy="405904"/>
          </a:xfrm>
          <a:prstGeom prst="rect">
            <a:avLst/>
          </a:prstGeom>
        </p:spPr>
      </p:pic>
      <p:sp>
        <p:nvSpPr>
          <p:cNvPr id="7" name="TextBox 6" descr="QuizAnswer"/>
          <p:cNvSpPr txBox="1"/>
          <p:nvPr/>
        </p:nvSpPr>
        <p:spPr>
          <a:xfrm>
            <a:off x="6685565" y="6435027"/>
            <a:ext cx="5245767" cy="3693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a) - d) give four different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5654" y="2195206"/>
            <a:ext cx="3838937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"/>
              </a:rPr>
              <a:t> 1e10  =  10000000000</a:t>
            </a:r>
          </a:p>
          <a:p>
            <a:r>
              <a:rPr lang="en-US" sz="1400" dirty="0">
                <a:latin typeface="Courier"/>
              </a:rPr>
              <a:t>-1e10  = -10000000000</a:t>
            </a:r>
          </a:p>
          <a:p>
            <a:r>
              <a:rPr lang="en-US" sz="1400" dirty="0">
                <a:latin typeface="Courier"/>
              </a:rPr>
              <a:t> 1e-10 =            0.0000000001</a:t>
            </a:r>
          </a:p>
          <a:p>
            <a:r>
              <a:rPr lang="en-US" sz="1400" dirty="0">
                <a:latin typeface="Courier"/>
              </a:rPr>
              <a:t>-5e-12 =           -0.000000000005      </a:t>
            </a:r>
          </a:p>
        </p:txBody>
      </p:sp>
    </p:spTree>
    <p:extLst>
      <p:ext uri="{BB962C8B-B14F-4D97-AF65-F5344CB8AC3E}">
        <p14:creationId xmlns:p14="http://schemas.microsoft.com/office/powerpoint/2010/main" val="3279644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Approximating </a:t>
            </a:r>
            <a:br>
              <a:rPr lang="en-US" dirty="0"/>
            </a:br>
            <a:r>
              <a:rPr lang="el-GR" dirty="0">
                <a:cs typeface="Courier New" panose="02070309020205020404" pitchFamily="49" charset="0"/>
              </a:rPr>
              <a:t>π</a:t>
            </a:r>
            <a:r>
              <a:rPr lang="da-DK" dirty="0">
                <a:cs typeface="Courier New" panose="02070309020205020404" pitchFamily="49" charset="0"/>
              </a:rPr>
              <a:t> = </a:t>
            </a:r>
            <a:r>
              <a:rPr lang="da-DK" dirty="0"/>
              <a:t>3.14159265359...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0" y="2687380"/>
                <a:ext cx="7633250" cy="218983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l-GR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da-DK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a-DK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p>
                                  <m:r>
                                    <a:rPr lang="da-DK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da-DK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a-DK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sup>
                                  <m:r>
                                    <a:rPr lang="da-DK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a-DK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sup>
                                  <m:r>
                                    <a:rPr lang="da-DK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a-DK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sup>
                                  <m:r>
                                    <a:rPr lang="da-DK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⋯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da-DK"/>
                        <m:t>1.6449340668...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2687380"/>
                <a:ext cx="7633250" cy="218983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4559474" y="6311900"/>
            <a:ext cx="74905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This is not a course in numeric computations – but now you are warned....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6663264"/>
              </p:ext>
            </p:extLst>
          </p:nvPr>
        </p:nvGraphicFramePr>
        <p:xfrm>
          <a:off x="7633250" y="259860"/>
          <a:ext cx="4278630" cy="58628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6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pi_approximation_riemann.py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69718">
                <a:tc>
                  <a:txBody>
                    <a:bodyPr/>
                    <a:lstStyle/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apx = 0.0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 = 0.0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k = k + 1.0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apx = apx + 1.0 / (k * k)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print(k, apx)</a:t>
                      </a:r>
                      <a:endParaRPr lang="en-US" sz="1800" b="1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376443">
                <a:tc>
                  <a:txBody>
                    <a:bodyPr/>
                    <a:lstStyle/>
                    <a:p>
                      <a:r>
                        <a:rPr lang="pt-BR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Output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7765046"/>
                  </a:ext>
                </a:extLst>
              </a:tr>
              <a:tr h="1213702">
                <a:tc>
                  <a:txBody>
                    <a:bodyPr/>
                    <a:lstStyle/>
                    <a:p>
                      <a:r>
                        <a:rPr lang="en-US" sz="1800" dirty="0"/>
                        <a:t>...</a:t>
                      </a:r>
                    </a:p>
                    <a:p>
                      <a:r>
                        <a:rPr lang="en-US" sz="1800" dirty="0"/>
                        <a:t>94906261.0 1.6449340578345741</a:t>
                      </a:r>
                    </a:p>
                    <a:p>
                      <a:r>
                        <a:rPr lang="en-US" sz="1800" dirty="0"/>
                        <a:t>94906262.0 1.6449340578345744</a:t>
                      </a:r>
                    </a:p>
                    <a:p>
                      <a:r>
                        <a:rPr lang="en-US" sz="1800" dirty="0"/>
                        <a:t>94906263.0 1.6449340578345746</a:t>
                      </a:r>
                    </a:p>
                    <a:p>
                      <a:r>
                        <a:rPr lang="en-US" sz="1800" dirty="0"/>
                        <a:t>94906264.0 1.6449340578345748</a:t>
                      </a:r>
                    </a:p>
                    <a:p>
                      <a:r>
                        <a:rPr lang="en-US" sz="1800" dirty="0"/>
                        <a:t>94906265.0 </a:t>
                      </a:r>
                      <a:r>
                        <a:rPr lang="en-US" sz="1800" dirty="0">
                          <a:solidFill>
                            <a:srgbClr val="00B050"/>
                          </a:solidFill>
                        </a:rPr>
                        <a:t>1.6449340</a:t>
                      </a:r>
                      <a:r>
                        <a:rPr lang="en-US" sz="1800" dirty="0"/>
                        <a:t>57834575</a:t>
                      </a:r>
                    </a:p>
                    <a:p>
                      <a:r>
                        <a:rPr lang="en-US" sz="1800" dirty="0">
                          <a:solidFill>
                            <a:srgbClr val="C00000"/>
                          </a:solidFill>
                        </a:rPr>
                        <a:t>94906266.0 1.644934057834575</a:t>
                      </a:r>
                    </a:p>
                    <a:p>
                      <a:r>
                        <a:rPr lang="en-US" sz="1800" dirty="0">
                          <a:solidFill>
                            <a:srgbClr val="C00000"/>
                          </a:solidFill>
                        </a:rPr>
                        <a:t>94906267.0 1.644934057834575</a:t>
                      </a:r>
                    </a:p>
                    <a:p>
                      <a:r>
                        <a:rPr lang="en-US" sz="1800" dirty="0">
                          <a:solidFill>
                            <a:srgbClr val="C00000"/>
                          </a:solidFill>
                        </a:rPr>
                        <a:t>94906268.0 1.644934057834575</a:t>
                      </a:r>
                    </a:p>
                    <a:p>
                      <a:r>
                        <a:rPr lang="en-US" sz="1800" dirty="0">
                          <a:solidFill>
                            <a:srgbClr val="C00000"/>
                          </a:solidFill>
                        </a:rPr>
                        <a:t>94906269.0 1.644934057834575</a:t>
                      </a:r>
                    </a:p>
                    <a:p>
                      <a:r>
                        <a:rPr lang="en-US" sz="1800" dirty="0">
                          <a:solidFill>
                            <a:srgbClr val="C00000"/>
                          </a:solidFill>
                        </a:rPr>
                        <a:t>94906270.0 1.644934057834575</a:t>
                      </a:r>
                    </a:p>
                    <a:p>
                      <a:r>
                        <a:rPr lang="en-US" sz="1800" dirty="0">
                          <a:solidFill>
                            <a:srgbClr val="C00000"/>
                          </a:solidFill>
                        </a:rPr>
                        <a:t>...</a:t>
                      </a:r>
                      <a:endParaRPr lang="en-US" sz="1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4568129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969" y="6275328"/>
            <a:ext cx="487666" cy="4059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10635" y="4976741"/>
            <a:ext cx="44119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Riemann zeta function </a:t>
            </a:r>
            <a:r>
              <a:rPr lang="el-GR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ζ</a:t>
            </a:r>
            <a:r>
              <a:rPr lang="en-US" sz="2800" dirty="0"/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3934272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3758" y="141608"/>
            <a:ext cx="10515600" cy="1325563"/>
          </a:xfrm>
        </p:spPr>
        <p:txBody>
          <a:bodyPr/>
          <a:lstStyle/>
          <a:p>
            <a:r>
              <a:rPr lang="en-US" dirty="0"/>
              <a:t>Python float ≡ IEEE-754 double precision*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3758" y="1169460"/>
            <a:ext cx="10193421" cy="4820475"/>
          </a:xfrm>
        </p:spPr>
        <p:txBody>
          <a:bodyPr>
            <a:normAutofit/>
          </a:bodyPr>
          <a:lstStyle/>
          <a:p>
            <a:r>
              <a:rPr lang="en-US" dirty="0"/>
              <a:t>A binary number is a number in base 2 with digits/bits from {0,1}</a:t>
            </a:r>
          </a:p>
          <a:p>
            <a:pPr marL="0" indent="0" algn="ctr">
              <a:spcAft>
                <a:spcPts val="2400"/>
              </a:spcAft>
              <a:buNone/>
            </a:pPr>
            <a:r>
              <a:rPr lang="en-US" dirty="0">
                <a:solidFill>
                  <a:srgbClr val="C00000"/>
                </a:solidFill>
              </a:rPr>
              <a:t>10110</a:t>
            </a:r>
            <a:r>
              <a:rPr lang="en-US" baseline="-25000" dirty="0"/>
              <a:t>2</a:t>
            </a:r>
            <a:r>
              <a:rPr lang="en-US" dirty="0"/>
              <a:t> = </a:t>
            </a:r>
            <a:r>
              <a:rPr lang="en-US" dirty="0">
                <a:solidFill>
                  <a:srgbClr val="C00000"/>
                </a:solidFill>
              </a:rPr>
              <a:t>1</a:t>
            </a:r>
            <a:r>
              <a:rPr lang="en-US" dirty="0"/>
              <a:t>∙2</a:t>
            </a:r>
            <a:r>
              <a:rPr lang="en-US" baseline="30000" dirty="0"/>
              <a:t>4</a:t>
            </a:r>
            <a:r>
              <a:rPr lang="en-US" dirty="0"/>
              <a:t> + </a:t>
            </a:r>
            <a:r>
              <a:rPr lang="en-US" dirty="0">
                <a:solidFill>
                  <a:srgbClr val="C00000"/>
                </a:solidFill>
              </a:rPr>
              <a:t>0</a:t>
            </a:r>
            <a:r>
              <a:rPr lang="en-US" dirty="0"/>
              <a:t>∙2</a:t>
            </a:r>
            <a:r>
              <a:rPr lang="en-US" baseline="30000" dirty="0"/>
              <a:t>3</a:t>
            </a:r>
            <a:r>
              <a:rPr lang="en-US" dirty="0"/>
              <a:t> + </a:t>
            </a:r>
            <a:r>
              <a:rPr lang="en-US" dirty="0">
                <a:solidFill>
                  <a:srgbClr val="C00000"/>
                </a:solidFill>
              </a:rPr>
              <a:t>1</a:t>
            </a:r>
            <a:r>
              <a:rPr lang="en-US" dirty="0"/>
              <a:t>∙2</a:t>
            </a:r>
            <a:r>
              <a:rPr lang="en-US" baseline="30000" dirty="0"/>
              <a:t>2</a:t>
            </a:r>
            <a:r>
              <a:rPr lang="en-US" dirty="0"/>
              <a:t> + </a:t>
            </a:r>
            <a:r>
              <a:rPr lang="en-US" dirty="0">
                <a:solidFill>
                  <a:srgbClr val="C00000"/>
                </a:solidFill>
              </a:rPr>
              <a:t>1</a:t>
            </a:r>
            <a:r>
              <a:rPr lang="en-US" dirty="0"/>
              <a:t>∙2</a:t>
            </a:r>
            <a:r>
              <a:rPr lang="en-US" baseline="30000" dirty="0"/>
              <a:t>1</a:t>
            </a:r>
            <a:r>
              <a:rPr lang="en-US" dirty="0"/>
              <a:t> + </a:t>
            </a:r>
            <a:r>
              <a:rPr lang="en-US" dirty="0">
                <a:solidFill>
                  <a:srgbClr val="C00000"/>
                </a:solidFill>
              </a:rPr>
              <a:t>0</a:t>
            </a:r>
            <a:r>
              <a:rPr lang="en-US" dirty="0"/>
              <a:t>∙2</a:t>
            </a:r>
            <a:r>
              <a:rPr lang="en-US" baseline="30000" dirty="0"/>
              <a:t>0</a:t>
            </a:r>
            <a:r>
              <a:rPr lang="en-US" dirty="0"/>
              <a:t> = 16 + 4 + 2 = 22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IEEE-754 64-bit double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6445634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(*most often, but there is no guarantee given in the Python language specification that floats are represented using </a:t>
            </a:r>
            <a:r>
              <a:rPr lang="en-US" dirty="0">
                <a:hlinkClick r:id="rId3"/>
              </a:rPr>
              <a:t>IEEE-754</a:t>
            </a:r>
            <a:r>
              <a:rPr lang="en-US" dirty="0"/>
              <a:t>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039713"/>
              </p:ext>
            </p:extLst>
          </p:nvPr>
        </p:nvGraphicFramePr>
        <p:xfrm>
          <a:off x="4794693" y="2387893"/>
          <a:ext cx="510561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5455">
                  <a:extLst>
                    <a:ext uri="{9D8B030D-6E8A-4147-A177-3AD203B41FA5}">
                      <a16:colId xmlns:a16="http://schemas.microsoft.com/office/drawing/2014/main" val="302247934"/>
                    </a:ext>
                  </a:extLst>
                </a:gridCol>
                <a:gridCol w="1852289">
                  <a:extLst>
                    <a:ext uri="{9D8B030D-6E8A-4147-A177-3AD203B41FA5}">
                      <a16:colId xmlns:a16="http://schemas.microsoft.com/office/drawing/2014/main" val="2744649645"/>
                    </a:ext>
                  </a:extLst>
                </a:gridCol>
                <a:gridCol w="2237875">
                  <a:extLst>
                    <a:ext uri="{9D8B030D-6E8A-4147-A177-3AD203B41FA5}">
                      <a16:colId xmlns:a16="http://schemas.microsoft.com/office/drawing/2014/main" val="3012212663"/>
                    </a:ext>
                  </a:extLst>
                </a:gridCol>
              </a:tblGrid>
              <a:tr h="458254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</a:pPr>
                      <a:r>
                        <a:rPr lang="en-US" sz="2400" b="0" dirty="0">
                          <a:solidFill>
                            <a:schemeClr val="bg1"/>
                          </a:solidFill>
                        </a:rPr>
                        <a:t>sign </a:t>
                      </a:r>
                      <a:r>
                        <a:rPr lang="en-US" sz="2400" b="0" i="1" dirty="0">
                          <a:solidFill>
                            <a:schemeClr val="bg1"/>
                          </a:solidFill>
                        </a:rPr>
                        <a:t>s</a:t>
                      </a:r>
                      <a:br>
                        <a:rPr lang="en-US" sz="2400" b="0" dirty="0">
                          <a:solidFill>
                            <a:schemeClr val="bg1"/>
                          </a:solidFill>
                        </a:rPr>
                      </a:br>
                      <a:r>
                        <a:rPr lang="en-US" sz="2000" b="0" dirty="0">
                          <a:solidFill>
                            <a:schemeClr val="bg1"/>
                          </a:solidFill>
                        </a:rPr>
                        <a:t>1</a:t>
                      </a:r>
                      <a:r>
                        <a:rPr lang="en-US" sz="2000" b="0" baseline="0" dirty="0">
                          <a:solidFill>
                            <a:schemeClr val="bg1"/>
                          </a:solidFill>
                        </a:rPr>
                        <a:t> bit</a:t>
                      </a:r>
                      <a:endParaRPr lang="en-US" sz="24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</a:pPr>
                      <a:r>
                        <a:rPr lang="en-US" sz="2400" b="0" dirty="0">
                          <a:solidFill>
                            <a:schemeClr val="bg1"/>
                          </a:solidFill>
                        </a:rPr>
                        <a:t>exponent </a:t>
                      </a:r>
                      <a:r>
                        <a:rPr lang="en-US" sz="2400" b="0" i="1" dirty="0">
                          <a:solidFill>
                            <a:schemeClr val="bg1"/>
                          </a:solidFill>
                        </a:rPr>
                        <a:t>e</a:t>
                      </a:r>
                    </a:p>
                    <a:p>
                      <a:pPr algn="ctr">
                        <a:lnSpc>
                          <a:spcPts val="2400"/>
                        </a:lnSpc>
                      </a:pPr>
                      <a:r>
                        <a:rPr lang="en-US" sz="2000" b="0" dirty="0">
                          <a:solidFill>
                            <a:schemeClr val="bg1"/>
                          </a:solidFill>
                        </a:rPr>
                        <a:t>11</a:t>
                      </a:r>
                      <a:r>
                        <a:rPr lang="en-US" sz="2000" b="0" baseline="0" dirty="0">
                          <a:solidFill>
                            <a:schemeClr val="bg1"/>
                          </a:solidFill>
                        </a:rPr>
                        <a:t> bits</a:t>
                      </a:r>
                      <a:endParaRPr lang="en-US" sz="20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</a:pPr>
                      <a:r>
                        <a:rPr lang="en-US" sz="2400" b="0" dirty="0">
                          <a:solidFill>
                            <a:schemeClr val="bg1"/>
                          </a:solidFill>
                        </a:rPr>
                        <a:t>coefficient</a:t>
                      </a:r>
                      <a:r>
                        <a:rPr lang="en-US" sz="2400" b="0" baseline="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2400" b="0" i="1" baseline="0" dirty="0">
                          <a:solidFill>
                            <a:schemeClr val="bg1"/>
                          </a:solidFill>
                        </a:rPr>
                        <a:t>c</a:t>
                      </a:r>
                    </a:p>
                    <a:p>
                      <a:pPr algn="ctr">
                        <a:lnSpc>
                          <a:spcPts val="2400"/>
                        </a:lnSpc>
                      </a:pPr>
                      <a:r>
                        <a:rPr lang="en-US" sz="2000" b="0" baseline="0" dirty="0">
                          <a:solidFill>
                            <a:schemeClr val="bg1"/>
                          </a:solidFill>
                        </a:rPr>
                        <a:t>52 bits</a:t>
                      </a:r>
                      <a:endParaRPr lang="en-US" sz="20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6177396"/>
                  </a:ext>
                </a:extLst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2505438"/>
              </p:ext>
            </p:extLst>
          </p:nvPr>
        </p:nvGraphicFramePr>
        <p:xfrm>
          <a:off x="1643982" y="3723293"/>
          <a:ext cx="6301422" cy="2626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570605">
                  <a:extLst>
                    <a:ext uri="{9D8B030D-6E8A-4147-A177-3AD203B41FA5}">
                      <a16:colId xmlns:a16="http://schemas.microsoft.com/office/drawing/2014/main" val="2954000222"/>
                    </a:ext>
                  </a:extLst>
                </a:gridCol>
                <a:gridCol w="2730817">
                  <a:extLst>
                    <a:ext uri="{9D8B030D-6E8A-4147-A177-3AD203B41FA5}">
                      <a16:colId xmlns:a16="http://schemas.microsoft.com/office/drawing/2014/main" val="2963206308"/>
                    </a:ext>
                  </a:extLst>
                </a:gridCol>
              </a:tblGrid>
              <a:tr h="39141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Float</a:t>
                      </a:r>
                      <a:r>
                        <a:rPr lang="en-US" sz="2400" b="1" baseline="0" dirty="0"/>
                        <a:t> v</a:t>
                      </a:r>
                      <a:r>
                        <a:rPr lang="en-US" sz="2400" b="1" dirty="0"/>
                        <a:t>alue</a:t>
                      </a:r>
                    </a:p>
                  </a:txBody>
                  <a:tcPr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/>
                        <a:t>Case</a:t>
                      </a:r>
                    </a:p>
                  </a:txBody>
                  <a:tcPr marT="36000" marB="36000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9278098"/>
                  </a:ext>
                </a:extLst>
              </a:tr>
              <a:tr h="39141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(-1)</a:t>
                      </a:r>
                      <a:r>
                        <a:rPr lang="en-US" sz="2400" i="1" baseline="30000" dirty="0">
                          <a:solidFill>
                            <a:srgbClr val="C00000"/>
                          </a:solidFill>
                        </a:rPr>
                        <a:t>s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∙ (1 + </a:t>
                      </a:r>
                      <a:r>
                        <a:rPr lang="en-US" sz="2400" i="1" dirty="0">
                          <a:solidFill>
                            <a:srgbClr val="C00000"/>
                          </a:solidFill>
                        </a:rPr>
                        <a:t>c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∙ 2</a:t>
                      </a:r>
                      <a:r>
                        <a:rPr lang="en-US" sz="2400" baseline="30000" dirty="0">
                          <a:solidFill>
                            <a:srgbClr val="C00000"/>
                          </a:solidFill>
                        </a:rPr>
                        <a:t>–52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) ∙ 2</a:t>
                      </a:r>
                      <a:r>
                        <a:rPr lang="en-US" sz="2400" i="1" baseline="30000" dirty="0">
                          <a:solidFill>
                            <a:srgbClr val="C00000"/>
                          </a:solidFill>
                        </a:rPr>
                        <a:t>e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2400" baseline="30000" dirty="0">
                          <a:solidFill>
                            <a:srgbClr val="C00000"/>
                          </a:solidFill>
                        </a:rPr>
                        <a:t>– 1023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b="0" dirty="0">
                        <a:solidFill>
                          <a:srgbClr val="C00000"/>
                        </a:solidFill>
                      </a:endParaRPr>
                    </a:p>
                  </a:txBody>
                  <a:tcPr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aseline="0" dirty="0"/>
                        <a:t>0 &lt; </a:t>
                      </a:r>
                      <a:r>
                        <a:rPr lang="en-US" sz="2400" i="1" baseline="0" dirty="0"/>
                        <a:t>e</a:t>
                      </a:r>
                      <a:r>
                        <a:rPr lang="en-US" sz="2400" baseline="0" dirty="0"/>
                        <a:t> &lt; 2047</a:t>
                      </a:r>
                      <a:endParaRPr lang="en-US" sz="2400" b="0" dirty="0"/>
                    </a:p>
                  </a:txBody>
                  <a:tcPr marT="36000" marB="36000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1309952"/>
                  </a:ext>
                </a:extLst>
              </a:tr>
              <a:tr h="3914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(-1)</a:t>
                      </a:r>
                      <a:r>
                        <a:rPr lang="en-US" sz="2400" i="1" baseline="30000" dirty="0"/>
                        <a:t>s</a:t>
                      </a:r>
                      <a:r>
                        <a:rPr lang="en-US" sz="2400" dirty="0"/>
                        <a:t> ∙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i="1" dirty="0"/>
                        <a:t>c</a:t>
                      </a:r>
                      <a:r>
                        <a:rPr lang="en-US" sz="2400" dirty="0"/>
                        <a:t> ∙ 2</a:t>
                      </a:r>
                      <a:r>
                        <a:rPr lang="en-US" sz="2400" baseline="30000" dirty="0"/>
                        <a:t>–1074</a:t>
                      </a:r>
                      <a:r>
                        <a:rPr lang="en-US" sz="2400" dirty="0"/>
                        <a:t> </a:t>
                      </a:r>
                      <a:endParaRPr lang="en-US" sz="2400" b="0" dirty="0"/>
                    </a:p>
                  </a:txBody>
                  <a:tcPr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i="1" baseline="0" dirty="0"/>
                        <a:t>e</a:t>
                      </a:r>
                      <a:r>
                        <a:rPr lang="en-US" sz="2400" baseline="0" dirty="0"/>
                        <a:t> = 0, </a:t>
                      </a:r>
                      <a:r>
                        <a:rPr lang="en-US" sz="2400" i="1" baseline="0" dirty="0"/>
                        <a:t>c</a:t>
                      </a:r>
                      <a:r>
                        <a:rPr lang="en-US" sz="2400" baseline="0" dirty="0"/>
                        <a:t> ≠ 0</a:t>
                      </a:r>
                      <a:endParaRPr lang="en-US" sz="2400" b="0" dirty="0"/>
                    </a:p>
                  </a:txBody>
                  <a:tcPr marT="36000" marB="36000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3262851"/>
                  </a:ext>
                </a:extLst>
              </a:tr>
              <a:tr h="39141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+0  and  -0</a:t>
                      </a:r>
                      <a:endParaRPr lang="en-US" sz="2400" b="0" dirty="0"/>
                    </a:p>
                  </a:txBody>
                  <a:tcPr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i="1" baseline="0" dirty="0"/>
                        <a:t>e</a:t>
                      </a:r>
                      <a:r>
                        <a:rPr lang="en-US" sz="2400" baseline="0" dirty="0"/>
                        <a:t> = 0, </a:t>
                      </a:r>
                      <a:r>
                        <a:rPr lang="en-US" sz="2400" i="1" baseline="0" dirty="0"/>
                        <a:t>c</a:t>
                      </a:r>
                      <a:r>
                        <a:rPr lang="en-US" sz="2400" baseline="0" dirty="0"/>
                        <a:t> = 0</a:t>
                      </a:r>
                      <a:endParaRPr lang="en-US" sz="2400" b="0" dirty="0"/>
                    </a:p>
                  </a:txBody>
                  <a:tcPr marT="36000" marB="36000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8817151"/>
                  </a:ext>
                </a:extLst>
              </a:tr>
              <a:tr h="3914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+∞</a:t>
                      </a:r>
                      <a:r>
                        <a:rPr lang="en-US" sz="2400" b="0" baseline="0" dirty="0"/>
                        <a:t>  and  -</a:t>
                      </a:r>
                      <a:r>
                        <a:rPr lang="en-US" sz="2400" dirty="0"/>
                        <a:t>∞</a:t>
                      </a:r>
                      <a:endParaRPr lang="en-US" sz="2400" b="0" dirty="0"/>
                    </a:p>
                  </a:txBody>
                  <a:tcPr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i="1" baseline="0" dirty="0"/>
                        <a:t>e</a:t>
                      </a:r>
                      <a:r>
                        <a:rPr lang="en-US" sz="2400" baseline="0" dirty="0"/>
                        <a:t> = 2047, </a:t>
                      </a:r>
                      <a:r>
                        <a:rPr lang="en-US" sz="2400" i="1" baseline="0" dirty="0"/>
                        <a:t>c</a:t>
                      </a:r>
                      <a:r>
                        <a:rPr lang="en-US" sz="2400" baseline="0" dirty="0"/>
                        <a:t> = 0</a:t>
                      </a:r>
                      <a:endParaRPr lang="en-US" sz="2400" b="0" dirty="0"/>
                    </a:p>
                  </a:txBody>
                  <a:tcPr marT="36000" marB="36000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5945549"/>
                  </a:ext>
                </a:extLst>
              </a:tr>
              <a:tr h="39141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/>
                        <a:t>NaN</a:t>
                      </a:r>
                      <a:r>
                        <a:rPr lang="en-US" sz="2400" dirty="0"/>
                        <a:t> (“not</a:t>
                      </a:r>
                      <a:r>
                        <a:rPr lang="en-US" sz="2400" baseline="0" dirty="0"/>
                        <a:t> a number”)</a:t>
                      </a:r>
                      <a:endParaRPr lang="en-US" sz="2400" b="0" dirty="0"/>
                    </a:p>
                  </a:txBody>
                  <a:tcPr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i="1" dirty="0"/>
                        <a:t>s</a:t>
                      </a:r>
                      <a:r>
                        <a:rPr lang="en-US" sz="2400" baseline="0" dirty="0"/>
                        <a:t> = 0, </a:t>
                      </a:r>
                      <a:r>
                        <a:rPr lang="en-US" sz="2400" i="1" baseline="0" dirty="0"/>
                        <a:t>e</a:t>
                      </a:r>
                      <a:r>
                        <a:rPr lang="en-US" sz="2400" baseline="0" dirty="0"/>
                        <a:t> = 2047, </a:t>
                      </a:r>
                      <a:r>
                        <a:rPr lang="en-US" sz="2400" i="1" baseline="0" dirty="0"/>
                        <a:t>c</a:t>
                      </a:r>
                      <a:r>
                        <a:rPr lang="en-US" sz="2400" baseline="0" dirty="0"/>
                        <a:t> ≠ 0</a:t>
                      </a:r>
                      <a:endParaRPr lang="en-US" sz="2400" b="0" dirty="0"/>
                    </a:p>
                  </a:txBody>
                  <a:tcPr marT="36000" marB="36000"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7506925"/>
                  </a:ext>
                </a:extLst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993223"/>
              </p:ext>
            </p:extLst>
          </p:nvPr>
        </p:nvGraphicFramePr>
        <p:xfrm>
          <a:off x="8719902" y="3580514"/>
          <a:ext cx="2894330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943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05363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549559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1e200 * 1e200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inf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-1e200 * 1e200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-inf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1e-200 * 1e-200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</a:t>
                      </a: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1e-200 * 1e-200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-0.0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1e200 * 1e200 * 0.0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nan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3373750"/>
              </p:ext>
            </p:extLst>
          </p:nvPr>
        </p:nvGraphicFramePr>
        <p:xfrm>
          <a:off x="1557197" y="3171271"/>
          <a:ext cx="9189412" cy="21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112">
                  <a:extLst>
                    <a:ext uri="{9D8B030D-6E8A-4147-A177-3AD203B41FA5}">
                      <a16:colId xmlns:a16="http://schemas.microsoft.com/office/drawing/2014/main" val="2817239918"/>
                    </a:ext>
                  </a:extLst>
                </a:gridCol>
                <a:gridCol w="4087075">
                  <a:extLst>
                    <a:ext uri="{9D8B030D-6E8A-4147-A177-3AD203B41FA5}">
                      <a16:colId xmlns:a16="http://schemas.microsoft.com/office/drawing/2014/main" val="3384151711"/>
                    </a:ext>
                  </a:extLst>
                </a:gridCol>
                <a:gridCol w="4906225">
                  <a:extLst>
                    <a:ext uri="{9D8B030D-6E8A-4147-A177-3AD203B41FA5}">
                      <a16:colId xmlns:a16="http://schemas.microsoft.com/office/drawing/2014/main" val="412710271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C00000"/>
                          </a:solidFill>
                        </a:rPr>
                        <a:t>+1</a:t>
                      </a:r>
                    </a:p>
                  </a:txBody>
                  <a:tcPr marL="3600" marR="3600" marT="18000" marB="18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0011101101011100111010101010101010101010101011101100</a:t>
                      </a:r>
                    </a:p>
                  </a:txBody>
                  <a:tcPr marL="3600" marR="3600" marT="18000" marB="18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1001010101100</a:t>
                      </a:r>
                      <a:r>
                        <a:rPr lang="en-US" sz="1200" dirty="0">
                          <a:solidFill>
                            <a:srgbClr val="C00000"/>
                          </a:solidFill>
                        </a:rPr>
                        <a:t>.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0100011110010101111001110101010111110101100110101</a:t>
                      </a:r>
                    </a:p>
                  </a:txBody>
                  <a:tcPr marL="3600" marR="3600" marT="18000" marB="1800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3693219"/>
                  </a:ext>
                </a:extLst>
              </a:tr>
            </a:tbl>
          </a:graphicData>
        </a:graphic>
      </p:graphicFrame>
      <p:grpSp>
        <p:nvGrpSpPr>
          <p:cNvPr id="16" name="Group 15"/>
          <p:cNvGrpSpPr/>
          <p:nvPr/>
        </p:nvGrpSpPr>
        <p:grpSpPr>
          <a:xfrm>
            <a:off x="1359389" y="2952148"/>
            <a:ext cx="6270633" cy="784985"/>
            <a:chOff x="1359389" y="2952148"/>
            <a:chExt cx="6270633" cy="784985"/>
          </a:xfrm>
        </p:grpSpPr>
        <p:sp>
          <p:nvSpPr>
            <p:cNvPr id="6" name="Left Brace 5"/>
            <p:cNvSpPr/>
            <p:nvPr/>
          </p:nvSpPr>
          <p:spPr>
            <a:xfrm rot="16200000">
              <a:off x="4277495" y="899171"/>
              <a:ext cx="66677" cy="5095874"/>
            </a:xfrm>
            <a:prstGeom prst="leftBrace">
              <a:avLst>
                <a:gd name="adj1" fmla="val 66666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777433" y="3460134"/>
              <a:ext cx="1066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i="1" dirty="0">
                  <a:solidFill>
                    <a:srgbClr val="C00000"/>
                  </a:solidFill>
                </a:rPr>
                <a:t>e</a:t>
              </a:r>
              <a:r>
                <a:rPr lang="en-US" sz="1200" dirty="0"/>
                <a:t> – 1023 bits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391269" y="2952148"/>
              <a:ext cx="533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i="1" dirty="0">
                  <a:solidFill>
                    <a:srgbClr val="C00000"/>
                  </a:solidFill>
                </a:rPr>
                <a:t>c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359389" y="2952148"/>
              <a:ext cx="533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i="1" dirty="0">
                  <a:solidFill>
                    <a:srgbClr val="C00000"/>
                  </a:solidFill>
                </a:rPr>
                <a:t>s</a:t>
              </a:r>
              <a:r>
                <a:rPr lang="en-US" sz="1200" dirty="0">
                  <a:solidFill>
                    <a:srgbClr val="C00000"/>
                  </a:solidFill>
                </a:rPr>
                <a:t> = 0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 flipH="1" flipV="1">
              <a:off x="7328309" y="3375282"/>
              <a:ext cx="0" cy="144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7096622" y="3456669"/>
              <a:ext cx="533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2</a:t>
              </a:r>
              <a:r>
                <a:rPr lang="en-US" sz="1200" baseline="30000" dirty="0"/>
                <a:t>-6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21800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String</a:t>
            </a:r>
            <a:r>
              <a:rPr lang="da-DK" dirty="0"/>
              <a:t> </a:t>
            </a:r>
            <a:r>
              <a:rPr lang="da-DK" dirty="0" err="1"/>
              <a:t>literals</a:t>
            </a:r>
            <a:r>
              <a:rPr lang="da-DK" dirty="0"/>
              <a:t> (type </a:t>
            </a:r>
            <a:r>
              <a:rPr lang="da-DK" b="0" dirty="0" err="1">
                <a:latin typeface="Courier"/>
              </a:rPr>
              <a:t>str</a:t>
            </a:r>
            <a:r>
              <a:rPr lang="da-DK" dirty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12803"/>
            <a:ext cx="7154606" cy="5245197"/>
          </a:xfrm>
          <a:solidFill>
            <a:srgbClr val="DAE3F3"/>
          </a:solidFill>
        </p:spPr>
        <p:txBody>
          <a:bodyPr>
            <a:normAutofit fontScale="92500" lnSpcReduction="20000"/>
          </a:bodyPr>
          <a:lstStyle/>
          <a:p>
            <a:r>
              <a:rPr lang="da-DK" dirty="0" err="1"/>
              <a:t>Sequence</a:t>
            </a:r>
            <a:r>
              <a:rPr lang="da-DK" dirty="0"/>
              <a:t> of </a:t>
            </a:r>
            <a:r>
              <a:rPr lang="da-DK" dirty="0" err="1"/>
              <a:t>characters</a:t>
            </a:r>
            <a:r>
              <a:rPr lang="da-DK" dirty="0"/>
              <a:t> </a:t>
            </a:r>
            <a:r>
              <a:rPr lang="da-DK" dirty="0" err="1"/>
              <a:t>enclosed</a:t>
            </a:r>
            <a:r>
              <a:rPr lang="da-DK" dirty="0"/>
              <a:t> by </a:t>
            </a:r>
            <a:br>
              <a:rPr lang="da-DK" dirty="0"/>
            </a:br>
            <a:r>
              <a:rPr lang="da-DK" dirty="0"/>
              <a:t>single (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da-DK" dirty="0"/>
              <a:t>) or double (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a-DK" dirty="0"/>
              <a:t>) </a:t>
            </a:r>
            <a:r>
              <a:rPr lang="da-DK" dirty="0" err="1"/>
              <a:t>quotes</a:t>
            </a:r>
            <a:endParaRPr lang="da-DK" dirty="0"/>
          </a:p>
          <a:p>
            <a:pPr marL="457200" lvl="1" indent="0">
              <a:buNone/>
            </a:pPr>
            <a:r>
              <a:rPr lang="da-DK" dirty="0"/>
              <a:t>   </a:t>
            </a:r>
            <a:r>
              <a:rPr lang="da-DK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"a '</a:t>
            </a:r>
            <a:r>
              <a:rPr lang="da-DK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quoted</a:t>
            </a:r>
            <a:r>
              <a:rPr lang="da-DK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 </a:t>
            </a:r>
            <a:r>
              <a:rPr lang="da-DK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</a:t>
            </a:r>
            <a:r>
              <a:rPr lang="da-DK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    "</a:t>
            </a:r>
            <a:r>
              <a:rPr lang="da-DK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Hello</a:t>
            </a:r>
            <a:r>
              <a:rPr lang="da-DK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World"   'abc'</a:t>
            </a:r>
            <a:br>
              <a:rPr lang="da-DK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a-DK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'a "</a:t>
            </a:r>
            <a:r>
              <a:rPr lang="da-DK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quoted</a:t>
            </a:r>
            <a:r>
              <a:rPr lang="da-DK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da-DK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word</a:t>
            </a:r>
            <a:r>
              <a:rPr lang="da-DK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    '_"_\'_"_'</a:t>
            </a:r>
          </a:p>
          <a:p>
            <a:r>
              <a:rPr lang="da-DK" dirty="0"/>
              <a:t>Escape </a:t>
            </a:r>
            <a:r>
              <a:rPr lang="da-DK" dirty="0" err="1"/>
              <a:t>characters</a:t>
            </a:r>
            <a:r>
              <a:rPr lang="da-DK" dirty="0"/>
              <a:t> </a:t>
            </a:r>
          </a:p>
          <a:p>
            <a:pPr marL="914400" lvl="2" indent="0">
              <a:buNone/>
            </a:pPr>
            <a:r>
              <a:rPr lang="da-DK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\n</a:t>
            </a:r>
            <a:r>
              <a:rPr lang="da-DK" dirty="0"/>
              <a:t> 	</a:t>
            </a:r>
            <a:r>
              <a:rPr lang="da-DK" dirty="0" err="1"/>
              <a:t>newline</a:t>
            </a:r>
            <a:endParaRPr lang="da-DK" dirty="0"/>
          </a:p>
          <a:p>
            <a:pPr marL="914400" lvl="2" indent="0">
              <a:buNone/>
            </a:pPr>
            <a:r>
              <a:rPr lang="da-DK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\t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dirty="0"/>
              <a:t>	tab</a:t>
            </a:r>
          </a:p>
          <a:p>
            <a:pPr marL="914400" lvl="2" indent="0">
              <a:buNone/>
            </a:pPr>
            <a:r>
              <a:rPr lang="da-DK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\\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dirty="0"/>
              <a:t>	backslash</a:t>
            </a:r>
          </a:p>
          <a:p>
            <a:pPr marL="914400" lvl="2" indent="0">
              <a:buNone/>
            </a:pPr>
            <a:r>
              <a:rPr lang="da-DK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\'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a-DK" dirty="0"/>
              <a:t>	single </a:t>
            </a:r>
            <a:r>
              <a:rPr lang="da-DK" dirty="0" err="1"/>
              <a:t>quote</a:t>
            </a:r>
            <a:endParaRPr lang="da-DK" dirty="0"/>
          </a:p>
          <a:p>
            <a:pPr marL="914400" lvl="2" indent="0">
              <a:buNone/>
            </a:pPr>
            <a:r>
              <a:rPr lang="da-DK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\"</a:t>
            </a:r>
            <a:r>
              <a:rPr lang="da-DK" dirty="0"/>
              <a:t>	double </a:t>
            </a:r>
            <a:r>
              <a:rPr lang="da-DK" dirty="0" err="1"/>
              <a:t>quote</a:t>
            </a:r>
            <a:endParaRPr lang="da-DK" dirty="0"/>
          </a:p>
          <a:p>
            <a:pPr marL="914400" lvl="2" indent="0">
              <a:buNone/>
            </a:pPr>
            <a:r>
              <a:rPr lang="da-DK" sz="1800" dirty="0">
                <a:latin typeface="Courier"/>
              </a:rPr>
              <a:t>\N{</a:t>
            </a:r>
            <a:r>
              <a:rPr lang="da-DK" sz="1800" i="1" dirty="0" err="1">
                <a:hlinkClick r:id="rId3"/>
              </a:rPr>
              <a:t>unicode</a:t>
            </a:r>
            <a:r>
              <a:rPr lang="da-DK" sz="1800" i="1" dirty="0">
                <a:hlinkClick r:id="rId3"/>
              </a:rPr>
              <a:t> </a:t>
            </a:r>
            <a:r>
              <a:rPr lang="da-DK" sz="1800" i="1" dirty="0" err="1">
                <a:hlinkClick r:id="rId3"/>
              </a:rPr>
              <a:t>name</a:t>
            </a:r>
            <a:r>
              <a:rPr lang="da-DK" sz="1800" dirty="0">
                <a:latin typeface="Courier"/>
              </a:rPr>
              <a:t>}  </a:t>
            </a:r>
          </a:p>
          <a:p>
            <a:r>
              <a:rPr lang="da-DK" dirty="0"/>
              <a:t>A backslash (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da-DK" dirty="0"/>
              <a:t>) at the end of line, </a:t>
            </a:r>
            <a:br>
              <a:rPr lang="da-DK" dirty="0"/>
            </a:b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continue</a:t>
            </a:r>
            <a:r>
              <a:rPr lang="da-DK" dirty="0"/>
              <a:t> line/</a:t>
            </a:r>
            <a:r>
              <a:rPr lang="da-DK" dirty="0" err="1"/>
              <a:t>string</a:t>
            </a:r>
            <a:r>
              <a:rPr lang="da-DK" dirty="0"/>
              <a:t> on </a:t>
            </a:r>
            <a:r>
              <a:rPr lang="da-DK" dirty="0" err="1"/>
              <a:t>next</a:t>
            </a:r>
            <a:r>
              <a:rPr lang="da-DK" dirty="0"/>
              <a:t> line</a:t>
            </a:r>
          </a:p>
          <a:p>
            <a:r>
              <a:rPr lang="da-DK" dirty="0" err="1"/>
              <a:t>Use</a:t>
            </a:r>
            <a:r>
              <a:rPr lang="da-DK" dirty="0"/>
              <a:t> </a:t>
            </a:r>
            <a:r>
              <a:rPr lang="da-DK" dirty="0" err="1"/>
              <a:t>triple</a:t>
            </a:r>
            <a:r>
              <a:rPr lang="da-DK" dirty="0"/>
              <a:t> single or double </a:t>
            </a:r>
            <a:r>
              <a:rPr lang="da-DK" dirty="0" err="1"/>
              <a:t>quotes</a:t>
            </a:r>
            <a:r>
              <a:rPr lang="da-DK" dirty="0"/>
              <a:t> (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'''</a:t>
            </a:r>
            <a:r>
              <a:rPr lang="da-DK" dirty="0"/>
              <a:t> or </a:t>
            </a:r>
            <a:r>
              <a:rPr lang="da-DK" dirty="0">
                <a:latin typeface="Courier New" panose="02070309020205020404" pitchFamily="49" charset="0"/>
                <a:cs typeface="Courier New" panose="02070309020205020404" pitchFamily="49" charset="0"/>
              </a:rPr>
              <a:t>"""</a:t>
            </a:r>
            <a:r>
              <a:rPr lang="da-DK" dirty="0"/>
              <a:t>) for </a:t>
            </a:r>
            <a:r>
              <a:rPr lang="da-DK" dirty="0" err="1"/>
              <a:t>enclosing</a:t>
            </a:r>
            <a:r>
              <a:rPr lang="da-DK" dirty="0"/>
              <a:t> </a:t>
            </a:r>
            <a:r>
              <a:rPr lang="da-DK" dirty="0" err="1"/>
              <a:t>strings</a:t>
            </a:r>
            <a:r>
              <a:rPr lang="da-DK" dirty="0"/>
              <a:t> </a:t>
            </a:r>
            <a:r>
              <a:rPr lang="da-DK" dirty="0" err="1"/>
              <a:t>spanning</a:t>
            </a:r>
            <a:r>
              <a:rPr lang="da-DK" dirty="0"/>
              <a:t> more lines</a:t>
            </a:r>
          </a:p>
          <a:p>
            <a:pPr marL="0" indent="0" algn="ctr">
              <a:buNone/>
            </a:pPr>
            <a:r>
              <a:rPr lang="da-DK" sz="2600" dirty="0"/>
              <a:t>(in </a:t>
            </a:r>
            <a:r>
              <a:rPr lang="da-DK" sz="2600" dirty="0" err="1"/>
              <a:t>particular</a:t>
            </a:r>
            <a:r>
              <a:rPr lang="da-DK" sz="2600" dirty="0"/>
              <a:t> for </a:t>
            </a:r>
            <a:r>
              <a:rPr lang="da-DK" sz="2600" dirty="0" err="1"/>
              <a:t>Python</a:t>
            </a:r>
            <a:r>
              <a:rPr lang="da-DK" sz="2600" dirty="0"/>
              <a:t> </a:t>
            </a:r>
            <a:r>
              <a:rPr lang="da-DK" sz="2600" dirty="0" err="1"/>
              <a:t>Dosctrings</a:t>
            </a:r>
            <a:r>
              <a:rPr lang="da-DK" sz="2600" dirty="0"/>
              <a:t>, </a:t>
            </a:r>
            <a:r>
              <a:rPr lang="da-DK" sz="2600" dirty="0" err="1"/>
              <a:t>see</a:t>
            </a:r>
            <a:r>
              <a:rPr lang="da-DK" sz="2600" dirty="0"/>
              <a:t> </a:t>
            </a:r>
            <a:r>
              <a:rPr lang="da-DK" sz="2600" dirty="0">
                <a:hlinkClick r:id="rId4"/>
              </a:rPr>
              <a:t>PEP 257</a:t>
            </a:r>
            <a:r>
              <a:rPr lang="da-DK" sz="2600" dirty="0"/>
              <a:t>)</a:t>
            </a:r>
            <a:r>
              <a:rPr lang="da-DK" dirty="0"/>
              <a:t>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7423515"/>
              </p:ext>
            </p:extLst>
          </p:nvPr>
        </p:nvGraphicFramePr>
        <p:xfrm>
          <a:off x="8531170" y="752871"/>
          <a:ext cx="3360994" cy="58628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099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string-test.py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69718">
                <a:tc>
                  <a:txBody>
                    <a:bodyPr/>
                    <a:lstStyle/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print("abc")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print('de\'f')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print("'ghi'")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print("'jk\nl'\"")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print("mn\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o")</a:t>
                      </a:r>
                    </a:p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print("p\\q\tr")</a:t>
                      </a: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print("\N{SNOWMAN}")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376443">
                <a:tc>
                  <a:txBody>
                    <a:bodyPr/>
                    <a:lstStyle/>
                    <a:p>
                      <a:r>
                        <a:rPr lang="pt-BR" sz="18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Output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7765046"/>
                  </a:ext>
                </a:extLst>
              </a:tr>
              <a:tr h="1213702">
                <a:tc>
                  <a:txBody>
                    <a:bodyPr/>
                    <a:lstStyle/>
                    <a:p>
                      <a:r>
                        <a:rPr lang="pt-BR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$</a:t>
                      </a:r>
                      <a:r>
                        <a:rPr lang="en-US" sz="1800" b="1" baseline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string-test.py</a:t>
                      </a:r>
                    </a:p>
                    <a:p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de'f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ghi</a:t>
                      </a: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jk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l'"</a:t>
                      </a:r>
                      <a:endParaRPr lang="en-US" sz="1800" b="1" dirty="0">
                        <a:solidFill>
                          <a:srgbClr val="FFFFFF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mno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p\q     r</a:t>
                      </a:r>
                    </a:p>
                    <a:p>
                      <a:endParaRPr lang="en-US" sz="18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US" sz="18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456812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A343C886-CA90-B93F-6EB1-6542DA1570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7735" y="6062388"/>
            <a:ext cx="508026" cy="514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8101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Question</a:t>
            </a:r>
            <a:r>
              <a:rPr lang="da-DK" dirty="0"/>
              <a:t> – </a:t>
            </a:r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does</a:t>
            </a:r>
            <a:r>
              <a:rPr lang="da-DK" dirty="0"/>
              <a:t> the </a:t>
            </a:r>
            <a:r>
              <a:rPr lang="da-DK" dirty="0" err="1"/>
              <a:t>following</a:t>
            </a:r>
            <a:r>
              <a:rPr lang="da-DK" dirty="0"/>
              <a:t> print ?  	   	     </a:t>
            </a:r>
            <a:r>
              <a:rPr lang="da-DK" b="0" dirty="0">
                <a:latin typeface="Courier"/>
              </a:rPr>
              <a:t>print("\\\"\\n\n'")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9503" y="2407622"/>
            <a:ext cx="3461999" cy="3867918"/>
          </a:xfrm>
        </p:spPr>
        <p:txBody>
          <a:bodyPr>
            <a:noAutofit/>
          </a:bodyPr>
          <a:lstStyle/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2400" dirty="0"/>
              <a:t> </a:t>
            </a:r>
            <a:r>
              <a:rPr lang="da-DK" sz="2400" dirty="0">
                <a:latin typeface="Courier"/>
              </a:rPr>
              <a:t>\\\"\\n\n'</a:t>
            </a:r>
            <a:endParaRPr lang="pt-BR" sz="2400" b="1" dirty="0">
              <a:latin typeface="+mj-lt"/>
              <a:cs typeface="Courier New" panose="02070309020205020404" pitchFamily="49" charset="0"/>
            </a:endParaRP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pt-BR" sz="2400" dirty="0">
                <a:latin typeface="+mj-lt"/>
                <a:cs typeface="Courier New" panose="02070309020205020404" pitchFamily="49" charset="0"/>
              </a:rPr>
              <a:t> </a:t>
            </a:r>
            <a:r>
              <a:rPr lang="da-DK" sz="2400" dirty="0">
                <a:latin typeface="Courier"/>
              </a:rPr>
              <a:t>\"\</a:t>
            </a:r>
            <a:r>
              <a:rPr lang="da-DK" sz="2400" dirty="0" err="1">
                <a:latin typeface="Courier"/>
              </a:rPr>
              <a:t>nn</a:t>
            </a:r>
            <a:r>
              <a:rPr lang="da-DK" sz="2400" dirty="0">
                <a:latin typeface="Courier"/>
              </a:rPr>
              <a:t>'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pt-BR" sz="2400" dirty="0">
                <a:cs typeface="Courier New" panose="02070309020205020404" pitchFamily="49" charset="0"/>
              </a:rPr>
              <a:t> </a:t>
            </a:r>
            <a:r>
              <a:rPr lang="da-DK" sz="2400" dirty="0">
                <a:latin typeface="Courier"/>
              </a:rPr>
              <a:t>\"\n</a:t>
            </a:r>
            <a:br>
              <a:rPr lang="da-DK" sz="2400" dirty="0">
                <a:latin typeface="Courier"/>
              </a:rPr>
            </a:br>
            <a:r>
              <a:rPr lang="pt-BR" sz="2400" dirty="0">
                <a:cs typeface="Courier New" panose="02070309020205020404" pitchFamily="49" charset="0"/>
              </a:rPr>
              <a:t> </a:t>
            </a:r>
            <a:r>
              <a:rPr lang="da-DK" sz="2400" dirty="0">
                <a:latin typeface="Courier"/>
              </a:rPr>
              <a:t>'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pt-BR" sz="2400" dirty="0">
                <a:cs typeface="Courier New" panose="02070309020205020404" pitchFamily="49" charset="0"/>
              </a:rPr>
              <a:t> </a:t>
            </a:r>
            <a:r>
              <a:rPr lang="da-DK" sz="2400" dirty="0">
                <a:latin typeface="Courier"/>
              </a:rPr>
              <a:t>"</a:t>
            </a:r>
            <a:r>
              <a:rPr lang="da-DK" sz="2400" dirty="0" err="1">
                <a:latin typeface="Courier"/>
              </a:rPr>
              <a:t>nn</a:t>
            </a:r>
            <a:r>
              <a:rPr lang="da-DK" sz="2400" dirty="0">
                <a:latin typeface="Courier"/>
              </a:rPr>
              <a:t>'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pt-BR" sz="2400" dirty="0">
                <a:cs typeface="Courier New" panose="02070309020205020404" pitchFamily="49" charset="0"/>
              </a:rPr>
              <a:t> </a:t>
            </a:r>
            <a:r>
              <a:rPr lang="da-DK" sz="2400" dirty="0">
                <a:latin typeface="Courier"/>
              </a:rPr>
              <a:t>\"</a:t>
            </a:r>
            <a:br>
              <a:rPr lang="da-DK" sz="2400" dirty="0">
                <a:latin typeface="Courier"/>
              </a:rPr>
            </a:br>
            <a:br>
              <a:rPr lang="da-DK" sz="2400" dirty="0">
                <a:latin typeface="Courier"/>
              </a:rPr>
            </a:br>
            <a:r>
              <a:rPr lang="pt-BR" sz="2400" dirty="0">
                <a:cs typeface="Courier New" panose="02070309020205020404" pitchFamily="49" charset="0"/>
              </a:rPr>
              <a:t> </a:t>
            </a:r>
            <a:r>
              <a:rPr lang="da-DK" sz="2400" dirty="0">
                <a:latin typeface="Courier"/>
              </a:rPr>
              <a:t>'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2400" dirty="0"/>
              <a:t> Don’t know</a:t>
            </a:r>
          </a:p>
        </p:txBody>
      </p:sp>
      <p:sp>
        <p:nvSpPr>
          <p:cNvPr id="4" name="Smiley Face 3" descr="QuizAnswer"/>
          <p:cNvSpPr/>
          <p:nvPr/>
        </p:nvSpPr>
        <p:spPr>
          <a:xfrm>
            <a:off x="3929572" y="3353295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5211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8811" y="172620"/>
            <a:ext cx="4684294" cy="1325563"/>
          </a:xfrm>
        </p:spPr>
        <p:txBody>
          <a:bodyPr/>
          <a:lstStyle/>
          <a:p>
            <a:r>
              <a:rPr lang="da-DK" dirty="0"/>
              <a:t>Long </a:t>
            </a:r>
            <a:r>
              <a:rPr lang="da-DK" dirty="0" err="1"/>
              <a:t>string</a:t>
            </a:r>
            <a:r>
              <a:rPr lang="da-DK" dirty="0"/>
              <a:t> </a:t>
            </a:r>
            <a:r>
              <a:rPr lang="da-DK" dirty="0" err="1"/>
              <a:t>literals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8811" y="1404519"/>
            <a:ext cx="6116052" cy="5273007"/>
          </a:xfrm>
        </p:spPr>
        <p:txBody>
          <a:bodyPr>
            <a:normAutofit/>
          </a:bodyPr>
          <a:lstStyle/>
          <a:p>
            <a:r>
              <a:rPr lang="en-US" dirty="0"/>
              <a:t>Long string literals often need to be split over multiple lines</a:t>
            </a:r>
          </a:p>
          <a:p>
            <a:r>
              <a:rPr lang="en-US" dirty="0"/>
              <a:t>In Python two (or more) </a:t>
            </a:r>
            <a:r>
              <a:rPr lang="en-US" dirty="0">
                <a:solidFill>
                  <a:srgbClr val="C00000"/>
                </a:solidFill>
              </a:rPr>
              <a:t>string literals following each other</a:t>
            </a:r>
            <a:r>
              <a:rPr lang="en-US" dirty="0"/>
              <a:t> will be treated as a single string literal (they can use different quotes)</a:t>
            </a:r>
          </a:p>
          <a:p>
            <a:r>
              <a:rPr lang="en-US" dirty="0"/>
              <a:t>Putting </a:t>
            </a:r>
            <a:r>
              <a:rPr lang="en-US" dirty="0">
                <a:solidFill>
                  <a:srgbClr val="C00000"/>
                </a:solidFill>
              </a:rPr>
              <a:t>parenthesis</a:t>
            </a:r>
            <a:r>
              <a:rPr lang="en-US" dirty="0"/>
              <a:t> around multiple literals allows line breaks</a:t>
            </a:r>
          </a:p>
          <a:p>
            <a:r>
              <a:rPr lang="en-US" dirty="0"/>
              <a:t>Advantages: </a:t>
            </a:r>
          </a:p>
          <a:p>
            <a:pPr lvl="1"/>
            <a:r>
              <a:rPr lang="en-US" dirty="0"/>
              <a:t>avoids the backslash at the end of line </a:t>
            </a:r>
          </a:p>
          <a:p>
            <a:pPr lvl="1"/>
            <a:r>
              <a:rPr lang="en-US" dirty="0"/>
              <a:t>can use indentation to increase readability</a:t>
            </a:r>
          </a:p>
          <a:p>
            <a:pPr lvl="1"/>
            <a:r>
              <a:rPr lang="en-US" dirty="0"/>
              <a:t>allows comments between literals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986439"/>
              </p:ext>
            </p:extLst>
          </p:nvPr>
        </p:nvGraphicFramePr>
        <p:xfrm>
          <a:off x="6605339" y="357273"/>
          <a:ext cx="5316855" cy="612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168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da-DK" sz="14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long-string-literals.py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69718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s1 = '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 "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two string literals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print(s1)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s2 = '"' "'" '"'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avoid escaping quotes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print(s2)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s3 = 'this is a really, really, really, \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really, really, long string'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print(s3)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s4 =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'this is a really, really, '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'really, really, really, '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'long string'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print(s4)</a:t>
                      </a:r>
                    </a:p>
                    <a:p>
                      <a:r>
                        <a:rPr lang="en-US" sz="14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very_very_long_variable_name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'this is a really, really, '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line 1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'really, really, really, '  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line 2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"long string"                 </a:t>
                      </a:r>
                      <a:r>
                        <a:rPr lang="en-US" sz="1400" b="1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line 3</a:t>
                      </a:r>
                    </a:p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4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very_very_long_variable_name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03399">
                <a:tc>
                  <a:txBody>
                    <a:bodyPr/>
                    <a:lstStyle/>
                    <a:p>
                      <a:r>
                        <a:rPr lang="pt-BR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pt-BR" sz="1400" b="1" baseline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shell</a:t>
                      </a:r>
                      <a:endParaRPr lang="pt-BR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7765046"/>
                  </a:ext>
                </a:extLst>
              </a:tr>
              <a:tr h="1213702">
                <a:tc>
                  <a:txBody>
                    <a:bodyPr/>
                    <a:lstStyle/>
                    <a:p>
                      <a:pPr marL="285750" indent="-28575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abcdef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85750" indent="-28575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"'"</a:t>
                      </a:r>
                    </a:p>
                    <a:p>
                      <a:pPr marL="285750" indent="-28575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this is a really, really, really, really, really, long string</a:t>
                      </a:r>
                    </a:p>
                    <a:p>
                      <a:pPr marL="285750" indent="-28575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this is a really, really, really, really, really, long string</a:t>
                      </a:r>
                    </a:p>
                    <a:p>
                      <a:pPr marL="285750" indent="-28575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this is a really, really, really, really, really, long string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4568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56909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 literals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 dirty="0"/>
              <a:t>By prefixing a string literal with an </a:t>
            </a:r>
            <a:r>
              <a:rPr lang="en-US" dirty="0">
                <a:latin typeface="Courier"/>
              </a:rPr>
              <a:t>r</a:t>
            </a:r>
            <a:r>
              <a:rPr lang="en-US" dirty="0"/>
              <a:t>, the string literal will be considered a </a:t>
            </a:r>
            <a:r>
              <a:rPr lang="en-US" dirty="0">
                <a:solidFill>
                  <a:srgbClr val="C00000"/>
                </a:solidFill>
              </a:rPr>
              <a:t>raw string</a:t>
            </a:r>
            <a:r>
              <a:rPr lang="en-US" dirty="0"/>
              <a:t> and backslashes become literal characters</a:t>
            </a:r>
          </a:p>
          <a:p>
            <a:r>
              <a:rPr lang="en-US" dirty="0"/>
              <a:t>Useful in cases where you actually need backslashes in your strings, e.g. when working with Python’s </a:t>
            </a:r>
            <a:r>
              <a:rPr lang="en-US" dirty="0">
                <a:hlinkClick r:id="rId2"/>
              </a:rPr>
              <a:t>regular expression module </a:t>
            </a:r>
            <a:r>
              <a:rPr lang="en-US" dirty="0">
                <a:latin typeface="Courier"/>
                <a:hlinkClick r:id="rId2"/>
              </a:rPr>
              <a:t>re</a:t>
            </a:r>
            <a:endParaRPr lang="en-US" dirty="0">
              <a:latin typeface="Courier"/>
            </a:endParaRP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Strange exception:  </a:t>
            </a:r>
            <a:r>
              <a:rPr lang="en-US" sz="2000" dirty="0">
                <a:hlinkClick r:id="rId3"/>
              </a:rPr>
              <a:t>A raw string cannot end with an odd number of backslashes</a:t>
            </a:r>
            <a:endParaRPr lang="en-US" sz="2000" dirty="0">
              <a:latin typeface="Courier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6932090"/>
              </p:ext>
            </p:extLst>
          </p:nvPr>
        </p:nvGraphicFramePr>
        <p:xfrm>
          <a:off x="1961146" y="3810222"/>
          <a:ext cx="8231505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315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48953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919244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print('\let\epsilon\varepsilon')     </a:t>
                      </a:r>
                      <a:r>
                        <a:rPr lang="pt-BR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\v = vertical tab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\let\epsilon</a:t>
                      </a:r>
                      <a:br>
                        <a:rPr lang="pt-BR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arepsilon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print('\\let\\epsilon\\varepsilon')  </a:t>
                      </a:r>
                      <a:r>
                        <a:rPr lang="pt-BR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many backslashs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\let\epsilon\varepsilon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pt-BR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'\let\epsilon\varepsilon')    </a:t>
                      </a:r>
                      <a:r>
                        <a:rPr lang="pt-BR" sz="1800" b="1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more readable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\let\epsilon\varepsilon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02164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print(...)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91540" y="2325793"/>
            <a:ext cx="6522720" cy="3440007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400" dirty="0"/>
              <a:t> can print zero, one, or more values</a:t>
            </a:r>
          </a:p>
          <a:p>
            <a:r>
              <a:rPr lang="en-US" sz="2400" dirty="0"/>
              <a:t>default behavior</a:t>
            </a:r>
          </a:p>
          <a:p>
            <a:pPr lvl="1"/>
            <a:r>
              <a:rPr lang="en-US" sz="2000" dirty="0"/>
              <a:t>print a space between values</a:t>
            </a:r>
          </a:p>
          <a:p>
            <a:pPr lvl="1">
              <a:spcAft>
                <a:spcPts val="600"/>
              </a:spcAft>
            </a:pPr>
            <a:r>
              <a:rPr lang="en-US" sz="2000" dirty="0"/>
              <a:t>print a line break after printing all values</a:t>
            </a:r>
          </a:p>
          <a:p>
            <a:r>
              <a:rPr lang="en-US" sz="2400" dirty="0"/>
              <a:t>default behavior can be changed by </a:t>
            </a:r>
            <a:br>
              <a:rPr lang="en-US" sz="2400" dirty="0"/>
            </a:br>
            <a:r>
              <a:rPr lang="en-US" sz="2400" b="1" dirty="0"/>
              <a:t>keyword arguments</a:t>
            </a:r>
            <a:r>
              <a:rPr lang="en-US" sz="2400" dirty="0"/>
              <a:t> “</a:t>
            </a:r>
            <a:r>
              <a:rPr lang="en-US" sz="24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sz="2400" dirty="0"/>
              <a:t>“ and “</a:t>
            </a:r>
            <a:r>
              <a:rPr lang="en-US" sz="24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  <a:r>
              <a:rPr lang="en-US" sz="2400" dirty="0"/>
              <a:t>“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6851607"/>
              </p:ext>
            </p:extLst>
          </p:nvPr>
        </p:nvGraphicFramePr>
        <p:xfrm>
          <a:off x="7278099" y="1406736"/>
          <a:ext cx="431192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192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14901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18195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print(7)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print(2, 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Hello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  <a:r>
                        <a:rPr lang="pt-BR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 Hello </a:t>
                      </a:r>
                      <a:endParaRPr lang="pt-BR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print(3, 'a', 4)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 a 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print(3, 'a', 4, </a:t>
                      </a:r>
                      <a:r>
                        <a:rPr lang="en-US" sz="1800" b="1" baseline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sep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':')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3:a:4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print(5); print(6)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print(5, </a:t>
                      </a:r>
                      <a:r>
                        <a:rPr lang="en-US" sz="1800" b="1" baseline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end=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'); print(6)</a:t>
                      </a: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5, 6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87992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print(...) and </a:t>
            </a:r>
            <a:r>
              <a:rPr lang="da-DK" dirty="0" err="1"/>
              <a:t>help</a:t>
            </a:r>
            <a:r>
              <a:rPr lang="da-DK" dirty="0"/>
              <a:t>(...)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4220970"/>
              </p:ext>
            </p:extLst>
          </p:nvPr>
        </p:nvGraphicFramePr>
        <p:xfrm>
          <a:off x="690109" y="2084758"/>
          <a:ext cx="10811782" cy="374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178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14901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181956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help(print)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Help on built-in function print in module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builtins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print(...)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print(value, ...,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sep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 ', end='\n', file=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sys.stdout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flush=False)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da-DK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endParaRPr lang="en-US" sz="18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Prints the values to a stream, or to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sys.stdout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by default.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Optional keyword arguments: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file:  a file-like object (stream); defaults to the current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sys.stdout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sep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  string inserted between values, default a space.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end:   string appended after the last value, default a newline.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flush: whether to forcibly flush the stream.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18196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85240"/>
          </a:xfrm>
        </p:spPr>
        <p:txBody>
          <a:bodyPr>
            <a:normAutofit/>
          </a:bodyPr>
          <a:lstStyle/>
          <a:p>
            <a:r>
              <a:rPr lang="en-US" sz="2400" i="1" dirty="0"/>
              <a:t>variable </a:t>
            </a:r>
            <a:r>
              <a:rPr lang="en-US" sz="2400"/>
              <a:t>= </a:t>
            </a:r>
            <a:r>
              <a:rPr lang="en-US" sz="2400" i="1"/>
              <a:t>expression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		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x = 42</a:t>
            </a:r>
          </a:p>
          <a:p>
            <a:r>
              <a:rPr lang="en-US" sz="2400" dirty="0"/>
              <a:t>Multiple assignments – right hand side evaluated before assignment</a:t>
            </a:r>
          </a:p>
          <a:p>
            <a:pPr marL="0" indent="0">
              <a:buNone/>
            </a:pPr>
            <a:r>
              <a:rPr lang="en-US" sz="2400" dirty="0"/>
              <a:t>		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x, y, z = 2, 5, 7</a:t>
            </a:r>
          </a:p>
          <a:p>
            <a:r>
              <a:rPr lang="en-US" sz="2400" dirty="0"/>
              <a:t>Useful for swapping</a:t>
            </a:r>
          </a:p>
          <a:p>
            <a:pPr marL="0" indent="0">
              <a:buNone/>
            </a:pPr>
            <a:r>
              <a:rPr lang="en-US" sz="2400" dirty="0"/>
              <a:t>		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x, y = y, x</a:t>
            </a:r>
          </a:p>
          <a:p>
            <a:r>
              <a:rPr lang="en-US" sz="2400" dirty="0"/>
              <a:t>Assigning multiple variables same value in</a:t>
            </a:r>
            <a:br>
              <a:rPr lang="en-US" sz="2400" dirty="0"/>
            </a:br>
            <a:r>
              <a:rPr lang="en-US" sz="2400" dirty="0"/>
              <a:t>left-to-right</a:t>
            </a:r>
          </a:p>
          <a:p>
            <a:pPr marL="0" indent="0"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		x = y = z = 7</a:t>
            </a:r>
          </a:p>
          <a:p>
            <a:pPr marL="0" indent="0">
              <a:buNone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090358" y="3921036"/>
            <a:ext cx="4386649" cy="22467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C00000"/>
                </a:solidFill>
              </a:rPr>
              <a:t>Warning</a:t>
            </a:r>
            <a:endParaRPr lang="en-US" b="1" dirty="0">
              <a:solidFill>
                <a:srgbClr val="C00000"/>
              </a:solidFill>
            </a:endParaRPr>
          </a:p>
          <a:p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 = v[i] = 3 </a:t>
            </a:r>
            <a:r>
              <a:rPr lang="en-US" dirty="0"/>
              <a:t># v[3] is assigned value 3</a:t>
            </a:r>
          </a:p>
          <a:p>
            <a:endParaRPr lang="en-US" dirty="0"/>
          </a:p>
          <a:p>
            <a:pPr algn="ctr"/>
            <a:r>
              <a:rPr lang="en-US" dirty="0"/>
              <a:t>In languages like C and C++ instead</a:t>
            </a:r>
            <a:br>
              <a:rPr lang="en-US" dirty="0"/>
            </a:br>
            <a:r>
              <a:rPr lang="en-US" dirty="0"/>
              <a:t>v[1] is assigned 3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8626" y="4016957"/>
            <a:ext cx="487666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7733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is dynamically typed, type(...)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054225"/>
            <a:ext cx="5798270" cy="4351338"/>
          </a:xfrm>
        </p:spPr>
        <p:txBody>
          <a:bodyPr>
            <a:normAutofit/>
          </a:bodyPr>
          <a:lstStyle/>
          <a:p>
            <a:r>
              <a:rPr lang="en-US" sz="2400" dirty="0"/>
              <a:t>The current type of a value can be inspected using the </a:t>
            </a:r>
            <a:r>
              <a:rPr lang="en-US" sz="2400" b="1" dirty="0">
                <a:cs typeface="Courier New" panose="02070309020205020404" pitchFamily="49" charset="0"/>
              </a:rPr>
              <a:t>type()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/>
              <a:t>function </a:t>
            </a:r>
            <a:br>
              <a:rPr lang="en-US" sz="2400" dirty="0"/>
            </a:br>
            <a:r>
              <a:rPr lang="en-US" sz="2400" dirty="0"/>
              <a:t>(that returns a type object)</a:t>
            </a:r>
          </a:p>
          <a:p>
            <a:r>
              <a:rPr lang="en-US" sz="2400" dirty="0"/>
              <a:t>In Python the values contained in a variable over time can be of different type</a:t>
            </a:r>
          </a:p>
          <a:p>
            <a:r>
              <a:rPr lang="en-US" sz="2400" dirty="0"/>
              <a:t>In languages like C, C++ and Java variables are declared with a given type, e.g.</a:t>
            </a:r>
          </a:p>
          <a:p>
            <a:pPr marL="0" indent="0">
              <a:buNone/>
            </a:pPr>
            <a:r>
              <a:rPr lang="en-US" sz="2400" dirty="0"/>
              <a:t>	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x = 42; </a:t>
            </a:r>
          </a:p>
          <a:p>
            <a:pPr marL="358775" indent="0">
              <a:buNone/>
            </a:pPr>
            <a:r>
              <a:rPr lang="en-US" sz="2400" dirty="0"/>
              <a:t>and the different values stored in this variable must remain of this type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592556"/>
              </p:ext>
            </p:extLst>
          </p:nvPr>
        </p:nvGraphicFramePr>
        <p:xfrm>
          <a:off x="7219678" y="2232367"/>
          <a:ext cx="431192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192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14901">
                <a:tc>
                  <a:txBody>
                    <a:bodyPr/>
                    <a:lstStyle/>
                    <a:p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8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8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181956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1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type(x)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'Hello'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type(x)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type(42)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</a:t>
                      </a:r>
                      <a:r>
                        <a:rPr lang="en-US" sz="18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'&gt;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type(type(42))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&lt;class 'type'&gt;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Down Arrow 4"/>
          <p:cNvSpPr/>
          <p:nvPr/>
        </p:nvSpPr>
        <p:spPr>
          <a:xfrm rot="5400000">
            <a:off x="9831302" y="2842112"/>
            <a:ext cx="800135" cy="1482860"/>
          </a:xfrm>
          <a:prstGeom prst="down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new type</a:t>
            </a:r>
          </a:p>
        </p:txBody>
      </p:sp>
    </p:spTree>
    <p:extLst>
      <p:ext uri="{BB962C8B-B14F-4D97-AF65-F5344CB8AC3E}">
        <p14:creationId xmlns:p14="http://schemas.microsoft.com/office/powerpoint/2010/main" val="764548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7783" y="237015"/>
            <a:ext cx="10515600" cy="1325563"/>
          </a:xfrm>
        </p:spPr>
        <p:txBody>
          <a:bodyPr/>
          <a:lstStyle/>
          <a:p>
            <a:r>
              <a:rPr lang="en-US" dirty="0"/>
              <a:t>Type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5796" y="2068976"/>
            <a:ext cx="3674947" cy="4296197"/>
          </a:xfrm>
        </p:spPr>
        <p:txBody>
          <a:bodyPr>
            <a:normAutofit/>
          </a:bodyPr>
          <a:lstStyle/>
          <a:p>
            <a:r>
              <a:rPr lang="en-US" dirty="0"/>
              <a:t>Convert a value to </a:t>
            </a:r>
            <a:br>
              <a:rPr lang="en-US" dirty="0"/>
            </a:br>
            <a:r>
              <a:rPr lang="en-US" dirty="0"/>
              <a:t>another type:</a:t>
            </a:r>
            <a:br>
              <a:rPr lang="en-US" dirty="0"/>
            </a:br>
            <a:endParaRPr lang="en-US" dirty="0"/>
          </a:p>
          <a:p>
            <a:pPr marL="457200" lvl="1" indent="0">
              <a:buNone/>
            </a:pPr>
            <a:r>
              <a:rPr lang="en-US" i="1" dirty="0"/>
              <a:t> new-type</a:t>
            </a:r>
            <a:r>
              <a:rPr lang="en-US" dirty="0"/>
              <a:t>(</a:t>
            </a:r>
            <a:r>
              <a:rPr lang="en-US" i="1" dirty="0"/>
              <a:t>value</a:t>
            </a:r>
            <a:r>
              <a:rPr lang="en-US" dirty="0"/>
              <a:t>)</a:t>
            </a:r>
            <a:br>
              <a:rPr lang="en-US" dirty="0"/>
            </a:br>
            <a:endParaRPr lang="en-US" dirty="0"/>
          </a:p>
          <a:p>
            <a:r>
              <a:rPr lang="en-US" dirty="0"/>
              <a:t>Sometimes done automatically:</a:t>
            </a:r>
          </a:p>
          <a:p>
            <a:pPr marL="0" indent="0" algn="ctr">
              <a:buNone/>
            </a:pPr>
            <a:br>
              <a:rPr lang="en-US" dirty="0"/>
            </a:br>
            <a:r>
              <a:rPr lang="en-US" dirty="0"/>
              <a:t>      </a:t>
            </a:r>
            <a:r>
              <a:rPr lang="en-US" sz="2000" dirty="0">
                <a:latin typeface="Courier"/>
              </a:rPr>
              <a:t>1.0+7=1.0+float(7)=8.0</a:t>
            </a:r>
            <a:r>
              <a:rPr lang="en-US" dirty="0"/>
              <a:t> 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6277114"/>
              </p:ext>
            </p:extLst>
          </p:nvPr>
        </p:nvGraphicFramePr>
        <p:xfrm>
          <a:off x="4432327" y="1471454"/>
          <a:ext cx="7528142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2814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14901">
                <a:tc>
                  <a:txBody>
                    <a:bodyPr/>
                    <a:lstStyle/>
                    <a:p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</a:t>
                      </a:r>
                      <a:r>
                        <a:rPr lang="da-DK" sz="16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da-DK" sz="1600" b="1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shell</a:t>
                      </a:r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181956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float(42)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42.0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(7.8)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7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print("x = " + x)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Traceback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(most recent call last):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File "&lt;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stdin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&gt;", line 1, in &lt;module&gt;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TypeError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must be 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not 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endParaRPr lang="en-US" sz="1600" b="1" baseline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print("x = " + 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7 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print("x = " + 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str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(float(x)))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7.0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("7.3")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Traceback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(most recent call last):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File "&lt;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stdin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&gt;", line 1, in &lt;module&gt;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ValueError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invalid literal for </a:t>
                      </a: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with base 10: '7.3'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600" b="1" baseline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</a:t>
                      </a: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(float("7.3"))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Down Arrow 4"/>
          <p:cNvSpPr/>
          <p:nvPr/>
        </p:nvSpPr>
        <p:spPr>
          <a:xfrm rot="3386412">
            <a:off x="6777980" y="1870802"/>
            <a:ext cx="888384" cy="1530194"/>
          </a:xfrm>
          <a:prstGeom prst="down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>
              <a:lnSpc>
                <a:spcPts val="1200"/>
              </a:lnSpc>
            </a:pPr>
            <a:r>
              <a:rPr lang="en-US" sz="1400" dirty="0"/>
              <a:t>string </a:t>
            </a:r>
            <a:br>
              <a:rPr lang="en-US" sz="1400" dirty="0"/>
            </a:br>
            <a:r>
              <a:rPr lang="en-US" sz="140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93704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Questions – </a:t>
            </a:r>
            <a:r>
              <a:rPr lang="en-US" sz="3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en-US" sz="3200" b="0" dirty="0">
                <a:latin typeface="Courier New" panose="02070309020205020404" pitchFamily="49" charset="0"/>
                <a:cs typeface="Courier New" panose="02070309020205020404" pitchFamily="49" charset="0"/>
              </a:rPr>
              <a:t>(float(</a:t>
            </a:r>
            <a:r>
              <a:rPr lang="en-US" sz="3200" b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3200" b="0" dirty="0">
                <a:latin typeface="Courier New" panose="02070309020205020404" pitchFamily="49" charset="0"/>
                <a:cs typeface="Courier New" panose="02070309020205020404" pitchFamily="49" charset="0"/>
              </a:rPr>
              <a:t>(float("7.5"))))</a:t>
            </a:r>
            <a:r>
              <a:rPr lang="en-US" dirty="0"/>
              <a:t> ?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4466845" y="1808074"/>
            <a:ext cx="3461999" cy="38679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7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7.0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7.5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"7"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"7.0"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"7.5"</a:t>
            </a:r>
          </a:p>
          <a:p>
            <a:pPr marL="514350" indent="-514350" defTabSz="1879600">
              <a:buSzPct val="100000"/>
              <a:buFont typeface="+mj-lt"/>
              <a:buAutoNum type="alphaLcParenR"/>
            </a:pPr>
            <a:r>
              <a:rPr lang="en-US" sz="3600" dirty="0"/>
              <a:t>Don’t know</a:t>
            </a:r>
          </a:p>
        </p:txBody>
      </p:sp>
      <p:sp>
        <p:nvSpPr>
          <p:cNvPr id="5" name="Smiley Face 4" descr="QuizAnswer"/>
          <p:cNvSpPr/>
          <p:nvPr/>
        </p:nvSpPr>
        <p:spPr>
          <a:xfrm>
            <a:off x="3965198" y="4382526"/>
            <a:ext cx="374567" cy="363338"/>
          </a:xfrm>
          <a:prstGeom prst="smileyFace">
            <a:avLst>
              <a:gd name="adj" fmla="val 4653"/>
            </a:avLst>
          </a:prstGeom>
          <a:solidFill>
            <a:srgbClr val="FFFF00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642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17365</TotalTime>
  <Words>2796</Words>
  <Application>Microsoft Office PowerPoint</Application>
  <PresentationFormat>Widescreen</PresentationFormat>
  <Paragraphs>483</Paragraphs>
  <Slides>21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Courier</vt:lpstr>
      <vt:lpstr>Courier New</vt:lpstr>
      <vt:lpstr>Times New Roman</vt:lpstr>
      <vt:lpstr>Wingdings</vt:lpstr>
      <vt:lpstr>Office Theme</vt:lpstr>
      <vt:lpstr>Python basics</vt:lpstr>
      <vt:lpstr>Python comments</vt:lpstr>
      <vt:lpstr>The “;” in Python</vt:lpstr>
      <vt:lpstr>Variable names</vt:lpstr>
      <vt:lpstr>Question – Not a valid Pyton variable name?</vt:lpstr>
      <vt:lpstr>Integer literals</vt:lpstr>
      <vt:lpstr>Question – What statement will not fail?</vt:lpstr>
      <vt:lpstr>Float literals</vt:lpstr>
      <vt:lpstr>Question – What addition order is ”best”?</vt:lpstr>
      <vt:lpstr>Approximating  π = 3.14159265359...</vt:lpstr>
      <vt:lpstr>Python float ≡ IEEE-754 double precision*</vt:lpstr>
      <vt:lpstr>String literals (type str)</vt:lpstr>
      <vt:lpstr>Question – What does the following print ?            print("\\\"\\n\n'")</vt:lpstr>
      <vt:lpstr>Long string literals</vt:lpstr>
      <vt:lpstr>Raw string literals</vt:lpstr>
      <vt:lpstr>print(...)</vt:lpstr>
      <vt:lpstr>print(...) and help(...)</vt:lpstr>
      <vt:lpstr>Assignments</vt:lpstr>
      <vt:lpstr>Python is dynamically typed, type(...)</vt:lpstr>
      <vt:lpstr>Type conversion</vt:lpstr>
      <vt:lpstr>Questions – str(float(int(float("7.5")))) ?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539</cp:revision>
  <dcterms:created xsi:type="dcterms:W3CDTF">2017-10-19T06:54:16Z</dcterms:created>
  <dcterms:modified xsi:type="dcterms:W3CDTF">2026-02-01T20:50:43Z</dcterms:modified>
</cp:coreProperties>
</file>