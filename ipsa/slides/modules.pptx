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66" r:id="rId2"/>
    <p:sldId id="774" r:id="rId3"/>
    <p:sldId id="781" r:id="rId4"/>
    <p:sldId id="778" r:id="rId5"/>
    <p:sldId id="771" r:id="rId6"/>
    <p:sldId id="790" r:id="rId7"/>
    <p:sldId id="786" r:id="rId8"/>
    <p:sldId id="780" r:id="rId9"/>
    <p:sldId id="737" r:id="rId10"/>
    <p:sldId id="783" r:id="rId11"/>
    <p:sldId id="784" r:id="rId12"/>
    <p:sldId id="789" r:id="rId13"/>
    <p:sldId id="782" r:id="rId14"/>
    <p:sldId id="775" r:id="rId15"/>
    <p:sldId id="776" r:id="rId16"/>
    <p:sldId id="777" r:id="rId17"/>
    <p:sldId id="559" r:id="rId18"/>
    <p:sldId id="660" r:id="rId19"/>
    <p:sldId id="788" r:id="rId20"/>
    <p:sldId id="785" r:id="rId21"/>
    <p:sldId id="787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4DAD0-AD6C-4AC2-98BE-EEA54053AE87}" v="10" dt="2026-04-19T20:01:30.0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3" autoAdjust="0"/>
    <p:restoredTop sz="76821" autoAdjust="0"/>
  </p:normalViewPr>
  <p:slideViewPr>
    <p:cSldViewPr snapToGrid="0">
      <p:cViewPr varScale="1">
        <p:scale>
          <a:sx n="140" d="100"/>
          <a:sy n="140" d="100"/>
        </p:scale>
        <p:origin x="852" y="102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4-19T20:48:52.373" v="593" actId="20577"/>
      <pc:docMkLst>
        <pc:docMk/>
      </pc:docMkLst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1591653014" sldId="466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91653014" sldId="46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91653014" sldId="46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91653014" sldId="466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91653014" sldId="466"/>
            <ac:spMk id="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2999158598" sldId="559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999158598" sldId="559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2999158598" sldId="559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3341382760" sldId="660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341382760" sldId="66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341382760" sldId="660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341382760" sldId="660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341382760" sldId="660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3341382760" sldId="660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20:05:53.345" v="266" actId="207"/>
        <pc:sldMkLst>
          <pc:docMk/>
          <pc:sldMk cId="1385633794" sldId="737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385633794" sldId="73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385633794" sldId="73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20:05:29.535" v="262" actId="207"/>
          <ac:graphicFrameMkLst>
            <pc:docMk/>
            <pc:sldMk cId="1385633794" sldId="737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20:05:53.345" v="266" actId="207"/>
          <ac:graphicFrameMkLst>
            <pc:docMk/>
            <pc:sldMk cId="1385633794" sldId="737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9T19:35:43.195" v="84" actId="790"/>
        <pc:sldMkLst>
          <pc:docMk/>
          <pc:sldMk cId="664324381" sldId="771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664324381" sldId="77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664324381" sldId="771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664324381" sldId="771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19:41:42.211" v="95" actId="20577"/>
        <pc:sldMkLst>
          <pc:docMk/>
          <pc:sldMk cId="3693141304" sldId="774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693141304" sldId="77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41:42.211" v="95" actId="20577"/>
          <ac:spMkLst>
            <pc:docMk/>
            <pc:sldMk cId="3693141304" sldId="774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693141304" sldId="774"/>
            <ac:spMk id="6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9T20:17:13.090" v="279" actId="20577"/>
        <pc:sldMkLst>
          <pc:docMk/>
          <pc:sldMk cId="1871441224" sldId="775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871441224" sldId="77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20:17:13.090" v="279" actId="20577"/>
          <ac:spMkLst>
            <pc:docMk/>
            <pc:sldMk cId="1871441224" sldId="775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871441224" sldId="775"/>
            <ac:spMk id="7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19T19:39:15.397" v="90" actId="790"/>
        <pc:sldMkLst>
          <pc:docMk/>
          <pc:sldMk cId="2315124613" sldId="776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315124613" sldId="77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315124613" sldId="77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315124613" sldId="776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315124613" sldId="776"/>
            <ac:spMk id="7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19T19:39:50.740" v="91" actId="790"/>
        <pc:sldMkLst>
          <pc:docMk/>
          <pc:sldMk cId="2262655743" sldId="777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62655743" sldId="777"/>
            <ac:spMk id="1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9T19:48:43.958" v="136" actId="20577"/>
        <pc:sldMkLst>
          <pc:docMk/>
          <pc:sldMk cId="1864606071" sldId="778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864606071" sldId="778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1864606071" sldId="778"/>
            <ac:graphicFrameMk id="7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19:48:43.958" v="136" actId="20577"/>
          <ac:graphicFrameMkLst>
            <pc:docMk/>
            <pc:sldMk cId="1864606071" sldId="778"/>
            <ac:graphicFrameMk id="8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9T20:03:10.225" v="259" actId="1035"/>
        <pc:sldMkLst>
          <pc:docMk/>
          <pc:sldMk cId="2298857009" sldId="780"/>
        </pc:sldMkLst>
        <pc:spChg chg="mod">
          <ac:chgData name="Gerth Stølting Brodal" userId="04ef4784-6591-4f86-a140-f5c3b108582a" providerId="ADAL" clId="{73BAC7D6-516A-44B5-B4B0-C7B08CA8B392}" dt="2026-04-19T20:03:10.225" v="259" actId="1035"/>
          <ac:spMkLst>
            <pc:docMk/>
            <pc:sldMk cId="2298857009" sldId="78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298857009" sldId="780"/>
            <ac:spMk id="5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19T20:03:10.225" v="259" actId="1035"/>
          <ac:graphicFrameMkLst>
            <pc:docMk/>
            <pc:sldMk cId="2298857009" sldId="780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19:47:06.987" v="135" actId="313"/>
        <pc:sldMkLst>
          <pc:docMk/>
          <pc:sldMk cId="1192181667" sldId="781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92181667" sldId="78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92181667" sldId="781"/>
            <ac:spMk id="3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19T19:43:17.851" v="127" actId="1037"/>
          <ac:graphicFrameMkLst>
            <pc:docMk/>
            <pc:sldMk cId="1192181667" sldId="781"/>
            <ac:graphicFrameMk id="4" creationId="{00000000-0000-0000-0000-000000000000}"/>
          </ac:graphicFrameMkLst>
        </pc:graphicFrameChg>
        <pc:graphicFrameChg chg="mod modGraphic">
          <ac:chgData name="Gerth Stølting Brodal" userId="04ef4784-6591-4f86-a140-f5c3b108582a" providerId="ADAL" clId="{73BAC7D6-516A-44B5-B4B0-C7B08CA8B392}" dt="2026-04-19T19:47:06.987" v="135" actId="313"/>
          <ac:graphicFrameMkLst>
            <pc:docMk/>
            <pc:sldMk cId="1192181667" sldId="781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1523777493" sldId="782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23777493" sldId="78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523777493" sldId="782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9T20:10:28.704" v="267" actId="20577"/>
        <pc:sldMkLst>
          <pc:docMk/>
          <pc:sldMk cId="3735488878" sldId="783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735488878" sldId="78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20:10:28.704" v="267" actId="20577"/>
          <ac:spMkLst>
            <pc:docMk/>
            <pc:sldMk cId="3735488878" sldId="783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3735488878" sldId="783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2596356894" sldId="784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596356894" sldId="78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596356894" sldId="784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2596356894" sldId="784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2596356894" sldId="784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2596356894" sldId="784"/>
            <ac:graphicFrameMk id="6" creationId="{00000000-0000-0000-0000-000000000000}"/>
          </ac:graphicFrameMkLst>
        </pc:graphicFrameChg>
      </pc:sldChg>
      <pc:sldChg chg="addSp delSp modSp mod modNotesTx">
        <pc:chgData name="Gerth Stølting Brodal" userId="04ef4784-6591-4f86-a140-f5c3b108582a" providerId="ADAL" clId="{73BAC7D6-516A-44B5-B4B0-C7B08CA8B392}" dt="2026-04-19T20:48:52.373" v="593" actId="20577"/>
        <pc:sldMkLst>
          <pc:docMk/>
          <pc:sldMk cId="3590058370" sldId="785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590058370" sldId="78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590058370" sldId="785"/>
            <ac:spMk id="3" creationId="{82E1DB06-B049-075A-BA23-D831E3274BDD}"/>
          </ac:spMkLst>
        </pc:spChg>
        <pc:spChg chg="mod">
          <ac:chgData name="Gerth Stølting Brodal" userId="04ef4784-6591-4f86-a140-f5c3b108582a" providerId="ADAL" clId="{73BAC7D6-516A-44B5-B4B0-C7B08CA8B392}" dt="2026-04-19T20:48:52.373" v="593" actId="20577"/>
          <ac:spMkLst>
            <pc:docMk/>
            <pc:sldMk cId="3590058370" sldId="785"/>
            <ac:spMk id="5" creationId="{00000000-0000-0000-0000-000000000000}"/>
          </ac:spMkLst>
        </pc:spChg>
        <pc:picChg chg="add del mod ord">
          <ac:chgData name="Gerth Stølting Brodal" userId="04ef4784-6591-4f86-a140-f5c3b108582a" providerId="ADAL" clId="{73BAC7D6-516A-44B5-B4B0-C7B08CA8B392}" dt="2026-04-19T20:48:01.264" v="585" actId="478"/>
          <ac:picMkLst>
            <pc:docMk/>
            <pc:sldMk cId="3590058370" sldId="785"/>
            <ac:picMk id="6" creationId="{2C8BB2BA-3401-656C-561A-9C161D640F0A}"/>
          </ac:picMkLst>
        </pc:picChg>
        <pc:picChg chg="del">
          <ac:chgData name="Gerth Stølting Brodal" userId="04ef4784-6591-4f86-a140-f5c3b108582a" providerId="ADAL" clId="{73BAC7D6-516A-44B5-B4B0-C7B08CA8B392}" dt="2026-04-19T20:41:31.391" v="576" actId="478"/>
          <ac:picMkLst>
            <pc:docMk/>
            <pc:sldMk cId="3590058370" sldId="785"/>
            <ac:picMk id="7" creationId="{00000000-0000-0000-0000-000000000000}"/>
          </ac:picMkLst>
        </pc:picChg>
        <pc:picChg chg="mod">
          <ac:chgData name="Gerth Stølting Brodal" userId="04ef4784-6591-4f86-a140-f5c3b108582a" providerId="ADAL" clId="{73BAC7D6-516A-44B5-B4B0-C7B08CA8B392}" dt="2026-04-19T20:48:20.067" v="590" actId="1076"/>
          <ac:picMkLst>
            <pc:docMk/>
            <pc:sldMk cId="3590058370" sldId="785"/>
            <ac:picMk id="8" creationId="{00000000-0000-0000-0000-000000000000}"/>
          </ac:picMkLst>
        </pc:picChg>
        <pc:picChg chg="add mod ord">
          <ac:chgData name="Gerth Stølting Brodal" userId="04ef4784-6591-4f86-a140-f5c3b108582a" providerId="ADAL" clId="{73BAC7D6-516A-44B5-B4B0-C7B08CA8B392}" dt="2026-04-19T20:48:11.300" v="588" actId="1076"/>
          <ac:picMkLst>
            <pc:docMk/>
            <pc:sldMk cId="3590058370" sldId="785"/>
            <ac:picMk id="10" creationId="{7AA79B8A-015E-5C59-5902-58561DF324E5}"/>
          </ac:picMkLst>
        </pc:picChg>
      </pc:sldChg>
      <pc:sldChg chg="modSp mod modNotesTx">
        <pc:chgData name="Gerth Stølting Brodal" userId="04ef4784-6591-4f86-a140-f5c3b108582a" providerId="ADAL" clId="{73BAC7D6-516A-44B5-B4B0-C7B08CA8B392}" dt="2026-04-19T19:58:22.322" v="225" actId="5793"/>
        <pc:sldMkLst>
          <pc:docMk/>
          <pc:sldMk cId="2057769851" sldId="786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057769851" sldId="78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2057769851" sldId="786"/>
            <ac:spMk id="3" creationId="{00000000-0000-0000-0000-000000000000}"/>
          </ac:spMkLst>
        </pc:spChg>
        <pc:graphicFrameChg chg="mod modGraphic">
          <ac:chgData name="Gerth Stølting Brodal" userId="04ef4784-6591-4f86-a140-f5c3b108582a" providerId="ADAL" clId="{73BAC7D6-516A-44B5-B4B0-C7B08CA8B392}" dt="2026-04-19T19:56:39.307" v="153" actId="20577"/>
          <ac:graphicFrameMkLst>
            <pc:docMk/>
            <pc:sldMk cId="2057769851" sldId="786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20:46:02.266" v="581" actId="20577"/>
        <pc:sldMkLst>
          <pc:docMk/>
          <pc:sldMk cId="1145542974" sldId="787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145542974" sldId="787"/>
            <ac:spMk id="1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20:46:02.266" v="581" actId="20577"/>
          <ac:graphicFrameMkLst>
            <pc:docMk/>
            <pc:sldMk cId="1145542974" sldId="787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20:28:29.380" v="394" actId="20577"/>
        <pc:sldMkLst>
          <pc:docMk/>
          <pc:sldMk cId="3956128854" sldId="788"/>
        </pc:sldMkLst>
        <pc:spChg chg="mod">
          <ac:chgData name="Gerth Stølting Brodal" userId="04ef4784-6591-4f86-a140-f5c3b108582a" providerId="ADAL" clId="{73BAC7D6-516A-44B5-B4B0-C7B08CA8B392}" dt="2026-04-19T20:26:59.232" v="310" actId="20577"/>
          <ac:spMkLst>
            <pc:docMk/>
            <pc:sldMk cId="3956128854" sldId="78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20:28:29.380" v="394" actId="20577"/>
          <ac:spMkLst>
            <pc:docMk/>
            <pc:sldMk cId="3956128854" sldId="78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1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3956128854" sldId="788"/>
            <ac:spMk id="20" creationId="{D7254EC2-946E-4C24-AF46-E0062D627CAB}"/>
          </ac:spMkLst>
        </pc:spChg>
      </pc:sldChg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1290951784" sldId="789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290951784" sldId="789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1290951784" sldId="78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1290951784" sldId="789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9T19:31:27.611" v="82" actId="790"/>
        <pc:sldMkLst>
          <pc:docMk/>
          <pc:sldMk cId="1478869086" sldId="790"/>
        </pc:sldMkLst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478869086" sldId="790"/>
            <ac:spMk id="2" creationId="{72F81AC0-7BE2-4DC1-9F85-AB546A2F4A15}"/>
          </ac:spMkLst>
        </pc:spChg>
        <pc:spChg chg="mod">
          <ac:chgData name="Gerth Stølting Brodal" userId="04ef4784-6591-4f86-a140-f5c3b108582a" providerId="ADAL" clId="{73BAC7D6-516A-44B5-B4B0-C7B08CA8B392}" dt="2026-04-19T19:31:27.611" v="82" actId="790"/>
          <ac:spMkLst>
            <pc:docMk/>
            <pc:sldMk cId="1478869086" sldId="790"/>
            <ac:spMk id="10" creationId="{AC47CB29-1260-4C4C-A3AA-8585FA059BD6}"/>
          </ac:spMkLst>
        </pc:sp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1478869086" sldId="790"/>
            <ac:graphicFrameMk id="6" creationId="{36C27043-1223-40A7-9D1C-D3FCE10864D3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9T19:31:27.611" v="82" actId="790"/>
          <ac:graphicFrameMkLst>
            <pc:docMk/>
            <pc:sldMk cId="1478869086" sldId="790"/>
            <ac:graphicFrameMk id="12" creationId="{095D38DE-1174-4280-BD92-982BCA5F30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'import antigravity' open this </a:t>
            </a:r>
            <a:r>
              <a:rPr lang="en-US" dirty="0" err="1"/>
              <a:t>xkcd</a:t>
            </a:r>
            <a:r>
              <a:rPr lang="en-US" dirty="0"/>
              <a:t> webpage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1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earlier ways to structure</a:t>
            </a:r>
            <a:r>
              <a:rPr lang="en-US" baseline="0" dirty="0"/>
              <a:t> code: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functions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classes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01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6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'from &lt;module&gt;</a:t>
            </a:r>
            <a:r>
              <a:rPr lang="en-US" baseline="0" noProof="0" dirty="0"/>
              <a:t> import ....' will automatically load the full module, if it has not already been loaded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56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defines __all__ </a:t>
            </a:r>
          </a:p>
          <a:p>
            <a:r>
              <a:rPr lang="en-US" dirty="0"/>
              <a:t>matplotlib also but </a:t>
            </a:r>
            <a:r>
              <a:rPr lang="en-US" dirty="0" err="1"/>
              <a:t>matplotlib.pyplot</a:t>
            </a:r>
            <a:r>
              <a:rPr lang="en-US" dirty="0"/>
              <a:t> not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2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Performance times Python 3.14</a:t>
            </a:r>
          </a:p>
          <a:p>
            <a:r>
              <a:rPr lang="en-US" noProof="0" dirty="0" err="1"/>
              <a:t>math.sqrt</a:t>
            </a:r>
            <a:r>
              <a:rPr lang="en-US" noProof="0" dirty="0"/>
              <a:t> slowest</a:t>
            </a:r>
          </a:p>
          <a:p>
            <a:r>
              <a:rPr lang="en-US" noProof="0" dirty="0"/>
              <a:t>Could also use a local variable instead of a keyword argument. Performance about 0.542…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1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Warning: </a:t>
            </a:r>
            <a:r>
              <a:rPr lang="en-US" noProof="0" dirty="0" err="1"/>
              <a:t>dir</a:t>
            </a:r>
            <a:r>
              <a:rPr lang="en-US" baseline="0" noProof="0" dirty="0"/>
              <a:t> is not necessarily the full list – it is just trying to generate a meaningful list; technically it</a:t>
            </a:r>
          </a:p>
          <a:p>
            <a:r>
              <a:rPr lang="en-US" baseline="0" noProof="0" dirty="0"/>
              <a:t>calls the __</a:t>
            </a:r>
            <a:r>
              <a:rPr lang="en-US" baseline="0" noProof="0" dirty="0" err="1"/>
              <a:t>dir</a:t>
            </a:r>
            <a:r>
              <a:rPr lang="en-US" baseline="0" noProof="0" dirty="0"/>
              <a:t>__ method</a:t>
            </a:r>
          </a:p>
          <a:p>
            <a:endParaRPr lang="en-US" baseline="0" noProof="0" dirty="0"/>
          </a:p>
          <a:p>
            <a:r>
              <a:rPr lang="en-US" noProof="0" dirty="0"/>
              <a:t>set(</a:t>
            </a:r>
            <a:r>
              <a:rPr lang="en-US" noProof="0" dirty="0" err="1"/>
              <a:t>numpy</a:t>
            </a:r>
            <a:r>
              <a:rPr lang="en-US" noProof="0" dirty="0"/>
              <a:t>.__</a:t>
            </a:r>
            <a:r>
              <a:rPr lang="en-US" noProof="0" dirty="0" err="1"/>
              <a:t>dir</a:t>
            </a:r>
            <a:r>
              <a:rPr lang="en-US" noProof="0" dirty="0"/>
              <a:t>__()) - set(</a:t>
            </a:r>
            <a:r>
              <a:rPr lang="en-US" noProof="0" dirty="0" err="1"/>
              <a:t>numpy</a:t>
            </a:r>
            <a:r>
              <a:rPr lang="en-US" noProof="0" dirty="0"/>
              <a:t>.__all__)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61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7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Why double-\</a:t>
            </a:r>
            <a:r>
              <a:rPr lang="en-US" baseline="0" noProof="0" dirty="0"/>
              <a:t> (since Python string)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4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Open "control panel" and search for "environment variables"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4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by</a:t>
            </a:r>
            <a:r>
              <a:rPr lang="en-US" baseline="0" dirty="0"/>
              <a:t> </a:t>
            </a:r>
            <a:r>
              <a:rPr lang="en-US" b="1" baseline="0" dirty="0"/>
              <a:t>scheduling</a:t>
            </a:r>
            <a:r>
              <a:rPr lang="en-US" baseline="0" dirty="0"/>
              <a:t> </a:t>
            </a:r>
            <a:r>
              <a:rPr lang="en-US" b="1" baseline="0" dirty="0"/>
              <a:t>exercise</a:t>
            </a:r>
            <a:r>
              <a:rPr lang="en-US" b="0" baseline="0" dirty="0"/>
              <a:t>, but in general event simulation problems</a:t>
            </a:r>
          </a:p>
          <a:p>
            <a:r>
              <a:rPr lang="en-US" baseline="0" dirty="0" err="1"/>
              <a:t>queue.PriorityQueue</a:t>
            </a:r>
            <a:r>
              <a:rPr lang="en-US" baseline="0" dirty="0"/>
              <a:t> is an alternative priority queue that supports concurrent processes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4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y-axis is logarithmic axis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1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tutorial/modules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docs.python.org/3/library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di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heapq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45/512274.512284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512274.51228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45/512274.512284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522780" cy="1325563"/>
          </a:xfrm>
        </p:spPr>
        <p:txBody>
          <a:bodyPr/>
          <a:lstStyle/>
          <a:p>
            <a:pPr algn="r"/>
            <a:r>
              <a:rPr lang="en-US" noProof="0" dirty="0"/>
              <a:t>Modules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9981" y="3920647"/>
            <a:ext cx="5131432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import – from – as</a:t>
            </a:r>
          </a:p>
          <a:p>
            <a:r>
              <a:rPr lang="en-US" noProof="0" dirty="0"/>
              <a:t>__name__, '__main__'</a:t>
            </a:r>
          </a:p>
          <a:p>
            <a:r>
              <a:rPr lang="en-US" noProof="0" dirty="0" err="1"/>
              <a:t>heapq</a:t>
            </a:r>
            <a:endParaRPr lang="en-US" noProof="0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30" y="338348"/>
            <a:ext cx="5485393" cy="62266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79117" y="6531959"/>
            <a:ext cx="1503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/>
              <a:t>xkcd.com/353</a:t>
            </a:r>
          </a:p>
        </p:txBody>
      </p:sp>
      <p:sp>
        <p:nvSpPr>
          <p:cNvPr id="6" name="Rectangle 5"/>
          <p:cNvSpPr/>
          <p:nvPr/>
        </p:nvSpPr>
        <p:spPr>
          <a:xfrm>
            <a:off x="8098507" y="6380344"/>
            <a:ext cx="4093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4"/>
              </a:rPr>
              <a:t>docs.python.org/3/tutorial/modules.html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165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636649" y="1653227"/>
            <a:ext cx="10871200" cy="10767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Python modules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925"/>
            <a:ext cx="10515600" cy="5041075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A Python </a:t>
            </a:r>
            <a:r>
              <a:rPr lang="en-US" noProof="0" dirty="0">
                <a:solidFill>
                  <a:srgbClr val="C00000"/>
                </a:solidFill>
              </a:rPr>
              <a:t>module</a:t>
            </a:r>
            <a:r>
              <a:rPr lang="en-US" noProof="0" dirty="0"/>
              <a:t> is a </a:t>
            </a:r>
            <a:r>
              <a:rPr lang="en-US" i="1" noProof="0" dirty="0"/>
              <a:t>module_name</a:t>
            </a:r>
            <a:r>
              <a:rPr lang="en-US" noProof="0" dirty="0"/>
              <a:t>.py file containing Python code</a:t>
            </a:r>
          </a:p>
          <a:p>
            <a:r>
              <a:rPr lang="en-US" noProof="0" dirty="0"/>
              <a:t>A Python </a:t>
            </a:r>
            <a:r>
              <a:rPr lang="en-US" noProof="0" dirty="0">
                <a:solidFill>
                  <a:srgbClr val="C00000"/>
                </a:solidFill>
              </a:rPr>
              <a:t>package</a:t>
            </a:r>
            <a:r>
              <a:rPr lang="en-US" noProof="0" dirty="0"/>
              <a:t> is a collection of modules</a:t>
            </a:r>
          </a:p>
          <a:p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Why do you need modules ?</a:t>
            </a:r>
          </a:p>
          <a:p>
            <a:r>
              <a:rPr lang="en-US" noProof="0" dirty="0"/>
              <a:t>A way to structure code into </a:t>
            </a:r>
            <a:r>
              <a:rPr lang="en-US" noProof="0" dirty="0">
                <a:solidFill>
                  <a:srgbClr val="C00000"/>
                </a:solidFill>
              </a:rPr>
              <a:t>smaller logical units</a:t>
            </a:r>
          </a:p>
          <a:p>
            <a:r>
              <a:rPr lang="en-US" noProof="0" dirty="0">
                <a:solidFill>
                  <a:srgbClr val="C00000"/>
                </a:solidFill>
              </a:rPr>
              <a:t>Encapsulation </a:t>
            </a:r>
            <a:r>
              <a:rPr lang="en-US" noProof="0" dirty="0"/>
              <a:t>of functionality</a:t>
            </a:r>
          </a:p>
          <a:p>
            <a:pPr>
              <a:spcAft>
                <a:spcPts val="1800"/>
              </a:spcAft>
            </a:pPr>
            <a:r>
              <a:rPr lang="en-US" noProof="0" dirty="0">
                <a:solidFill>
                  <a:srgbClr val="C00000"/>
                </a:solidFill>
              </a:rPr>
              <a:t>Reuse</a:t>
            </a:r>
            <a:r>
              <a:rPr lang="en-US" noProof="0" dirty="0"/>
              <a:t> of code in different programs</a:t>
            </a:r>
          </a:p>
          <a:p>
            <a:r>
              <a:rPr lang="en-US" noProof="0" dirty="0"/>
              <a:t>Your can write your </a:t>
            </a:r>
            <a:r>
              <a:rPr lang="en-US" noProof="0" dirty="0">
                <a:solidFill>
                  <a:srgbClr val="C00000"/>
                </a:solidFill>
              </a:rPr>
              <a:t>own modules and packages </a:t>
            </a:r>
            <a:r>
              <a:rPr lang="en-US" noProof="0" dirty="0"/>
              <a:t>or use </a:t>
            </a:r>
            <a:br>
              <a:rPr lang="en-US" noProof="0" dirty="0"/>
            </a:br>
            <a:r>
              <a:rPr lang="en-US" noProof="0" dirty="0"/>
              <a:t>any of the +750.000 existing packages from </a:t>
            </a:r>
            <a:r>
              <a:rPr lang="en-US" noProof="0" dirty="0">
                <a:solidFill>
                  <a:srgbClr val="C00000"/>
                </a:solidFill>
                <a:hlinkClick r:id="rId3"/>
              </a:rPr>
              <a:t>pypi.org</a:t>
            </a:r>
            <a:endParaRPr lang="en-US" noProof="0" dirty="0">
              <a:solidFill>
                <a:srgbClr val="C00000"/>
              </a:solidFill>
            </a:endParaRPr>
          </a:p>
          <a:p>
            <a:r>
              <a:rPr lang="en-US" noProof="0" dirty="0">
                <a:solidFill>
                  <a:srgbClr val="C00000"/>
                </a:solidFill>
              </a:rPr>
              <a:t>The Python Standard Library</a:t>
            </a:r>
            <a:r>
              <a:rPr lang="en-US" noProof="0" dirty="0"/>
              <a:t> consists of the modules </a:t>
            </a:r>
            <a:br>
              <a:rPr lang="en-US" noProof="0" dirty="0"/>
            </a:br>
            <a:r>
              <a:rPr lang="en-US" noProof="0" dirty="0"/>
              <a:t>listed on </a:t>
            </a:r>
            <a:r>
              <a:rPr lang="en-US" noProof="0" dirty="0">
                <a:solidFill>
                  <a:srgbClr val="C00000"/>
                </a:solidFill>
                <a:hlinkClick r:id="rId4"/>
              </a:rPr>
              <a:t>docs.python.org/3/library</a:t>
            </a:r>
            <a:endParaRPr lang="en-US" noProof="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998" y="4537276"/>
            <a:ext cx="2742002" cy="232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4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Defining and importing a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325" y="5543732"/>
            <a:ext cx="10515600" cy="880568"/>
          </a:xfrm>
        </p:spPr>
        <p:txBody>
          <a:bodyPr/>
          <a:lstStyle/>
          <a:p>
            <a:r>
              <a:rPr lang="en-US" noProof="0" dirty="0"/>
              <a:t>A module is only run once when imported several times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19132"/>
              </p:ext>
            </p:extLst>
          </p:nvPr>
        </p:nvGraphicFramePr>
        <p:xfrm>
          <a:off x="643582" y="1716480"/>
          <a:ext cx="6105238" cy="362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523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'''This is a 'print something' module.'''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random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choice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print('Running my module')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print_something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 = ['Eat', 'Sleep', 'Rave', 'Repeat']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 '.join(choice(W) for _ in range(n)))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print(f'{__name__ = }')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8398"/>
              </p:ext>
            </p:extLst>
          </p:nvPr>
        </p:nvGraphicFramePr>
        <p:xfrm>
          <a:off x="6850030" y="1722911"/>
          <a:ext cx="4669589" cy="3614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5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using_mymodule.py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308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mymodule.the_name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mymodule.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print_something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print_something</a:t>
                      </a:r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print_something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60039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163961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Running my module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__name__ = '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mymodule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Eat Sleep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Rave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Eat Sleep Rave Repeat Sleep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18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779" y="365125"/>
            <a:ext cx="11216021" cy="1325563"/>
          </a:xfrm>
        </p:spPr>
        <p:txBody>
          <a:bodyPr/>
          <a:lstStyle/>
          <a:p>
            <a:r>
              <a:rPr lang="en-US" noProof="0" dirty="0"/>
              <a:t>Some modules mentioned in the course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96311"/>
              </p:ext>
            </p:extLst>
          </p:nvPr>
        </p:nvGraphicFramePr>
        <p:xfrm>
          <a:off x="137779" y="1523086"/>
          <a:ext cx="6430074" cy="523128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473133">
                  <a:extLst>
                    <a:ext uri="{9D8B030D-6E8A-4147-A177-3AD203B41FA5}">
                      <a16:colId xmlns:a16="http://schemas.microsoft.com/office/drawing/2014/main" val="2413513230"/>
                    </a:ext>
                  </a:extLst>
                </a:gridCol>
                <a:gridCol w="2956941">
                  <a:extLst>
                    <a:ext uri="{9D8B030D-6E8A-4147-A177-3AD203B41FA5}">
                      <a16:colId xmlns:a16="http://schemas.microsoft.com/office/drawing/2014/main" val="358234419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Module</a:t>
                      </a:r>
                      <a:r>
                        <a:rPr lang="en-US" sz="1400" baseline="0" noProof="0" dirty="0"/>
                        <a:t> (example functions)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Description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7002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math (pi sqrt ceil log</a:t>
                      </a:r>
                      <a:r>
                        <a:rPr lang="en-US" sz="1400" baseline="0" noProof="0" dirty="0"/>
                        <a:t> sin)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basic math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258304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random (random </a:t>
                      </a:r>
                      <a:r>
                        <a:rPr lang="en-US" sz="1400" noProof="0" dirty="0" err="1"/>
                        <a:t>randint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random number generator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362687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numpy</a:t>
                      </a:r>
                      <a:r>
                        <a:rPr lang="en-US" sz="1400" noProof="0" dirty="0"/>
                        <a:t> (array shape)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multi-dimensional</a:t>
                      </a:r>
                      <a:r>
                        <a:rPr lang="en-US" sz="1400" i="1" baseline="0" noProof="0" dirty="0"/>
                        <a:t> data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1962943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pandas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data tables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8353291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SQLlite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SQL database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23036"/>
                  </a:ext>
                </a:extLst>
              </a:tr>
              <a:tr h="740722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scipy</a:t>
                      </a:r>
                      <a:endParaRPr lang="en-US" sz="1400" noProof="0" dirty="0"/>
                    </a:p>
                    <a:p>
                      <a:r>
                        <a:rPr lang="en-US" sz="1400" noProof="0" dirty="0" err="1"/>
                        <a:t>scipy.optimize</a:t>
                      </a:r>
                      <a:r>
                        <a:rPr lang="en-US" sz="1400" noProof="0" dirty="0"/>
                        <a:t> (minimize </a:t>
                      </a:r>
                      <a:r>
                        <a:rPr lang="en-US" sz="1400" noProof="0" dirty="0" err="1"/>
                        <a:t>linprog</a:t>
                      </a:r>
                      <a:r>
                        <a:rPr lang="en-US" sz="1400" noProof="0" dirty="0"/>
                        <a:t>)</a:t>
                      </a:r>
                    </a:p>
                    <a:p>
                      <a:r>
                        <a:rPr lang="en-US" sz="1400" noProof="0" dirty="0" err="1"/>
                        <a:t>scipy.spatial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ConvexHull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mathematical optimization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686565"/>
                  </a:ext>
                </a:extLst>
              </a:tr>
              <a:tr h="95676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matplotlib</a:t>
                      </a:r>
                    </a:p>
                    <a:p>
                      <a:r>
                        <a:rPr lang="en-US" sz="1400" noProof="0" dirty="0" err="1"/>
                        <a:t>matplotlib.pyplot</a:t>
                      </a:r>
                      <a:r>
                        <a:rPr lang="en-US" sz="1400" noProof="0" dirty="0"/>
                        <a:t> (plot show style)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matplotlib.backends.backend_pdf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PdfPages</a:t>
                      </a:r>
                      <a:r>
                        <a:rPr lang="en-US" sz="1400" noProof="0" dirty="0"/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mpl_toolkits.mplot3d (Axes3D)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i="1" noProof="0" dirty="0"/>
                    </a:p>
                    <a:p>
                      <a:r>
                        <a:rPr lang="en-US" sz="1400" i="1" noProof="0" dirty="0"/>
                        <a:t>plotting</a:t>
                      </a:r>
                      <a:r>
                        <a:rPr lang="en-US" sz="1400" i="1" baseline="0" noProof="0" dirty="0"/>
                        <a:t> data</a:t>
                      </a:r>
                    </a:p>
                    <a:p>
                      <a:r>
                        <a:rPr lang="en-US" sz="1400" i="1" baseline="0" noProof="0" dirty="0"/>
                        <a:t>print plots to PDF</a:t>
                      </a:r>
                    </a:p>
                    <a:p>
                      <a:r>
                        <a:rPr lang="en-US" sz="1400" i="1" baseline="0" noProof="0" dirty="0"/>
                        <a:t>3D plot tools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2400109"/>
                  </a:ext>
                </a:extLst>
              </a:tr>
              <a:tr h="524678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doctest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testmod</a:t>
                      </a:r>
                      <a:r>
                        <a:rPr lang="en-US" sz="1400" noProof="0" dirty="0"/>
                        <a:t>)</a:t>
                      </a:r>
                    </a:p>
                    <a:p>
                      <a:r>
                        <a:rPr lang="en-US" sz="1400" noProof="0" dirty="0" err="1"/>
                        <a:t>unittest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assertEqual</a:t>
                      </a:r>
                      <a:r>
                        <a:rPr lang="en-US" sz="1400" baseline="0" noProof="0" dirty="0"/>
                        <a:t> </a:t>
                      </a:r>
                      <a:r>
                        <a:rPr lang="en-US" sz="1400" baseline="0" noProof="0" dirty="0" err="1"/>
                        <a:t>assertTrue</a:t>
                      </a:r>
                      <a:r>
                        <a:rPr lang="en-US" sz="1400" baseline="0" noProof="0" dirty="0"/>
                        <a:t>)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testing using doc strings</a:t>
                      </a:r>
                    </a:p>
                    <a:p>
                      <a:r>
                        <a:rPr lang="en-US" sz="1400" i="1" noProof="0" dirty="0"/>
                        <a:t>unit</a:t>
                      </a:r>
                      <a:r>
                        <a:rPr lang="en-US" sz="1400" i="1" baseline="0" noProof="0" dirty="0"/>
                        <a:t> testing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660056"/>
                  </a:ext>
                </a:extLst>
              </a:tr>
              <a:tr h="524678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time (time)</a:t>
                      </a:r>
                    </a:p>
                    <a:p>
                      <a:r>
                        <a:rPr lang="en-US" sz="1400" noProof="0" dirty="0"/>
                        <a:t>datetime (</a:t>
                      </a:r>
                      <a:r>
                        <a:rPr lang="en-US" sz="1400" noProof="0" dirty="0" err="1"/>
                        <a:t>date.today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baseline="0" noProof="0" dirty="0"/>
                        <a:t>current time, </a:t>
                      </a:r>
                      <a:r>
                        <a:rPr lang="en-US" sz="1400" i="1" baseline="0" noProof="0" dirty="0" err="1"/>
                        <a:t>coversion</a:t>
                      </a:r>
                      <a:r>
                        <a:rPr lang="en-US" sz="1400" i="1" baseline="0" noProof="0" dirty="0"/>
                        <a:t> of time values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6221436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timeit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timeit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time execution </a:t>
                      </a:r>
                      <a:r>
                        <a:rPr lang="en-US" sz="1400" i="1" baseline="0" noProof="0" dirty="0"/>
                        <a:t>of simple code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7486694"/>
                  </a:ext>
                </a:extLst>
              </a:tr>
              <a:tr h="308634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heapq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use a list as a heap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3771592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671171"/>
              </p:ext>
            </p:extLst>
          </p:nvPr>
        </p:nvGraphicFramePr>
        <p:xfrm>
          <a:off x="6667994" y="1523086"/>
          <a:ext cx="5409375" cy="523127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55088">
                  <a:extLst>
                    <a:ext uri="{9D8B030D-6E8A-4147-A177-3AD203B41FA5}">
                      <a16:colId xmlns:a16="http://schemas.microsoft.com/office/drawing/2014/main" val="2413513230"/>
                    </a:ext>
                  </a:extLst>
                </a:gridCol>
                <a:gridCol w="3054287">
                  <a:extLst>
                    <a:ext uri="{9D8B030D-6E8A-4147-A177-3AD203B41FA5}">
                      <a16:colId xmlns:a16="http://schemas.microsoft.com/office/drawing/2014/main" val="3582344199"/>
                    </a:ext>
                  </a:extLst>
                </a:gridCol>
              </a:tblGrid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Module</a:t>
                      </a:r>
                      <a:r>
                        <a:rPr lang="en-US" sz="1400" baseline="0" noProof="0" dirty="0"/>
                        <a:t> (example functions)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Description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7002"/>
                  </a:ext>
                </a:extLst>
              </a:tr>
              <a:tr h="552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functools</a:t>
                      </a:r>
                      <a:r>
                        <a:rPr lang="en-US" sz="1400" noProof="0" dirty="0"/>
                        <a:t> (cache </a:t>
                      </a:r>
                      <a:r>
                        <a:rPr lang="en-US" sz="1400" noProof="0" dirty="0" err="1"/>
                        <a:t>lru_cache</a:t>
                      </a:r>
                      <a:r>
                        <a:rPr lang="en-US" sz="1400" noProof="0" dirty="0"/>
                        <a:t> </a:t>
                      </a:r>
                      <a:r>
                        <a:rPr lang="en-US" sz="1400" noProof="0" dirty="0" err="1"/>
                        <a:t>total_ordering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higher order functions and decorators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0258304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itertools</a:t>
                      </a:r>
                      <a:r>
                        <a:rPr lang="en-US" sz="1400" noProof="0" dirty="0"/>
                        <a:t> (</a:t>
                      </a:r>
                      <a:r>
                        <a:rPr lang="en-US" sz="1400" noProof="0" dirty="0" err="1"/>
                        <a:t>islice</a:t>
                      </a:r>
                      <a:r>
                        <a:rPr lang="en-US" sz="1400" noProof="0" dirty="0"/>
                        <a:t> permutations)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Iterator tools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362687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collections (Counter deque)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data</a:t>
                      </a:r>
                      <a:r>
                        <a:rPr lang="en-US" sz="1400" i="1" baseline="0" noProof="0" dirty="0"/>
                        <a:t> structures for collections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1962943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builtins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module containing</a:t>
                      </a:r>
                      <a:r>
                        <a:rPr lang="en-US" sz="1400" i="1" baseline="0" noProof="0" dirty="0"/>
                        <a:t> the Python </a:t>
                      </a:r>
                      <a:r>
                        <a:rPr lang="en-US" sz="1400" i="1" baseline="0" noProof="0" dirty="0" err="1"/>
                        <a:t>builtins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9056861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err="1"/>
                        <a:t>os</a:t>
                      </a:r>
                      <a:r>
                        <a:rPr lang="en-US" sz="1400" noProof="0" dirty="0"/>
                        <a:t> (path)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operating system</a:t>
                      </a:r>
                      <a:r>
                        <a:rPr lang="en-US" sz="1400" i="1" baseline="0" noProof="0" dirty="0"/>
                        <a:t> interface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8353291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sys (</a:t>
                      </a:r>
                      <a:r>
                        <a:rPr lang="en-US" sz="1400" noProof="0" dirty="0" err="1"/>
                        <a:t>argv</a:t>
                      </a:r>
                      <a:r>
                        <a:rPr lang="en-US" sz="1400" noProof="0" dirty="0"/>
                        <a:t> path)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system specific functions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23036"/>
                  </a:ext>
                </a:extLst>
              </a:tr>
              <a:tr h="552371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Tkinter</a:t>
                      </a:r>
                      <a:endParaRPr lang="en-US" sz="1400" noProof="0" dirty="0"/>
                    </a:p>
                    <a:p>
                      <a:r>
                        <a:rPr lang="en-US" sz="1400" noProof="0" dirty="0" err="1"/>
                        <a:t>PyQt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graphic user</a:t>
                      </a:r>
                      <a:r>
                        <a:rPr lang="en-US" sz="1400" i="1" baseline="0" noProof="0" dirty="0"/>
                        <a:t> interface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2400109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xml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xml files (</a:t>
                      </a:r>
                      <a:r>
                        <a:rPr lang="en-US" sz="1400" i="1" noProof="0" dirty="0" err="1"/>
                        <a:t>eXtensible</a:t>
                      </a:r>
                      <a:r>
                        <a:rPr lang="en-US" sz="1400" i="1" noProof="0" dirty="0"/>
                        <a:t> Markup Language)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660056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json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JSON (JavaScript Object Notation) files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6221436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csv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comma</a:t>
                      </a:r>
                      <a:r>
                        <a:rPr lang="en-US" sz="1400" i="1" baseline="0" noProof="0" dirty="0"/>
                        <a:t> separated files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5212343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openpyxl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baseline="0" noProof="0" dirty="0"/>
                        <a:t>EXCEL files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6517128"/>
                  </a:ext>
                </a:extLst>
              </a:tr>
              <a:tr h="32492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regular expression, string searching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3163729"/>
                  </a:ext>
                </a:extLst>
              </a:tr>
              <a:tr h="552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string (split</a:t>
                      </a:r>
                      <a:r>
                        <a:rPr lang="en-US" sz="1400" baseline="0" noProof="0" dirty="0"/>
                        <a:t> join</a:t>
                      </a:r>
                      <a:r>
                        <a:rPr lang="en-US" sz="1400" noProof="0" dirty="0"/>
                        <a:t> lower </a:t>
                      </a:r>
                      <a:r>
                        <a:rPr lang="en-US" sz="1400" noProof="0" dirty="0" err="1"/>
                        <a:t>ascii_letters</a:t>
                      </a:r>
                      <a:r>
                        <a:rPr lang="en-US" sz="1400" baseline="0" noProof="0" dirty="0"/>
                        <a:t> </a:t>
                      </a:r>
                      <a:r>
                        <a:rPr lang="en-US" sz="1400" noProof="0" dirty="0"/>
                        <a:t>digits)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1" noProof="0" dirty="0"/>
                        <a:t>string</a:t>
                      </a:r>
                      <a:r>
                        <a:rPr lang="en-US" sz="1400" i="1" baseline="0" noProof="0" dirty="0"/>
                        <a:t> functions</a:t>
                      </a:r>
                      <a:endParaRPr lang="en-US" sz="1400" i="1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537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60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319" y="365125"/>
            <a:ext cx="10515600" cy="898584"/>
          </a:xfrm>
        </p:spPr>
        <p:txBody>
          <a:bodyPr/>
          <a:lstStyle/>
          <a:p>
            <a:r>
              <a:rPr lang="en-US" noProof="0" dirty="0"/>
              <a:t>Ways of importing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m.py</a:t>
            </a:r>
          </a:p>
          <a:p>
            <a:r>
              <a:rPr lang="en-US" noProof="0" dirty="0"/>
              <a:t>m/__init__.py</a:t>
            </a:r>
          </a:p>
          <a:p>
            <a:r>
              <a:rPr lang="en-US" noProof="0" dirty="0"/>
              <a:t>m/__main__.py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256936"/>
              </p:ext>
            </p:extLst>
          </p:nvPr>
        </p:nvGraphicFramePr>
        <p:xfrm>
          <a:off x="372319" y="1204754"/>
          <a:ext cx="11447362" cy="559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736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 a module name in the current namespace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All definitions in the module are available as &lt;module&gt;.&lt;name&gt;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math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 only one or more specific definitions into current namespace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ceil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ceil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2)))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 specific modules/definitions from a module into current namespace under new names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kvadratrod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\</a:t>
                      </a:r>
                      <a:b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logaritme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long import line broken onto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multiple lines</a:t>
                      </a:r>
                      <a:b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logaritme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kvadratrod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(100)))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 all definitions form a module in current namespace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i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Deprecated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since unclear what happens to the namespace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*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where did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'pi' come from?</a:t>
                      </a:r>
                      <a:endParaRPr lang="en-US" sz="14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1.4142135623730951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2.302585092994046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3.141592653589793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9B87005-3E56-6328-F773-D5DB2C6D4D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356" y="4582558"/>
            <a:ext cx="514430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2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1AC0-7BE2-4DC1-9F85-AB546A2F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__all__</a:t>
            </a:r>
            <a:r>
              <a:rPr lang="en-US" noProof="0" dirty="0"/>
              <a:t> vs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import *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C27043-1223-40A7-9D1C-D3FCE1086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612857"/>
              </p:ext>
            </p:extLst>
          </p:nvPr>
        </p:nvGraphicFramePr>
        <p:xfrm>
          <a:off x="252091" y="2820108"/>
          <a:ext cx="7264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440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&lt;built-in function min&gt;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&lt;built-in function sum&gt;</a:t>
                      </a:r>
                      <a:endParaRPr lang="en-US" sz="1400" b="1" i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numpy.min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min at 0x0000024E5DAC71F0&gt;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numpy.sum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sum at 0x0000024E5DAC5D70&gt;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*</a:t>
                      </a:r>
                      <a:endParaRPr lang="en-US" sz="1400" b="1" baseline="0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min at 0x0000024E5DAC71F0&gt;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sum at 0x0000024E5DAC5D70&gt;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__all__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[..., 'min', ..., 'sum', ...]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.__all__) == 500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47CB29-1260-4C4C-A3AA-8585FA059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37" y="1781629"/>
            <a:ext cx="6442860" cy="947537"/>
          </a:xfrm>
        </p:spPr>
        <p:txBody>
          <a:bodyPr/>
          <a:lstStyle/>
          <a:p>
            <a:r>
              <a:rPr lang="en-US" noProof="0" dirty="0"/>
              <a:t>A module can control what is imported by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import *</a:t>
            </a:r>
            <a:r>
              <a:rPr lang="en-US" noProof="0" dirty="0"/>
              <a:t>  by defining 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__all__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95D38DE-1174-4280-BD92-982BCA5F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10812"/>
              </p:ext>
            </p:extLst>
          </p:nvPr>
        </p:nvGraphicFramePr>
        <p:xfrm>
          <a:off x="7767641" y="2484828"/>
          <a:ext cx="417226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2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__all__ 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['</a:t>
                      </a:r>
                      <a:r>
                        <a:rPr lang="en-US" sz="1400" b="1" noProof="0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print('this is f')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noProof="0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print('this is g')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all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all.</a:t>
                      </a:r>
                      <a:r>
                        <a:rPr lang="en-US" sz="1400" b="1" baseline="0" noProof="0" dirty="0" err="1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 is 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all.</a:t>
                      </a:r>
                      <a:r>
                        <a:rPr lang="en-US" sz="1400" b="1" baseline="0" noProof="0" dirty="0" err="1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 is g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all import *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this is f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accent5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1400" b="1" baseline="0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NameError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name 'g' is not defined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86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603" y="3402957"/>
            <a:ext cx="4049691" cy="334116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sqrt </a:t>
            </a:r>
            <a:endParaRPr lang="en-US" sz="2400" noProof="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noProof="0" dirty="0">
                <a:cs typeface="Courier New" panose="02070309020205020404" pitchFamily="49" charset="0"/>
              </a:rPr>
              <a:t>appears to be faster than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endParaRPr lang="en-US" sz="24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569982"/>
              </p:ext>
            </p:extLst>
          </p:nvPr>
        </p:nvGraphicFramePr>
        <p:xfrm>
          <a:off x="4755748" y="480872"/>
          <a:ext cx="6934682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468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sqrt_performance.py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time import time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= time()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sum(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for x in range(10000000))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= time()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end - start)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sqrt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= time()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sum(</a:t>
                      </a:r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for x in range(10000000))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 = time()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print('from math import sqrt', end - start)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test(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sqrt=</a:t>
                      </a:r>
                      <a:r>
                        <a:rPr lang="en-US" sz="1600" b="1" noProof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abuse of keyword argument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start = time()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sum(</a:t>
                      </a:r>
                      <a:r>
                        <a:rPr lang="en-US" sz="16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for x in range(10000000))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 = time()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print('bind sqrt to keyword argument', end - start)  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math.sqrt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0.578895092010498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sqrt </a:t>
                      </a:r>
                      <a:r>
                        <a:rPr lang="en-US" sz="1600" b="1" baseline="0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0.5293216705322266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bind sqrt to keyword argument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0.5723094940185547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61" y="480872"/>
            <a:ext cx="3669174" cy="2366500"/>
          </a:xfrm>
        </p:spPr>
        <p:txBody>
          <a:bodyPr/>
          <a:lstStyle/>
          <a:p>
            <a:pPr algn="ctr"/>
            <a:r>
              <a:rPr lang="en-US" noProof="0" dirty="0"/>
              <a:t>Performance of different ways of importing</a:t>
            </a:r>
          </a:p>
        </p:txBody>
      </p:sp>
    </p:spTree>
    <p:extLst>
      <p:ext uri="{BB962C8B-B14F-4D97-AF65-F5344CB8AC3E}">
        <p14:creationId xmlns:p14="http://schemas.microsoft.com/office/powerpoint/2010/main" val="205776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25"/>
            <a:ext cx="10515600" cy="1325563"/>
          </a:xfrm>
        </p:spPr>
        <p:txBody>
          <a:bodyPr/>
          <a:lstStyle/>
          <a:p>
            <a:r>
              <a:rPr lang="en-US" noProof="0" dirty="0"/>
              <a:t>Listing definitions in a module: </a:t>
            </a:r>
            <a:r>
              <a:rPr lang="en-US" noProof="0" dirty="0" err="1"/>
              <a:t>dir</a:t>
            </a:r>
            <a:r>
              <a:rPr lang="en-US" noProof="0" dirty="0"/>
              <a:t>(</a:t>
            </a:r>
            <a:r>
              <a:rPr lang="en-US" i="1" noProof="0" dirty="0"/>
              <a:t>module</a:t>
            </a:r>
            <a:r>
              <a:rPr lang="en-US" noProof="0" dirty="0"/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656716"/>
              </p:ext>
            </p:extLst>
          </p:nvPr>
        </p:nvGraphicFramePr>
        <p:xfrm>
          <a:off x="327546" y="1131028"/>
          <a:ext cx="11580126" cy="5312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0126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math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(math)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['__doc__', '__loader__', '__name__', '__package__', '__spec__',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acos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acosh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asin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asinh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'atan2',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atanh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cbrt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'ceil', 'comb',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copysign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'cos',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cosh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'degrees',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'e', 'erf',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erfc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'exp', 'exp2', 'expm1', 'fabs', 'factorial', 'floor',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fmod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frexp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fsum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'gamma',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hypot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'inf',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isclose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isfinite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isqrt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'lcm',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ldexp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lgamma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'log', 'log10', 'log1p', 'log2',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modf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'nan',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nextafter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'perm', 'pi', 'pow', 'prod', 'radians', 'remainder', 'sin',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sinh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'sqrt',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sumprod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'tan', 'tanh', 'tau',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ulp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  <a:p>
                      <a:pPr marL="266700" indent="-26670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help(math)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 on built-in module math: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math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DESCRIPTION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030779" y="6508123"/>
            <a:ext cx="5161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https://docs.python.org/3/library/functions.html#dir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885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45912"/>
              </p:ext>
            </p:extLst>
          </p:nvPr>
        </p:nvGraphicFramePr>
        <p:xfrm>
          <a:off x="558395" y="1611299"/>
          <a:ext cx="5329555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9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'''Module double.'''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f(x):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Some doc test code: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f(21)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42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&gt;&gt;&gt; f(7)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14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'''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2 * x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print(f'{__name__ = }')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__name__ 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'__main__'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doctest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doctest.testmod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(verbose=True)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__name__ = __main__</a:t>
                      </a:r>
                      <a:b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 </a:t>
                      </a:r>
                      <a:b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passed and 0 failed.</a:t>
                      </a:r>
                      <a:b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Test passed.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1510" y="4022769"/>
            <a:ext cx="5257800" cy="2602490"/>
          </a:xfrm>
        </p:spPr>
        <p:txBody>
          <a:bodyPr>
            <a:normAutofit fontScale="92500"/>
          </a:bodyPr>
          <a:lstStyle/>
          <a:p>
            <a:r>
              <a:rPr lang="en-US" noProof="0" dirty="0"/>
              <a:t>The variable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noProof="0" dirty="0"/>
              <a:t> contains the name of the module, or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'__main__'</a:t>
            </a:r>
            <a:r>
              <a:rPr lang="en-US" noProof="0" dirty="0"/>
              <a:t>  if the file is run as the main file by the interpreter</a:t>
            </a:r>
          </a:p>
          <a:p>
            <a:r>
              <a:rPr lang="en-US" noProof="0" dirty="0"/>
              <a:t>Can e.g. be used to test a module if the module is run independently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024473"/>
              </p:ext>
            </p:extLst>
          </p:nvPr>
        </p:nvGraphicFramePr>
        <p:xfrm>
          <a:off x="6345632" y="1611299"/>
          <a:ext cx="5329555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9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using_double.py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double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print(f'{__name__ = }')</a:t>
                      </a:r>
                      <a:br>
                        <a:rPr lang="en-US" sz="1400" b="1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double.f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__name__ = 'double'</a:t>
                      </a:r>
                      <a:b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__name__ = '__main__'</a:t>
                      </a:r>
                      <a:br>
                        <a:rPr lang="en-US" sz="1400" b="1" baseline="0" noProof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63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0" y="197977"/>
            <a:ext cx="10515600" cy="1325563"/>
          </a:xfrm>
        </p:spPr>
        <p:txBody>
          <a:bodyPr/>
          <a:lstStyle/>
          <a:p>
            <a:r>
              <a:rPr lang="en-US" noProof="0" dirty="0"/>
              <a:t>module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importlib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07" y="1778730"/>
            <a:ext cx="5788742" cy="4351338"/>
          </a:xfrm>
        </p:spPr>
        <p:txBody>
          <a:bodyPr/>
          <a:lstStyle/>
          <a:p>
            <a:r>
              <a:rPr lang="en-US" noProof="0" dirty="0"/>
              <a:t>Implements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noProof="0" dirty="0"/>
              <a:t> statement </a:t>
            </a:r>
            <a:br>
              <a:rPr lang="en-US" noProof="0" dirty="0"/>
            </a:br>
            <a:r>
              <a:rPr lang="en-US" noProof="0" dirty="0"/>
              <a:t>(Python internal implementation details)</a:t>
            </a:r>
          </a:p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importlib.reload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/>
              <a:t>module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noProof="0" dirty="0"/>
              <a:t> </a:t>
            </a:r>
          </a:p>
          <a:p>
            <a:pPr lvl="1"/>
            <a:r>
              <a:rPr lang="en-US" noProof="0" dirty="0"/>
              <a:t>Reloads a previously imported </a:t>
            </a:r>
            <a:r>
              <a:rPr lang="en-US" i="1" noProof="0" dirty="0"/>
              <a:t>module</a:t>
            </a:r>
            <a:r>
              <a:rPr lang="en-US" noProof="0" dirty="0"/>
              <a:t>. Relevant if you have edited the code </a:t>
            </a:r>
            <a:br>
              <a:rPr lang="en-US" noProof="0" dirty="0"/>
            </a:br>
            <a:r>
              <a:rPr lang="en-US" noProof="0" dirty="0"/>
              <a:t>for the module and want to load the new version in the Python interpreter, without restarting the full program from scratch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46641"/>
              </p:ext>
            </p:extLst>
          </p:nvPr>
        </p:nvGraphicFramePr>
        <p:xfrm>
          <a:off x="6056671" y="703441"/>
          <a:ext cx="5980430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0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 module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a_constant.the_constant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400" b="1" i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Update 7 to 42 in a_constant.py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a_constant.the_constant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new value not reflected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void, module already loaded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a_constant.the_constant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unchanged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importlib</a:t>
                      </a:r>
                      <a:endParaRPr lang="en-US" sz="1400" b="1" baseline="0" noProof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importlib.reload</a:t>
                      </a: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&lt;module '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from 'C:\\...\\a_constant.py'&gt;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a_constant.the_constant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imported attributes are not updated by reload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a_constant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force update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the_constant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the new value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470" y="5317101"/>
            <a:ext cx="514430" cy="4059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925" y="3800377"/>
            <a:ext cx="514430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8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62008" cy="4158987"/>
          </a:xfrm>
        </p:spPr>
        <p:txBody>
          <a:bodyPr/>
          <a:lstStyle/>
          <a:p>
            <a:r>
              <a:rPr lang="en-US" noProof="0" dirty="0"/>
              <a:t>A package is a collection of modules (and subpackages) in a folder = package name</a:t>
            </a:r>
          </a:p>
          <a:p>
            <a:r>
              <a:rPr lang="en-US" noProof="0" dirty="0"/>
              <a:t>Only folders having an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</a:t>
            </a:r>
            <a:r>
              <a:rPr lang="en-US" noProof="0" dirty="0"/>
              <a:t> file are considered packages</a:t>
            </a:r>
          </a:p>
          <a:p>
            <a:r>
              <a:rPr lang="en-US" noProof="0" dirty="0"/>
              <a:t>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 </a:t>
            </a:r>
            <a:r>
              <a:rPr lang="en-US" noProof="0" dirty="0"/>
              <a:t>can be empty, or contain code that will be loaded when the package is imported, e.g. importing specific modules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6112"/>
              </p:ext>
            </p:extLst>
          </p:nvPr>
        </p:nvGraphicFramePr>
        <p:xfrm>
          <a:off x="7848792" y="1690688"/>
          <a:ext cx="413625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25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mypackage/__init__.py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290838"/>
              </p:ext>
            </p:extLst>
          </p:nvPr>
        </p:nvGraphicFramePr>
        <p:xfrm>
          <a:off x="7848792" y="3972932"/>
          <a:ext cx="413625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625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using_mypackage.py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Loading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709313"/>
              </p:ext>
            </p:extLst>
          </p:nvPr>
        </p:nvGraphicFramePr>
        <p:xfrm>
          <a:off x="7848792" y="2557145"/>
          <a:ext cx="414210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1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mypackage/a.py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print('Loading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35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462735"/>
              </p:ext>
            </p:extLst>
          </p:nvPr>
        </p:nvGraphicFramePr>
        <p:xfrm>
          <a:off x="272375" y="1884784"/>
          <a:ext cx="591693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9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81324">
                <a:tc>
                  <a:txBody>
                    <a:bodyPr/>
                    <a:lstStyle/>
                    <a:p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mypackage/__init__.py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174975"/>
                  </a:ext>
                </a:extLst>
              </a:tr>
              <a:tr h="381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print('loading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00649"/>
                  </a:ext>
                </a:extLst>
              </a:tr>
              <a:tr h="381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mypackage/a.py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480056"/>
                  </a:ext>
                </a:extLst>
              </a:tr>
              <a:tr h="95331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print('Loading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71232"/>
                  </a:ext>
                </a:extLst>
              </a:tr>
              <a:tr h="381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mypackage/mysubpackage/__init__.py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92336"/>
                  </a:ext>
                </a:extLst>
              </a:tr>
              <a:tr h="6673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print('loading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03969"/>
                  </a:ext>
                </a:extLst>
              </a:tr>
              <a:tr h="381324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mypackage/mysubpackage/b.py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221438"/>
                  </a:ext>
                </a:extLst>
              </a:tr>
              <a:tr h="953311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print('Loading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mypackage.mysubpackage.b.g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7961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02145"/>
              </p:ext>
            </p:extLst>
          </p:nvPr>
        </p:nvGraphicFramePr>
        <p:xfrm>
          <a:off x="6428899" y="1884784"/>
          <a:ext cx="55073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using_mysubpackage.py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777209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mypackage.mysubpackage.b.g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g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182592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loading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Loading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mypackage.a.f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loading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Loading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mypackage.mysubpackage.b.g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mypackage.mysubpackage.b.g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noProof="0" dirty="0"/>
              <a:t>A package with a subpackage</a:t>
            </a:r>
          </a:p>
        </p:txBody>
      </p:sp>
    </p:spTree>
    <p:extLst>
      <p:ext uri="{BB962C8B-B14F-4D97-AF65-F5344CB8AC3E}">
        <p14:creationId xmlns:p14="http://schemas.microsoft.com/office/powerpoint/2010/main" val="1290951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pycache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 </a:t>
            </a:r>
            <a:r>
              <a:rPr lang="en-US" noProof="0" dirty="0"/>
              <a:t>folder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noProof="0" dirty="0"/>
              <a:t>When Python loads a module the first time it is </a:t>
            </a:r>
            <a:r>
              <a:rPr lang="en-US" i="1" noProof="0" dirty="0">
                <a:solidFill>
                  <a:srgbClr val="C00000"/>
                </a:solidFill>
              </a:rPr>
              <a:t>compiled</a:t>
            </a:r>
            <a:r>
              <a:rPr lang="en-US" noProof="0" dirty="0"/>
              <a:t> to some intermediate code, and stored as a </a:t>
            </a:r>
            <a:r>
              <a:rPr lang="en-US" noProof="0" dirty="0">
                <a:solidFill>
                  <a:srgbClr val="C00000"/>
                </a:solidFill>
              </a:rPr>
              <a:t>.</a:t>
            </a:r>
            <a:r>
              <a:rPr lang="en-US" noProof="0" dirty="0" err="1">
                <a:solidFill>
                  <a:srgbClr val="C00000"/>
                </a:solidFill>
              </a:rPr>
              <a:t>pyc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  <a:r>
              <a:rPr lang="en-US" noProof="0" dirty="0"/>
              <a:t>file in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pycache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 </a:t>
            </a:r>
            <a:r>
              <a:rPr lang="en-US" noProof="0" dirty="0"/>
              <a:t>folder.</a:t>
            </a:r>
          </a:p>
          <a:p>
            <a:r>
              <a:rPr lang="en-US" noProof="0" dirty="0"/>
              <a:t>If a .</a:t>
            </a:r>
            <a:r>
              <a:rPr lang="en-US" noProof="0" dirty="0" err="1"/>
              <a:t>pyc</a:t>
            </a:r>
            <a:r>
              <a:rPr lang="en-US" noProof="0" dirty="0"/>
              <a:t> file exists for a module, and the .</a:t>
            </a:r>
            <a:r>
              <a:rPr lang="en-US" noProof="0" dirty="0" err="1"/>
              <a:t>pyc</a:t>
            </a:r>
            <a:r>
              <a:rPr lang="en-US" noProof="0" dirty="0"/>
              <a:t> file is newer than the .</a:t>
            </a:r>
            <a:r>
              <a:rPr lang="en-US" noProof="0" dirty="0" err="1"/>
              <a:t>py</a:t>
            </a:r>
            <a:r>
              <a:rPr lang="en-US" noProof="0" dirty="0"/>
              <a:t> file, then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noProof="0" dirty="0"/>
              <a:t> loads .</a:t>
            </a:r>
            <a:r>
              <a:rPr lang="en-US" noProof="0" dirty="0" err="1"/>
              <a:t>pyc</a:t>
            </a:r>
            <a:r>
              <a:rPr lang="en-US" noProof="0" dirty="0"/>
              <a:t> – </a:t>
            </a:r>
            <a:r>
              <a:rPr lang="en-US" noProof="0" dirty="0">
                <a:solidFill>
                  <a:srgbClr val="C00000"/>
                </a:solidFill>
              </a:rPr>
              <a:t>saving time </a:t>
            </a:r>
            <a:r>
              <a:rPr lang="en-US" noProof="0" dirty="0"/>
              <a:t>to load the module (but does not make the program itself faster)</a:t>
            </a:r>
          </a:p>
          <a:p>
            <a:r>
              <a:rPr lang="en-US" noProof="0" dirty="0"/>
              <a:t>It is safe to delete the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pycache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noProof="0" dirty="0">
                <a:cs typeface="Courier New" panose="02070309020205020404" pitchFamily="49" charset="0"/>
              </a:rPr>
              <a:t> folder – but it will be created again next time a module is loaded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377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Path to modules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199" y="1479885"/>
            <a:ext cx="11060575" cy="2683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Python searches the following folders for a module in the following order: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 The directory containing the input script / current directory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 </a:t>
            </a:r>
            <a:r>
              <a:rPr lang="en-US" i="1" noProof="0" dirty="0"/>
              <a:t>Environment</a:t>
            </a:r>
            <a:r>
              <a:rPr lang="en-US" noProof="0" dirty="0"/>
              <a:t> variable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PYTHONPATH</a:t>
            </a:r>
          </a:p>
          <a:p>
            <a:pPr marL="514350" indent="-514350">
              <a:buFont typeface="+mj-lt"/>
              <a:buAutoNum type="arabicParenR"/>
            </a:pPr>
            <a:r>
              <a:rPr lang="en-US" noProof="0" dirty="0"/>
              <a:t> Installation defaults</a:t>
            </a:r>
          </a:p>
          <a:p>
            <a:pPr marL="0" indent="0">
              <a:buNone/>
            </a:pPr>
            <a:r>
              <a:rPr lang="en-US" noProof="0" dirty="0"/>
              <a:t>The attribute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noProof="0" dirty="0"/>
              <a:t> in the module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noProof="0" dirty="0"/>
              <a:t> returns a list of the paths</a:t>
            </a:r>
          </a:p>
          <a:p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2" y="4503007"/>
            <a:ext cx="11933929" cy="22347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87254" y="5349313"/>
            <a:ext cx="1288883" cy="51006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1441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Setting PYTHONPATH from windows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5846"/>
            <a:ext cx="10515600" cy="949350"/>
          </a:xfrm>
        </p:spPr>
        <p:txBody>
          <a:bodyPr>
            <a:normAutofit/>
          </a:bodyPr>
          <a:lstStyle/>
          <a:p>
            <a:r>
              <a:rPr lang="en-US" noProof="0" dirty="0"/>
              <a:t>set PYTHONPATH=</a:t>
            </a:r>
            <a:r>
              <a:rPr lang="en-US" i="1" noProof="0" dirty="0"/>
              <a:t>paths separated by semicolon</a:t>
            </a:r>
            <a:br>
              <a:rPr lang="en-US" i="1" noProof="0" dirty="0"/>
            </a:br>
            <a:r>
              <a:rPr lang="en-US" noProof="0" dirty="0"/>
              <a:t>(only valid until shell is closed)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510331"/>
            <a:ext cx="9867900" cy="40005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53832" y="3447690"/>
            <a:ext cx="5231757" cy="5903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/>
          <p:cNvSpPr/>
          <p:nvPr/>
        </p:nvSpPr>
        <p:spPr>
          <a:xfrm>
            <a:off x="1208350" y="4703353"/>
            <a:ext cx="1699551" cy="5903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512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4846"/>
          <a:stretch/>
        </p:blipFill>
        <p:spPr>
          <a:xfrm>
            <a:off x="395648" y="2246092"/>
            <a:ext cx="10544175" cy="46755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Setting PYTHONPATH from control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878"/>
            <a:ext cx="10979552" cy="674507"/>
          </a:xfrm>
        </p:spPr>
        <p:txBody>
          <a:bodyPr>
            <a:normAutofit fontScale="92500" lnSpcReduction="20000"/>
          </a:bodyPr>
          <a:lstStyle/>
          <a:p>
            <a:r>
              <a:rPr lang="en-US" noProof="0" dirty="0"/>
              <a:t>Control panel &gt; System &gt; Advanced system settings &gt; Environment Variables  &gt; User variables &gt; Edit or New PYTHONPATH</a:t>
            </a:r>
          </a:p>
        </p:txBody>
      </p:sp>
      <p:sp>
        <p:nvSpPr>
          <p:cNvPr id="7" name="Oval 6"/>
          <p:cNvSpPr/>
          <p:nvPr/>
        </p:nvSpPr>
        <p:spPr>
          <a:xfrm>
            <a:off x="212927" y="4884516"/>
            <a:ext cx="2877514" cy="49016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763" y="3038223"/>
            <a:ext cx="3186744" cy="36858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778" y="3038223"/>
            <a:ext cx="3350779" cy="367749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048847" y="5856788"/>
            <a:ext cx="1479660" cy="50928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Oval 11"/>
          <p:cNvSpPr/>
          <p:nvPr/>
        </p:nvSpPr>
        <p:spPr>
          <a:xfrm>
            <a:off x="8551657" y="3201231"/>
            <a:ext cx="1147928" cy="3723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/>
          <p:cNvSpPr/>
          <p:nvPr/>
        </p:nvSpPr>
        <p:spPr>
          <a:xfrm>
            <a:off x="10275322" y="4467139"/>
            <a:ext cx="1147928" cy="3723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265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362103"/>
              </p:ext>
            </p:extLst>
          </p:nvPr>
        </p:nvGraphicFramePr>
        <p:xfrm>
          <a:off x="1055576" y="220338"/>
          <a:ext cx="10077887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788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42355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014378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this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Zen of Python, by Tim Peters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Beautiful is better than ugly.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Explicit is better than implicit.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Simple is better than complex.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Complex is better than complicated.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Flat is better than nested.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Sparse is better than dense.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Readability counts.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Special cases aren't special enough to break the rules.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Although practicality beats purity.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Errors should never pass silently.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Unless explicitly silenced.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 the face of ambiguity, refuse the temptation to guess.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There should be one-- and preferably only one --obvious way to do it.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Although that way may not be obvious at first unless you're Dutch.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 is better than never.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Although never is often better than *right* now.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the implementation is hard to explain, it's a bad idea.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the implementation is easy to explain, it may be a good idea.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Namespaces are one honking great idea -- let's do more of those!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047" y="220338"/>
            <a:ext cx="381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solidFill>
                  <a:schemeClr val="bg1"/>
                </a:solidFill>
              </a:rPr>
              <a:t>www.python.org/dev/peps/pep-0020/</a:t>
            </a:r>
          </a:p>
        </p:txBody>
      </p:sp>
    </p:spTree>
    <p:extLst>
      <p:ext uri="{BB962C8B-B14F-4D97-AF65-F5344CB8AC3E}">
        <p14:creationId xmlns:p14="http://schemas.microsoft.com/office/powerpoint/2010/main" val="299915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689" y="366912"/>
            <a:ext cx="10515600" cy="1325563"/>
          </a:xfrm>
        </p:spPr>
        <p:txBody>
          <a:bodyPr/>
          <a:lstStyle/>
          <a:p>
            <a:r>
              <a:rPr lang="en-US" noProof="0" dirty="0"/>
              <a:t>module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heapq</a:t>
            </a:r>
            <a:r>
              <a:rPr lang="en-US" b="0" noProof="0" dirty="0">
                <a:cs typeface="Courier New" panose="02070309020205020404" pitchFamily="49" charset="0"/>
              </a:rPr>
              <a:t> (Priority Queue)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09509" cy="4351338"/>
          </a:xfrm>
        </p:spPr>
        <p:txBody>
          <a:bodyPr/>
          <a:lstStyle/>
          <a:p>
            <a:r>
              <a:rPr lang="en-US" noProof="0" dirty="0"/>
              <a:t>Implements a binary </a:t>
            </a:r>
            <a:r>
              <a:rPr lang="en-US" b="1" noProof="0" dirty="0">
                <a:solidFill>
                  <a:srgbClr val="C00000"/>
                </a:solidFill>
              </a:rPr>
              <a:t>heap</a:t>
            </a:r>
            <a:r>
              <a:rPr lang="en-US" noProof="0" dirty="0"/>
              <a:t> (Williams 1964).</a:t>
            </a:r>
          </a:p>
          <a:p>
            <a:r>
              <a:rPr lang="en-US" noProof="0" dirty="0"/>
              <a:t>Stores a set of elements in a standard list, where arbitrary elements can be inserted efficiently and the </a:t>
            </a:r>
            <a:r>
              <a:rPr lang="en-US" i="1" noProof="0" dirty="0"/>
              <a:t>smallest element </a:t>
            </a:r>
            <a:r>
              <a:rPr lang="en-US" noProof="0" dirty="0"/>
              <a:t>can be extracted efficiently</a:t>
            </a:r>
          </a:p>
          <a:p>
            <a:endParaRPr lang="en-US" noProof="0" dirty="0"/>
          </a:p>
          <a:p>
            <a:pPr marL="457200" lvl="1" indent="0">
              <a:buNone/>
            </a:pP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heapq.heappush</a:t>
            </a:r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heapq.heappop</a:t>
            </a: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8993"/>
              </p:ext>
            </p:extLst>
          </p:nvPr>
        </p:nvGraphicFramePr>
        <p:xfrm>
          <a:off x="7968597" y="233762"/>
          <a:ext cx="4011930" cy="719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9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</a:t>
                      </a:r>
                      <a:endParaRPr lang="en-US" sz="14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random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 = []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 heap is just a list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_ in range(10):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heapq.heappush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(H, random())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heapq.heappop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(H)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print(x)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heapq.heappush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(H, x + random())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0.20569933892764458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0.27057819339616174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0.31115615362876237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0.4841062272152259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0.5054280956005357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0.509387117524076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0.598647195480462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0.7035150735555027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0.7073929685826221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0.7091224012815325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0.714213496127318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0.727868481291271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0.8051275413759873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0.8279523767282903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0.8626022363202895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0.9376631236263869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0.9378490058037452</a:t>
                      </a:r>
                      <a:b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1.0444967889759456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4172" y="6123041"/>
            <a:ext cx="3784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docs.python.org/3/library/heapq.html</a:t>
            </a:r>
            <a:endParaRPr lang="en-US" noProof="0" dirty="0"/>
          </a:p>
        </p:txBody>
      </p:sp>
      <p:sp>
        <p:nvSpPr>
          <p:cNvPr id="6" name="Rectangle 5"/>
          <p:cNvSpPr/>
          <p:nvPr/>
        </p:nvSpPr>
        <p:spPr>
          <a:xfrm>
            <a:off x="104172" y="6438451"/>
            <a:ext cx="7680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J. W. J. Williams. </a:t>
            </a:r>
            <a:r>
              <a:rPr lang="en-US" i="1" noProof="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Algorithm 232: Heapsort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. Communications of the ACM (1964)</a:t>
            </a:r>
            <a:endParaRPr lang="en-US" noProof="0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41382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Valid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72" y="1945176"/>
            <a:ext cx="5506310" cy="3366441"/>
          </a:xfrm>
        </p:spPr>
        <p:txBody>
          <a:bodyPr>
            <a:normAutofit/>
          </a:bodyPr>
          <a:lstStyle/>
          <a:p>
            <a:r>
              <a:rPr lang="en-US" noProof="0" dirty="0"/>
              <a:t>A </a:t>
            </a:r>
            <a:r>
              <a:rPr lang="en-US" i="1" noProof="0" dirty="0"/>
              <a:t>valid heap</a:t>
            </a:r>
            <a:r>
              <a:rPr lang="en-US" noProof="0" dirty="0"/>
              <a:t> is a list satisfying the internal property</a:t>
            </a:r>
            <a:r>
              <a:rPr lang="en-US" dirty="0"/>
              <a:t> </a:t>
            </a:r>
            <a:r>
              <a:rPr lang="en-US" noProof="0" dirty="0"/>
              <a:t>that for all i:</a:t>
            </a:r>
          </a:p>
          <a:p>
            <a:pPr marL="0" indent="0">
              <a:buNone/>
            </a:pPr>
            <a:r>
              <a:rPr lang="en-US" noProof="0" dirty="0"/>
              <a:t>       L[i] ≤ L[2∙i +1] and L[i] ≤ L[2∙i + 2]</a:t>
            </a:r>
          </a:p>
          <a:p>
            <a:endParaRPr lang="en-US" b="1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(L)</a:t>
            </a:r>
            <a:r>
              <a:rPr lang="en-US" noProof="0" dirty="0"/>
              <a:t> rearranges the elements in a list to make the </a:t>
            </a:r>
            <a:br>
              <a:rPr lang="en-US" noProof="0" dirty="0"/>
            </a:br>
            <a:r>
              <a:rPr lang="en-US" noProof="0" dirty="0"/>
              <a:t>list a valid heap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34466"/>
              </p:ext>
            </p:extLst>
          </p:nvPr>
        </p:nvGraphicFramePr>
        <p:xfrm>
          <a:off x="5995398" y="1165047"/>
          <a:ext cx="5910580" cy="4708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0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6412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34317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randint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20) for _ in range(10)]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just random numbers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[18, 1, 15, 17, 4, 14, 11, 3, 4,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heapq.heapify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make L a valid heap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3, 11, 4, 4, 14, 15, 17, 18,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heapq.heappop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[3, 4, 11, 4, 9, 14, 15, 17, 18]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heapq.heappush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7)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[3, 4, 11, 4, 7, 14, 15, 17, 18, 9]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6533765" y="3258948"/>
            <a:ext cx="4347669" cy="688457"/>
            <a:chOff x="6582926" y="3740728"/>
            <a:chExt cx="4347669" cy="688457"/>
          </a:xfrm>
        </p:grpSpPr>
        <p:sp>
          <p:nvSpPr>
            <p:cNvPr id="10" name="Arc 9"/>
            <p:cNvSpPr/>
            <p:nvPr/>
          </p:nvSpPr>
          <p:spPr>
            <a:xfrm>
              <a:off x="6582926" y="3952861"/>
              <a:ext cx="405218" cy="157316"/>
            </a:xfrm>
            <a:prstGeom prst="arc">
              <a:avLst>
                <a:gd name="adj1" fmla="val 11015704"/>
                <a:gd name="adj2" fmla="val 2120593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Arc 10"/>
            <p:cNvSpPr/>
            <p:nvPr/>
          </p:nvSpPr>
          <p:spPr>
            <a:xfrm>
              <a:off x="6582926" y="3880092"/>
              <a:ext cx="954190" cy="336192"/>
            </a:xfrm>
            <a:prstGeom prst="arc">
              <a:avLst>
                <a:gd name="adj1" fmla="val 11015704"/>
                <a:gd name="adj2" fmla="val 21316143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Arc 11"/>
            <p:cNvSpPr/>
            <p:nvPr/>
          </p:nvSpPr>
          <p:spPr>
            <a:xfrm>
              <a:off x="7041290" y="3873285"/>
              <a:ext cx="911131" cy="336192"/>
            </a:xfrm>
            <a:prstGeom prst="arc">
              <a:avLst>
                <a:gd name="adj1" fmla="val 11015704"/>
                <a:gd name="adj2" fmla="val 21477415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Arc 12"/>
            <p:cNvSpPr/>
            <p:nvPr/>
          </p:nvSpPr>
          <p:spPr>
            <a:xfrm>
              <a:off x="7041290" y="3829108"/>
              <a:ext cx="1322612" cy="441170"/>
            </a:xfrm>
            <a:prstGeom prst="arc">
              <a:avLst>
                <a:gd name="adj1" fmla="val 11015704"/>
                <a:gd name="adj2" fmla="val 21467681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Arc 13"/>
            <p:cNvSpPr/>
            <p:nvPr/>
          </p:nvSpPr>
          <p:spPr>
            <a:xfrm>
              <a:off x="7537117" y="3824952"/>
              <a:ext cx="1313078" cy="441170"/>
            </a:xfrm>
            <a:prstGeom prst="arc">
              <a:avLst>
                <a:gd name="adj1" fmla="val 11015704"/>
                <a:gd name="adj2" fmla="val 21467681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Arc 14"/>
            <p:cNvSpPr/>
            <p:nvPr/>
          </p:nvSpPr>
          <p:spPr>
            <a:xfrm>
              <a:off x="7537116" y="3764828"/>
              <a:ext cx="1853405" cy="571951"/>
            </a:xfrm>
            <a:prstGeom prst="arc">
              <a:avLst>
                <a:gd name="adj1" fmla="val 11015704"/>
                <a:gd name="adj2" fmla="val 21467681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Arc 15"/>
            <p:cNvSpPr/>
            <p:nvPr/>
          </p:nvSpPr>
          <p:spPr>
            <a:xfrm>
              <a:off x="7992931" y="3784224"/>
              <a:ext cx="1929606" cy="571951"/>
            </a:xfrm>
            <a:prstGeom prst="arc">
              <a:avLst>
                <a:gd name="adj1" fmla="val 11015704"/>
                <a:gd name="adj2" fmla="val 21417877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Arc 16"/>
            <p:cNvSpPr/>
            <p:nvPr/>
          </p:nvSpPr>
          <p:spPr>
            <a:xfrm>
              <a:off x="7980719" y="3740728"/>
              <a:ext cx="2519810" cy="688457"/>
            </a:xfrm>
            <a:prstGeom prst="arc">
              <a:avLst>
                <a:gd name="adj1" fmla="val 11015704"/>
                <a:gd name="adj2" fmla="val 21417877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Arc 17"/>
            <p:cNvSpPr/>
            <p:nvPr/>
          </p:nvSpPr>
          <p:spPr>
            <a:xfrm>
              <a:off x="8410785" y="3740728"/>
              <a:ext cx="2519810" cy="688457"/>
            </a:xfrm>
            <a:prstGeom prst="arc">
              <a:avLst>
                <a:gd name="adj1" fmla="val 11015704"/>
                <a:gd name="adj2" fmla="val 21417877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7254EC2-946E-4C24-AF46-E0062D627CAB}"/>
              </a:ext>
            </a:extLst>
          </p:cNvPr>
          <p:cNvSpPr/>
          <p:nvPr/>
        </p:nvSpPr>
        <p:spPr>
          <a:xfrm>
            <a:off x="104172" y="6438451"/>
            <a:ext cx="7680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2"/>
              </a:rPr>
              <a:t>J. W. J. Williams. </a:t>
            </a:r>
            <a:r>
              <a:rPr lang="en-US" i="1" noProof="0" dirty="0">
                <a:solidFill>
                  <a:schemeClr val="bg1">
                    <a:lumMod val="50000"/>
                  </a:schemeClr>
                </a:solidFill>
                <a:hlinkClick r:id="rId2"/>
              </a:rPr>
              <a:t>Algorithm 232: Heapsort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2"/>
              </a:rPr>
              <a:t>. Communications of the ACM (1964)</a:t>
            </a:r>
            <a:endParaRPr lang="en-US" noProof="0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612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AA79B8A-015E-5C59-5902-58561DF32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732" y="462010"/>
            <a:ext cx="4667065" cy="5714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heapq</a:t>
            </a:r>
            <a:r>
              <a:rPr lang="en-US" noProof="0" dirty="0"/>
              <a:t> ?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25625"/>
            <a:ext cx="59792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noProof="0" dirty="0"/>
              <a:t> on a list take </a:t>
            </a:r>
            <a:r>
              <a:rPr lang="en-US" i="1" noProof="0" dirty="0"/>
              <a:t>linear time</a:t>
            </a:r>
            <a:r>
              <a:rPr lang="en-US" noProof="0" dirty="0"/>
              <a:t> (runs through the whole list)</a:t>
            </a:r>
          </a:p>
          <a:p>
            <a:pPr>
              <a:spcBef>
                <a:spcPts val="1800"/>
              </a:spcBef>
            </a:pPr>
            <a:r>
              <a:rPr lang="en-US" noProof="0" dirty="0" err="1"/>
              <a:t>heapq</a:t>
            </a:r>
            <a:r>
              <a:rPr lang="en-US" noProof="0" dirty="0"/>
              <a:t> supports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heappush</a:t>
            </a:r>
            <a:r>
              <a:rPr lang="en-US" noProof="0" dirty="0"/>
              <a:t> and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heappop</a:t>
            </a:r>
            <a:r>
              <a:rPr lang="en-US" noProof="0" dirty="0"/>
              <a:t> in </a:t>
            </a:r>
            <a:r>
              <a:rPr lang="en-US" i="1" noProof="0" dirty="0"/>
              <a:t>logarithmic time</a:t>
            </a:r>
          </a:p>
          <a:p>
            <a:pPr>
              <a:spcBef>
                <a:spcPts val="1800"/>
              </a:spcBef>
            </a:pPr>
            <a:r>
              <a:rPr lang="en-US" noProof="0" dirty="0"/>
              <a:t>For lists of </a:t>
            </a:r>
            <a:r>
              <a:rPr lang="en-US" noProof="0"/>
              <a:t>length 100.000.000 </a:t>
            </a:r>
            <a:r>
              <a:rPr lang="en-US" noProof="0" dirty="0"/>
              <a:t>the performance gain is a </a:t>
            </a:r>
            <a:r>
              <a:rPr lang="en-US" noProof="0" dirty="0">
                <a:solidFill>
                  <a:srgbClr val="C00000"/>
                </a:solidFill>
              </a:rPr>
              <a:t>factor 200.000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C00000"/>
                </a:solidFill>
              </a:rPr>
              <a:t>If you need to maintain the minimum of large set, perhaps </a:t>
            </a:r>
            <a:r>
              <a:rPr lang="en-US" dirty="0" err="1">
                <a:solidFill>
                  <a:srgbClr val="C00000"/>
                </a:solidFill>
              </a:rPr>
              <a:t>heapq</a:t>
            </a:r>
            <a:r>
              <a:rPr lang="en-US" dirty="0">
                <a:solidFill>
                  <a:srgbClr val="C00000"/>
                </a:solidFill>
              </a:rPr>
              <a:t> can help solving your problem efficiently</a:t>
            </a:r>
            <a:endParaRPr lang="en-US" noProof="0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247" y="1653394"/>
            <a:ext cx="487666" cy="4059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E1DB06-B049-075A-BA23-D831E3274BDD}"/>
              </a:ext>
            </a:extLst>
          </p:cNvPr>
          <p:cNvSpPr/>
          <p:nvPr/>
        </p:nvSpPr>
        <p:spPr>
          <a:xfrm>
            <a:off x="104172" y="6438451"/>
            <a:ext cx="7680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J. W. J. Williams. </a:t>
            </a:r>
            <a:r>
              <a:rPr lang="en-US" i="1" noProof="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Algorithm 232: Heapsort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. Communications of the ACM (1964)</a:t>
            </a:r>
            <a:endParaRPr lang="en-US" noProof="0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005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61069"/>
              </p:ext>
            </p:extLst>
          </p:nvPr>
        </p:nvGraphicFramePr>
        <p:xfrm>
          <a:off x="438279" y="252776"/>
          <a:ext cx="11367135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2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6294755">
                  <a:extLst>
                    <a:ext uri="{9D8B030D-6E8A-4147-A177-3AD203B41FA5}">
                      <a16:colId xmlns:a16="http://schemas.microsoft.com/office/drawing/2014/main" val="1863524865"/>
                    </a:ext>
                  </a:extLst>
                </a:gridCol>
              </a:tblGrid>
              <a:tr h="287562">
                <a:tc gridSpan="2"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heap_performance.py (generating plot on previous slide)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725091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random import random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time import time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garbage collection</a:t>
                      </a:r>
                    </a:p>
                    <a:p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size = []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time_heap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[]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time_list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[]</a:t>
                      </a:r>
                    </a:p>
                    <a:p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in range(28):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n = 2 ** i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size.append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</a:t>
                      </a:r>
                    </a:p>
                    <a:p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 = [random() for _ in range(n)]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 = max(1, 2 ** 23 // n)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gc.collect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start = time()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_ in range(R):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L.append</a:t>
                      </a:r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(random())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= min(L)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L.remove</a:t>
                      </a:r>
                      <a:r>
                        <a:rPr lang="en-US" sz="1600" b="1" noProof="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 = time()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time_list.append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((end - start) / R)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 = None  # avoid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MemoryError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 = [random() for _ in range(n)]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heapq.heapify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make L a legal heap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gc.collect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start = time()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_ in range(100000):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heapq.heappush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random())</a:t>
                      </a:r>
                    </a:p>
                    <a:p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heapq.heappop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 = time()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time_heap.append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((end - start) / 100000)</a:t>
                      </a:r>
                    </a:p>
                    <a:p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('Average time for insert + delete min')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plt.xlabel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('list size')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plt.ylabel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('time (seconds)')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(size,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time_list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'b.-', 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label='list (append, min, remove)')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(size,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time_heap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'r.-', 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label='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heapq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heappush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heappop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plt.loglog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plt.legend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5752620" y="625032"/>
            <a:ext cx="252000" cy="25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698339" y="4564281"/>
            <a:ext cx="252000" cy="25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5769979" y="1383172"/>
            <a:ext cx="252000" cy="25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154635" y="5590573"/>
            <a:ext cx="4894611" cy="1154162"/>
            <a:chOff x="7432431" y="5694745"/>
            <a:chExt cx="4639965" cy="1154162"/>
          </a:xfrm>
        </p:grpSpPr>
        <p:sp>
          <p:nvSpPr>
            <p:cNvPr id="4" name="TextBox 3"/>
            <p:cNvSpPr txBox="1"/>
            <p:nvPr/>
          </p:nvSpPr>
          <p:spPr>
            <a:xfrm>
              <a:off x="7432431" y="5694745"/>
              <a:ext cx="4639965" cy="11541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358775">
                <a:spcAft>
                  <a:spcPts val="600"/>
                </a:spcAft>
                <a:buClr>
                  <a:srgbClr val="C00000"/>
                </a:buClr>
              </a:pPr>
              <a:r>
                <a:rPr lang="en-US" sz="1600" noProof="0" dirty="0"/>
                <a:t>Avoid out of memory error for largest experiment, by allowing old </a:t>
              </a:r>
              <a:r>
                <a:rPr lang="en-US" sz="1600" b="1" noProof="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  <a:r>
                <a:rPr lang="en-US" sz="1600" noProof="0" dirty="0"/>
                <a:t> to be garbage collected</a:t>
              </a:r>
            </a:p>
            <a:p>
              <a:pPr marL="358775">
                <a:buClr>
                  <a:srgbClr val="C00000"/>
                </a:buClr>
              </a:pPr>
              <a:r>
                <a:rPr lang="en-US" sz="1600" noProof="0" dirty="0"/>
                <a:t>Reduce noise in experiments by forcing Python garbage collection before measurement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25030" y="5758405"/>
              <a:ext cx="252000" cy="25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536605" y="6291228"/>
              <a:ext cx="252000" cy="2520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B</a:t>
              </a: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50006" y="6375002"/>
              <a:ext cx="487666" cy="405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5542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51829</TotalTime>
  <Words>3277</Words>
  <Application>Microsoft Office PowerPoint</Application>
  <PresentationFormat>Widescreen</PresentationFormat>
  <Paragraphs>477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Wingdings</vt:lpstr>
      <vt:lpstr>Office Theme</vt:lpstr>
      <vt:lpstr>Modules and packages</vt:lpstr>
      <vt:lpstr>Python modules and packages</vt:lpstr>
      <vt:lpstr>Defining and importing a module</vt:lpstr>
      <vt:lpstr>Some modules mentioned in the course</vt:lpstr>
      <vt:lpstr>Ways of importing modules</vt:lpstr>
      <vt:lpstr>__all__ vs import *</vt:lpstr>
      <vt:lpstr>Performance of different ways of importing</vt:lpstr>
      <vt:lpstr>Listing definitions in a module: dir(module)</vt:lpstr>
      <vt:lpstr>__name__</vt:lpstr>
      <vt:lpstr>module importlib</vt:lpstr>
      <vt:lpstr>Packages</vt:lpstr>
      <vt:lpstr>A package with a subpackage</vt:lpstr>
      <vt:lpstr>__pycache__ folder</vt:lpstr>
      <vt:lpstr>Path to modules</vt:lpstr>
      <vt:lpstr>Setting PYTHONPATH from windows shell</vt:lpstr>
      <vt:lpstr>Setting PYTHONPATH from control panel</vt:lpstr>
      <vt:lpstr>PowerPoint Presentation</vt:lpstr>
      <vt:lpstr>module heapq (Priority Queue)</vt:lpstr>
      <vt:lpstr>Valid heap</vt:lpstr>
      <vt:lpstr>Why heapq ?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1733</cp:revision>
  <dcterms:created xsi:type="dcterms:W3CDTF">2017-10-19T06:54:16Z</dcterms:created>
  <dcterms:modified xsi:type="dcterms:W3CDTF">2026-04-19T20:49:00Z</dcterms:modified>
</cp:coreProperties>
</file>