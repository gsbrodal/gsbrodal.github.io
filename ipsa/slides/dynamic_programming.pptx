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68" r:id="rId2"/>
    <p:sldId id="760" r:id="rId3"/>
    <p:sldId id="761" r:id="rId4"/>
    <p:sldId id="591" r:id="rId5"/>
    <p:sldId id="765" r:id="rId6"/>
    <p:sldId id="766" r:id="rId7"/>
    <p:sldId id="778" r:id="rId8"/>
    <p:sldId id="768" r:id="rId9"/>
    <p:sldId id="713" r:id="rId10"/>
    <p:sldId id="770" r:id="rId11"/>
    <p:sldId id="771" r:id="rId12"/>
    <p:sldId id="772" r:id="rId13"/>
    <p:sldId id="773" r:id="rId14"/>
    <p:sldId id="774" r:id="rId15"/>
    <p:sldId id="775" r:id="rId16"/>
    <p:sldId id="777" r:id="rId17"/>
    <p:sldId id="769" r:id="rId18"/>
    <p:sldId id="776" r:id="rId19"/>
    <p:sldId id="779" r:id="rId20"/>
    <p:sldId id="762" r:id="rId21"/>
    <p:sldId id="763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000000"/>
    <a:srgbClr val="FFF2CC"/>
    <a:srgbClr val="FFA7A7"/>
    <a:srgbClr val="DEEBF7"/>
    <a:srgbClr val="E2F0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24081E-5DBD-4F84-82FA-7B60D6FA1DED}" v="23" dt="2026-03-18T08:46:59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0" autoAdjust="0"/>
    <p:restoredTop sz="65100" autoAdjust="0"/>
  </p:normalViewPr>
  <p:slideViewPr>
    <p:cSldViewPr snapToGrid="0">
      <p:cViewPr>
        <p:scale>
          <a:sx n="66" d="100"/>
          <a:sy n="66" d="100"/>
        </p:scale>
        <p:origin x="580" y="-804"/>
      </p:cViewPr>
      <p:guideLst/>
    </p:cSldViewPr>
  </p:slideViewPr>
  <p:outlineViewPr>
    <p:cViewPr>
      <p:scale>
        <a:sx n="33" d="100"/>
        <a:sy n="33" d="100"/>
      </p:scale>
      <p:origin x="0" y="-680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th Stølting Brodal" userId="04ef4784-6591-4f86-a140-f5c3b108582a" providerId="ADAL" clId="{73BAC7D6-516A-44B5-B4B0-C7B08CA8B392}"/>
    <pc:docChg chg="custSel modSld">
      <pc:chgData name="Gerth Stølting Brodal" userId="04ef4784-6591-4f86-a140-f5c3b108582a" providerId="ADAL" clId="{73BAC7D6-516A-44B5-B4B0-C7B08CA8B392}" dt="2026-03-18T08:47:02.450" v="254" actId="14100"/>
      <pc:docMkLst>
        <pc:docMk/>
      </pc:docMkLst>
      <pc:sldChg chg="modSp mod">
        <pc:chgData name="Gerth Stølting Brodal" userId="04ef4784-6591-4f86-a140-f5c3b108582a" providerId="ADAL" clId="{73BAC7D6-516A-44B5-B4B0-C7B08CA8B392}" dt="2026-03-18T07:27:39.981" v="23" actId="6549"/>
        <pc:sldMkLst>
          <pc:docMk/>
          <pc:sldMk cId="2336252860" sldId="713"/>
        </pc:sldMkLst>
        <pc:spChg chg="mod">
          <ac:chgData name="Gerth Stølting Brodal" userId="04ef4784-6591-4f86-a140-f5c3b108582a" providerId="ADAL" clId="{73BAC7D6-516A-44B5-B4B0-C7B08CA8B392}" dt="2026-03-18T07:27:39.981" v="23" actId="6549"/>
          <ac:spMkLst>
            <pc:docMk/>
            <pc:sldMk cId="2336252860" sldId="713"/>
            <ac:spMk id="3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18T06:47:26.756" v="21" actId="1582"/>
        <pc:sldMkLst>
          <pc:docMk/>
          <pc:sldMk cId="1817916657" sldId="760"/>
        </pc:sldMkLst>
        <pc:spChg chg="mod">
          <ac:chgData name="Gerth Stølting Brodal" userId="04ef4784-6591-4f86-a140-f5c3b108582a" providerId="ADAL" clId="{73BAC7D6-516A-44B5-B4B0-C7B08CA8B392}" dt="2026-03-18T06:47:26.756" v="21" actId="1582"/>
          <ac:spMkLst>
            <pc:docMk/>
            <pc:sldMk cId="1817916657" sldId="760"/>
            <ac:spMk id="11" creationId="{00000000-0000-0000-0000-000000000000}"/>
          </ac:spMkLst>
        </pc:spChg>
      </pc:sldChg>
      <pc:sldChg chg="modSp mod modNotesTx">
        <pc:chgData name="Gerth Stølting Brodal" userId="04ef4784-6591-4f86-a140-f5c3b108582a" providerId="ADAL" clId="{73BAC7D6-516A-44B5-B4B0-C7B08CA8B392}" dt="2026-03-18T06:34:24.431" v="4" actId="20577"/>
        <pc:sldMkLst>
          <pc:docMk/>
          <pc:sldMk cId="1651261074" sldId="768"/>
        </pc:sldMkLst>
        <pc:spChg chg="mod">
          <ac:chgData name="Gerth Stølting Brodal" userId="04ef4784-6591-4f86-a140-f5c3b108582a" providerId="ADAL" clId="{73BAC7D6-516A-44B5-B4B0-C7B08CA8B392}" dt="2026-03-18T06:34:24.431" v="4" actId="20577"/>
          <ac:spMkLst>
            <pc:docMk/>
            <pc:sldMk cId="1651261074" sldId="768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8T07:40:41.415" v="35" actId="20577"/>
        <pc:sldMkLst>
          <pc:docMk/>
          <pc:sldMk cId="426845446" sldId="776"/>
        </pc:sldMkLst>
        <pc:spChg chg="mod">
          <ac:chgData name="Gerth Stølting Brodal" userId="04ef4784-6591-4f86-a140-f5c3b108582a" providerId="ADAL" clId="{73BAC7D6-516A-44B5-B4B0-C7B08CA8B392}" dt="2026-03-18T07:40:41.415" v="35" actId="20577"/>
          <ac:spMkLst>
            <pc:docMk/>
            <pc:sldMk cId="426845446" sldId="776"/>
            <ac:spMk id="3" creationId="{00000000-0000-0000-0000-000000000000}"/>
          </ac:spMkLst>
        </pc:spChg>
      </pc:sldChg>
      <pc:sldChg chg="modSp mod">
        <pc:chgData name="Gerth Stølting Brodal" userId="04ef4784-6591-4f86-a140-f5c3b108582a" providerId="ADAL" clId="{73BAC7D6-516A-44B5-B4B0-C7B08CA8B392}" dt="2026-03-18T08:47:02.450" v="254" actId="14100"/>
        <pc:sldMkLst>
          <pc:docMk/>
          <pc:sldMk cId="2179044661" sldId="779"/>
        </pc:sldMkLst>
        <pc:spChg chg="mod">
          <ac:chgData name="Gerth Stølting Brodal" userId="04ef4784-6591-4f86-a140-f5c3b108582a" providerId="ADAL" clId="{73BAC7D6-516A-44B5-B4B0-C7B08CA8B392}" dt="2026-03-18T08:47:02.450" v="254" actId="14100"/>
          <ac:spMkLst>
            <pc:docMk/>
            <pc:sldMk cId="2179044661" sldId="779"/>
            <ac:spMk id="3" creationId="{00000000-0000-0000-0000-000000000000}"/>
          </ac:spMkLst>
        </pc:spChg>
        <pc:spChg chg="mod">
          <ac:chgData name="Gerth Stølting Brodal" userId="04ef4784-6591-4f86-a140-f5c3b108582a" providerId="ADAL" clId="{73BAC7D6-516A-44B5-B4B0-C7B08CA8B392}" dt="2026-03-18T08:46:52.690" v="251" actId="20577"/>
          <ac:spMkLst>
            <pc:docMk/>
            <pc:sldMk cId="2179044661" sldId="779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A172F-81D4-4DC4-9113-1DBD56EC364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563DD8-32AB-41BE-B1C6-8EAC45222A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0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Have </a:t>
            </a:r>
            <a:r>
              <a:rPr lang="da-DK" dirty="0" err="1"/>
              <a:t>earlier</a:t>
            </a:r>
            <a:r>
              <a:rPr lang="da-DK" dirty="0"/>
              <a:t> </a:t>
            </a:r>
            <a:r>
              <a:rPr lang="da-DK" dirty="0" err="1"/>
              <a:t>seen</a:t>
            </a:r>
            <a:r>
              <a:rPr lang="da-DK" dirty="0"/>
              <a:t> binomial </a:t>
            </a:r>
            <a:r>
              <a:rPr lang="da-DK" dirty="0" err="1"/>
              <a:t>computated</a:t>
            </a:r>
            <a:r>
              <a:rPr lang="da-DK" baseline="0" dirty="0"/>
              <a:t> by a </a:t>
            </a:r>
            <a:r>
              <a:rPr lang="da-DK" baseline="0" dirty="0" err="1"/>
              <a:t>recursion</a:t>
            </a:r>
            <a:r>
              <a:rPr lang="da-DK" baseline="0" dirty="0"/>
              <a:t> </a:t>
            </a:r>
            <a:r>
              <a:rPr lang="da-DK" baseline="0" dirty="0" err="1"/>
              <a:t>function</a:t>
            </a:r>
            <a:r>
              <a:rPr lang="da-DK" baseline="0" dirty="0"/>
              <a:t>, </a:t>
            </a:r>
            <a:r>
              <a:rPr lang="da-DK" baseline="0" dirty="0" err="1"/>
              <a:t>when</a:t>
            </a:r>
            <a:r>
              <a:rPr lang="da-DK" baseline="0" dirty="0"/>
              <a:t>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introduced</a:t>
            </a:r>
            <a:r>
              <a:rPr lang="da-DK" baseline="0" dirty="0"/>
              <a:t> </a:t>
            </a:r>
            <a:r>
              <a:rPr lang="da-DK" baseline="0" dirty="0" err="1"/>
              <a:t>recursion</a:t>
            </a:r>
            <a:endParaRPr lang="da-DK" baseline="0" dirty="0"/>
          </a:p>
          <a:p>
            <a:r>
              <a:rPr lang="da-DK" baseline="0" dirty="0" err="1"/>
              <a:t>earlier</a:t>
            </a:r>
            <a:r>
              <a:rPr lang="da-DK" baseline="0" dirty="0"/>
              <a:t> </a:t>
            </a:r>
            <a:r>
              <a:rPr lang="da-DK" baseline="0" dirty="0" err="1"/>
              <a:t>seen</a:t>
            </a:r>
            <a:r>
              <a:rPr lang="da-DK" baseline="0" dirty="0"/>
              <a:t> </a:t>
            </a:r>
            <a:r>
              <a:rPr lang="da-DK" baseline="0" dirty="0" err="1"/>
              <a:t>this</a:t>
            </a:r>
            <a:r>
              <a:rPr lang="da-DK" baseline="0" dirty="0"/>
              <a:t> </a:t>
            </a:r>
            <a:r>
              <a:rPr lang="da-DK" baseline="0" dirty="0" err="1"/>
              <a:t>computation</a:t>
            </a:r>
            <a:r>
              <a:rPr lang="da-DK" baseline="0" dirty="0"/>
              <a:t> is </a:t>
            </a:r>
            <a:r>
              <a:rPr lang="da-DK" baseline="0" dirty="0" err="1"/>
              <a:t>slow</a:t>
            </a:r>
            <a:r>
              <a:rPr lang="da-DK" baseline="0" dirty="0"/>
              <a:t> (</a:t>
            </a:r>
            <a:r>
              <a:rPr lang="da-DK" baseline="0" dirty="0" err="1"/>
              <a:t>because</a:t>
            </a:r>
            <a:r>
              <a:rPr lang="da-DK" baseline="0" dirty="0"/>
              <a:t> all </a:t>
            </a:r>
            <a:r>
              <a:rPr lang="da-DK" baseline="0" dirty="0" err="1"/>
              <a:t>leaves</a:t>
            </a:r>
            <a:r>
              <a:rPr lang="da-DK" baseline="0" dirty="0"/>
              <a:t> (red pairs) of the </a:t>
            </a:r>
            <a:r>
              <a:rPr lang="da-DK" baseline="0" dirty="0" err="1"/>
              <a:t>recursion</a:t>
            </a:r>
            <a:r>
              <a:rPr lang="da-DK" baseline="0" dirty="0"/>
              <a:t> </a:t>
            </a:r>
            <a:r>
              <a:rPr lang="da-DK" baseline="0" dirty="0" err="1"/>
              <a:t>only</a:t>
            </a:r>
            <a:r>
              <a:rPr lang="da-DK" baseline="0" dirty="0"/>
              <a:t> returns 1)</a:t>
            </a:r>
            <a:endParaRPr lang="da-DK" dirty="0"/>
          </a:p>
          <a:p>
            <a:endParaRPr lang="da-DK" dirty="0"/>
          </a:p>
          <a:p>
            <a:r>
              <a:rPr lang="da-DK" dirty="0" err="1"/>
              <a:t>Biniomial</a:t>
            </a:r>
            <a:r>
              <a:rPr lang="da-DK" dirty="0"/>
              <a:t> </a:t>
            </a:r>
            <a:r>
              <a:rPr lang="da-DK" dirty="0" err="1"/>
              <a:t>coefficient</a:t>
            </a:r>
            <a:r>
              <a:rPr lang="da-DK" baseline="0" dirty="0"/>
              <a:t> = </a:t>
            </a:r>
            <a:r>
              <a:rPr lang="da-DK" baseline="0" dirty="0" err="1"/>
              <a:t>example</a:t>
            </a:r>
            <a:r>
              <a:rPr lang="da-DK" baseline="0" dirty="0"/>
              <a:t> of </a:t>
            </a:r>
            <a:r>
              <a:rPr lang="da-DK" baseline="0" dirty="0" err="1"/>
              <a:t>recursive</a:t>
            </a:r>
            <a:r>
              <a:rPr lang="da-DK" baseline="0" dirty="0"/>
              <a:t> </a:t>
            </a:r>
            <a:r>
              <a:rPr lang="da-DK" baseline="0" dirty="0" err="1"/>
              <a:t>computation</a:t>
            </a:r>
            <a:r>
              <a:rPr lang="da-DK" baseline="0" dirty="0"/>
              <a:t>, </a:t>
            </a:r>
            <a:r>
              <a:rPr lang="da-DK" baseline="0" dirty="0" err="1"/>
              <a:t>where</a:t>
            </a:r>
            <a:r>
              <a:rPr lang="da-DK" baseline="0" dirty="0"/>
              <a:t> the </a:t>
            </a:r>
            <a:r>
              <a:rPr lang="da-DK" baseline="0" dirty="0" err="1"/>
              <a:t>recursion</a:t>
            </a:r>
            <a:r>
              <a:rPr lang="da-DK" baseline="0" dirty="0"/>
              <a:t> is on smaller subproblems, and </a:t>
            </a:r>
            <a:r>
              <a:rPr lang="da-DK" b="1" baseline="0" dirty="0"/>
              <a:t>the </a:t>
            </a:r>
            <a:r>
              <a:rPr lang="da-DK" b="1" baseline="0" dirty="0" err="1"/>
              <a:t>number</a:t>
            </a:r>
            <a:r>
              <a:rPr lang="da-DK" b="1" baseline="0" dirty="0"/>
              <a:t> of </a:t>
            </a:r>
            <a:r>
              <a:rPr lang="da-DK" b="1" baseline="0" dirty="0" err="1"/>
              <a:t>different</a:t>
            </a:r>
            <a:r>
              <a:rPr lang="da-DK" b="1" baseline="0" dirty="0"/>
              <a:t> arguments is </a:t>
            </a:r>
            <a:r>
              <a:rPr lang="da-DK" b="1" baseline="0" dirty="0" err="1"/>
              <a:t>limited</a:t>
            </a:r>
            <a:endParaRPr lang="da-DK" b="1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Try binomial(100,</a:t>
            </a:r>
            <a:r>
              <a:rPr lang="da-DK" baseline="0" dirty="0"/>
              <a:t> 50) VERY SLOW!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864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9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requires </a:t>
            </a:r>
            <a:r>
              <a:rPr lang="en-US" dirty="0" err="1"/>
              <a:t>args</a:t>
            </a:r>
            <a:r>
              <a:rPr lang="en-US" dirty="0"/>
              <a:t> to be immutable &amp; </a:t>
            </a:r>
            <a:r>
              <a:rPr lang="en-US" dirty="0" err="1"/>
              <a:t>hashable</a:t>
            </a:r>
            <a:r>
              <a:rPr lang="en-US" dirty="0"/>
              <a:t>, since they</a:t>
            </a:r>
            <a:r>
              <a:rPr lang="en-US" baseline="0" dirty="0"/>
              <a:t> should be used as keys into a dictionary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94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@trace and</a:t>
            </a:r>
            <a:r>
              <a:rPr lang="en-US" baseline="0" dirty="0"/>
              <a:t> @</a:t>
            </a:r>
            <a:r>
              <a:rPr lang="en-US" baseline="0" dirty="0" err="1"/>
              <a:t>memoize</a:t>
            </a:r>
            <a:r>
              <a:rPr lang="en-US" baseline="0" dirty="0"/>
              <a:t> are swapped then the function name printed in the last column is “binomial” instead of “</a:t>
            </a:r>
            <a:r>
              <a:rPr lang="en-US" baseline="0" dirty="0" err="1"/>
              <a:t>binomial_memoize</a:t>
            </a:r>
            <a:r>
              <a:rPr lang="en-US" baseline="0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79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functools</a:t>
            </a:r>
            <a:r>
              <a:rPr lang="en-US" dirty="0"/>
              <a:t> decorators also inhere the docstrings (.__doc__), such that help and </a:t>
            </a:r>
            <a:r>
              <a:rPr lang="en-US" dirty="0" err="1"/>
              <a:t>doctest</a:t>
            </a:r>
            <a:r>
              <a:rPr lang="en-US" dirty="0"/>
              <a:t> also work.</a:t>
            </a:r>
          </a:p>
          <a:p>
            <a:endParaRPr lang="en-US" dirty="0"/>
          </a:p>
          <a:p>
            <a:r>
              <a:rPr lang="en-US" dirty="0"/>
              <a:t>Technical issue with </a:t>
            </a:r>
            <a:r>
              <a:rPr lang="en-US" dirty="0" err="1"/>
              <a:t>functools.cache</a:t>
            </a:r>
            <a:r>
              <a:rPr lang="en-US" dirty="0"/>
              <a:t> and increasing the </a:t>
            </a:r>
            <a:r>
              <a:rPr lang="en-US" dirty="0" err="1"/>
              <a:t>recursionlimit</a:t>
            </a:r>
            <a:r>
              <a:rPr lang="en-US" dirty="0"/>
              <a:t>: https://github.com/python/cpython/issues/112215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53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Exercise 13.4 asks you to return the subset equal to x, and to use an exception to stop the recursion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55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 likely only useful when </a:t>
            </a:r>
            <a:r>
              <a:rPr lang="en-US" dirty="0" err="1"/>
              <a:t>len</a:t>
            </a:r>
            <a:r>
              <a:rPr lang="en-US" dirty="0"/>
              <a:t>(L)*sum(L) is small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66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Essentially the </a:t>
            </a:r>
            <a:r>
              <a:rPr lang="en-US" dirty="0" err="1"/>
              <a:t>memoization</a:t>
            </a:r>
            <a:r>
              <a:rPr lang="en-US" baseline="0" dirty="0"/>
              <a:t> should keep track of all </a:t>
            </a:r>
            <a:r>
              <a:rPr lang="en-US" b="1" baseline="0" dirty="0" err="1"/>
              <a:t>subproblems</a:t>
            </a:r>
            <a:r>
              <a:rPr lang="en-US" b="1" baseline="0" dirty="0"/>
              <a:t> with no solution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55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(4) </a:t>
            </a:r>
            <a:r>
              <a:rPr lang="da-DK" dirty="0" err="1"/>
              <a:t>Compute</a:t>
            </a:r>
            <a:r>
              <a:rPr lang="da-DK" dirty="0"/>
              <a:t> right-to-</a:t>
            </a:r>
            <a:r>
              <a:rPr lang="da-DK" dirty="0" err="1"/>
              <a:t>left</a:t>
            </a:r>
            <a:r>
              <a:rPr lang="da-DK" dirty="0"/>
              <a:t> </a:t>
            </a:r>
            <a:r>
              <a:rPr lang="da-DK" dirty="0" err="1"/>
              <a:t>since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overwritting</a:t>
            </a:r>
            <a:r>
              <a:rPr lang="da-DK" dirty="0"/>
              <a:t> </a:t>
            </a:r>
            <a:r>
              <a:rPr lang="da-DK" dirty="0" err="1"/>
              <a:t>previous</a:t>
            </a:r>
            <a:r>
              <a:rPr lang="da-DK" dirty="0"/>
              <a:t> </a:t>
            </a:r>
            <a:r>
              <a:rPr lang="da-DK" dirty="0" err="1"/>
              <a:t>row</a:t>
            </a:r>
            <a:r>
              <a:rPr lang="da-DK" dirty="0"/>
              <a:t> with new </a:t>
            </a:r>
            <a:r>
              <a:rPr lang="da-DK" dirty="0" err="1"/>
              <a:t>values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6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563DD8-32AB-41BE-B1C6-8EAC45222AC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39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8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7188" indent="-357188">
              <a:buClr>
                <a:srgbClr val="C00000"/>
              </a:buClr>
              <a:buFont typeface="Wingdings" panose="05000000000000000000" pitchFamily="2" charset="2"/>
              <a:buChar char="§"/>
              <a:defRPr/>
            </a:lvl1pPr>
            <a:lvl2pPr>
              <a:buClr>
                <a:srgbClr val="C00000"/>
              </a:buClr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73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64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5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78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9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1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05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A9CD-0304-4E0B-9E82-E7E0115DE05B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63A6A-E3D0-469A-8682-26234C6E37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9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-course.eu/python3_memoization.ph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ools.html#functools.cach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kattis.com/" TargetMode="External"/><Relationship Id="rId7" Type="http://schemas.openxmlformats.org/officeDocument/2006/relationships/hyperlink" Target="https://cs.au.dk/~gerth/code/" TargetMode="External"/><Relationship Id="rId2" Type="http://schemas.openxmlformats.org/officeDocument/2006/relationships/hyperlink" Target="https://projecteuler.net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oogle.com/search?q=best+online+code+judges" TargetMode="External"/><Relationship Id="rId5" Type="http://schemas.openxmlformats.org/officeDocument/2006/relationships/hyperlink" Target="https://leetcode.com/" TargetMode="External"/><Relationship Id="rId4" Type="http://schemas.openxmlformats.org/officeDocument/2006/relationships/hyperlink" Target="http://codeforces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codingcompetitions.withgoogle.com/codejam/archive/20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647" y="2873665"/>
            <a:ext cx="5263802" cy="1325563"/>
          </a:xfrm>
        </p:spPr>
        <p:txBody>
          <a:bodyPr/>
          <a:lstStyle/>
          <a:p>
            <a:pPr algn="r"/>
            <a:r>
              <a:rPr lang="da-DK" dirty="0"/>
              <a:t>Dynamic </a:t>
            </a:r>
            <a:r>
              <a:rPr lang="da-DK" dirty="0" err="1"/>
              <a:t>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6739" y="3920647"/>
            <a:ext cx="6635262" cy="2937353"/>
          </a:xfrm>
        </p:spPr>
        <p:txBody>
          <a:bodyPr>
            <a:normAutofit/>
          </a:bodyPr>
          <a:lstStyle/>
          <a:p>
            <a:r>
              <a:rPr lang="da-DK" dirty="0" err="1"/>
              <a:t>memoization</a:t>
            </a:r>
            <a:endParaRPr lang="da-DK" dirty="0"/>
          </a:p>
          <a:p>
            <a:r>
              <a:rPr lang="da-DK" dirty="0" err="1"/>
              <a:t>decorator</a:t>
            </a:r>
            <a:r>
              <a:rPr lang="da-DK" dirty="0"/>
              <a:t> </a:t>
            </a:r>
            <a:r>
              <a:rPr lang="da-DK" dirty="0" err="1"/>
              <a:t>memoized</a:t>
            </a:r>
            <a:r>
              <a:rPr lang="da-DK" dirty="0"/>
              <a:t> / </a:t>
            </a:r>
            <a:r>
              <a:rPr lang="da-DK" dirty="0" err="1"/>
              <a:t>functools.cache</a:t>
            </a:r>
            <a:endParaRPr lang="da-DK" dirty="0"/>
          </a:p>
          <a:p>
            <a:r>
              <a:rPr lang="da-DK" dirty="0" err="1"/>
              <a:t>systematic</a:t>
            </a:r>
            <a:r>
              <a:rPr lang="da-DK" dirty="0"/>
              <a:t> subproblem </a:t>
            </a:r>
            <a:r>
              <a:rPr lang="da-DK" dirty="0" err="1"/>
              <a:t>computation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6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532435" y="544704"/>
            <a:ext cx="1713053" cy="1485913"/>
          </a:xfrm>
          <a:prstGeom prst="roundRect">
            <a:avLst>
              <a:gd name="adj" fmla="val 67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32435" y="2183262"/>
            <a:ext cx="1713053" cy="1485913"/>
          </a:xfrm>
          <a:prstGeom prst="roundRect">
            <a:avLst>
              <a:gd name="adj" fmla="val 675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854" y="406290"/>
            <a:ext cx="7691755" cy="1325563"/>
          </a:xfrm>
        </p:spPr>
        <p:txBody>
          <a:bodyPr/>
          <a:lstStyle/>
          <a:p>
            <a:pPr algn="ctr"/>
            <a:r>
              <a:rPr lang="da-DK" dirty="0"/>
              <a:t>Binomial </a:t>
            </a:r>
            <a:r>
              <a:rPr lang="da-DK" dirty="0" err="1"/>
              <a:t>coefficient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000854" y="1964522"/>
                <a:ext cx="7691755" cy="1878274"/>
              </a:xfrm>
            </p:spPr>
            <p:txBody>
              <a:bodyPr>
                <a:normAutofit/>
              </a:bodyPr>
              <a:lstStyle/>
              <a:p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da-DK" i="0"/>
                                  <m:t>n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da-DK" i="0"/>
                                  <m:t>k</m:t>
                                </m:r>
                              </m:e>
                            </m:mr>
                          </m:m>
                        </m:e>
                      </m:d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a-DK" b="0" i="0" smtClean="0"/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da-D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da-DK" b="0" i="0" smtClean="0"/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 = 0  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 = </m:t>
                                </m:r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n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  <m:brk m:alnAt="7"/>
                                            </m:rPr>
                                            <a:rPr lang="da-DK" i="0"/>
                                            <m:t>n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da-DK" b="0" i="0" smtClean="0"/>
                                            <m:t> − 1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da-DK" i="0"/>
                                            <m:t>k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+</m:t>
                                </m:r>
                                <m:d>
                                  <m:d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  <m:brk m:alnAt="7"/>
                                            </m:rPr>
                                            <a:rPr lang="da-DK" i="0"/>
                                            <m:t>n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da-DK" b="0" i="0" smtClean="0"/>
                                            <m:t> − 1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da-DK" i="0"/>
                                            <m:t>k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da-DK" b="0" i="0" smtClean="0"/>
                                            <m:t> − 1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b="0" i="0" smtClean="0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854" y="1964522"/>
                <a:ext cx="7691755" cy="187827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531364"/>
              </p:ext>
            </p:extLst>
          </p:nvPr>
        </p:nvGraphicFramePr>
        <p:xfrm>
          <a:off x="4000854" y="4142001"/>
          <a:ext cx="76917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17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8292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binomial_recursive.py  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731681">
                <a:tc>
                  <a:txBody>
                    <a:bodyPr/>
                    <a:lstStyle/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binomial(n, k):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binomial(n - 1, k) + binomial(n - 1, k - 1)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-111767" y="0"/>
            <a:ext cx="2206786" cy="67711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--(7, 5)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|--(6, 5)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(5, 5)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--(5, 4)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(4, 4)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--(4,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--(3,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--(2,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--(6, 4)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|--(5, 4)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(4, 4)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--(4,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 --(3,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    --(2,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|         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--(5,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|--(4,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(3, 3)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--(3,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--(2,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      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--(4,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|--(3,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   --(2,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   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   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--(3,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|--(2,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  |--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pPr marL="0" indent="0">
              <a:lnSpc>
                <a:spcPts val="13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--</a:t>
            </a:r>
            <a:r>
              <a:rPr lang="en-US" sz="1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(2, 0)</a:t>
            </a:r>
          </a:p>
        </p:txBody>
      </p:sp>
      <p:sp>
        <p:nvSpPr>
          <p:cNvPr id="6" name="Freeform 5"/>
          <p:cNvSpPr/>
          <p:nvPr/>
        </p:nvSpPr>
        <p:spPr>
          <a:xfrm>
            <a:off x="2095018" y="6146156"/>
            <a:ext cx="1122744" cy="428263"/>
          </a:xfrm>
          <a:custGeom>
            <a:avLst/>
            <a:gdLst>
              <a:gd name="connsiteX0" fmla="*/ 752354 w 752354"/>
              <a:gd name="connsiteY0" fmla="*/ 335666 h 335666"/>
              <a:gd name="connsiteX1" fmla="*/ 0 w 752354"/>
              <a:gd name="connsiteY1" fmla="*/ 0 h 33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2354" h="335666">
                <a:moveTo>
                  <a:pt x="752354" y="335666"/>
                </a:moveTo>
                <a:cubicBezTo>
                  <a:pt x="479384" y="255607"/>
                  <a:pt x="206415" y="175549"/>
                  <a:pt x="0" y="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217762" y="6389754"/>
            <a:ext cx="6285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 err="1">
                <a:solidFill>
                  <a:srgbClr val="C00000"/>
                </a:solidFill>
              </a:rPr>
              <a:t>recursion</a:t>
            </a:r>
            <a:r>
              <a:rPr lang="da-DK" sz="2000" dirty="0">
                <a:solidFill>
                  <a:srgbClr val="C00000"/>
                </a:solidFill>
              </a:rPr>
              <a:t> </a:t>
            </a:r>
            <a:r>
              <a:rPr lang="da-DK" sz="2000" dirty="0" err="1">
                <a:solidFill>
                  <a:srgbClr val="C00000"/>
                </a:solidFill>
              </a:rPr>
              <a:t>tree</a:t>
            </a:r>
            <a:r>
              <a:rPr lang="da-DK" sz="2000" dirty="0">
                <a:solidFill>
                  <a:srgbClr val="C00000"/>
                </a:solidFill>
              </a:rPr>
              <a:t> for </a:t>
            </a:r>
            <a:r>
              <a:rPr lang="da-DK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binomial(7,5)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rc 10"/>
          <p:cNvSpPr/>
          <p:nvPr/>
        </p:nvSpPr>
        <p:spPr>
          <a:xfrm>
            <a:off x="2174047" y="1752325"/>
            <a:ext cx="381965" cy="709230"/>
          </a:xfrm>
          <a:prstGeom prst="arc">
            <a:avLst>
              <a:gd name="adj1" fmla="val 16200000"/>
              <a:gd name="adj2" fmla="val 5224758"/>
            </a:avLst>
          </a:prstGeom>
          <a:ln w="28575">
            <a:solidFill>
              <a:schemeClr val="accent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5400000">
            <a:off x="1274551" y="1845951"/>
            <a:ext cx="3036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 err="1">
                <a:solidFill>
                  <a:schemeClr val="accent1">
                    <a:lumMod val="50000"/>
                  </a:schemeClr>
                </a:solidFill>
              </a:rPr>
              <a:t>identical</a:t>
            </a:r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a-DK" dirty="0" err="1">
                <a:solidFill>
                  <a:schemeClr val="accent1">
                    <a:lumMod val="50000"/>
                  </a:schemeClr>
                </a:solidFill>
              </a:rPr>
              <a:t>computations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916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2" grpId="0"/>
      <p:bldP spid="3" grpId="0" build="p"/>
      <p:bldP spid="5" grpId="0"/>
      <p:bldP spid="6" grpId="0" animBg="1"/>
      <p:bldP spid="7" grpId="0"/>
      <p:bldP spid="11" grpId="0" animBg="1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36659"/>
          </a:xfrm>
        </p:spPr>
        <p:txBody>
          <a:bodyPr>
            <a:normAutofit/>
          </a:bodyPr>
          <a:lstStyle/>
          <a:p>
            <a:pPr algn="ctr"/>
            <a:r>
              <a:rPr lang="da-DK" dirty="0"/>
              <a:t>Dynamic Programming</a:t>
            </a:r>
            <a:br>
              <a:rPr lang="da-DK" dirty="0"/>
            </a:br>
            <a:r>
              <a:rPr lang="da-DK" dirty="0"/>
              <a:t>≡</a:t>
            </a:r>
            <a:br>
              <a:rPr lang="da-DK" dirty="0"/>
            </a:br>
            <a:r>
              <a:rPr lang="da-DK" dirty="0" err="1"/>
              <a:t>Remember</a:t>
            </a:r>
            <a:r>
              <a:rPr lang="da-DK" dirty="0"/>
              <a:t> solutions </a:t>
            </a:r>
            <a:r>
              <a:rPr lang="da-DK" dirty="0" err="1"/>
              <a:t>already</a:t>
            </a:r>
            <a:r>
              <a:rPr lang="da-DK" dirty="0"/>
              <a:t> </a:t>
            </a:r>
            <a:r>
              <a:rPr lang="da-DK" dirty="0" err="1"/>
              <a:t>found</a:t>
            </a:r>
            <a:r>
              <a:rPr lang="da-DK" dirty="0"/>
              <a:t> (</a:t>
            </a:r>
            <a:r>
              <a:rPr lang="da-DK" dirty="0" err="1"/>
              <a:t>memoization</a:t>
            </a:r>
            <a:r>
              <a:rPr lang="da-DK" dirty="0"/>
              <a:t>)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4584" y="5717732"/>
            <a:ext cx="11902831" cy="1140268"/>
          </a:xfrm>
        </p:spPr>
        <p:txBody>
          <a:bodyPr>
            <a:normAutofit fontScale="92500"/>
          </a:bodyPr>
          <a:lstStyle/>
          <a:p>
            <a:r>
              <a:rPr lang="da-DK" dirty="0" err="1"/>
              <a:t>Technique</a:t>
            </a:r>
            <a:r>
              <a:rPr lang="da-DK" dirty="0"/>
              <a:t> </a:t>
            </a:r>
            <a:r>
              <a:rPr lang="da-DK" dirty="0" err="1"/>
              <a:t>sometimes</a:t>
            </a:r>
            <a:r>
              <a:rPr lang="da-DK" dirty="0"/>
              <a:t> </a:t>
            </a:r>
            <a:r>
              <a:rPr lang="da-DK" dirty="0" err="1"/>
              <a:t>applicable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 time </a:t>
            </a:r>
            <a:r>
              <a:rPr lang="da-DK" dirty="0" err="1"/>
              <a:t>otherwise</a:t>
            </a:r>
            <a:r>
              <a:rPr lang="da-DK" dirty="0"/>
              <a:t> </a:t>
            </a:r>
            <a:r>
              <a:rPr lang="da-DK" dirty="0" err="1"/>
              <a:t>becomes</a:t>
            </a:r>
            <a:r>
              <a:rPr lang="da-DK" dirty="0"/>
              <a:t> </a:t>
            </a:r>
            <a:r>
              <a:rPr lang="da-DK" dirty="0" err="1"/>
              <a:t>exponential</a:t>
            </a:r>
            <a:endParaRPr lang="da-DK" dirty="0"/>
          </a:p>
          <a:p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applicable</a:t>
            </a:r>
            <a:r>
              <a:rPr lang="da-DK" dirty="0"/>
              <a:t> if </a:t>
            </a:r>
            <a:r>
              <a:rPr lang="da-DK" dirty="0" err="1"/>
              <a:t>stuff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remembered</a:t>
            </a:r>
            <a:r>
              <a:rPr lang="da-DK" dirty="0"/>
              <a:t> is </a:t>
            </a:r>
            <a:r>
              <a:rPr lang="da-DK" dirty="0" err="1"/>
              <a:t>manageable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521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7544" y="99964"/>
            <a:ext cx="871181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da-DK" dirty="0"/>
              <a:t>Binomial </a:t>
            </a:r>
            <a:r>
              <a:rPr lang="da-DK" dirty="0" err="1"/>
              <a:t>Coefficient</a:t>
            </a:r>
            <a:br>
              <a:rPr lang="da-DK" dirty="0"/>
            </a:br>
            <a:r>
              <a:rPr lang="da-DK" dirty="0"/>
              <a:t>Dynamic </a:t>
            </a:r>
            <a:r>
              <a:rPr lang="da-DK" dirty="0" err="1"/>
              <a:t>programming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a </a:t>
            </a:r>
            <a:r>
              <a:rPr lang="da-DK" dirty="0" err="1"/>
              <a:t>dictionary</a:t>
            </a:r>
            <a:endParaRPr lang="en-US" dirty="0"/>
          </a:p>
        </p:txBody>
      </p:sp>
      <p:sp>
        <p:nvSpPr>
          <p:cNvPr id="5" name="Freeform 4"/>
          <p:cNvSpPr/>
          <p:nvPr/>
        </p:nvSpPr>
        <p:spPr>
          <a:xfrm>
            <a:off x="2991154" y="6411261"/>
            <a:ext cx="1179589" cy="278906"/>
          </a:xfrm>
          <a:custGeom>
            <a:avLst/>
            <a:gdLst>
              <a:gd name="connsiteX0" fmla="*/ 752354 w 752354"/>
              <a:gd name="connsiteY0" fmla="*/ 335666 h 335666"/>
              <a:gd name="connsiteX1" fmla="*/ 0 w 752354"/>
              <a:gd name="connsiteY1" fmla="*/ 0 h 335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52354" h="335666">
                <a:moveTo>
                  <a:pt x="752354" y="335666"/>
                </a:moveTo>
                <a:cubicBezTo>
                  <a:pt x="479384" y="255607"/>
                  <a:pt x="206415" y="175549"/>
                  <a:pt x="0" y="0"/>
                </a:cubicBezTo>
              </a:path>
            </a:pathLst>
          </a:custGeom>
          <a:noFill/>
          <a:ln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7359" y="862689"/>
            <a:ext cx="3190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 err="1">
                <a:solidFill>
                  <a:srgbClr val="C00000"/>
                </a:solidFill>
              </a:rPr>
              <a:t>recursion</a:t>
            </a:r>
            <a:r>
              <a:rPr lang="da-DK" sz="2000" dirty="0">
                <a:solidFill>
                  <a:srgbClr val="C00000"/>
                </a:solidFill>
              </a:rPr>
              <a:t> </a:t>
            </a:r>
            <a:r>
              <a:rPr lang="da-DK" sz="2000" dirty="0" err="1">
                <a:solidFill>
                  <a:srgbClr val="C00000"/>
                </a:solidFill>
              </a:rPr>
              <a:t>tree</a:t>
            </a:r>
            <a:r>
              <a:rPr lang="da-DK" sz="2000" dirty="0">
                <a:solidFill>
                  <a:srgbClr val="C00000"/>
                </a:solidFill>
              </a:rPr>
              <a:t> for </a:t>
            </a:r>
            <a:br>
              <a:rPr lang="da-DK" sz="2000" dirty="0">
                <a:solidFill>
                  <a:srgbClr val="C00000"/>
                </a:solidFill>
              </a:rPr>
            </a:br>
            <a:r>
              <a:rPr lang="da-DK" sz="2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binomial(7,5)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306325"/>
            <a:ext cx="348018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--(7,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|--(6,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|--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(5, 5)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--(5, 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|--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(4, 4)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--(4,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|--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--(3,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|--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--(2,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  |--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|               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(1, 0)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--(6, 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|--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(5, 4)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--(5,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|--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(4, 3)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--(4,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|--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(3, 2)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--(3,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|--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(2, 1)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--</a:t>
            </a: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(2, 0)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70743" y="6504416"/>
            <a:ext cx="62850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000" dirty="0" err="1">
                <a:solidFill>
                  <a:schemeClr val="accent1">
                    <a:lumMod val="50000"/>
                  </a:schemeClr>
                </a:solidFill>
              </a:rPr>
              <a:t>reuse</a:t>
            </a:r>
            <a:r>
              <a:rPr lang="da-DK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a-DK" sz="2000" dirty="0" err="1">
                <a:solidFill>
                  <a:schemeClr val="accent1">
                    <a:lumMod val="50000"/>
                  </a:schemeClr>
                </a:solidFill>
              </a:rPr>
              <a:t>value</a:t>
            </a:r>
            <a:r>
              <a:rPr lang="da-DK" sz="20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da-DK" sz="2000" dirty="0" err="1">
                <a:solidFill>
                  <a:schemeClr val="accent1">
                    <a:lumMod val="50000"/>
                  </a:schemeClr>
                </a:solidFill>
              </a:rPr>
              <a:t>stored</a:t>
            </a:r>
            <a:r>
              <a:rPr lang="da-DK" sz="2000" dirty="0">
                <a:solidFill>
                  <a:schemeClr val="accent1">
                    <a:lumMod val="50000"/>
                  </a:schemeClr>
                </a:solidFill>
              </a:rPr>
              <a:t> in </a:t>
            </a:r>
            <a:r>
              <a:rPr lang="da-DK" sz="2000" dirty="0" err="1">
                <a:solidFill>
                  <a:schemeClr val="accent1">
                    <a:lumMod val="50000"/>
                  </a:schemeClr>
                </a:solidFill>
              </a:rPr>
              <a:t>dictionary</a:t>
            </a:r>
            <a:r>
              <a:rPr lang="da-DK" sz="2000" dirty="0">
                <a:solidFill>
                  <a:srgbClr val="C00000"/>
                </a:solidFill>
              </a:rPr>
              <a:t> </a:t>
            </a:r>
            <a:r>
              <a:rPr lang="da-DK" sz="20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answers</a:t>
            </a:r>
            <a:endParaRPr lang="en-US" sz="20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734523" y="6066934"/>
            <a:ext cx="8237855" cy="503463"/>
          </a:xfrm>
        </p:spPr>
        <p:txBody>
          <a:bodyPr>
            <a:normAutofit/>
          </a:bodyPr>
          <a:lstStyle/>
          <a:p>
            <a:r>
              <a:rPr lang="da-DK" sz="2400" dirty="0" err="1"/>
              <a:t>Use</a:t>
            </a:r>
            <a:r>
              <a:rPr lang="da-DK" sz="2400" dirty="0"/>
              <a:t> a </a:t>
            </a:r>
            <a:r>
              <a:rPr lang="da-DK" sz="2400" dirty="0" err="1"/>
              <a:t>dictionary</a:t>
            </a:r>
            <a:r>
              <a:rPr lang="da-DK" sz="2400" dirty="0"/>
              <a:t> </a:t>
            </a:r>
            <a:r>
              <a:rPr lang="da-DK" sz="24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answers</a:t>
            </a:r>
            <a:r>
              <a:rPr lang="da-DK" sz="2400" dirty="0"/>
              <a:t> to store </a:t>
            </a:r>
            <a:r>
              <a:rPr lang="da-DK" sz="2400" dirty="0" err="1"/>
              <a:t>already</a:t>
            </a:r>
            <a:r>
              <a:rPr lang="da-DK" sz="2400" dirty="0"/>
              <a:t> </a:t>
            </a:r>
            <a:r>
              <a:rPr lang="da-DK" sz="2400" dirty="0" err="1"/>
              <a:t>computed</a:t>
            </a:r>
            <a:r>
              <a:rPr lang="da-DK" sz="2400" dirty="0"/>
              <a:t> </a:t>
            </a:r>
            <a:r>
              <a:rPr lang="da-DK" sz="2400" dirty="0" err="1"/>
              <a:t>values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596149"/>
              </p:ext>
            </p:extLst>
          </p:nvPr>
        </p:nvGraphicFramePr>
        <p:xfrm>
          <a:off x="3752192" y="1465949"/>
          <a:ext cx="8255250" cy="458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25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4873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binomial_dictionary.py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 = {}  </a:t>
                      </a: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answers[(n, k)] = binomial(n, k)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(n, k) not in answers: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 or k == n: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answer =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answer =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answers[(n, k)] = answer</a:t>
                      </a:r>
                      <a:endParaRPr lang="pt-BR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answers[(n, k)]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binomial(6, 3)</a:t>
                      </a:r>
                    </a:p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266700" indent="-266700">
                        <a:spcAft>
                          <a:spcPts val="0"/>
                        </a:spcAft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</a:t>
                      </a:r>
                    </a:p>
                    <a:p>
                      <a:pPr marL="266700" indent="-266700">
                        <a:spcAft>
                          <a:spcPts val="0"/>
                        </a:spcAft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{(3, 3): 1, (2, 2): 1, (1, 1): 1, (1, 0): 1, (2, 1): 2, (3, 2): 3, (4, 3): 4, (2, 0): 1, (3, 1): 3, (4, 2): 6, (5, 3): 10, (3, 0): 1, (4, 1): 4, (5, 2): 10, (6, 3): 20}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60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1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822" y="365125"/>
            <a:ext cx="11922177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da-DK" dirty="0" err="1"/>
              <a:t>Question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 is the </a:t>
            </a:r>
            <a:r>
              <a:rPr lang="da-DK" dirty="0" err="1"/>
              <a:t>order</a:t>
            </a:r>
            <a:r>
              <a:rPr lang="da-DK" dirty="0"/>
              <a:t> of the </a:t>
            </a:r>
            <a:r>
              <a:rPr lang="da-DK" dirty="0" err="1"/>
              <a:t>size</a:t>
            </a:r>
            <a:r>
              <a:rPr lang="da-DK" dirty="0"/>
              <a:t> of the </a:t>
            </a:r>
            <a:r>
              <a:rPr lang="da-DK" dirty="0" err="1"/>
              <a:t>dictionary</a:t>
            </a:r>
            <a:r>
              <a:rPr lang="da-DK" dirty="0"/>
              <a:t> </a:t>
            </a:r>
            <a:r>
              <a:rPr lang="da-DK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answers</a:t>
            </a:r>
            <a:r>
              <a:rPr lang="da-DK" dirty="0"/>
              <a:t> </a:t>
            </a:r>
            <a:r>
              <a:rPr lang="da-DK" dirty="0" err="1"/>
              <a:t>after</a:t>
            </a:r>
            <a:r>
              <a:rPr lang="da-DK" dirty="0"/>
              <a:t> </a:t>
            </a:r>
            <a:r>
              <a:rPr lang="da-DK" b="0" dirty="0" err="1">
                <a:latin typeface="+mn-lt"/>
                <a:cs typeface="Courier New" panose="02070309020205020404" pitchFamily="49" charset="0"/>
              </a:rPr>
              <a:t>calling</a:t>
            </a:r>
            <a:r>
              <a:rPr lang="da-DK" b="0" dirty="0">
                <a:latin typeface="+mn-lt"/>
                <a:cs typeface="Courier New" panose="02070309020205020404" pitchFamily="49" charset="0"/>
              </a:rPr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binomial(n, k)</a:t>
            </a:r>
            <a:r>
              <a:rPr lang="da-DK" dirty="0"/>
              <a:t> ?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0729" y="2573026"/>
            <a:ext cx="2629237" cy="33327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/>
            </a:pPr>
            <a:r>
              <a:rPr lang="da-DK" dirty="0"/>
              <a:t>max(n, k)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n + k 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n * k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 err="1"/>
              <a:t>n</a:t>
            </a:r>
            <a:r>
              <a:rPr lang="da-DK" baseline="30000" dirty="0" err="1"/>
              <a:t>k</a:t>
            </a:r>
            <a:endParaRPr lang="da-DK" baseline="30000" dirty="0"/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k</a:t>
            </a:r>
            <a:r>
              <a:rPr lang="da-DK" baseline="30000" dirty="0"/>
              <a:t>n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 err="1"/>
              <a:t>Don’t</a:t>
            </a:r>
            <a:r>
              <a:rPr lang="da-DK" dirty="0"/>
              <a:t> know</a:t>
            </a:r>
            <a:endParaRPr lang="en-US" baseline="30000" dirty="0"/>
          </a:p>
        </p:txBody>
      </p:sp>
      <p:sp>
        <p:nvSpPr>
          <p:cNvPr id="4" name="Smiley Face 3" descr="QuizAnswer"/>
          <p:cNvSpPr/>
          <p:nvPr/>
        </p:nvSpPr>
        <p:spPr>
          <a:xfrm>
            <a:off x="9294680" y="3659614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435763"/>
              </p:ext>
            </p:extLst>
          </p:nvPr>
        </p:nvGraphicFramePr>
        <p:xfrm>
          <a:off x="154788" y="2511601"/>
          <a:ext cx="9057005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70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17900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binomial_dictionary.py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15571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 = {}  </a:t>
                      </a:r>
                      <a:r>
                        <a:rPr lang="pt-BR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answers[(n, k)] = binomial(n, k)</a:t>
                      </a:r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(n, k):</a:t>
                      </a:r>
                    </a:p>
                    <a:p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(n, k) not in answers: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 or k == n: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answer = 1</a:t>
                      </a: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else: 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answer = 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k) + </a:t>
                      </a:r>
                      <a:r>
                        <a:rPr lang="pt-BR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</a:t>
                      </a:r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 - 1, k - 1)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answers[(n, k)] = answer</a:t>
                      </a:r>
                      <a:endParaRPr lang="pt-BR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pt-BR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pt-BR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answers[(n, k)]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10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Binomial </a:t>
            </a:r>
            <a:r>
              <a:rPr lang="da-DK" dirty="0" err="1"/>
              <a:t>Coefficient</a:t>
            </a:r>
            <a:br>
              <a:rPr lang="da-DK" dirty="0"/>
            </a:br>
            <a:r>
              <a:rPr lang="da-DK" dirty="0"/>
              <a:t>Dynamic </a:t>
            </a:r>
            <a:r>
              <a:rPr lang="da-DK" dirty="0" err="1"/>
              <a:t>programming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decorator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99245"/>
            <a:ext cx="10515600" cy="1016001"/>
          </a:xfrm>
        </p:spPr>
        <p:txBody>
          <a:bodyPr/>
          <a:lstStyle/>
          <a:p>
            <a:r>
              <a:rPr lang="da-DK" dirty="0" err="1"/>
              <a:t>Use</a:t>
            </a:r>
            <a:r>
              <a:rPr lang="da-DK" dirty="0"/>
              <a:t> a </a:t>
            </a:r>
            <a:r>
              <a:rPr lang="da-DK" dirty="0" err="1"/>
              <a:t>decorator</a:t>
            </a:r>
            <a:r>
              <a:rPr lang="da-DK" dirty="0"/>
              <a:t> (@</a:t>
            </a:r>
            <a:r>
              <a:rPr lang="da-DK" dirty="0" err="1"/>
              <a:t>memoize</a:t>
            </a:r>
            <a:r>
              <a:rPr lang="da-DK" dirty="0"/>
              <a:t>)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implements</a:t>
            </a:r>
            <a:r>
              <a:rPr lang="da-DK" dirty="0"/>
              <a:t> the </a:t>
            </a:r>
            <a:r>
              <a:rPr lang="da-DK" dirty="0" err="1"/>
              <a:t>functionality</a:t>
            </a:r>
            <a:r>
              <a:rPr lang="da-DK" dirty="0"/>
              <a:t> of </a:t>
            </a:r>
            <a:r>
              <a:rPr lang="da-DK" dirty="0" err="1"/>
              <a:t>remembering</a:t>
            </a:r>
            <a:r>
              <a:rPr lang="da-DK" dirty="0"/>
              <a:t> the </a:t>
            </a:r>
            <a:r>
              <a:rPr lang="da-DK" dirty="0" err="1"/>
              <a:t>results</a:t>
            </a:r>
            <a:r>
              <a:rPr lang="da-DK" dirty="0"/>
              <a:t> of </a:t>
            </a:r>
            <a:r>
              <a:rPr lang="da-DK" dirty="0" err="1"/>
              <a:t>previous</a:t>
            </a:r>
            <a:r>
              <a:rPr lang="da-DK" dirty="0"/>
              <a:t> </a:t>
            </a:r>
            <a:r>
              <a:rPr lang="da-DK" dirty="0" err="1"/>
              <a:t>function</a:t>
            </a:r>
            <a:r>
              <a:rPr lang="da-DK" dirty="0"/>
              <a:t> </a:t>
            </a:r>
            <a:r>
              <a:rPr lang="da-DK" dirty="0" err="1"/>
              <a:t>calls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061190" y="6311900"/>
            <a:ext cx="50217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/>
              </a:rPr>
              <a:t>www.python-course.eu/python3_memoization.php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281132"/>
              </p:ext>
            </p:extLst>
          </p:nvPr>
        </p:nvGraphicFramePr>
        <p:xfrm>
          <a:off x="131975" y="3311843"/>
          <a:ext cx="11950973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8561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7322412">
                  <a:extLst>
                    <a:ext uri="{9D8B030D-6E8A-4147-A177-3AD203B41FA5}">
                      <a16:colId xmlns:a16="http://schemas.microsoft.com/office/drawing/2014/main" val="1706062737"/>
                    </a:ext>
                  </a:extLst>
                </a:gridCol>
              </a:tblGrid>
              <a:tr h="217900">
                <a:tc gridSpan="2"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binomial_decorator.py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a-DK" sz="16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01557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# answers[args] = f(*args) </a:t>
                      </a:r>
                      <a:br>
                        <a:rPr lang="pt-BR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{}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(*args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 in answers: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answers[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f(*args)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answers[</a:t>
                      </a:r>
                      <a:r>
                        <a:rPr lang="pt-BR" sz="1600" b="1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args</a:t>
                      </a:r>
                      <a:r>
                        <a:rPr lang="pt-BR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@memoize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binomial(n,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binomial(n - 1, k) + binomial(n - 1,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pt-BR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45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215644"/>
              </p:ext>
            </p:extLst>
          </p:nvPr>
        </p:nvGraphicFramePr>
        <p:xfrm>
          <a:off x="313690" y="287655"/>
          <a:ext cx="11552529" cy="6313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908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  <a:gridCol w="3129280">
                  <a:extLst>
                    <a:ext uri="{9D8B030D-6E8A-4147-A177-3AD203B41FA5}">
                      <a16:colId xmlns:a16="http://schemas.microsoft.com/office/drawing/2014/main" val="1706062737"/>
                    </a:ext>
                  </a:extLst>
                </a:gridCol>
                <a:gridCol w="3084169">
                  <a:extLst>
                    <a:ext uri="{9D8B030D-6E8A-4147-A177-3AD203B41FA5}">
                      <a16:colId xmlns:a16="http://schemas.microsoft.com/office/drawing/2014/main" val="1001179998"/>
                    </a:ext>
                  </a:extLst>
                </a:gridCol>
              </a:tblGrid>
              <a:tr h="208300">
                <a:tc>
                  <a:txBody>
                    <a:bodyPr/>
                    <a:lstStyle/>
                    <a:p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binomial_decorator_trace.py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without</a:t>
                      </a:r>
                      <a:r>
                        <a:rPr lang="da-DK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@</a:t>
                      </a:r>
                      <a:r>
                        <a:rPr lang="da-DK" sz="12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r>
                        <a:rPr lang="da-DK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da-DK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2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r>
                        <a:rPr lang="da-DK" sz="12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(with</a:t>
                      </a:r>
                      <a:r>
                        <a:rPr lang="da-DK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@</a:t>
                      </a:r>
                      <a:r>
                        <a:rPr lang="da-DK" sz="12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r>
                        <a:rPr lang="da-DK" sz="12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da-DK" sz="12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49066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trace</a:t>
                      </a: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  </a:t>
                      </a:r>
                      <a:r>
                        <a:rPr lang="pt-BR" sz="12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decorator</a:t>
                      </a:r>
                      <a:r>
                        <a:rPr lang="pt-BR" sz="12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to trace recursive calls</a:t>
                      </a:r>
                      <a:endParaRPr lang="pt-BR" sz="12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indent = 0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wrapper(*args):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nonlocal indent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spaces = '|  ' * indent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arg_str = ', '.join(map(repr, args))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print(spaces + f'{f.__name__}({arg_str})')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indent +=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pt-BR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result = f(*args</a:t>
                      </a: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indent -=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print(spaces + f'&gt; {result}')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result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</a:t>
                      </a: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(f):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answers = {}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def wrapper(*args):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args not in answers: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answers[args] = f(*args)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answers[args]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pt-BR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wrapper.__name__ = f.__name__ + '_memoize'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wrapper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@trace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@memoize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binomial(n,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binomial(n - 1, k) + binomial(n-1, k-1)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D0D0D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print(binomial(5, 2))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binomial(5,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binomial(4,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binomial(3,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2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binomial(3,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i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i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2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&gt; 6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binomial(4,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binomial(3,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binomial(1,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2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binomial(2,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binomial(3,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&gt; 4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 10</a:t>
                      </a:r>
                      <a:b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binomial_memoize(5,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binomial_memoize(4,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binomial_memoize(3,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binomial_memoize(2, 2)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binomial_memoize(2,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binomial_memoize(1,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binomial_memoize(1,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2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binomial_memoize(3,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binomial_memoize(2,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2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binomial_memoize(2,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&gt; 6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binomial_memoize(4,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binomial_memoize(3, 1)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3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</a:t>
                      </a:r>
                      <a:r>
                        <a:rPr lang="pt-BR" sz="11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binomial_memoize</a:t>
                      </a: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(3, 0)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|  &gt; 1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|  &gt; 4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&gt; 10</a:t>
                      </a:r>
                    </a:p>
                    <a:p>
                      <a:pPr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013541" y="4651264"/>
            <a:ext cx="29461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without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assigning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pt-BR" sz="12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wrapper.__name__</a:t>
            </a:r>
            <a:r>
              <a:rPr lang="da-DK" sz="1200" dirty="0">
                <a:solidFill>
                  <a:schemeClr val="accent1">
                    <a:lumMod val="50000"/>
                  </a:schemeClr>
                </a:solidFill>
                <a:cs typeface="Courier New" panose="02070309020205020404" pitchFamily="49" charset="0"/>
              </a:rPr>
              <a:t> 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the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name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shown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would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be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wrapper</a:t>
            </a:r>
            <a:endParaRPr lang="da-DK" sz="12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10214264" y="4104409"/>
            <a:ext cx="145472" cy="54685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8132619" y="5112930"/>
            <a:ext cx="1167245" cy="7787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9173343" y="5715298"/>
            <a:ext cx="1737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saved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recursive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calls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when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using</a:t>
            </a:r>
            <a:r>
              <a:rPr lang="da-DK" sz="1200" dirty="0">
                <a:solidFill>
                  <a:srgbClr val="C00000"/>
                </a:solidFill>
                <a:cs typeface="Courier New" panose="02070309020205020404" pitchFamily="49" charset="0"/>
              </a:rPr>
              <a:t> </a:t>
            </a:r>
            <a:r>
              <a:rPr lang="da-DK" sz="1200" dirty="0" err="1">
                <a:solidFill>
                  <a:srgbClr val="C00000"/>
                </a:solidFill>
                <a:cs typeface="Courier New" panose="02070309020205020404" pitchFamily="49" charset="0"/>
              </a:rPr>
              <a:t>memoization</a:t>
            </a:r>
            <a:endParaRPr lang="da-DK" sz="1200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Arc 12"/>
          <p:cNvSpPr/>
          <p:nvPr/>
        </p:nvSpPr>
        <p:spPr>
          <a:xfrm>
            <a:off x="9428481" y="3270738"/>
            <a:ext cx="426720" cy="600222"/>
          </a:xfrm>
          <a:prstGeom prst="arc">
            <a:avLst>
              <a:gd name="adj1" fmla="val 16606245"/>
              <a:gd name="adj2" fmla="val 4877212"/>
            </a:avLst>
          </a:prstGeom>
          <a:ln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c 13"/>
          <p:cNvSpPr/>
          <p:nvPr/>
        </p:nvSpPr>
        <p:spPr>
          <a:xfrm>
            <a:off x="9672321" y="2215805"/>
            <a:ext cx="426720" cy="600222"/>
          </a:xfrm>
          <a:prstGeom prst="arc">
            <a:avLst>
              <a:gd name="adj1" fmla="val 16606245"/>
              <a:gd name="adj2" fmla="val 4877212"/>
            </a:avLst>
          </a:prstGeom>
          <a:ln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23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96625" cy="1325563"/>
          </a:xfrm>
        </p:spPr>
        <p:txBody>
          <a:bodyPr/>
          <a:lstStyle/>
          <a:p>
            <a:r>
              <a:rPr lang="da-DK" dirty="0"/>
              <a:t>Dynamic </a:t>
            </a:r>
            <a:r>
              <a:rPr lang="da-DK" dirty="0" err="1"/>
              <a:t>programming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cache </a:t>
            </a:r>
            <a:r>
              <a:rPr lang="da-DK" dirty="0" err="1"/>
              <a:t>decorator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9757" y="4499496"/>
            <a:ext cx="11096625" cy="2085862"/>
          </a:xfrm>
        </p:spPr>
        <p:txBody>
          <a:bodyPr>
            <a:noAutofit/>
          </a:bodyPr>
          <a:lstStyle/>
          <a:p>
            <a:r>
              <a:rPr lang="da-DK" sz="2000" dirty="0"/>
              <a:t>The </a:t>
            </a:r>
            <a:r>
              <a:rPr lang="da-DK" sz="2000" dirty="0" err="1"/>
              <a:t>decorators</a:t>
            </a:r>
            <a:r>
              <a:rPr lang="da-DK" sz="2000" dirty="0"/>
              <a:t>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@cache</a:t>
            </a:r>
            <a:r>
              <a:rPr lang="da-DK" sz="2000" dirty="0"/>
              <a:t> (</a:t>
            </a:r>
            <a:r>
              <a:rPr lang="da-DK" sz="2000" dirty="0" err="1"/>
              <a:t>since</a:t>
            </a:r>
            <a:r>
              <a:rPr lang="da-DK" sz="2000" dirty="0"/>
              <a:t> Python 3.9) and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@lru_cache(maxsize=None)</a:t>
            </a:r>
            <a:r>
              <a:rPr lang="da-DK" sz="2000" dirty="0"/>
              <a:t> in the standard </a:t>
            </a:r>
            <a:r>
              <a:rPr lang="da-DK" sz="2000" dirty="0" err="1"/>
              <a:t>library</a:t>
            </a:r>
            <a:r>
              <a:rPr lang="da-DK" sz="2000" dirty="0"/>
              <a:t> </a:t>
            </a:r>
            <a:r>
              <a:rPr lang="da-DK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functools</a:t>
            </a:r>
            <a:r>
              <a:rPr lang="da-DK" sz="2000" dirty="0"/>
              <a:t> supports the same as the </a:t>
            </a:r>
            <a:r>
              <a:rPr lang="da-DK" sz="2000" dirty="0" err="1"/>
              <a:t>decorator</a:t>
            </a:r>
            <a:r>
              <a:rPr lang="da-DK" sz="2000" dirty="0"/>
              <a:t> </a:t>
            </a:r>
            <a:r>
              <a:rPr lang="da-DK" sz="2000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@memoize</a:t>
            </a:r>
          </a:p>
          <a:p>
            <a:r>
              <a:rPr lang="da-DK" sz="2000" dirty="0"/>
              <a:t>By default </a:t>
            </a:r>
            <a:r>
              <a:rPr lang="da-DK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@lru_cache </a:t>
            </a:r>
            <a:r>
              <a:rPr lang="da-DK" sz="2000" dirty="0"/>
              <a:t>at most </a:t>
            </a:r>
            <a:r>
              <a:rPr lang="da-DK" sz="2000" dirty="0" err="1"/>
              <a:t>remembers</a:t>
            </a:r>
            <a:r>
              <a:rPr lang="da-DK" sz="2000" dirty="0"/>
              <a:t> (caches) 128 </a:t>
            </a:r>
            <a:r>
              <a:rPr lang="da-DK" sz="2000" dirty="0" err="1"/>
              <a:t>previous</a:t>
            </a:r>
            <a:r>
              <a:rPr lang="da-DK" sz="2000" dirty="0"/>
              <a:t> </a:t>
            </a:r>
            <a:r>
              <a:rPr lang="da-DK" sz="2000" dirty="0" err="1"/>
              <a:t>function</a:t>
            </a:r>
            <a:r>
              <a:rPr lang="da-DK" sz="2000" dirty="0"/>
              <a:t> </a:t>
            </a:r>
            <a:r>
              <a:rPr lang="da-DK" sz="2000" dirty="0" err="1"/>
              <a:t>calls</a:t>
            </a:r>
            <a:r>
              <a:rPr lang="da-DK" sz="2000" dirty="0"/>
              <a:t>, </a:t>
            </a:r>
            <a:r>
              <a:rPr lang="da-DK" sz="2000" dirty="0" err="1"/>
              <a:t>always</a:t>
            </a:r>
            <a:r>
              <a:rPr lang="da-DK" sz="2000" dirty="0"/>
              <a:t> </a:t>
            </a:r>
            <a:r>
              <a:rPr lang="da-DK" sz="2000" dirty="0" err="1"/>
              <a:t>evicting</a:t>
            </a:r>
            <a:r>
              <a:rPr lang="da-DK" sz="2000" dirty="0"/>
              <a:t> </a:t>
            </a:r>
            <a:r>
              <a:rPr lang="da-DK" sz="2000" b="1" dirty="0" err="1"/>
              <a:t>L</a:t>
            </a:r>
            <a:r>
              <a:rPr lang="da-DK" sz="2000" dirty="0" err="1"/>
              <a:t>east</a:t>
            </a:r>
            <a:r>
              <a:rPr lang="da-DK" sz="2000" dirty="0"/>
              <a:t> </a:t>
            </a:r>
            <a:r>
              <a:rPr lang="da-DK" sz="2000" b="1" dirty="0" err="1"/>
              <a:t>R</a:t>
            </a:r>
            <a:r>
              <a:rPr lang="da-DK" sz="2000" dirty="0" err="1"/>
              <a:t>ecently</a:t>
            </a:r>
            <a:r>
              <a:rPr lang="da-DK" sz="2000" dirty="0"/>
              <a:t> </a:t>
            </a:r>
            <a:r>
              <a:rPr lang="da-DK" sz="2000" b="1" dirty="0" err="1"/>
              <a:t>U</a:t>
            </a:r>
            <a:r>
              <a:rPr lang="da-DK" sz="2000" dirty="0" err="1"/>
              <a:t>sed</a:t>
            </a:r>
            <a:r>
              <a:rPr lang="da-DK" sz="2000" dirty="0"/>
              <a:t> </a:t>
            </a:r>
            <a:r>
              <a:rPr lang="da-DK" sz="2000" dirty="0" err="1"/>
              <a:t>entries</a:t>
            </a:r>
            <a:r>
              <a:rPr lang="da-DK" sz="2000" dirty="0"/>
              <a:t> from </a:t>
            </a:r>
            <a:r>
              <a:rPr lang="da-DK" sz="2000" dirty="0" err="1"/>
              <a:t>its</a:t>
            </a:r>
            <a:r>
              <a:rPr lang="da-DK" sz="2000" dirty="0"/>
              <a:t> </a:t>
            </a:r>
            <a:r>
              <a:rPr lang="da-DK" sz="2000" dirty="0" err="1"/>
              <a:t>dictionary</a:t>
            </a:r>
            <a:endParaRPr lang="da-DK" sz="2000" dirty="0"/>
          </a:p>
          <a:p>
            <a:r>
              <a:rPr lang="da-DK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functools.cache</a:t>
            </a:r>
            <a:r>
              <a:rPr lang="da-DK" sz="2000" dirty="0"/>
              <a:t> </a:t>
            </a:r>
            <a:r>
              <a:rPr lang="da-DK" sz="2000" dirty="0" err="1"/>
              <a:t>can</a:t>
            </a:r>
            <a:r>
              <a:rPr lang="da-DK" sz="2000" dirty="0"/>
              <a:t> have problems </a:t>
            </a:r>
            <a:r>
              <a:rPr lang="da-DK" sz="2000" dirty="0" err="1"/>
              <a:t>when</a:t>
            </a:r>
            <a:r>
              <a:rPr lang="da-DK" sz="2000" dirty="0"/>
              <a:t> </a:t>
            </a:r>
            <a:r>
              <a:rPr lang="da-DK" sz="2000" dirty="0" err="1"/>
              <a:t>using</a:t>
            </a:r>
            <a:r>
              <a:rPr lang="da-DK" sz="2000" dirty="0"/>
              <a:t> </a:t>
            </a:r>
            <a:r>
              <a:rPr lang="da-DK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sys.setrecursionlimit</a:t>
            </a:r>
            <a:r>
              <a:rPr lang="da-DK" sz="2000" dirty="0"/>
              <a:t> </a:t>
            </a:r>
            <a:br>
              <a:rPr lang="da-DK" sz="2000" dirty="0"/>
            </a:br>
            <a:r>
              <a:rPr lang="da-DK" sz="2000" dirty="0"/>
              <a:t>(</a:t>
            </a:r>
            <a:r>
              <a:rPr lang="da-DK" sz="2000" dirty="0" err="1"/>
              <a:t>e.g</a:t>
            </a:r>
            <a:r>
              <a:rPr lang="da-DK" sz="2000" dirty="0"/>
              <a:t>. with Python 3.14 on Windows)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38529" y="6442619"/>
            <a:ext cx="5653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3"/>
              </a:rPr>
              <a:t>docs.python.org/3/library/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hlinkClick r:id="rId3"/>
              </a:rPr>
              <a:t>functools.html#functools.cache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4365"/>
              </p:ext>
            </p:extLst>
          </p:nvPr>
        </p:nvGraphicFramePr>
        <p:xfrm>
          <a:off x="2398553" y="1793343"/>
          <a:ext cx="7394893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489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89049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bionomial_cache.py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1737649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from functools import cache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@cache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 binomial(n,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 k == 0 or k == n: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else: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binomial(n - 1, k) + binomial(n - 1, k - 1)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E906D07-6105-2BBB-7212-A41BC8F2DD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8466" y="5920788"/>
            <a:ext cx="506810" cy="42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6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Subset</a:t>
            </a:r>
            <a:r>
              <a:rPr lang="da-DK" dirty="0"/>
              <a:t> sum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dynamic</a:t>
            </a:r>
            <a:r>
              <a:rPr lang="da-DK" dirty="0"/>
              <a:t> </a:t>
            </a:r>
            <a:r>
              <a:rPr lang="da-DK" dirty="0" err="1"/>
              <a:t>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1127" cy="3313534"/>
          </a:xfrm>
        </p:spPr>
        <p:txBody>
          <a:bodyPr>
            <a:normAutofit lnSpcReduction="10000"/>
          </a:bodyPr>
          <a:lstStyle/>
          <a:p>
            <a:r>
              <a:rPr lang="da-DK" sz="2400" dirty="0"/>
              <a:t>In the </a:t>
            </a:r>
            <a:r>
              <a:rPr lang="da-DK" sz="2400" dirty="0" err="1"/>
              <a:t>subset</a:t>
            </a:r>
            <a:r>
              <a:rPr lang="da-DK" sz="2400" dirty="0"/>
              <a:t> sum problem (</a:t>
            </a:r>
            <a:r>
              <a:rPr lang="da-DK" sz="2400" dirty="0" err="1"/>
              <a:t>Exercise</a:t>
            </a:r>
            <a:r>
              <a:rPr lang="da-DK" sz="2400" dirty="0"/>
              <a:t> 13.5)  </a:t>
            </a:r>
            <a:r>
              <a:rPr lang="da-DK" sz="2400" dirty="0" err="1"/>
              <a:t>we</a:t>
            </a:r>
            <a:r>
              <a:rPr lang="da-DK" sz="2400" dirty="0"/>
              <a:t> </a:t>
            </a:r>
            <a:r>
              <a:rPr lang="da-DK" sz="2400" dirty="0" err="1"/>
              <a:t>are</a:t>
            </a:r>
            <a:r>
              <a:rPr lang="da-DK" sz="2400" dirty="0"/>
              <a:t> given a </a:t>
            </a:r>
            <a:r>
              <a:rPr lang="da-DK" sz="2400" dirty="0" err="1"/>
              <a:t>number</a:t>
            </a:r>
            <a:r>
              <a:rPr lang="da-DK" sz="2400" dirty="0"/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da-DK" sz="2400" dirty="0"/>
              <a:t> and a list of </a:t>
            </a:r>
            <a:r>
              <a:rPr lang="da-DK" sz="2400" dirty="0" err="1"/>
              <a:t>numbers</a:t>
            </a:r>
            <a:r>
              <a:rPr lang="da-DK" sz="2400" dirty="0"/>
              <a:t>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da-DK" sz="2400" dirty="0"/>
              <a:t>, and </a:t>
            </a:r>
            <a:r>
              <a:rPr lang="da-DK" sz="2400" dirty="0" err="1"/>
              <a:t>want</a:t>
            </a:r>
            <a:r>
              <a:rPr lang="da-DK" sz="2400" dirty="0"/>
              <a:t> to </a:t>
            </a:r>
            <a:r>
              <a:rPr lang="da-DK" sz="2400" dirty="0" err="1"/>
              <a:t>determine</a:t>
            </a:r>
            <a:r>
              <a:rPr lang="da-DK" sz="2400" dirty="0"/>
              <a:t> if a </a:t>
            </a:r>
            <a:r>
              <a:rPr lang="da-DK" sz="2400" dirty="0" err="1"/>
              <a:t>subset</a:t>
            </a:r>
            <a:r>
              <a:rPr lang="da-DK" sz="2400" dirty="0"/>
              <a:t> of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da-DK" sz="2400" dirty="0"/>
              <a:t> has sum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pPr marL="0" indent="0">
              <a:buNone/>
            </a:pPr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L = [3,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2,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13,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8]   x = 22 =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a-DK" sz="2400" b="1" dirty="0">
                <a:solidFill>
                  <a:schemeClr val="accent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da-DK" sz="1600" b="1" dirty="0">
              <a:solidFill>
                <a:schemeClr val="accent1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a-DK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a-DK" sz="2400" dirty="0"/>
              <a:t>Let </a:t>
            </a:r>
            <a:r>
              <a:rPr lang="da-DK" sz="2400" dirty="0">
                <a:solidFill>
                  <a:srgbClr val="C00000"/>
                </a:solidFill>
              </a:rPr>
              <a:t>S(v, k) </a:t>
            </a:r>
            <a:r>
              <a:rPr lang="da-DK" sz="2400" dirty="0" err="1"/>
              <a:t>denote</a:t>
            </a:r>
            <a:r>
              <a:rPr lang="da-DK" sz="2400" dirty="0"/>
              <a:t> if it is </a:t>
            </a:r>
            <a:r>
              <a:rPr lang="da-DK" sz="2400" dirty="0" err="1"/>
              <a:t>possible</a:t>
            </a:r>
            <a:r>
              <a:rPr lang="da-DK" sz="2400" dirty="0"/>
              <a:t> to </a:t>
            </a:r>
            <a:r>
              <a:rPr lang="da-DK" sz="2400" dirty="0" err="1">
                <a:solidFill>
                  <a:srgbClr val="C00000"/>
                </a:solidFill>
              </a:rPr>
              <a:t>achieve</a:t>
            </a:r>
            <a:r>
              <a:rPr lang="da-DK" sz="2400" dirty="0">
                <a:solidFill>
                  <a:srgbClr val="C00000"/>
                </a:solidFill>
              </a:rPr>
              <a:t> </a:t>
            </a:r>
            <a:r>
              <a:rPr lang="da-DK" sz="2400" dirty="0" err="1">
                <a:solidFill>
                  <a:srgbClr val="C00000"/>
                </a:solidFill>
              </a:rPr>
              <a:t>value</a:t>
            </a:r>
            <a:r>
              <a:rPr lang="da-DK" sz="2400" dirty="0">
                <a:solidFill>
                  <a:srgbClr val="C00000"/>
                </a:solidFill>
              </a:rPr>
              <a:t> v with a </a:t>
            </a:r>
            <a:r>
              <a:rPr lang="da-DK" sz="2400" dirty="0" err="1">
                <a:solidFill>
                  <a:srgbClr val="C00000"/>
                </a:solidFill>
              </a:rPr>
              <a:t>subset</a:t>
            </a:r>
            <a:r>
              <a:rPr lang="da-DK" sz="2400" dirty="0">
                <a:solidFill>
                  <a:srgbClr val="C00000"/>
                </a:solidFill>
              </a:rPr>
              <a:t> of </a:t>
            </a:r>
            <a:r>
              <a:rPr lang="da-DK" sz="24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da-DK" sz="2400" dirty="0">
                <a:solidFill>
                  <a:srgbClr val="C00000"/>
                </a:solidFill>
              </a:rPr>
              <a:t>[:k]</a:t>
            </a:r>
            <a:r>
              <a:rPr lang="da-DK" sz="2400" dirty="0"/>
              <a:t>,</a:t>
            </a:r>
            <a:br>
              <a:rPr lang="da-DK" sz="2400" dirty="0"/>
            </a:br>
            <a:r>
              <a:rPr lang="da-DK" sz="2400" dirty="0"/>
              <a:t>i.e. S(v, k) = True if and </a:t>
            </a:r>
            <a:r>
              <a:rPr lang="da-DK" sz="2400" dirty="0" err="1"/>
              <a:t>only</a:t>
            </a:r>
            <a:r>
              <a:rPr lang="da-DK" sz="2400" dirty="0"/>
              <a:t> if a </a:t>
            </a:r>
            <a:r>
              <a:rPr lang="da-DK" sz="2400" dirty="0" err="1"/>
              <a:t>subset</a:t>
            </a:r>
            <a:r>
              <a:rPr lang="da-DK" sz="2400" dirty="0"/>
              <a:t> of the </a:t>
            </a:r>
            <a:r>
              <a:rPr lang="da-DK" sz="2400" dirty="0" err="1"/>
              <a:t>first</a:t>
            </a:r>
            <a:r>
              <a:rPr lang="da-DK" sz="2400" dirty="0"/>
              <a:t> k </a:t>
            </a:r>
            <a:r>
              <a:rPr lang="da-DK" sz="2400" dirty="0" err="1"/>
              <a:t>values</a:t>
            </a:r>
            <a:r>
              <a:rPr lang="da-DK" sz="2400" dirty="0"/>
              <a:t> in </a:t>
            </a:r>
            <a:r>
              <a:rPr lang="da-DK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da-DK" sz="2400" dirty="0"/>
              <a:t> has sum v</a:t>
            </a:r>
          </a:p>
          <a:p>
            <a:r>
              <a:rPr lang="da-DK" sz="2400" dirty="0"/>
              <a:t>S(v, k) </a:t>
            </a:r>
            <a:r>
              <a:rPr lang="da-DK" sz="2400" dirty="0" err="1"/>
              <a:t>can</a:t>
            </a:r>
            <a:r>
              <a:rPr lang="da-DK" sz="2400" dirty="0"/>
              <a:t> </a:t>
            </a:r>
            <a:r>
              <a:rPr lang="da-DK" sz="2400" dirty="0" err="1"/>
              <a:t>be</a:t>
            </a:r>
            <a:r>
              <a:rPr lang="da-DK" sz="2400" dirty="0"/>
              <a:t> </a:t>
            </a:r>
            <a:r>
              <a:rPr lang="da-DK" sz="2400" dirty="0" err="1"/>
              <a:t>computed</a:t>
            </a:r>
            <a:r>
              <a:rPr lang="da-DK" sz="2400" dirty="0"/>
              <a:t> from the </a:t>
            </a:r>
            <a:r>
              <a:rPr lang="da-DK" sz="2400" dirty="0" err="1"/>
              <a:t>recurrence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2044612" y="5274096"/>
                <a:ext cx="8102776" cy="130661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57188" indent="-357188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b="0" i="0" smtClean="0"/>
                        <m:t>S</m:t>
                      </m:r>
                      <m:r>
                        <m:rPr>
                          <m:nor/>
                        </m:rPr>
                        <a:rPr lang="da-DK" sz="2400" b="0" i="0" smtClean="0"/>
                        <m:t>(</m:t>
                      </m:r>
                      <m:r>
                        <m:rPr>
                          <m:nor/>
                        </m:rPr>
                        <a:rPr lang="da-DK" sz="2400" b="0" i="0" smtClean="0"/>
                        <m:t>v</m:t>
                      </m:r>
                      <m:r>
                        <m:rPr>
                          <m:nor/>
                        </m:rPr>
                        <a:rPr lang="da-DK" sz="2400" b="0" i="0" smtClean="0"/>
                        <m:t>, </m:t>
                      </m:r>
                      <m:r>
                        <m:rPr>
                          <m:nor/>
                        </m:rPr>
                        <a:rPr lang="da-DK" sz="2400" b="0" i="0" smtClean="0"/>
                        <m:t>k</m:t>
                      </m:r>
                      <m:r>
                        <m:rPr>
                          <m:nor/>
                        </m:rPr>
                        <a:rPr lang="da-DK" sz="2400" b="0" i="0" smtClean="0"/>
                        <m:t>) = </m:t>
                      </m:r>
                      <m:d>
                        <m:dPr>
                          <m:begChr m:val="{"/>
                          <m:endChr m:val=""/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  <m:brk m:alnAt="7"/>
                                      </m:rPr>
                                      <a:rPr lang="da-DK" sz="2400" b="0" i="0" smtClean="0"/>
                                      <m:t>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rue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False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da-DK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= 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and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= 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= 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and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≠ 0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S</m:t>
                                </m:r>
                                <m:d>
                                  <m:d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−1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−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>
                                    <a:latin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L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−1)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sz="2400" smtClean="0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612" y="5274096"/>
                <a:ext cx="8102776" cy="13066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6252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Subset</a:t>
            </a:r>
            <a:r>
              <a:rPr lang="da-DK" dirty="0"/>
              <a:t> sum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dynamic</a:t>
            </a:r>
            <a:r>
              <a:rPr lang="da-DK" dirty="0"/>
              <a:t> </a:t>
            </a:r>
            <a:r>
              <a:rPr lang="da-DK" dirty="0" err="1"/>
              <a:t>programming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383411"/>
              </p:ext>
            </p:extLst>
          </p:nvPr>
        </p:nvGraphicFramePr>
        <p:xfrm>
          <a:off x="1294447" y="1821007"/>
          <a:ext cx="9603105" cy="40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310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subset_sum_dp.py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endParaRPr 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value == 0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 - 1) or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 - L[k - 1],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(L))</a:t>
                      </a:r>
                      <a:endParaRPr lang="pt-BR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subset_sum(11, [2, 3, 8, 11, -1])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subset_sum(6, [2, 3, 8, 11, -1])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0A2BA-4BE1-F9C8-49AA-E28D5CC768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6237" y="5681077"/>
                <a:ext cx="6132381" cy="101972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</a:ln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57188" indent="-357188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1800" b="0" i="0" smtClean="0"/>
                        <m:t>S</m:t>
                      </m:r>
                      <m:r>
                        <m:rPr>
                          <m:nor/>
                        </m:rPr>
                        <a:rPr lang="da-DK" sz="1800" b="0" i="0" smtClean="0"/>
                        <m:t>(</m:t>
                      </m:r>
                      <m:r>
                        <m:rPr>
                          <m:nor/>
                        </m:rPr>
                        <a:rPr lang="da-DK" sz="1800" b="0" i="0" smtClean="0"/>
                        <m:t>v</m:t>
                      </m:r>
                      <m:r>
                        <m:rPr>
                          <m:nor/>
                        </m:rPr>
                        <a:rPr lang="da-DK" sz="1800" b="0" i="0" smtClean="0"/>
                        <m:t>, </m:t>
                      </m:r>
                      <m:r>
                        <m:rPr>
                          <m:nor/>
                        </m:rPr>
                        <a:rPr lang="da-DK" sz="1800" b="0" i="0" smtClean="0"/>
                        <m:t>k</m:t>
                      </m:r>
                      <m:r>
                        <m:rPr>
                          <m:nor/>
                        </m:rPr>
                        <a:rPr lang="da-DK" sz="1800" b="0" i="0" smtClean="0"/>
                        <m:t>) = </m:t>
                      </m:r>
                      <m:d>
                        <m:dPr>
                          <m:begChr m:val="{"/>
                          <m:endChr m:val=""/>
                          <m:ctrlPr>
                            <a:rPr lang="da-DK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1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  <m:brk m:alnAt="7"/>
                                      </m:rPr>
                                      <a:rPr lang="da-DK" sz="1800" b="0" i="0" smtClean="0"/>
                                      <m:t>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rue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False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da-DK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180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= 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and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= 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= 0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and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≠ 0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S</m:t>
                                </m:r>
                                <m:d>
                                  <m:dPr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−1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or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  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S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 − 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>
                                    <a:latin typeface="Courier New" panose="02070309020205020404" pitchFamily="49" charset="0"/>
                                    <a:cs typeface="Courier New" panose="02070309020205020404" pitchFamily="49" charset="0"/>
                                  </a:rPr>
                                  <m:t>L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18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sz="1800" b="0" i="0" smtClean="0"/>
                                  <m:t>−1)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sz="1800" smtClean="0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D0A2BA-4BE1-F9C8-49AA-E28D5CC76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237" y="5681077"/>
                <a:ext cx="6132381" cy="1019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492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4010" cy="1325563"/>
          </a:xfrm>
        </p:spPr>
        <p:txBody>
          <a:bodyPr>
            <a:normAutofit fontScale="90000"/>
          </a:bodyPr>
          <a:lstStyle/>
          <a:p>
            <a:r>
              <a:rPr lang="da-DK" dirty="0" err="1"/>
              <a:t>Question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 is a </a:t>
            </a:r>
            <a:r>
              <a:rPr lang="da-DK" dirty="0" err="1"/>
              <a:t>bound</a:t>
            </a:r>
            <a:r>
              <a:rPr lang="da-DK" dirty="0"/>
              <a:t> on the </a:t>
            </a:r>
            <a:r>
              <a:rPr lang="da-DK" dirty="0" err="1"/>
              <a:t>size</a:t>
            </a:r>
            <a:r>
              <a:rPr lang="da-DK" dirty="0"/>
              <a:t> </a:t>
            </a:r>
            <a:r>
              <a:rPr lang="da-DK" dirty="0" err="1"/>
              <a:t>order</a:t>
            </a:r>
            <a:r>
              <a:rPr lang="da-DK" dirty="0"/>
              <a:t> of the </a:t>
            </a:r>
            <a:r>
              <a:rPr lang="da-DK" dirty="0" err="1"/>
              <a:t>memoization</a:t>
            </a:r>
            <a:r>
              <a:rPr lang="da-DK" dirty="0"/>
              <a:t> </a:t>
            </a:r>
            <a:r>
              <a:rPr lang="da-DK" dirty="0" err="1"/>
              <a:t>table</a:t>
            </a:r>
            <a:r>
              <a:rPr lang="da-DK" dirty="0"/>
              <a:t> if all </a:t>
            </a:r>
            <a:r>
              <a:rPr lang="da-DK" dirty="0" err="1"/>
              <a:t>values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possitive</a:t>
            </a:r>
            <a:r>
              <a:rPr lang="da-DK" dirty="0"/>
              <a:t> </a:t>
            </a:r>
            <a:r>
              <a:rPr lang="da-DK" dirty="0" err="1"/>
              <a:t>integers</a:t>
            </a:r>
            <a:r>
              <a:rPr lang="da-DK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9364" y="2240324"/>
            <a:ext cx="3602636" cy="3801726"/>
          </a:xfrm>
        </p:spPr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len(L)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sum(L)</a:t>
            </a: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a-DK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len(L)</a:t>
            </a:r>
            <a:endParaRPr lang="en-US" baseline="30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len(L)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>
                <a:latin typeface="Courier New" panose="02070309020205020404" pitchFamily="49" charset="0"/>
                <a:cs typeface="Courier New" panose="02070309020205020404" pitchFamily="49" charset="0"/>
              </a:rPr>
              <a:t>len(L)*sum(L)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indent="-514350">
              <a:buFont typeface="+mj-lt"/>
              <a:buAutoNum type="alphaLcParenR"/>
            </a:pP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know</a:t>
            </a:r>
            <a:endParaRPr lang="da-DK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32764"/>
              </p:ext>
            </p:extLst>
          </p:nvPr>
        </p:nvGraphicFramePr>
        <p:xfrm>
          <a:off x="196345" y="2240324"/>
          <a:ext cx="7883843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8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subset_sum_dp.py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endParaRPr 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value == 0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k-1) or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 - L[k-1], k-1)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(L))</a:t>
                      </a:r>
                      <a:endParaRPr lang="pt-BR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subset_sum(11, [2, 3, 8, 11, -1])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subset_sum(6, [2, 3, 8, 11, -1])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5" name="Smiley Face 4" descr="QuizAnswer"/>
          <p:cNvSpPr/>
          <p:nvPr/>
        </p:nvSpPr>
        <p:spPr>
          <a:xfrm>
            <a:off x="8196792" y="3807829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miley Face 5" descr="QuizAnswer"/>
          <p:cNvSpPr/>
          <p:nvPr/>
        </p:nvSpPr>
        <p:spPr>
          <a:xfrm>
            <a:off x="8196792" y="4814667"/>
            <a:ext cx="374567" cy="363338"/>
          </a:xfrm>
          <a:prstGeom prst="smileyFace">
            <a:avLst>
              <a:gd name="adj" fmla="val 4653"/>
            </a:avLst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93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482"/>
            <a:ext cx="10515600" cy="1325563"/>
          </a:xfrm>
        </p:spPr>
        <p:txBody>
          <a:bodyPr/>
          <a:lstStyle/>
          <a:p>
            <a:r>
              <a:rPr lang="da-DK" dirty="0" err="1"/>
              <a:t>Subset</a:t>
            </a:r>
            <a:r>
              <a:rPr lang="da-DK" dirty="0"/>
              <a:t> sum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dynamic</a:t>
            </a:r>
            <a:r>
              <a:rPr lang="da-DK" dirty="0"/>
              <a:t> </a:t>
            </a:r>
            <a:r>
              <a:rPr lang="da-DK" dirty="0" err="1"/>
              <a:t>programming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05600"/>
              </p:ext>
            </p:extLst>
          </p:nvPr>
        </p:nvGraphicFramePr>
        <p:xfrm>
          <a:off x="600163" y="1375697"/>
          <a:ext cx="7009130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91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subset_sum_dp.py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subset_sum_solution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L):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@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endParaRPr 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 value == 0: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return []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else: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return None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solution =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solution != None: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solution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solution =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 - L[k - 1],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solution != None: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solution + [L[k - 1]]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None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(x,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(L))</a:t>
                      </a:r>
                      <a:endParaRPr lang="pt-BR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2401"/>
              </p:ext>
            </p:extLst>
          </p:nvPr>
        </p:nvGraphicFramePr>
        <p:xfrm>
          <a:off x="5271682" y="2282477"/>
          <a:ext cx="632015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1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231854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753525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subset_sum_solution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(11, [2, 3, 8, 11, -1])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[3, 8]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en-US" sz="1800" b="1" baseline="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subset_sum_solution</a:t>
                      </a:r>
                      <a:r>
                        <a:rPr lang="en-US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(6, [2, 3, 8, 11, -1])</a:t>
                      </a:r>
                      <a:endParaRPr lang="pt-BR" sz="1800" b="1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None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983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Knapsack</a:t>
            </a:r>
            <a:r>
              <a:rPr lang="da-DK" dirty="0"/>
              <a:t> problem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839049"/>
              </p:ext>
            </p:extLst>
          </p:nvPr>
        </p:nvGraphicFramePr>
        <p:xfrm>
          <a:off x="10000251" y="489794"/>
          <a:ext cx="1957325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35268">
                  <a:extLst>
                    <a:ext uri="{9D8B030D-6E8A-4147-A177-3AD203B41FA5}">
                      <a16:colId xmlns:a16="http://schemas.microsoft.com/office/drawing/2014/main" val="1725430652"/>
                    </a:ext>
                  </a:extLst>
                </a:gridCol>
                <a:gridCol w="959676">
                  <a:extLst>
                    <a:ext uri="{9D8B030D-6E8A-4147-A177-3AD203B41FA5}">
                      <a16:colId xmlns:a16="http://schemas.microsoft.com/office/drawing/2014/main" val="483216421"/>
                    </a:ext>
                  </a:extLst>
                </a:gridCol>
                <a:gridCol w="762381">
                  <a:extLst>
                    <a:ext uri="{9D8B030D-6E8A-4147-A177-3AD203B41FA5}">
                      <a16:colId xmlns:a16="http://schemas.microsoft.com/office/drawing/2014/main" val="2621344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Volume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053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11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64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8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56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9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327671"/>
                  </a:ext>
                </a:extLst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576063"/>
            <a:ext cx="10749197" cy="369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Given a </a:t>
            </a:r>
            <a:r>
              <a:rPr lang="da-DK" b="1" dirty="0" err="1">
                <a:solidFill>
                  <a:srgbClr val="C00000"/>
                </a:solidFill>
              </a:rPr>
              <a:t>knapsack</a:t>
            </a:r>
            <a:r>
              <a:rPr lang="da-DK" dirty="0"/>
              <a:t> with </a:t>
            </a:r>
            <a:r>
              <a:rPr lang="da-DK" dirty="0" err="1"/>
              <a:t>volume</a:t>
            </a:r>
            <a:r>
              <a:rPr lang="da-DK" dirty="0"/>
              <a:t> </a:t>
            </a:r>
            <a:r>
              <a:rPr lang="da-DK" b="1" dirty="0" err="1">
                <a:solidFill>
                  <a:srgbClr val="C00000"/>
                </a:solidFill>
              </a:rPr>
              <a:t>capacity</a:t>
            </a:r>
            <a:r>
              <a:rPr lang="da-DK" b="1" dirty="0">
                <a:solidFill>
                  <a:srgbClr val="C00000"/>
                </a:solidFill>
              </a:rPr>
              <a:t> C</a:t>
            </a:r>
            <a:r>
              <a:rPr lang="da-DK" dirty="0"/>
              <a:t>, and set of </a:t>
            </a:r>
            <a:br>
              <a:rPr lang="da-DK" dirty="0"/>
            </a:br>
            <a:r>
              <a:rPr lang="da-DK" b="1" dirty="0" err="1">
                <a:solidFill>
                  <a:srgbClr val="C00000"/>
                </a:solidFill>
              </a:rPr>
              <a:t>objects</a:t>
            </a:r>
            <a:r>
              <a:rPr lang="da-DK" dirty="0"/>
              <a:t> with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b="1" dirty="0" err="1">
                <a:solidFill>
                  <a:srgbClr val="C00000"/>
                </a:solidFill>
              </a:rPr>
              <a:t>volumes</a:t>
            </a:r>
            <a:r>
              <a:rPr lang="da-DK" b="1" dirty="0">
                <a:solidFill>
                  <a:srgbClr val="C00000"/>
                </a:solidFill>
              </a:rPr>
              <a:t> and </a:t>
            </a:r>
            <a:r>
              <a:rPr lang="da-DK" b="1" dirty="0" err="1">
                <a:solidFill>
                  <a:srgbClr val="C00000"/>
                </a:solidFill>
              </a:rPr>
              <a:t>value</a:t>
            </a:r>
            <a:endParaRPr lang="da-DK" dirty="0"/>
          </a:p>
          <a:p>
            <a:r>
              <a:rPr lang="da-DK" b="1" dirty="0" err="1"/>
              <a:t>Objective</a:t>
            </a:r>
            <a:r>
              <a:rPr lang="da-DK" dirty="0"/>
              <a:t>: Find a </a:t>
            </a:r>
            <a:r>
              <a:rPr lang="da-DK" dirty="0" err="1"/>
              <a:t>subset</a:t>
            </a:r>
            <a:r>
              <a:rPr lang="da-DK" dirty="0"/>
              <a:t> of the </a:t>
            </a:r>
            <a:r>
              <a:rPr lang="da-DK" dirty="0" err="1"/>
              <a:t>objects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fits</a:t>
            </a:r>
            <a:r>
              <a:rPr lang="da-DK" dirty="0"/>
              <a:t> in the</a:t>
            </a:r>
            <a:br>
              <a:rPr lang="da-DK" dirty="0"/>
            </a:br>
            <a:r>
              <a:rPr lang="da-DK" dirty="0" err="1"/>
              <a:t>knapsack</a:t>
            </a:r>
            <a:r>
              <a:rPr lang="da-DK" dirty="0"/>
              <a:t> (sum of </a:t>
            </a:r>
            <a:r>
              <a:rPr lang="da-DK" dirty="0" err="1"/>
              <a:t>volume</a:t>
            </a:r>
            <a:r>
              <a:rPr lang="da-DK" dirty="0"/>
              <a:t> ≤ </a:t>
            </a:r>
            <a:r>
              <a:rPr lang="da-DK" dirty="0" err="1"/>
              <a:t>capacity</a:t>
            </a:r>
            <a:r>
              <a:rPr lang="da-DK" dirty="0"/>
              <a:t>) and has maximal </a:t>
            </a:r>
            <a:r>
              <a:rPr lang="da-DK" dirty="0" err="1"/>
              <a:t>value</a:t>
            </a:r>
            <a:endParaRPr lang="da-DK" dirty="0"/>
          </a:p>
          <a:p>
            <a:r>
              <a:rPr lang="da-DK" b="1" dirty="0" err="1"/>
              <a:t>Example</a:t>
            </a:r>
            <a:r>
              <a:rPr lang="da-DK" dirty="0"/>
              <a:t>: If C = 5 and the </a:t>
            </a:r>
            <a:r>
              <a:rPr lang="da-DK" dirty="0" err="1"/>
              <a:t>volume</a:t>
            </a:r>
            <a:r>
              <a:rPr lang="da-DK" dirty="0"/>
              <a:t> and </a:t>
            </a:r>
            <a:r>
              <a:rPr lang="da-DK" dirty="0" err="1"/>
              <a:t>weights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given by the </a:t>
            </a:r>
            <a:r>
              <a:rPr lang="da-DK" dirty="0" err="1"/>
              <a:t>table</a:t>
            </a:r>
            <a:r>
              <a:rPr lang="da-DK" dirty="0"/>
              <a:t>, </a:t>
            </a:r>
            <a:r>
              <a:rPr lang="da-DK" dirty="0" err="1"/>
              <a:t>then</a:t>
            </a:r>
            <a:r>
              <a:rPr lang="da-DK" dirty="0"/>
              <a:t> the maximal </a:t>
            </a:r>
            <a:r>
              <a:rPr lang="da-DK" dirty="0" err="1"/>
              <a:t>value</a:t>
            </a:r>
            <a:r>
              <a:rPr lang="da-DK" dirty="0"/>
              <a:t> 15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achieved</a:t>
            </a:r>
            <a:r>
              <a:rPr lang="da-DK" dirty="0"/>
              <a:t> by the 2nd and 3rd </a:t>
            </a:r>
            <a:r>
              <a:rPr lang="da-DK" dirty="0" err="1"/>
              <a:t>object</a:t>
            </a:r>
            <a:endParaRPr lang="da-DK" dirty="0"/>
          </a:p>
          <a:p>
            <a:r>
              <a:rPr lang="da-DK" dirty="0"/>
              <a:t>Let </a:t>
            </a:r>
            <a:r>
              <a:rPr lang="da-DK" dirty="0">
                <a:solidFill>
                  <a:srgbClr val="C00000"/>
                </a:solidFill>
              </a:rPr>
              <a:t>V(c, k)</a:t>
            </a:r>
            <a:r>
              <a:rPr lang="da-DK" dirty="0"/>
              <a:t> </a:t>
            </a:r>
            <a:r>
              <a:rPr lang="da-DK" dirty="0" err="1"/>
              <a:t>denote</a:t>
            </a:r>
            <a:r>
              <a:rPr lang="da-DK" dirty="0"/>
              <a:t> the </a:t>
            </a:r>
            <a:r>
              <a:rPr lang="da-DK" dirty="0" err="1">
                <a:solidFill>
                  <a:srgbClr val="C00000"/>
                </a:solidFill>
              </a:rPr>
              <a:t>maximum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value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achievable</a:t>
            </a:r>
            <a:r>
              <a:rPr lang="da-DK" dirty="0">
                <a:solidFill>
                  <a:srgbClr val="C00000"/>
                </a:solidFill>
              </a:rPr>
              <a:t> by a </a:t>
            </a:r>
            <a:r>
              <a:rPr lang="da-DK" dirty="0" err="1">
                <a:solidFill>
                  <a:srgbClr val="C00000"/>
                </a:solidFill>
              </a:rPr>
              <a:t>subset</a:t>
            </a:r>
            <a:r>
              <a:rPr lang="da-DK" dirty="0">
                <a:solidFill>
                  <a:srgbClr val="C00000"/>
                </a:solidFill>
              </a:rPr>
              <a:t> of the </a:t>
            </a:r>
            <a:r>
              <a:rPr lang="da-DK" dirty="0" err="1">
                <a:solidFill>
                  <a:srgbClr val="C00000"/>
                </a:solidFill>
              </a:rPr>
              <a:t>first</a:t>
            </a:r>
            <a:r>
              <a:rPr lang="da-DK" dirty="0">
                <a:solidFill>
                  <a:srgbClr val="C00000"/>
                </a:solidFill>
              </a:rPr>
              <a:t> k </a:t>
            </a:r>
            <a:r>
              <a:rPr lang="da-DK" dirty="0" err="1">
                <a:solidFill>
                  <a:srgbClr val="C00000"/>
                </a:solidFill>
              </a:rPr>
              <a:t>objects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within</a:t>
            </a:r>
            <a:r>
              <a:rPr lang="da-DK" dirty="0">
                <a:solidFill>
                  <a:srgbClr val="C00000"/>
                </a:solidFill>
              </a:rPr>
              <a:t> </a:t>
            </a:r>
            <a:r>
              <a:rPr lang="da-DK" dirty="0" err="1">
                <a:solidFill>
                  <a:srgbClr val="C00000"/>
                </a:solidFill>
              </a:rPr>
              <a:t>capacity</a:t>
            </a:r>
            <a:r>
              <a:rPr lang="da-DK">
                <a:solidFill>
                  <a:srgbClr val="C00000"/>
                </a:solidFill>
              </a:rPr>
              <a:t> c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449705" y="5274096"/>
                <a:ext cx="11272603" cy="130661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57188" indent="-357188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i="0" smtClean="0"/>
                        <m:t>V</m:t>
                      </m:r>
                      <m:r>
                        <m:rPr>
                          <m:nor/>
                        </m:rPr>
                        <a:rPr lang="da-DK" sz="2400" b="0" i="0" smtClean="0"/>
                        <m:t>(</m:t>
                      </m:r>
                      <m:r>
                        <m:rPr>
                          <m:nor/>
                        </m:rPr>
                        <a:rPr lang="da-DK" sz="2400" b="0" i="0" smtClean="0"/>
                        <m:t>c</m:t>
                      </m:r>
                      <m:r>
                        <m:rPr>
                          <m:nor/>
                        </m:rPr>
                        <a:rPr lang="da-DK" sz="2400" b="0" i="0" smtClean="0"/>
                        <m:t>, </m:t>
                      </m:r>
                      <m:r>
                        <m:rPr>
                          <m:nor/>
                        </m:rPr>
                        <a:rPr lang="da-DK" sz="2400" b="0" i="0" smtClean="0"/>
                        <m:t>k</m:t>
                      </m:r>
                      <m:r>
                        <m:rPr>
                          <m:nor/>
                        </m:rPr>
                        <a:rPr lang="da-DK" sz="2400" b="0" i="0" smtClean="0"/>
                        <m:t>) = </m:t>
                      </m:r>
                      <m:d>
                        <m:dPr>
                          <m:begChr m:val="{"/>
                          <m:endChr m:val=""/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  <m:brk m:alnAt="7"/>
                                      </m:rPr>
                                      <a:rPr lang="da-DK" sz="2400" b="0" i="0" smtClean="0"/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− 1)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da-DK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i="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= 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volume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[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−1] &gt;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{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</m:t>
                                </m:r>
                                <m:d>
                                  <m:d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value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+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−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volume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− 1)</m:t>
                                </m:r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sz="2400" i="0" smtClean="0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05" y="5274096"/>
                <a:ext cx="11272603" cy="13066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620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203079"/>
            <a:ext cx="10515600" cy="1325563"/>
          </a:xfrm>
        </p:spPr>
        <p:txBody>
          <a:bodyPr/>
          <a:lstStyle/>
          <a:p>
            <a:r>
              <a:rPr lang="da-DK" dirty="0" err="1"/>
              <a:t>Knapsack</a:t>
            </a:r>
            <a:r>
              <a:rPr lang="da-DK" dirty="0"/>
              <a:t> – </a:t>
            </a:r>
            <a:r>
              <a:rPr lang="da-DK" dirty="0" err="1"/>
              <a:t>maximum</a:t>
            </a:r>
            <a:r>
              <a:rPr lang="da-DK" dirty="0"/>
              <a:t> </a:t>
            </a:r>
            <a:r>
              <a:rPr lang="da-DK" dirty="0" err="1"/>
              <a:t>value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75038"/>
              </p:ext>
            </p:extLst>
          </p:nvPr>
        </p:nvGraphicFramePr>
        <p:xfrm>
          <a:off x="1157922" y="1690688"/>
          <a:ext cx="9876155" cy="483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6155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knapsack_value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(volume, value, capacity):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8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endParaRPr lang="en-US" sz="18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k):  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solve with </a:t>
                      </a:r>
                      <a:r>
                        <a:rPr lang="en-US" sz="18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capacity c and objects 0..k-1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0:  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 objects to put in knapsack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0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v =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k - 1)  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try without object k-1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volume[k - 1] &lt;= c:  </a:t>
                      </a:r>
                      <a:r>
                        <a:rPr 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try also with object k-1 if space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v = max(v, value[k - 1] +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 - volume[k - 1], k - 1))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v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(capacity, 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8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8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8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volumes = [3, 3, 2, 5]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 = [6, 7, 8,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knapsack_value(volumes, values, 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8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262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312"/>
            <a:ext cx="10515600" cy="1325563"/>
          </a:xfrm>
        </p:spPr>
        <p:txBody>
          <a:bodyPr/>
          <a:lstStyle/>
          <a:p>
            <a:r>
              <a:rPr lang="da-DK" dirty="0" err="1"/>
              <a:t>Knapsack</a:t>
            </a:r>
            <a:r>
              <a:rPr lang="da-DK" dirty="0"/>
              <a:t> – </a:t>
            </a:r>
            <a:r>
              <a:rPr lang="da-DK" dirty="0" err="1"/>
              <a:t>maximum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and </a:t>
            </a:r>
            <a:r>
              <a:rPr lang="da-DK" dirty="0" err="1"/>
              <a:t>objects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12243"/>
              </p:ext>
            </p:extLst>
          </p:nvPr>
        </p:nvGraphicFramePr>
        <p:xfrm>
          <a:off x="1848485" y="1405875"/>
          <a:ext cx="8495030" cy="531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95030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(volume, value, capacity):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</a:t>
                      </a:r>
                      <a:r>
                        <a:rPr lang="en-US" sz="1600" b="1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memoize</a:t>
                      </a:r>
                      <a:endParaRPr lang="en-US" sz="1600" b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(c, k):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solve with </a:t>
                      </a:r>
                      <a:r>
                        <a:rPr lang="en-US" sz="1600" b="1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capacity c and objects 0..k-1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k == 0: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no objects to put in knapsack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return 0, []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v, solution =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</a:t>
                      </a:r>
                      <a:r>
                        <a:rPr lang="en-US" sz="1600" b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k - 1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try without object k-1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 volume[k - 1] &lt;= c:  </a:t>
                      </a:r>
                      <a:r>
                        <a:rPr lang="en-US" sz="1600" b="1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# try also with object k-1 if space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v2, sol2 =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 - volume[k - 1], k - 1)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v2 = v2 + value[k - 1]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 v2 &gt; v: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v = v2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solution = sol2 + [k - 1]</a:t>
                      </a:r>
                    </a:p>
                    <a:p>
                      <a:pPr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return v, solution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solve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(capacity,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(volume))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volumes = [3,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 = [6,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knapsack(volumes, values, 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(15, [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7239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576063"/>
            <a:ext cx="10749197" cy="3698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7188" indent="-35718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/>
              <p:cNvSpPr txBox="1">
                <a:spLocks/>
              </p:cNvSpPr>
              <p:nvPr/>
            </p:nvSpPr>
            <p:spPr>
              <a:xfrm>
                <a:off x="576496" y="1690688"/>
                <a:ext cx="11272603" cy="1306611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57188" indent="-357188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Clr>
                    <a:srgbClr val="C00000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Clr>
                    <a:srgbClr val="C00000"/>
                  </a:buClr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a-DK" sz="2400" i="0" smtClean="0"/>
                        <m:t>V</m:t>
                      </m:r>
                      <m:r>
                        <m:rPr>
                          <m:nor/>
                        </m:rPr>
                        <a:rPr lang="da-DK" sz="2400" b="0" i="0" smtClean="0"/>
                        <m:t>(</m:t>
                      </m:r>
                      <m:r>
                        <m:rPr>
                          <m:nor/>
                        </m:rPr>
                        <a:rPr lang="da-DK" sz="2400" b="0" i="0" smtClean="0"/>
                        <m:t>c</m:t>
                      </m:r>
                      <m:r>
                        <m:rPr>
                          <m:nor/>
                        </m:rPr>
                        <a:rPr lang="da-DK" sz="2400" b="0" i="0" smtClean="0"/>
                        <m:t>, </m:t>
                      </m:r>
                      <m:r>
                        <m:rPr>
                          <m:nor/>
                        </m:rPr>
                        <a:rPr lang="da-DK" sz="2400" b="0" i="0" smtClean="0"/>
                        <m:t>k</m:t>
                      </m:r>
                      <m:r>
                        <m:rPr>
                          <m:nor/>
                        </m:rPr>
                        <a:rPr lang="da-DK" sz="2400" b="0" i="0" smtClean="0"/>
                        <m:t>) = </m:t>
                      </m:r>
                      <m:d>
                        <m:dPr>
                          <m:begChr m:val="{"/>
                          <m:endChr m:val=""/>
                          <m:ctrlPr>
                            <a:rPr lang="da-DK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da-DK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  <m:brk m:alnAt="7"/>
                                      </m:rPr>
                                      <a:rPr lang="da-DK" sz="2400" b="0" i="0" smtClean="0"/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− 1)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da-DK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i="0" smtClean="0"/>
                                      <m:t>if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i="0" smtClean="0"/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= 0</m:t>
                                    </m:r>
                                  </m:e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value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[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−1] &gt;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max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{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</m:t>
                                </m:r>
                                <m:d>
                                  <m:dPr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c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,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value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a:rPr lang="da-DK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+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c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−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volume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a-DK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k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a-DK" sz="2400" b="0" i="0" smtClean="0"/>
                                      <m:t> − 1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k</m:t>
                                </m:r>
                                <m:r>
                                  <m:rPr>
                                    <m:nor/>
                                  </m:rPr>
                                  <a:rPr lang="da-DK" sz="2400" b="0" i="0" smtClean="0"/>
                                  <m:t> − 1)}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da-DK" sz="2400" i="0" smtClean="0"/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96" y="1690688"/>
                <a:ext cx="11272603" cy="13066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 err="1"/>
              <a:t>Knapsack</a:t>
            </a:r>
            <a:r>
              <a:rPr lang="da-DK" dirty="0"/>
              <a:t> - </a:t>
            </a:r>
            <a:r>
              <a:rPr lang="da-DK" dirty="0" err="1"/>
              <a:t>Table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458267" y="4065225"/>
            <a:ext cx="3768913" cy="23759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60261" y="3603560"/>
            <a:ext cx="45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/>
              <a:t>c</a:t>
            </a:r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2117296" y="4933275"/>
            <a:ext cx="45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k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5323513" y="3245795"/>
            <a:ext cx="134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 err="1"/>
              <a:t>capacity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2014618" y="3977405"/>
            <a:ext cx="45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2400" dirty="0"/>
              <a:t>0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-115899" y="6023369"/>
            <a:ext cx="2581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2400" dirty="0"/>
              <a:t>len(</a:t>
            </a:r>
            <a:r>
              <a:rPr lang="da-DK" sz="2400" dirty="0" err="1"/>
              <a:t>volume</a:t>
            </a:r>
            <a:r>
              <a:rPr lang="da-DK" sz="2400" dirty="0"/>
              <a:t>)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301868" y="3647935"/>
            <a:ext cx="451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2400" dirty="0"/>
              <a:t>0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2458267" y="5067141"/>
            <a:ext cx="3761172" cy="26516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568418" y="5077873"/>
            <a:ext cx="235076" cy="246267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568418" y="4810141"/>
            <a:ext cx="235076" cy="246267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278267" y="4820874"/>
            <a:ext cx="235076" cy="246267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43401" y="4671984"/>
            <a:ext cx="1103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sz="2400" dirty="0"/>
              <a:t>k-1</a:t>
            </a:r>
            <a:endParaRPr lang="en-US" sz="2400" dirty="0"/>
          </a:p>
        </p:txBody>
      </p:sp>
      <p:cxnSp>
        <p:nvCxnSpPr>
          <p:cNvPr id="22" name="Straight Arrow Connector 21"/>
          <p:cNvCxnSpPr/>
          <p:nvPr/>
        </p:nvCxnSpPr>
        <p:spPr>
          <a:xfrm>
            <a:off x="3392327" y="4961509"/>
            <a:ext cx="1240379" cy="259997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685194" y="4939727"/>
            <a:ext cx="0" cy="25967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Left Brace 33"/>
          <p:cNvSpPr/>
          <p:nvPr/>
        </p:nvSpPr>
        <p:spPr>
          <a:xfrm rot="5400000">
            <a:off x="3859190" y="3271551"/>
            <a:ext cx="128304" cy="129015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3014962" y="3373041"/>
            <a:ext cx="18966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000" dirty="0" err="1"/>
              <a:t>volume</a:t>
            </a:r>
            <a:r>
              <a:rPr lang="da-DK" sz="2000" dirty="0"/>
              <a:t>[k-1]</a:t>
            </a:r>
            <a:endParaRPr lang="en-US" sz="2000" dirty="0"/>
          </a:p>
        </p:txBody>
      </p:sp>
      <p:sp>
        <p:nvSpPr>
          <p:cNvPr id="36" name="TextBox 35"/>
          <p:cNvSpPr txBox="1"/>
          <p:nvPr/>
        </p:nvSpPr>
        <p:spPr>
          <a:xfrm>
            <a:off x="3406364" y="5730981"/>
            <a:ext cx="188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800" dirty="0"/>
              <a:t>V(c, k)</a:t>
            </a:r>
            <a:endParaRPr lang="en-US" sz="2800" dirty="0"/>
          </a:p>
        </p:txBody>
      </p:sp>
      <p:sp>
        <p:nvSpPr>
          <p:cNvPr id="37" name="Content Placeholder 6"/>
          <p:cNvSpPr>
            <a:spLocks noGrp="1"/>
          </p:cNvSpPr>
          <p:nvPr>
            <p:ph idx="1"/>
          </p:nvPr>
        </p:nvSpPr>
        <p:spPr>
          <a:xfrm>
            <a:off x="7061039" y="4630971"/>
            <a:ext cx="4474580" cy="1407095"/>
          </a:xfrm>
        </p:spPr>
        <p:txBody>
          <a:bodyPr/>
          <a:lstStyle/>
          <a:p>
            <a:r>
              <a:rPr lang="da-DK" dirty="0" err="1"/>
              <a:t>systematic</a:t>
            </a:r>
            <a:r>
              <a:rPr lang="da-DK" dirty="0"/>
              <a:t> </a:t>
            </a:r>
            <a:r>
              <a:rPr lang="da-DK" dirty="0" err="1"/>
              <a:t>fill</a:t>
            </a:r>
            <a:r>
              <a:rPr lang="da-DK" dirty="0"/>
              <a:t> out </a:t>
            </a:r>
            <a:r>
              <a:rPr lang="da-DK" dirty="0" err="1"/>
              <a:t>table</a:t>
            </a:r>
            <a:endParaRPr lang="da-DK" dirty="0"/>
          </a:p>
          <a:p>
            <a:r>
              <a:rPr lang="da-DK" dirty="0" err="1"/>
              <a:t>only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remember</a:t>
            </a: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rows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992391" y="6191176"/>
            <a:ext cx="235076" cy="246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Arc 1"/>
          <p:cNvSpPr/>
          <p:nvPr/>
        </p:nvSpPr>
        <p:spPr>
          <a:xfrm>
            <a:off x="6096000" y="5774730"/>
            <a:ext cx="786208" cy="836068"/>
          </a:xfrm>
          <a:prstGeom prst="arc">
            <a:avLst>
              <a:gd name="adj1" fmla="val 5891510"/>
              <a:gd name="adj2" fmla="val 9812919"/>
            </a:avLst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991964" y="6318622"/>
            <a:ext cx="13456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600" dirty="0">
                <a:solidFill>
                  <a:srgbClr val="C00000"/>
                </a:solidFill>
              </a:rPr>
              <a:t>final</a:t>
            </a:r>
            <a:br>
              <a:rPr lang="da-DK" sz="1600" dirty="0">
                <a:solidFill>
                  <a:srgbClr val="C00000"/>
                </a:solidFill>
              </a:rPr>
            </a:br>
            <a:r>
              <a:rPr lang="da-DK" sz="1600" dirty="0" err="1">
                <a:solidFill>
                  <a:srgbClr val="C00000"/>
                </a:solidFill>
              </a:rPr>
              <a:t>answer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12516" y="4330192"/>
            <a:ext cx="1345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skip</a:t>
            </a:r>
            <a:br>
              <a:rPr lang="da-DK" sz="1400" dirty="0">
                <a:solidFill>
                  <a:srgbClr val="C00000"/>
                </a:solidFill>
              </a:rPr>
            </a:br>
            <a:r>
              <a:rPr lang="da-DK" sz="1400" dirty="0" err="1">
                <a:solidFill>
                  <a:srgbClr val="C00000"/>
                </a:solidFill>
              </a:rPr>
              <a:t>object</a:t>
            </a:r>
            <a:r>
              <a:rPr lang="da-DK" sz="1400" dirty="0">
                <a:solidFill>
                  <a:srgbClr val="C00000"/>
                </a:solidFill>
              </a:rPr>
              <a:t> k-1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740405" y="4341485"/>
            <a:ext cx="1345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400" dirty="0" err="1">
                <a:solidFill>
                  <a:srgbClr val="C00000"/>
                </a:solidFill>
              </a:rPr>
              <a:t>include</a:t>
            </a:r>
            <a:br>
              <a:rPr lang="da-DK" sz="1400" dirty="0">
                <a:solidFill>
                  <a:srgbClr val="C00000"/>
                </a:solidFill>
              </a:rPr>
            </a:br>
            <a:r>
              <a:rPr lang="da-DK" sz="1400" dirty="0" err="1">
                <a:solidFill>
                  <a:srgbClr val="C00000"/>
                </a:solidFill>
              </a:rPr>
              <a:t>object</a:t>
            </a:r>
            <a:r>
              <a:rPr lang="da-DK" sz="1400" dirty="0">
                <a:solidFill>
                  <a:srgbClr val="C00000"/>
                </a:solidFill>
              </a:rPr>
              <a:t> k-1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52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320" y="4937325"/>
            <a:ext cx="3063604" cy="1782762"/>
          </a:xfrm>
          <a:prstGeom prst="rect">
            <a:avLst/>
          </a:prstGeom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Knapsack</a:t>
            </a:r>
            <a:r>
              <a:rPr lang="da-DK" dirty="0"/>
              <a:t> – </a:t>
            </a:r>
            <a:r>
              <a:rPr lang="da-DK" dirty="0" err="1"/>
              <a:t>Systematic</a:t>
            </a:r>
            <a:r>
              <a:rPr lang="da-DK" dirty="0"/>
              <a:t> </a:t>
            </a:r>
            <a:r>
              <a:rPr lang="da-DK" dirty="0" err="1"/>
              <a:t>table</a:t>
            </a:r>
            <a:r>
              <a:rPr lang="da-DK" dirty="0"/>
              <a:t> </a:t>
            </a:r>
            <a:r>
              <a:rPr lang="da-DK" dirty="0" err="1"/>
              <a:t>fill</a:t>
            </a:r>
            <a:r>
              <a:rPr lang="da-DK" dirty="0"/>
              <a:t> out 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67505"/>
              </p:ext>
            </p:extLst>
          </p:nvPr>
        </p:nvGraphicFramePr>
        <p:xfrm>
          <a:off x="838200" y="1690688"/>
          <a:ext cx="7883843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843">
                  <a:extLst>
                    <a:ext uri="{9D8B030D-6E8A-4147-A177-3AD203B41FA5}">
                      <a16:colId xmlns:a16="http://schemas.microsoft.com/office/drawing/2014/main" val="1873682825"/>
                    </a:ext>
                  </a:extLst>
                </a:gridCol>
              </a:tblGrid>
              <a:tr h="148143">
                <a:tc>
                  <a:txBody>
                    <a:bodyPr/>
                    <a:lstStyle/>
                    <a:p>
                      <a:r>
                        <a:rPr lang="da-DK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knapsack_systematic.py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19881"/>
                  </a:ext>
                </a:extLst>
              </a:tr>
              <a:tr h="29734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def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600" b="1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(volume, value, capacity):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[(0, [])] * (capacity + 1)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for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in range(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(volume)):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for c in reversed(range(volume[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capacity + 1)):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prev_v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prev_solution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 - volume[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v = value[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+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prev_v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[c][0] &lt; v: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[c] = v, 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prev_solution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+ [</a:t>
                      </a:r>
                      <a:r>
                        <a:rPr lang="en-US" sz="1600" b="1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obj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return </a:t>
                      </a:r>
                      <a:r>
                        <a:rPr lang="en-US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solutions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[capacity]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970457"/>
                  </a:ext>
                </a:extLst>
              </a:tr>
              <a:tr h="148143">
                <a:tc>
                  <a:txBody>
                    <a:bodyPr/>
                    <a:lstStyle/>
                    <a:p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Python</a:t>
                      </a:r>
                      <a:r>
                        <a:rPr lang="da-DK" sz="1600" b="1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da-DK" sz="1600" b="1" dirty="0" err="1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shell</a:t>
                      </a:r>
                      <a:endParaRPr lang="da-DK" sz="1600" b="1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42958"/>
                  </a:ext>
                </a:extLst>
              </a:tr>
              <a:tr h="481466">
                <a:tc>
                  <a:txBody>
                    <a:bodyPr/>
                    <a:lstStyle/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volumes = [3,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5]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values = [6,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9]</a:t>
                      </a:r>
                    </a:p>
                    <a:p>
                      <a:pPr marL="266700" indent="-266700">
                        <a:buClr>
                          <a:srgbClr val="C00000"/>
                        </a:buClr>
                        <a:buSzPct val="100000"/>
                        <a:buFont typeface="Courier New" panose="02070309020205020404" pitchFamily="49" charset="0"/>
                        <a:buChar char="&gt;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knapsack(volumes, values, 5)</a:t>
                      </a:r>
                    </a:p>
                    <a:p>
                      <a:pPr marL="266700" indent="-266700">
                        <a:buClr>
                          <a:schemeClr val="accent1">
                            <a:lumMod val="50000"/>
                          </a:schemeClr>
                        </a:buClr>
                        <a:buSzPct val="120000"/>
                        <a:buFont typeface="Courier New" panose="02070309020205020404" pitchFamily="49" charset="0"/>
                        <a:buChar char="|"/>
                      </a:pP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(15, [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pt-BR" sz="1600" b="1" baseline="0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r>
                        <a:rPr lang="pt-BR" sz="16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368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136766" y="2359784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1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135897" y="260422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2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368718" y="272653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4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16286" y="1900980"/>
            <a:ext cx="32216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base case k = 0</a:t>
            </a:r>
          </a:p>
          <a:p>
            <a:endParaRPr lang="en-US" sz="1600" dirty="0"/>
          </a:p>
          <a:p>
            <a:r>
              <a:rPr lang="en-US" sz="1600" dirty="0"/>
              <a:t>consider each object</a:t>
            </a:r>
          </a:p>
          <a:p>
            <a:endParaRPr lang="en-US" sz="1600" dirty="0"/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solutions[c:]</a:t>
            </a:r>
            <a:r>
              <a:rPr lang="en-US" sz="1600" dirty="0"/>
              <a:t> current row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solutions[:c]</a:t>
            </a:r>
            <a:r>
              <a:rPr lang="en-US" sz="1600" dirty="0"/>
              <a:t> previous row</a:t>
            </a:r>
          </a:p>
          <a:p>
            <a:endParaRPr lang="en-US" sz="1600" dirty="0"/>
          </a:p>
          <a:p>
            <a:r>
              <a:rPr lang="en-US" sz="1600" dirty="0"/>
              <a:t>compute next row right-to-left</a:t>
            </a:r>
          </a:p>
          <a:p>
            <a:endParaRPr lang="en-US" sz="1600" dirty="0"/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solutions[:volume[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</a:p>
          <a:p>
            <a:r>
              <a:rPr lang="en-US" sz="1600" dirty="0"/>
              <a:t>unchanged from previous row </a:t>
            </a:r>
          </a:p>
        </p:txBody>
      </p:sp>
      <p:sp>
        <p:nvSpPr>
          <p:cNvPr id="9" name="Oval 8"/>
          <p:cNvSpPr/>
          <p:nvPr/>
        </p:nvSpPr>
        <p:spPr>
          <a:xfrm>
            <a:off x="5145109" y="267144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5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8936286" y="198850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1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935345" y="247705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2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935345" y="3075974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3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935345" y="3692904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4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2648925" y="382428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3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935345" y="433319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a-DK" sz="1400" dirty="0">
                <a:solidFill>
                  <a:srgbClr val="C00000"/>
                </a:solidFill>
              </a:rPr>
              <a:t>5</a:t>
            </a:r>
            <a:endParaRPr lang="en-US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8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44069" cy="4351338"/>
          </a:xfrm>
        </p:spPr>
        <p:txBody>
          <a:bodyPr/>
          <a:lstStyle/>
          <a:p>
            <a:r>
              <a:rPr lang="da-DK" dirty="0"/>
              <a:t>Dynamic </a:t>
            </a:r>
            <a:r>
              <a:rPr lang="da-DK" dirty="0" err="1"/>
              <a:t>programming</a:t>
            </a:r>
            <a:r>
              <a:rPr lang="da-DK" dirty="0"/>
              <a:t> is a general approach for </a:t>
            </a:r>
            <a:r>
              <a:rPr lang="da-DK" dirty="0" err="1"/>
              <a:t>recursive</a:t>
            </a:r>
            <a:r>
              <a:rPr lang="da-DK" dirty="0"/>
              <a:t> problems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tries</a:t>
            </a:r>
            <a:r>
              <a:rPr lang="da-DK" dirty="0"/>
              <a:t> to </a:t>
            </a:r>
            <a:r>
              <a:rPr lang="da-DK" dirty="0" err="1"/>
              <a:t>avoid</a:t>
            </a:r>
            <a:r>
              <a:rPr lang="da-DK" dirty="0"/>
              <a:t> </a:t>
            </a:r>
            <a:r>
              <a:rPr lang="da-DK" dirty="0" err="1"/>
              <a:t>recomputing</a:t>
            </a:r>
            <a:r>
              <a:rPr lang="da-DK" dirty="0"/>
              <a:t> the same </a:t>
            </a:r>
            <a:r>
              <a:rPr lang="da-DK" dirty="0" err="1"/>
              <a:t>expresions</a:t>
            </a:r>
            <a:r>
              <a:rPr lang="da-DK" dirty="0"/>
              <a:t> </a:t>
            </a:r>
            <a:r>
              <a:rPr lang="da-DK" dirty="0" err="1"/>
              <a:t>repeatedly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r>
              <a:rPr lang="da-DK" b="1" dirty="0"/>
              <a:t>Solution 1: </a:t>
            </a:r>
            <a:r>
              <a:rPr lang="da-DK" b="1" dirty="0" err="1"/>
              <a:t>Memoization</a:t>
            </a:r>
            <a:endParaRPr lang="da-DK" b="1" dirty="0"/>
          </a:p>
          <a:p>
            <a:pPr lvl="1"/>
            <a:r>
              <a:rPr lang="da-DK" dirty="0" err="1"/>
              <a:t>add</a:t>
            </a:r>
            <a:r>
              <a:rPr lang="da-DK" dirty="0"/>
              <a:t> </a:t>
            </a:r>
            <a:r>
              <a:rPr lang="da-DK" dirty="0" err="1"/>
              <a:t>dictionary</a:t>
            </a:r>
            <a:r>
              <a:rPr lang="da-DK" dirty="0"/>
              <a:t> to </a:t>
            </a:r>
            <a:r>
              <a:rPr lang="da-DK" dirty="0" err="1"/>
              <a:t>function</a:t>
            </a:r>
            <a:r>
              <a:rPr lang="da-DK" dirty="0"/>
              <a:t> to </a:t>
            </a:r>
            <a:r>
              <a:rPr lang="da-DK" dirty="0" err="1"/>
              <a:t>remember</a:t>
            </a:r>
            <a:r>
              <a:rPr lang="da-DK" dirty="0"/>
              <a:t> </a:t>
            </a:r>
            <a:r>
              <a:rPr lang="da-DK" dirty="0" err="1"/>
              <a:t>previous</a:t>
            </a:r>
            <a:r>
              <a:rPr lang="da-DK" dirty="0"/>
              <a:t> </a:t>
            </a:r>
            <a:r>
              <a:rPr lang="da-DK" dirty="0" err="1"/>
              <a:t>results</a:t>
            </a:r>
            <a:endParaRPr lang="da-DK" dirty="0"/>
          </a:p>
          <a:p>
            <a:pPr lvl="1"/>
            <a:r>
              <a:rPr lang="da-DK" dirty="0"/>
              <a:t>decorate with a @memoize or @cache </a:t>
            </a:r>
            <a:r>
              <a:rPr lang="da-DK" dirty="0" err="1"/>
              <a:t>decorator</a:t>
            </a:r>
            <a:endParaRPr lang="da-DK" dirty="0"/>
          </a:p>
          <a:p>
            <a:r>
              <a:rPr lang="da-DK" b="1" dirty="0"/>
              <a:t>Solution 2: </a:t>
            </a:r>
            <a:r>
              <a:rPr lang="da-DK" b="1" dirty="0" err="1"/>
              <a:t>Systematic</a:t>
            </a:r>
            <a:r>
              <a:rPr lang="da-DK" b="1" dirty="0"/>
              <a:t> </a:t>
            </a:r>
            <a:r>
              <a:rPr lang="da-DK" b="1" dirty="0" err="1"/>
              <a:t>table</a:t>
            </a:r>
            <a:r>
              <a:rPr lang="da-DK" b="1" dirty="0"/>
              <a:t> </a:t>
            </a:r>
            <a:r>
              <a:rPr lang="da-DK" b="1" dirty="0" err="1"/>
              <a:t>fill</a:t>
            </a:r>
            <a:r>
              <a:rPr lang="da-DK" b="1" dirty="0"/>
              <a:t> out</a:t>
            </a:r>
          </a:p>
          <a:p>
            <a:pPr lvl="1"/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compute</a:t>
            </a:r>
            <a:r>
              <a:rPr lang="da-DK" dirty="0"/>
              <a:t> more </a:t>
            </a:r>
            <a:r>
              <a:rPr lang="da-DK" dirty="0" err="1"/>
              <a:t>values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memoization</a:t>
            </a:r>
            <a:endParaRPr lang="da-DK" dirty="0"/>
          </a:p>
          <a:p>
            <a:pPr lvl="1"/>
            <a:r>
              <a:rPr lang="da-DK" dirty="0" err="1"/>
              <a:t>can</a:t>
            </a:r>
            <a:r>
              <a:rPr lang="da-DK" dirty="0"/>
              <a:t> discard </a:t>
            </a:r>
            <a:r>
              <a:rPr lang="da-DK" dirty="0" err="1"/>
              <a:t>results</a:t>
            </a:r>
            <a:r>
              <a:rPr lang="da-DK" dirty="0"/>
              <a:t> not </a:t>
            </a:r>
            <a:r>
              <a:rPr lang="da-DK" dirty="0" err="1"/>
              <a:t>needed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longer (</a:t>
            </a:r>
            <a:r>
              <a:rPr lang="da-DK" dirty="0" err="1"/>
              <a:t>reduced</a:t>
            </a:r>
            <a:r>
              <a:rPr lang="da-DK" dirty="0"/>
              <a:t> </a:t>
            </a:r>
            <a:r>
              <a:rPr lang="da-DK" dirty="0" err="1"/>
              <a:t>memory</a:t>
            </a:r>
            <a:r>
              <a:rPr lang="da-DK" dirty="0"/>
              <a:t> </a:t>
            </a:r>
            <a:r>
              <a:rPr lang="da-DK" dirty="0" err="1"/>
              <a:t>usage</a:t>
            </a:r>
            <a:r>
              <a:rPr lang="da-DK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5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competitions and online judges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413240" cy="39591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you like to practice your coding skills, there are many online “judges” with numerous exercises and where you can upload and test your solutions. Examples: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Project Euler</a:t>
            </a:r>
            <a:endParaRPr lang="en-US" dirty="0"/>
          </a:p>
          <a:p>
            <a:r>
              <a:rPr lang="en-US" dirty="0" err="1">
                <a:hlinkClick r:id="rId3"/>
              </a:rPr>
              <a:t>Kattis</a:t>
            </a:r>
            <a:endParaRPr lang="en-US" dirty="0"/>
          </a:p>
          <a:p>
            <a:r>
              <a:rPr lang="en-US" dirty="0" err="1">
                <a:hlinkClick r:id="rId4"/>
              </a:rPr>
              <a:t>CodeForces</a:t>
            </a:r>
            <a:endParaRPr lang="en-US" dirty="0"/>
          </a:p>
          <a:p>
            <a:r>
              <a:rPr lang="en-US" dirty="0" err="1">
                <a:hlinkClick r:id="rId5"/>
              </a:rPr>
              <a:t>LeetCode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703058" y="6075764"/>
            <a:ext cx="33618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dirty="0"/>
              <a:t>Google ”</a:t>
            </a:r>
            <a:r>
              <a:rPr lang="en-US" dirty="0">
                <a:hlinkClick r:id="rId6"/>
              </a:rPr>
              <a:t>best online code judges</a:t>
            </a:r>
            <a:r>
              <a:rPr lang="en-US" dirty="0"/>
              <a:t>” </a:t>
            </a:r>
            <a:br>
              <a:rPr lang="en-US" dirty="0"/>
            </a:br>
            <a:r>
              <a:rPr lang="en-US" dirty="0"/>
              <a:t>See also </a:t>
            </a:r>
            <a:r>
              <a:rPr lang="en-US" dirty="0">
                <a:hlinkClick r:id="rId7"/>
              </a:rPr>
              <a:t>cs.au.dk/~gerth/code/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04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20" y="4112327"/>
            <a:ext cx="10560257" cy="17021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032" y="215223"/>
            <a:ext cx="4383790" cy="24658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Google Code Jam</a:t>
            </a:r>
            <a:br>
              <a:rPr lang="da-DK" dirty="0"/>
            </a:br>
            <a:r>
              <a:rPr lang="da-DK" sz="2400" dirty="0"/>
              <a:t>codingcompetitions.withgoogle.com/</a:t>
            </a:r>
            <a:r>
              <a:rPr lang="da-DK" sz="2400" dirty="0" err="1"/>
              <a:t>codejam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384" y="2233190"/>
            <a:ext cx="10515600" cy="2869003"/>
          </a:xfrm>
        </p:spPr>
        <p:txBody>
          <a:bodyPr/>
          <a:lstStyle/>
          <a:p>
            <a:r>
              <a:rPr lang="da-DK" b="1" dirty="0" err="1"/>
              <a:t>Coding</a:t>
            </a:r>
            <a:r>
              <a:rPr lang="da-DK" b="1" dirty="0"/>
              <a:t> </a:t>
            </a:r>
            <a:r>
              <a:rPr lang="da-DK" b="1" dirty="0" err="1"/>
              <a:t>competition</a:t>
            </a:r>
            <a:endParaRPr lang="da-DK" b="1" dirty="0"/>
          </a:p>
          <a:p>
            <a:pPr>
              <a:spcAft>
                <a:spcPts val="1200"/>
              </a:spcAft>
            </a:pPr>
            <a:r>
              <a:rPr lang="da-DK" b="1" dirty="0" err="1"/>
              <a:t>Qualification</a:t>
            </a:r>
            <a:r>
              <a:rPr lang="da-DK" b="1" dirty="0"/>
              <a:t> </a:t>
            </a:r>
            <a:r>
              <a:rPr lang="da-DK" b="1" dirty="0" err="1"/>
              <a:t>round</a:t>
            </a:r>
            <a:r>
              <a:rPr lang="da-DK" b="1" dirty="0"/>
              <a:t> 2022 </a:t>
            </a:r>
            <a:r>
              <a:rPr lang="da-DK" dirty="0"/>
              <a:t>(</a:t>
            </a:r>
            <a:r>
              <a:rPr lang="en-US" dirty="0"/>
              <a:t>April 2, 01:00 – April 3, 04:00)</a:t>
            </a:r>
            <a:endParaRPr lang="da-DK" dirty="0"/>
          </a:p>
          <a:p>
            <a:r>
              <a:rPr lang="da-DK" dirty="0"/>
              <a:t>In 2021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37.000 participants for the </a:t>
            </a:r>
            <a:r>
              <a:rPr lang="da-DK" dirty="0" err="1"/>
              <a:t>qualification</a:t>
            </a:r>
            <a:r>
              <a:rPr lang="da-DK" dirty="0"/>
              <a:t> </a:t>
            </a:r>
            <a:r>
              <a:rPr lang="da-DK" dirty="0" err="1"/>
              <a:t>round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/>
          <a:srcRect b="23374"/>
          <a:stretch/>
        </p:blipFill>
        <p:spPr>
          <a:xfrm>
            <a:off x="790384" y="5511727"/>
            <a:ext cx="10578093" cy="133877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222885" y="3987384"/>
            <a:ext cx="1888761" cy="50601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16200000">
            <a:off x="-344166" y="5467505"/>
            <a:ext cx="17747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Scoreboard 2017</a:t>
            </a:r>
          </a:p>
        </p:txBody>
      </p:sp>
    </p:spTree>
    <p:extLst>
      <p:ext uri="{BB962C8B-B14F-4D97-AF65-F5344CB8AC3E}">
        <p14:creationId xmlns:p14="http://schemas.microsoft.com/office/powerpoint/2010/main" val="1347015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3340976" y="4984825"/>
            <a:ext cx="5854576" cy="1810694"/>
            <a:chOff x="3340976" y="4984825"/>
            <a:chExt cx="5854576" cy="1810694"/>
          </a:xfrm>
        </p:grpSpPr>
        <p:sp>
          <p:nvSpPr>
            <p:cNvPr id="62" name="Rounded Rectangle 61"/>
            <p:cNvSpPr/>
            <p:nvPr/>
          </p:nvSpPr>
          <p:spPr>
            <a:xfrm>
              <a:off x="3340976" y="5236542"/>
              <a:ext cx="5854576" cy="1558977"/>
            </a:xfrm>
            <a:prstGeom prst="round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30658" y="4984825"/>
              <a:ext cx="111058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da-DK" sz="2400" dirty="0" err="1"/>
                <a:t>Flipped</a:t>
              </a:r>
              <a:endParaRPr lang="en-US" sz="2400" dirty="0"/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328684" y="2548695"/>
            <a:ext cx="7216869" cy="2520455"/>
            <a:chOff x="3328684" y="2548695"/>
            <a:chExt cx="7216869" cy="2520455"/>
          </a:xfrm>
        </p:grpSpPr>
        <p:cxnSp>
          <p:nvCxnSpPr>
            <p:cNvPr id="61" name="Straight Connector 60"/>
            <p:cNvCxnSpPr/>
            <p:nvPr/>
          </p:nvCxnSpPr>
          <p:spPr>
            <a:xfrm flipV="1">
              <a:off x="7719615" y="2548695"/>
              <a:ext cx="2723993" cy="2154967"/>
            </a:xfrm>
            <a:prstGeom prst="line">
              <a:avLst/>
            </a:prstGeom>
            <a:ln w="374650" cap="rnd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ounded Rectangle 58"/>
            <p:cNvSpPr/>
            <p:nvPr/>
          </p:nvSpPr>
          <p:spPr>
            <a:xfrm>
              <a:off x="3328684" y="3510173"/>
              <a:ext cx="5854576" cy="1558977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/>
            <p:cNvSpPr txBox="1"/>
            <p:nvPr/>
          </p:nvSpPr>
          <p:spPr>
            <a:xfrm rot="19316187">
              <a:off x="9186574" y="2775656"/>
              <a:ext cx="1358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a-DK" sz="2400" dirty="0">
                  <a:solidFill>
                    <a:schemeClr val="bg1"/>
                  </a:solidFill>
                </a:rPr>
                <a:t>4-flipper</a:t>
              </a:r>
              <a:endParaRPr lang="en-US" sz="24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92" y="17050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Google Code Jam - Qualification Round 2017</a:t>
            </a:r>
            <a:br>
              <a:rPr lang="en-US" dirty="0"/>
            </a:br>
            <a:r>
              <a:rPr lang="en-US" dirty="0"/>
              <a:t>Problem A: Oversized Pancake Flipper (</a:t>
            </a:r>
            <a:r>
              <a:rPr lang="en-US" dirty="0">
                <a:hlinkClick r:id="rId2"/>
              </a:rPr>
              <a:t>description</a:t>
            </a:r>
            <a:r>
              <a:rPr lang="en-US" dirty="0"/>
              <a:t>)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458660" y="3637082"/>
            <a:ext cx="11594621" cy="1305160"/>
            <a:chOff x="458660" y="3637082"/>
            <a:chExt cx="11594621" cy="1305160"/>
          </a:xfrm>
        </p:grpSpPr>
        <p:sp>
          <p:nvSpPr>
            <p:cNvPr id="4" name="Oval 3"/>
            <p:cNvSpPr/>
            <p:nvPr/>
          </p:nvSpPr>
          <p:spPr>
            <a:xfrm>
              <a:off x="458660" y="3637082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922304" y="3637082"/>
              <a:ext cx="1349115" cy="1305160"/>
              <a:chOff x="1484026" y="4871804"/>
              <a:chExt cx="1349115" cy="1305160"/>
            </a:xfrm>
          </p:grpSpPr>
          <p:sp>
            <p:nvSpPr>
              <p:cNvPr id="8" name="Oval 7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Smiley Face 8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Oval 10"/>
            <p:cNvSpPr/>
            <p:nvPr/>
          </p:nvSpPr>
          <p:spPr>
            <a:xfrm>
              <a:off x="3385948" y="3637082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4849592" y="3637082"/>
              <a:ext cx="1349115" cy="1305160"/>
              <a:chOff x="1484026" y="4871804"/>
              <a:chExt cx="1349115" cy="1305160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Smiley Face 14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6313236" y="3637082"/>
              <a:ext cx="1349115" cy="1305160"/>
              <a:chOff x="1484026" y="4871804"/>
              <a:chExt cx="1349115" cy="1305160"/>
            </a:xfrm>
          </p:grpSpPr>
          <p:sp>
            <p:nvSpPr>
              <p:cNvPr id="17" name="Oval 16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Smiley Face 17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Oval 19"/>
            <p:cNvSpPr/>
            <p:nvPr/>
          </p:nvSpPr>
          <p:spPr>
            <a:xfrm>
              <a:off x="7776880" y="3637082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9240524" y="3637082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10704166" y="3637082"/>
              <a:ext cx="1349115" cy="1305160"/>
              <a:chOff x="1484026" y="4871804"/>
              <a:chExt cx="1349115" cy="1305160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Smiley Face 32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0" name="Group 69"/>
          <p:cNvGrpSpPr/>
          <p:nvPr/>
        </p:nvGrpSpPr>
        <p:grpSpPr>
          <a:xfrm>
            <a:off x="488640" y="5363451"/>
            <a:ext cx="11594621" cy="1305160"/>
            <a:chOff x="488640" y="5363451"/>
            <a:chExt cx="11594621" cy="1305160"/>
          </a:xfrm>
        </p:grpSpPr>
        <p:sp>
          <p:nvSpPr>
            <p:cNvPr id="35" name="Oval 34"/>
            <p:cNvSpPr/>
            <p:nvPr/>
          </p:nvSpPr>
          <p:spPr>
            <a:xfrm>
              <a:off x="488640" y="5363451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1952284" y="5363451"/>
              <a:ext cx="1349115" cy="1305160"/>
              <a:chOff x="1484026" y="4871804"/>
              <a:chExt cx="1349115" cy="1305160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Smiley Face 38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3415928" y="5363451"/>
              <a:ext cx="1349115" cy="1305160"/>
              <a:chOff x="1484026" y="4871804"/>
              <a:chExt cx="1349115" cy="1305160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Smiley Face 41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Oval 43"/>
            <p:cNvSpPr/>
            <p:nvPr/>
          </p:nvSpPr>
          <p:spPr>
            <a:xfrm>
              <a:off x="4879572" y="5363451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6343216" y="5363451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7806860" y="5363451"/>
              <a:ext cx="1349115" cy="1305160"/>
              <a:chOff x="1484026" y="4871804"/>
              <a:chExt cx="1349115" cy="1305160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Smiley Face 50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3" name="Oval 52"/>
            <p:cNvSpPr/>
            <p:nvPr/>
          </p:nvSpPr>
          <p:spPr>
            <a:xfrm>
              <a:off x="9270504" y="5363451"/>
              <a:ext cx="1349115" cy="1305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/>
            <p:cNvGrpSpPr/>
            <p:nvPr/>
          </p:nvGrpSpPr>
          <p:grpSpPr>
            <a:xfrm>
              <a:off x="10734146" y="5363451"/>
              <a:ext cx="1349115" cy="1305160"/>
              <a:chOff x="1484026" y="4871804"/>
              <a:chExt cx="1349115" cy="1305160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1484026" y="4871804"/>
                <a:ext cx="1349115" cy="130516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Smiley Face 56"/>
              <p:cNvSpPr/>
              <p:nvPr/>
            </p:nvSpPr>
            <p:spPr>
              <a:xfrm>
                <a:off x="1744583" y="5110384"/>
                <a:ext cx="828000" cy="828000"/>
              </a:xfrm>
              <a:prstGeom prst="smileyFace">
                <a:avLst/>
              </a:prstGeom>
              <a:solidFill>
                <a:schemeClr val="accent4"/>
              </a:solidFill>
              <a:ln w="7620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63" name="TextBox 62"/>
          <p:cNvSpPr txBox="1"/>
          <p:nvPr/>
        </p:nvSpPr>
        <p:spPr>
          <a:xfrm rot="16200000">
            <a:off x="-859993" y="4058828"/>
            <a:ext cx="2121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/>
              <a:t>Before</a:t>
            </a:r>
            <a:endParaRPr lang="en-US" sz="2400" dirty="0"/>
          </a:p>
        </p:txBody>
      </p:sp>
      <p:sp>
        <p:nvSpPr>
          <p:cNvPr id="64" name="TextBox 63"/>
          <p:cNvSpPr txBox="1"/>
          <p:nvPr/>
        </p:nvSpPr>
        <p:spPr>
          <a:xfrm rot="16200000">
            <a:off x="-842504" y="5755212"/>
            <a:ext cx="2121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2400" dirty="0" err="1"/>
              <a:t>After</a:t>
            </a:r>
            <a:endParaRPr lang="en-US" sz="2400" dirty="0"/>
          </a:p>
        </p:txBody>
      </p:sp>
      <p:sp>
        <p:nvSpPr>
          <p:cNvPr id="66" name="Content Placeholder 2"/>
          <p:cNvSpPr>
            <a:spLocks noGrp="1"/>
          </p:cNvSpPr>
          <p:nvPr>
            <p:ph idx="1"/>
          </p:nvPr>
        </p:nvSpPr>
        <p:spPr>
          <a:xfrm>
            <a:off x="201592" y="1631007"/>
            <a:ext cx="8294226" cy="1640586"/>
          </a:xfrm>
        </p:spPr>
        <p:txBody>
          <a:bodyPr>
            <a:normAutofit fontScale="92500" lnSpcReduction="10000"/>
          </a:bodyPr>
          <a:lstStyle/>
          <a:p>
            <a:r>
              <a:rPr lang="da-DK" dirty="0"/>
              <a:t>N </a:t>
            </a:r>
            <a:r>
              <a:rPr lang="da-DK" dirty="0" err="1"/>
              <a:t>pancakes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with </a:t>
            </a:r>
            <a:r>
              <a:rPr lang="da-DK" dirty="0" err="1"/>
              <a:t>exactly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</a:t>
            </a:r>
            <a:r>
              <a:rPr lang="da-DK" dirty="0" err="1"/>
              <a:t>happy</a:t>
            </a:r>
            <a:r>
              <a:rPr lang="da-DK" dirty="0"/>
              <a:t> </a:t>
            </a:r>
            <a:r>
              <a:rPr lang="da-DK" dirty="0" err="1"/>
              <a:t>chocolate</a:t>
            </a:r>
            <a:r>
              <a:rPr lang="da-DK" dirty="0"/>
              <a:t> side</a:t>
            </a:r>
          </a:p>
          <a:p>
            <a:r>
              <a:rPr lang="da-DK" dirty="0"/>
              <a:t>K-flipper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flip K </a:t>
            </a:r>
            <a:r>
              <a:rPr lang="da-DK" dirty="0" err="1"/>
              <a:t>consecutive</a:t>
            </a:r>
            <a:r>
              <a:rPr lang="da-DK" dirty="0"/>
              <a:t> </a:t>
            </a:r>
            <a:r>
              <a:rPr lang="da-DK" dirty="0" err="1"/>
              <a:t>pancakes</a:t>
            </a:r>
            <a:endParaRPr lang="da-DK" dirty="0"/>
          </a:p>
          <a:p>
            <a:r>
              <a:rPr lang="da-DK" dirty="0"/>
              <a:t>Problem: Find minimim </a:t>
            </a:r>
            <a:r>
              <a:rPr lang="da-DK" dirty="0" err="1"/>
              <a:t>number</a:t>
            </a:r>
            <a:r>
              <a:rPr lang="da-DK" dirty="0"/>
              <a:t> of flips to </a:t>
            </a:r>
            <a:r>
              <a:rPr lang="da-DK" dirty="0" err="1"/>
              <a:t>make</a:t>
            </a:r>
            <a:r>
              <a:rPr lang="da-DK" dirty="0"/>
              <a:t> all </a:t>
            </a:r>
            <a:r>
              <a:rPr lang="da-DK" dirty="0" err="1"/>
              <a:t>pancakes</a:t>
            </a:r>
            <a:r>
              <a:rPr lang="da-DK" dirty="0"/>
              <a:t> </a:t>
            </a:r>
            <a:r>
              <a:rPr lang="da-DK" dirty="0" err="1"/>
              <a:t>happy</a:t>
            </a:r>
            <a:r>
              <a:rPr lang="da-DK" dirty="0"/>
              <a:t>, if </a:t>
            </a:r>
            <a:r>
              <a:rPr lang="da-DK" dirty="0" err="1"/>
              <a:t>possible</a:t>
            </a:r>
            <a:endParaRPr lang="da-D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03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7F7F7F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42584</TotalTime>
  <Words>3660</Words>
  <Application>Microsoft Office PowerPoint</Application>
  <PresentationFormat>Widescreen</PresentationFormat>
  <Paragraphs>479</Paragraphs>
  <Slides>21</Slides>
  <Notes>10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Dynamic programming</vt:lpstr>
      <vt:lpstr>Binomial coefficient</vt:lpstr>
      <vt:lpstr>Dynamic Programming ≡ Remember solutions already found (memoization)</vt:lpstr>
      <vt:lpstr>Binomial Coefficient Dynamic programming using a dictionary</vt:lpstr>
      <vt:lpstr>Question – What is the order of the size of the dictionary answers after calling binomial(n, k) ?</vt:lpstr>
      <vt:lpstr>Binomial Coefficient Dynamic programming using decorator</vt:lpstr>
      <vt:lpstr>PowerPoint Presentation</vt:lpstr>
      <vt:lpstr>Dynamic programming using cache decorator</vt:lpstr>
      <vt:lpstr>Subset sum using dynamic programming</vt:lpstr>
      <vt:lpstr>Subset sum using dynamic programming</vt:lpstr>
      <vt:lpstr>Question – What is a bound on the size order of the memoization table if all values are possitive integers?</vt:lpstr>
      <vt:lpstr>Subset sum using dynamic programming</vt:lpstr>
      <vt:lpstr>Knapsack problem</vt:lpstr>
      <vt:lpstr>Knapsack – maximum value</vt:lpstr>
      <vt:lpstr>Knapsack – maximum value and objects</vt:lpstr>
      <vt:lpstr>Knapsack - Table</vt:lpstr>
      <vt:lpstr>Knapsack – Systematic table fill out </vt:lpstr>
      <vt:lpstr>Summary</vt:lpstr>
      <vt:lpstr>Coding competitions and online judges</vt:lpstr>
      <vt:lpstr>Google Code Jam codingcompetitions.withgoogle.com/codejam</vt:lpstr>
      <vt:lpstr>Google Code Jam - Qualification Round 2017 Problem A: Oversized Pancake Flipper (description)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Gerth Stølting Brodal</dc:creator>
  <cp:lastModifiedBy>Gerth Stølting Brodal</cp:lastModifiedBy>
  <cp:revision>1546</cp:revision>
  <dcterms:created xsi:type="dcterms:W3CDTF">2017-10-19T06:54:16Z</dcterms:created>
  <dcterms:modified xsi:type="dcterms:W3CDTF">2026-03-18T08:47:05Z</dcterms:modified>
</cp:coreProperties>
</file>