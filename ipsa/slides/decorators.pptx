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478" r:id="rId2"/>
    <p:sldId id="742" r:id="rId3"/>
    <p:sldId id="750" r:id="rId4"/>
    <p:sldId id="751" r:id="rId5"/>
    <p:sldId id="752" r:id="rId6"/>
    <p:sldId id="754" r:id="rId7"/>
    <p:sldId id="755" r:id="rId8"/>
    <p:sldId id="756" r:id="rId9"/>
    <p:sldId id="757" r:id="rId10"/>
    <p:sldId id="762" r:id="rId11"/>
    <p:sldId id="753" r:id="rId12"/>
    <p:sldId id="749" r:id="rId13"/>
    <p:sldId id="759" r:id="rId14"/>
    <p:sldId id="743" r:id="rId15"/>
    <p:sldId id="698" r:id="rId16"/>
    <p:sldId id="760" r:id="rId17"/>
    <p:sldId id="763" r:id="rId18"/>
    <p:sldId id="719" r:id="rId19"/>
    <p:sldId id="764" r:id="rId20"/>
    <p:sldId id="761" r:id="rId2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2CC"/>
    <a:srgbClr val="FFA7A7"/>
    <a:srgbClr val="DEEBF7"/>
    <a:srgbClr val="E2F0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85" autoAdjust="0"/>
    <p:restoredTop sz="72066" autoAdjust="0"/>
  </p:normalViewPr>
  <p:slideViewPr>
    <p:cSldViewPr snapToGrid="0">
      <p:cViewPr varScale="1">
        <p:scale>
          <a:sx n="52" d="100"/>
          <a:sy n="52" d="100"/>
        </p:scale>
        <p:origin x="828" y="48"/>
      </p:cViewPr>
      <p:guideLst/>
    </p:cSldViewPr>
  </p:slideViewPr>
  <p:outlineViewPr>
    <p:cViewPr>
      <p:scale>
        <a:sx n="33" d="100"/>
        <a:sy n="33" d="100"/>
      </p:scale>
      <p:origin x="0" y="-680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73BAC7D6-516A-44B5-B4B0-C7B08CA8B392}"/>
    <pc:docChg chg="undo custSel modSld">
      <pc:chgData name="Gerth Stølting Brodal" userId="04ef4784-6591-4f86-a140-f5c3b108582a" providerId="ADAL" clId="{73BAC7D6-516A-44B5-B4B0-C7B08CA8B392}" dt="2026-03-16T06:38:36.240" v="75" actId="20577"/>
      <pc:docMkLst>
        <pc:docMk/>
      </pc:docMkLst>
      <pc:sldChg chg="modSp mod modNotesTx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1986006132" sldId="478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986006132" sldId="47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986006132" sldId="478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986006132" sldId="478"/>
            <ac:spMk id="5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2601839154" sldId="698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2601839154" sldId="69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2601839154" sldId="698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2601839154" sldId="698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2601839154" sldId="698"/>
            <ac:graphicFrameMk id="5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3-16T06:38:36.240" v="75" actId="20577"/>
        <pc:sldMkLst>
          <pc:docMk/>
          <pc:sldMk cId="752883233" sldId="719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752883233" sldId="71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752883233" sldId="719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752883233" sldId="719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752883233" sldId="719"/>
            <ac:graphicFrameMk id="5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3-15T18:52:54.894" v="3" actId="20577"/>
        <pc:sldMkLst>
          <pc:docMk/>
          <pc:sldMk cId="27977411" sldId="742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27977411" sldId="74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27977411" sldId="742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27977411" sldId="742"/>
            <ac:spMk id="10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27977411" sldId="742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4266574988" sldId="743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4266574988" sldId="743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4266574988" sldId="743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4266574988" sldId="743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2410450583" sldId="749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2410450583" sldId="74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2410450583" sldId="749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2410450583" sldId="749"/>
            <ac:spMk id="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2410450583" sldId="749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2410450583" sldId="749"/>
            <ac:spMk id="10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2410450583" sldId="749"/>
            <ac:graphicFrameMk id="6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2410450583" sldId="749"/>
            <ac:graphicFrameMk id="7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3197724775" sldId="750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3197724775" sldId="75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3197724775" sldId="750"/>
            <ac:spMk id="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3197724775" sldId="750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3197724775" sldId="750"/>
            <ac:spMk id="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3197724775" sldId="750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3197724775" sldId="750"/>
            <ac:spMk id="10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3197724775" sldId="750"/>
            <ac:graphicFrameMk id="6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3197724775" sldId="750"/>
            <ac:graphicFrameMk id="7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1794051329" sldId="751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794051329" sldId="75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794051329" sldId="751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794051329" sldId="751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794051329" sldId="751"/>
            <ac:spMk id="1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794051329" sldId="751"/>
            <ac:spMk id="1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794051329" sldId="751"/>
            <ac:spMk id="1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794051329" sldId="751"/>
            <ac:spMk id="2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794051329" sldId="751"/>
            <ac:spMk id="2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794051329" sldId="751"/>
            <ac:spMk id="2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794051329" sldId="751"/>
            <ac:spMk id="26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1863830939" sldId="752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863830939" sldId="75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863830939" sldId="752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863830939" sldId="752"/>
            <ac:spMk id="7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1863830939" sldId="752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1863830939" sldId="752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2191884848" sldId="753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2191884848" sldId="75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2191884848" sldId="753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2191884848" sldId="753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2191884848" sldId="753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1678505626" sldId="754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678505626" sldId="75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678505626" sldId="754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678505626" sldId="754"/>
            <ac:spMk id="7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1678505626" sldId="754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1678505626" sldId="754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3226596818" sldId="755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3226596818" sldId="755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3226596818" sldId="755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3226596818" sldId="755"/>
            <ac:spMk id="7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3226596818" sldId="755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3226596818" sldId="755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1815524596" sldId="756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815524596" sldId="75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815524596" sldId="756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1815524596" sldId="756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276098007" sldId="757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276098007" sldId="75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276098007" sldId="757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276098007" sldId="757"/>
            <ac:spMk id="7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276098007" sldId="757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276098007" sldId="757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886526213" sldId="759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886526213" sldId="75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886526213" sldId="759"/>
            <ac:spMk id="7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886526213" sldId="759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886526213" sldId="759"/>
            <ac:graphicFrameMk id="5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886526213" sldId="759"/>
            <ac:graphicFrameMk id="6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783900931" sldId="760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783900931" sldId="76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783900931" sldId="760"/>
            <ac:spMk id="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783900931" sldId="760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783900931" sldId="760"/>
            <ac:spMk id="8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783900931" sldId="760"/>
            <ac:graphicFrameMk id="6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783900931" sldId="760"/>
            <ac:graphicFrameMk id="7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3101050196" sldId="761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3101050196" sldId="76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3101050196" sldId="761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1387994146" sldId="762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387994146" sldId="76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387994146" sldId="762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387994146" sldId="762"/>
            <ac:spMk id="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1387994146" sldId="762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128484377" sldId="763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28484377" sldId="76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28484377" sldId="763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28484377" sldId="763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128484377" sldId="763"/>
            <ac:spMk id="7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128484377" sldId="763"/>
            <ac:graphicFrameMk id="8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5T18:52:47.677" v="1" actId="790"/>
        <pc:sldMkLst>
          <pc:docMk/>
          <pc:sldMk cId="907462681" sldId="764"/>
        </pc:sldMkLst>
        <pc:spChg chg="mod">
          <ac:chgData name="Gerth Stølting Brodal" userId="04ef4784-6591-4f86-a140-f5c3b108582a" providerId="ADAL" clId="{73BAC7D6-516A-44B5-B4B0-C7B08CA8B392}" dt="2026-03-15T18:52:47.677" v="1" actId="790"/>
          <ac:spMkLst>
            <pc:docMk/>
            <pc:sldMk cId="907462681" sldId="764"/>
            <ac:spMk id="7" creationId="{593A1EE1-C049-485D-A0A4-DB97D5353CF7}"/>
          </ac:spMkLst>
        </pc:sp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907462681" sldId="764"/>
            <ac:graphicFrameMk id="4" creationId="{7927DB98-8442-4110-88AF-C04EAD3DF984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5T18:52:47.677" v="1" actId="790"/>
          <ac:graphicFrameMkLst>
            <pc:docMk/>
            <pc:sldMk cId="907462681" sldId="764"/>
            <ac:graphicFrameMk id="5" creationId="{3C4BA663-435A-4D48-AE4E-2D56112B93E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 is also an operator used for multiplying matrices in </a:t>
            </a:r>
            <a:r>
              <a:rPr lang="en-US" dirty="0" err="1"/>
              <a:t>Numpy</a:t>
            </a:r>
            <a:r>
              <a:rPr lang="en-US" dirty="0"/>
              <a:t>, class method __</a:t>
            </a:r>
            <a:r>
              <a:rPr lang="en-US" dirty="0" err="1"/>
              <a:t>matmul</a:t>
            </a:r>
            <a:r>
              <a:rPr lang="en-US" dirty="0"/>
              <a:t>__</a:t>
            </a:r>
          </a:p>
          <a:p>
            <a:endParaRPr lang="en-US" dirty="0"/>
          </a:p>
          <a:p>
            <a:r>
              <a:rPr lang="en-US" dirty="0"/>
              <a:t>&gt; 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&gt; x = </a:t>
            </a:r>
            <a:r>
              <a:rPr lang="en-US" dirty="0" err="1"/>
              <a:t>np.array</a:t>
            </a:r>
            <a:r>
              <a:rPr lang="en-US" dirty="0"/>
              <a:t>([[1, 2], [3, 4]])</a:t>
            </a:r>
          </a:p>
          <a:p>
            <a:r>
              <a:rPr lang="en-US" dirty="0"/>
              <a:t>&gt; x @ x</a:t>
            </a:r>
          </a:p>
          <a:p>
            <a:endParaRPr lang="en-US" dirty="0"/>
          </a:p>
          <a:p>
            <a:r>
              <a:rPr lang="en-US" dirty="0" err="1"/>
              <a:t>Gutag</a:t>
            </a:r>
            <a:r>
              <a:rPr lang="en-US" dirty="0"/>
              <a:t> 3</a:t>
            </a:r>
            <a:r>
              <a:rPr lang="en-US" baseline="30000" dirty="0"/>
              <a:t>rd</a:t>
            </a:r>
            <a:r>
              <a:rPr lang="en-US" dirty="0"/>
              <a:t> Edition does not mention decorators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77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30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 void(*</a:t>
            </a:r>
            <a:r>
              <a:rPr lang="en-US" dirty="0" err="1"/>
              <a:t>args</a:t>
            </a:r>
            <a:r>
              <a:rPr lang="en-US" dirty="0"/>
              <a:t>):</a:t>
            </a:r>
          </a:p>
          <a:p>
            <a:r>
              <a:rPr lang="en-US" dirty="0"/>
              <a:t>    pass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void_decorator</a:t>
            </a:r>
            <a:r>
              <a:rPr lang="en-US" dirty="0"/>
              <a:t>(f):</a:t>
            </a:r>
          </a:p>
          <a:p>
            <a:r>
              <a:rPr lang="en-US" dirty="0"/>
              <a:t>    return void</a:t>
            </a:r>
          </a:p>
          <a:p>
            <a:endParaRPr lang="en-US" dirty="0"/>
          </a:p>
          <a:p>
            <a:r>
              <a:rPr lang="en-US" b="1" dirty="0"/>
              <a:t>@void_decorator</a:t>
            </a:r>
          </a:p>
          <a:p>
            <a:r>
              <a:rPr lang="en-US" dirty="0"/>
              <a:t>def f(x):</a:t>
            </a:r>
          </a:p>
          <a:p>
            <a:r>
              <a:rPr lang="en-US" dirty="0"/>
              <a:t>    print('x is', 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24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&gt;&gt;&gt; </a:t>
            </a:r>
            <a:r>
              <a:rPr lang="en-US" dirty="0" err="1"/>
              <a:t>def</a:t>
            </a:r>
            <a:r>
              <a:rPr lang="en-US" dirty="0"/>
              <a:t> f(x):</a:t>
            </a:r>
          </a:p>
          <a:p>
            <a:r>
              <a:rPr lang="en-US" dirty="0"/>
              <a:t>	return 3 * x</a:t>
            </a:r>
          </a:p>
          <a:p>
            <a:r>
              <a:rPr lang="en-US" dirty="0"/>
              <a:t>&gt;&gt;&gt; f(7)</a:t>
            </a:r>
          </a:p>
          <a:p>
            <a:r>
              <a:rPr lang="en-US" dirty="0"/>
              <a:t>21</a:t>
            </a:r>
          </a:p>
          <a:p>
            <a:r>
              <a:rPr lang="en-US" dirty="0"/>
              <a:t>&gt;&gt;&gt; lambda x: x ** 2</a:t>
            </a:r>
          </a:p>
          <a:p>
            <a:r>
              <a:rPr lang="en-US" dirty="0"/>
              <a:t>&lt;function &lt;lambda&gt; at 0x03353148&gt;</a:t>
            </a:r>
          </a:p>
          <a:p>
            <a:r>
              <a:rPr lang="en-US" dirty="0"/>
              <a:t>&gt;&gt;&gt; l = lambda x: x ** 2</a:t>
            </a:r>
          </a:p>
          <a:p>
            <a:r>
              <a:rPr lang="en-US" dirty="0"/>
              <a:t>&gt;&gt;&gt; l(7)</a:t>
            </a:r>
          </a:p>
          <a:p>
            <a:r>
              <a:rPr lang="en-US" dirty="0"/>
              <a:t>49</a:t>
            </a:r>
          </a:p>
          <a:p>
            <a:r>
              <a:rPr lang="en-US" dirty="0"/>
              <a:t>&gt;&gt;&gt; </a:t>
            </a:r>
            <a:r>
              <a:rPr lang="en-US" dirty="0" err="1"/>
              <a:t>def</a:t>
            </a:r>
            <a:r>
              <a:rPr lang="en-US" dirty="0"/>
              <a:t> g(f, x):</a:t>
            </a:r>
          </a:p>
          <a:p>
            <a:r>
              <a:rPr lang="en-US" dirty="0"/>
              <a:t>	return f(x) + 1</a:t>
            </a:r>
          </a:p>
          <a:p>
            <a:r>
              <a:rPr lang="en-US" dirty="0"/>
              <a:t>&gt;&gt;&gt; g(f, 7)</a:t>
            </a:r>
          </a:p>
          <a:p>
            <a:r>
              <a:rPr lang="en-US" dirty="0"/>
              <a:t>22</a:t>
            </a:r>
          </a:p>
          <a:p>
            <a:r>
              <a:rPr lang="en-US" dirty="0"/>
              <a:t>&gt;&gt;&gt; </a:t>
            </a:r>
            <a:r>
              <a:rPr lang="en-US" dirty="0" err="1"/>
              <a:t>def</a:t>
            </a:r>
            <a:r>
              <a:rPr lang="en-US" dirty="0"/>
              <a:t> h(f):</a:t>
            </a:r>
          </a:p>
          <a:p>
            <a:r>
              <a:rPr lang="en-US" dirty="0"/>
              <a:t>	return lambda x: f(x) + 1</a:t>
            </a:r>
          </a:p>
          <a:p>
            <a:r>
              <a:rPr lang="en-US" dirty="0"/>
              <a:t>&gt;&gt;&gt; h(f)</a:t>
            </a:r>
          </a:p>
          <a:p>
            <a:r>
              <a:rPr lang="en-US" dirty="0"/>
              <a:t>&lt;function h.&lt;locals&gt;.&lt;lambda&gt; at 0x033530B8&gt;</a:t>
            </a:r>
          </a:p>
          <a:p>
            <a:r>
              <a:rPr lang="en-US" dirty="0"/>
              <a:t>&gt;&gt;&gt; k = h(f)</a:t>
            </a:r>
          </a:p>
          <a:p>
            <a:r>
              <a:rPr lang="en-US" dirty="0"/>
              <a:t>&gt;&gt;&gt; k(7)</a:t>
            </a:r>
          </a:p>
          <a:p>
            <a:r>
              <a:rPr lang="en-US" dirty="0"/>
              <a:t>22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89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Need</a:t>
            </a:r>
            <a:r>
              <a:rPr lang="da-DK" dirty="0"/>
              <a:t> the </a:t>
            </a:r>
            <a:r>
              <a:rPr lang="da-DK" dirty="0" err="1"/>
              <a:t>temporary</a:t>
            </a:r>
            <a:r>
              <a:rPr lang="da-DK" baseline="0" dirty="0"/>
              <a:t> _</a:t>
            </a:r>
            <a:r>
              <a:rPr lang="da-DK" baseline="0" dirty="0" err="1"/>
              <a:t>orginal</a:t>
            </a:r>
            <a:r>
              <a:rPr lang="da-DK" baseline="0" dirty="0"/>
              <a:t> variables in plus_one3 – </a:t>
            </a:r>
            <a:r>
              <a:rPr lang="da-DK" baseline="0" dirty="0" err="1"/>
              <a:t>otherwise</a:t>
            </a:r>
            <a:r>
              <a:rPr lang="da-DK" baseline="0" dirty="0"/>
              <a:t> </a:t>
            </a:r>
            <a:r>
              <a:rPr lang="da-DK" baseline="0" dirty="0" err="1"/>
              <a:t>we</a:t>
            </a:r>
            <a:r>
              <a:rPr lang="da-DK" baseline="0" dirty="0"/>
              <a:t> </a:t>
            </a:r>
            <a:r>
              <a:rPr lang="da-DK" baseline="0" dirty="0" err="1"/>
              <a:t>will</a:t>
            </a:r>
            <a:r>
              <a:rPr lang="da-DK" baseline="0" dirty="0"/>
              <a:t> generate </a:t>
            </a:r>
            <a:r>
              <a:rPr lang="da-DK" baseline="0" dirty="0" err="1"/>
              <a:t>infinite</a:t>
            </a:r>
            <a:r>
              <a:rPr lang="da-DK" baseline="0" dirty="0"/>
              <a:t> </a:t>
            </a:r>
            <a:r>
              <a:rPr lang="da-DK" baseline="0" dirty="0" err="1"/>
              <a:t>recursive</a:t>
            </a:r>
            <a:r>
              <a:rPr lang="da-DK" baseline="0" dirty="0"/>
              <a:t> </a:t>
            </a:r>
            <a:r>
              <a:rPr lang="da-DK" baseline="0" dirty="0" err="1"/>
              <a:t>calls</a:t>
            </a:r>
            <a:r>
              <a:rPr lang="da-DK" baseline="0" dirty="0"/>
              <a:t> (and </a:t>
            </a:r>
            <a:r>
              <a:rPr lang="da-DK" baseline="0" dirty="0" err="1"/>
              <a:t>get</a:t>
            </a:r>
            <a:r>
              <a:rPr lang="da-DK" baseline="0" dirty="0"/>
              <a:t> </a:t>
            </a:r>
            <a:r>
              <a:rPr lang="da-DK" baseline="0" dirty="0" err="1"/>
              <a:t>stack</a:t>
            </a:r>
            <a:r>
              <a:rPr lang="da-DK" baseline="0" dirty="0"/>
              <a:t> </a:t>
            </a:r>
            <a:r>
              <a:rPr lang="da-DK" baseline="0" dirty="0" err="1"/>
              <a:t>overflow</a:t>
            </a:r>
            <a:r>
              <a:rPr lang="da-DK" baseline="0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05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This</a:t>
            </a:r>
            <a:r>
              <a:rPr lang="da-DK" baseline="0" dirty="0"/>
              <a:t> is part of </a:t>
            </a:r>
            <a:r>
              <a:rPr lang="da-DK" dirty="0"/>
              <a:t>Defensive </a:t>
            </a:r>
            <a:r>
              <a:rPr lang="da-DK" dirty="0" err="1"/>
              <a:t>programming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269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If no default </a:t>
            </a:r>
            <a:r>
              <a:rPr lang="da-DK" dirty="0" err="1"/>
              <a:t>value</a:t>
            </a:r>
            <a:r>
              <a:rPr lang="da-DK" dirty="0"/>
              <a:t> =&gt; </a:t>
            </a:r>
            <a:r>
              <a:rPr lang="da-DK" dirty="0" err="1"/>
              <a:t>value</a:t>
            </a:r>
            <a:r>
              <a:rPr lang="da-DK" dirty="0"/>
              <a:t> </a:t>
            </a:r>
            <a:r>
              <a:rPr lang="da-DK" dirty="0" err="1"/>
              <a:t>required</a:t>
            </a:r>
            <a:r>
              <a:rPr lang="da-DK" dirty="0"/>
              <a:t> by the </a:t>
            </a:r>
            <a:r>
              <a:rPr lang="da-DK" dirty="0" err="1"/>
              <a:t>constructor</a:t>
            </a:r>
            <a:r>
              <a:rPr lang="da-DK" dirty="0"/>
              <a:t> (__</a:t>
            </a:r>
            <a:r>
              <a:rPr lang="da-DK" dirty="0" err="1"/>
              <a:t>init</a:t>
            </a:r>
            <a:r>
              <a:rPr lang="da-DK" dirty="0"/>
              <a:t>__)</a:t>
            </a:r>
          </a:p>
          <a:p>
            <a:r>
              <a:rPr lang="da-DK" dirty="0"/>
              <a:t>The type is not </a:t>
            </a:r>
            <a:r>
              <a:rPr lang="da-DK" dirty="0" err="1"/>
              <a:t>checked</a:t>
            </a:r>
            <a:r>
              <a:rPr lang="da-DK" dirty="0"/>
              <a:t>, so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1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decorator does is:</a:t>
            </a:r>
          </a:p>
          <a:p>
            <a:endParaRPr lang="en-US" dirty="0"/>
          </a:p>
          <a:p>
            <a:r>
              <a:rPr lang="en-US" dirty="0"/>
              <a:t>Student.__</a:t>
            </a:r>
            <a:r>
              <a:rPr lang="en-US" dirty="0" err="1"/>
              <a:t>gt</a:t>
            </a:r>
            <a:r>
              <a:rPr lang="en-US" dirty="0"/>
              <a:t>__ = lambda self, other: other &lt; self</a:t>
            </a:r>
          </a:p>
          <a:p>
            <a:endParaRPr lang="en-US" dirty="0"/>
          </a:p>
          <a:p>
            <a:r>
              <a:rPr lang="en-US" dirty="0" err="1"/>
              <a:t>Total_ordering</a:t>
            </a:r>
            <a:r>
              <a:rPr lang="en-US" dirty="0"/>
              <a:t> changes an existing class (does </a:t>
            </a:r>
            <a:r>
              <a:rPr lang="en-US"/>
              <a:t>not create a new one)</a:t>
            </a:r>
            <a:endParaRPr lang="en-US" dirty="0"/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84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Vectors</a:t>
            </a:r>
            <a:r>
              <a:rPr lang="da-DK" dirty="0"/>
              <a:t> </a:t>
            </a:r>
            <a:r>
              <a:rPr lang="da-DK" dirty="0" err="1"/>
              <a:t>ordered</a:t>
            </a:r>
            <a:r>
              <a:rPr lang="da-DK" dirty="0"/>
              <a:t> by </a:t>
            </a:r>
            <a:r>
              <a:rPr lang="da-DK" dirty="0" err="1"/>
              <a:t>length</a:t>
            </a:r>
            <a:endParaRPr lang="da-DK" dirty="0"/>
          </a:p>
          <a:p>
            <a:endParaRPr lang="da-DK" dirty="0"/>
          </a:p>
          <a:p>
            <a:r>
              <a:rPr lang="da-DK" dirty="0"/>
              <a:t>If an operator is not </a:t>
            </a:r>
            <a:r>
              <a:rPr lang="da-DK" dirty="0" err="1"/>
              <a:t>defined</a:t>
            </a:r>
            <a:r>
              <a:rPr lang="da-DK" dirty="0"/>
              <a:t>, Python </a:t>
            </a:r>
            <a:r>
              <a:rPr lang="da-DK" dirty="0" err="1"/>
              <a:t>calls</a:t>
            </a:r>
            <a:r>
              <a:rPr lang="da-DK" dirty="0"/>
              <a:t> the </a:t>
            </a:r>
            <a:r>
              <a:rPr lang="da-DK" b="1" dirty="0" err="1"/>
              <a:t>reflected</a:t>
            </a:r>
            <a:r>
              <a:rPr lang="da-DK" dirty="0"/>
              <a:t> operator (&lt; </a:t>
            </a:r>
            <a:r>
              <a:rPr lang="da-DK" dirty="0" err="1"/>
              <a:t>vs</a:t>
            </a:r>
            <a:r>
              <a:rPr lang="da-DK" dirty="0"/>
              <a:t> &gt;, &lt;= </a:t>
            </a:r>
            <a:r>
              <a:rPr lang="da-DK" dirty="0" err="1"/>
              <a:t>vs</a:t>
            </a:r>
            <a:r>
              <a:rPr lang="da-DK" dirty="0"/>
              <a:t> =&gt;, == by default returns true </a:t>
            </a:r>
            <a:r>
              <a:rPr lang="da-DK" dirty="0" err="1"/>
              <a:t>if</a:t>
            </a:r>
            <a:r>
              <a:rPr lang="da-DK" dirty="0"/>
              <a:t> ”is” returns true, but </a:t>
            </a:r>
            <a:r>
              <a:rPr lang="da-DK" dirty="0" err="1"/>
              <a:t>otherwise</a:t>
            </a:r>
            <a:r>
              <a:rPr lang="da-DK" dirty="0"/>
              <a:t> </a:t>
            </a:r>
            <a:r>
              <a:rPr lang="da-DK" dirty="0" err="1"/>
              <a:t>NotImplemented</a:t>
            </a:r>
            <a:r>
              <a:rPr lang="da-DK" dirty="0"/>
              <a:t>)</a:t>
            </a:r>
          </a:p>
          <a:p>
            <a:r>
              <a:rPr lang="da-DK" dirty="0" err="1"/>
              <a:t>Discussion</a:t>
            </a:r>
            <a:r>
              <a:rPr lang="da-DK" dirty="0"/>
              <a:t> of </a:t>
            </a:r>
            <a:r>
              <a:rPr lang="da-DK" dirty="0" err="1"/>
              <a:t>reflected</a:t>
            </a:r>
            <a:r>
              <a:rPr lang="da-DK" dirty="0"/>
              <a:t> at https://docs.python.org/3/reference/datamodel.html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53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21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rgbClr val="C00000"/>
              </a:buClr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ev/peps/pep-0318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dataclasses.html#module-dataclasse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T-TwcmT6Rcw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reference/datamodel.html#basic-customizatio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631" y="2920558"/>
            <a:ext cx="10076797" cy="1325563"/>
          </a:xfrm>
        </p:spPr>
        <p:txBody>
          <a:bodyPr/>
          <a:lstStyle/>
          <a:p>
            <a:pPr algn="r"/>
            <a:r>
              <a:rPr lang="en-US" noProof="0" dirty="0"/>
              <a:t>Decorators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6355" y="3920648"/>
            <a:ext cx="3995057" cy="998594"/>
          </a:xfrm>
        </p:spPr>
        <p:txBody>
          <a:bodyPr>
            <a:normAutofit/>
          </a:bodyPr>
          <a:lstStyle/>
          <a:p>
            <a:r>
              <a:rPr lang="en-US" noProof="0" dirty="0"/>
              <a:t>@</a:t>
            </a:r>
          </a:p>
        </p:txBody>
      </p:sp>
      <p:sp>
        <p:nvSpPr>
          <p:cNvPr id="5" name="Rectangle 4"/>
          <p:cNvSpPr/>
          <p:nvPr/>
        </p:nvSpPr>
        <p:spPr>
          <a:xfrm>
            <a:off x="8119728" y="6323199"/>
            <a:ext cx="38116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www.python.org/dev/peps/pep-0318/</a:t>
            </a:r>
            <a:endParaRPr lang="en-US" noProof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006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694" y="365125"/>
            <a:ext cx="10889105" cy="1325563"/>
          </a:xfrm>
        </p:spPr>
        <p:txBody>
          <a:bodyPr/>
          <a:lstStyle/>
          <a:p>
            <a:r>
              <a:rPr lang="en-US" noProof="0" dirty="0"/>
              <a:t>Course overview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4989676"/>
              </p:ext>
            </p:extLst>
          </p:nvPr>
        </p:nvGraphicFramePr>
        <p:xfrm>
          <a:off x="209550" y="1996527"/>
          <a:ext cx="11773838" cy="3840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435892">
                  <a:extLst>
                    <a:ext uri="{9D8B030D-6E8A-4147-A177-3AD203B41FA5}">
                      <a16:colId xmlns:a16="http://schemas.microsoft.com/office/drawing/2014/main" val="2520064874"/>
                    </a:ext>
                  </a:extLst>
                </a:gridCol>
                <a:gridCol w="4174744">
                  <a:extLst>
                    <a:ext uri="{9D8B030D-6E8A-4147-A177-3AD203B41FA5}">
                      <a16:colId xmlns:a16="http://schemas.microsoft.com/office/drawing/2014/main" val="2773281204"/>
                    </a:ext>
                  </a:extLst>
                </a:gridCol>
                <a:gridCol w="4163202">
                  <a:extLst>
                    <a:ext uri="{9D8B030D-6E8A-4147-A177-3AD203B41FA5}">
                      <a16:colId xmlns:a16="http://schemas.microsoft.com/office/drawing/2014/main" val="2774251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rgbClr val="00B050"/>
                          </a:solidFill>
                        </a:rPr>
                        <a:t>1. Introduction to 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rgbClr val="00B050"/>
                          </a:solidFill>
                        </a:rPr>
                        <a:t>10. Functions as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19. Linear programming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220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noProof="0" dirty="0">
                          <a:solidFill>
                            <a:srgbClr val="00B050"/>
                          </a:solidFill>
                        </a:rPr>
                        <a:t>2. Python basics / 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rgbClr val="00B050"/>
                          </a:solidFill>
                        </a:rPr>
                        <a:t>11. Object oriented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rgbClr val="C00000"/>
                          </a:solidFill>
                        </a:rPr>
                        <a:t>20. Generators, </a:t>
                      </a:r>
                      <a:r>
                        <a:rPr lang="en-US" sz="2200" b="1" noProof="0" dirty="0">
                          <a:solidFill>
                            <a:srgbClr val="00B050"/>
                          </a:solidFill>
                        </a:rPr>
                        <a:t>iterators, </a:t>
                      </a:r>
                      <a:r>
                        <a:rPr lang="en-US" sz="2200" b="1" noProof="0" dirty="0">
                          <a:solidFill>
                            <a:srgbClr val="C00000"/>
                          </a:solidFill>
                        </a:rPr>
                        <a:t>with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64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rgbClr val="00B050"/>
                          </a:solidFill>
                        </a:rPr>
                        <a:t>3. Basic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rgbClr val="00B050"/>
                          </a:solidFill>
                        </a:rPr>
                        <a:t>12.</a:t>
                      </a:r>
                      <a:r>
                        <a:rPr lang="en-US" sz="2200" b="1" baseline="0" noProof="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sz="2200" b="1" noProof="0" dirty="0">
                          <a:solidFill>
                            <a:srgbClr val="00B050"/>
                          </a:solidFill>
                        </a:rPr>
                        <a:t>Class hierarchies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rgbClr val="C00000"/>
                          </a:solidFill>
                        </a:rPr>
                        <a:t>21. Modules and packages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803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noProof="0" dirty="0">
                          <a:solidFill>
                            <a:srgbClr val="00B050"/>
                          </a:solidFill>
                        </a:rPr>
                        <a:t>4. Lists / while /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rgbClr val="00B050"/>
                          </a:solidFill>
                        </a:rPr>
                        <a:t>13. Exceptions and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22. Working with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397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noProof="0" dirty="0">
                          <a:solidFill>
                            <a:srgbClr val="C00000"/>
                          </a:solidFill>
                        </a:rPr>
                        <a:t>5. Tuples</a:t>
                      </a:r>
                      <a:r>
                        <a:rPr lang="en-US" sz="2200" b="1" baseline="0" noProof="0" dirty="0">
                          <a:solidFill>
                            <a:srgbClr val="C00000"/>
                          </a:solidFill>
                        </a:rPr>
                        <a:t> / comprehensions</a:t>
                      </a:r>
                      <a:endParaRPr lang="en-US" sz="2200" b="1" noProof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rgbClr val="00B050"/>
                          </a:solidFill>
                        </a:rPr>
                        <a:t>14. Doc, testing,</a:t>
                      </a:r>
                      <a:r>
                        <a:rPr lang="en-US" sz="2200" b="1" baseline="0" noProof="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sz="2200" b="1" noProof="0" dirty="0">
                          <a:solidFill>
                            <a:srgbClr val="00B050"/>
                          </a:solidFill>
                        </a:rPr>
                        <a:t>debugging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23. Relational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375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noProof="0" dirty="0">
                          <a:solidFill>
                            <a:srgbClr val="00B050"/>
                          </a:solidFill>
                        </a:rPr>
                        <a:t>6. Dictionaries and 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rgbClr val="C00000"/>
                          </a:solidFill>
                        </a:rPr>
                        <a:t>15. Decorators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24. Clustering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380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noProof="0" dirty="0">
                          <a:solidFill>
                            <a:srgbClr val="00B050"/>
                          </a:solidFill>
                        </a:rPr>
                        <a:t>7.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16. Dynamic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25. Graphical user interfaces (GUI)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73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noProof="0" dirty="0">
                          <a:solidFill>
                            <a:srgbClr val="00B050"/>
                          </a:solidFill>
                        </a:rPr>
                        <a:t>8. Recursion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17. Visualization and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rgbClr val="C00000"/>
                          </a:solidFill>
                        </a:rPr>
                        <a:t>26. Java vs 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358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rgbClr val="00B050"/>
                          </a:solidFill>
                        </a:rPr>
                        <a:t>9.</a:t>
                      </a:r>
                      <a:r>
                        <a:rPr lang="en-US" sz="2200" b="1" baseline="0" noProof="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sz="2200" b="1" noProof="0" dirty="0">
                          <a:solidFill>
                            <a:srgbClr val="00B050"/>
                          </a:solidFill>
                        </a:rPr>
                        <a:t>Recursion</a:t>
                      </a:r>
                      <a:r>
                        <a:rPr lang="en-US" sz="2200" b="1" baseline="0" noProof="0" dirty="0">
                          <a:solidFill>
                            <a:srgbClr val="00B050"/>
                          </a:solidFill>
                        </a:rPr>
                        <a:t> and Iteration</a:t>
                      </a:r>
                      <a:endParaRPr lang="en-US" sz="2200" b="1" noProof="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18. Multi-dimensional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noProof="0" dirty="0"/>
                        <a:t>27. Final lecture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64544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16318" y="495720"/>
            <a:ext cx="45420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0" dirty="0">
                <a:solidFill>
                  <a:srgbClr val="00B050"/>
                </a:solidFill>
              </a:rPr>
              <a:t>Basic programming</a:t>
            </a:r>
          </a:p>
          <a:p>
            <a:pPr algn="r"/>
            <a:r>
              <a:rPr lang="en-US" sz="2400" b="1" noProof="0" dirty="0">
                <a:solidFill>
                  <a:srgbClr val="C00000"/>
                </a:solidFill>
              </a:rPr>
              <a:t>Advanced / specific python</a:t>
            </a:r>
          </a:p>
          <a:p>
            <a:pPr algn="r"/>
            <a:r>
              <a:rPr lang="en-US" sz="2400" b="1" noProof="0" dirty="0">
                <a:solidFill>
                  <a:schemeClr val="accent1">
                    <a:lumMod val="50000"/>
                  </a:schemeClr>
                </a:solidFill>
              </a:rPr>
              <a:t>Libraries &amp;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5459" y="5908445"/>
            <a:ext cx="4542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>
                <a:solidFill>
                  <a:srgbClr val="000000"/>
                </a:solidFill>
              </a:rPr>
              <a:t>10 </a:t>
            </a:r>
            <a:r>
              <a:rPr lang="en-US" sz="2400" b="1" noProof="0" dirty="0" err="1">
                <a:solidFill>
                  <a:srgbClr val="000000"/>
                </a:solidFill>
              </a:rPr>
              <a:t>handins</a:t>
            </a:r>
            <a:br>
              <a:rPr lang="en-US" sz="2400" b="1" noProof="0" dirty="0">
                <a:solidFill>
                  <a:srgbClr val="000000"/>
                </a:solidFill>
              </a:rPr>
            </a:br>
            <a:r>
              <a:rPr lang="en-US" sz="2400" b="1" noProof="0" dirty="0">
                <a:solidFill>
                  <a:srgbClr val="000000"/>
                </a:solidFill>
              </a:rPr>
              <a:t>1 final project (last 1 month)</a:t>
            </a:r>
          </a:p>
        </p:txBody>
      </p:sp>
    </p:spTree>
    <p:extLst>
      <p:ext uri="{BB962C8B-B14F-4D97-AF65-F5344CB8AC3E}">
        <p14:creationId xmlns:p14="http://schemas.microsoft.com/office/powerpoint/2010/main" val="27977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Python decorators are just </a:t>
            </a:r>
            <a:r>
              <a:rPr lang="en-US" noProof="0" dirty="0" err="1"/>
              <a:t>syntatic</a:t>
            </a:r>
            <a:r>
              <a:rPr lang="en-US" noProof="0" dirty="0"/>
              <a:t> sugar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825625"/>
            <a:ext cx="4843072" cy="3555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0" y="1825625"/>
            <a:ext cx="4843072" cy="3555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465895"/>
              </p:ext>
            </p:extLst>
          </p:nvPr>
        </p:nvGraphicFramePr>
        <p:xfrm>
          <a:off x="1407827" y="2826307"/>
          <a:ext cx="411542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542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58932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103391">
                <a:tc>
                  <a:txBody>
                    <a:bodyPr/>
                    <a:lstStyle/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@dec2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@dec1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(arg1, arg2, ...):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pass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145638"/>
              </p:ext>
            </p:extLst>
          </p:nvPr>
        </p:nvGraphicFramePr>
        <p:xfrm>
          <a:off x="6686862" y="2826307"/>
          <a:ext cx="411542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542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58932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103391">
                <a:tc>
                  <a:txBody>
                    <a:bodyPr/>
                    <a:lstStyle/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(arg1, arg2, ...):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pass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endParaRPr lang="en-US" sz="1800" b="1" baseline="0" noProof="0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dec2</a:t>
                      </a: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dec1</a:t>
                      </a: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72885" y="3218826"/>
            <a:ext cx="8392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noProof="0" dirty="0"/>
              <a:t>≡</a:t>
            </a:r>
          </a:p>
        </p:txBody>
      </p:sp>
      <p:sp>
        <p:nvSpPr>
          <p:cNvPr id="9" name="Arc 8"/>
          <p:cNvSpPr/>
          <p:nvPr/>
        </p:nvSpPr>
        <p:spPr>
          <a:xfrm>
            <a:off x="868270" y="3639353"/>
            <a:ext cx="805543" cy="2242457"/>
          </a:xfrm>
          <a:prstGeom prst="arc">
            <a:avLst>
              <a:gd name="adj1" fmla="val 5695524"/>
              <a:gd name="adj2" fmla="val 16251305"/>
            </a:avLst>
          </a:prstGeom>
          <a:ln w="19050">
            <a:solidFill>
              <a:srgbClr val="C0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271041" y="5125196"/>
            <a:ext cx="93702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C00000"/>
                </a:solidFill>
              </a:rPr>
              <a:t>'pie-decorator' syntax </a:t>
            </a:r>
          </a:p>
          <a:p>
            <a:r>
              <a:rPr lang="en-US" sz="2400" noProof="0" dirty="0">
                <a:solidFill>
                  <a:srgbClr val="000000"/>
                </a:solidFill>
              </a:rPr>
              <a:t>dec1, dec2, ... are functions (decorators) taking a </a:t>
            </a:r>
            <a:r>
              <a:rPr lang="en-US" sz="2400" i="1" noProof="0" dirty="0">
                <a:solidFill>
                  <a:srgbClr val="000000"/>
                </a:solidFill>
              </a:rPr>
              <a:t>function as an argument </a:t>
            </a:r>
            <a:r>
              <a:rPr lang="en-US" sz="2400" noProof="0" dirty="0">
                <a:solidFill>
                  <a:srgbClr val="000000"/>
                </a:solidFill>
              </a:rPr>
              <a:t>and </a:t>
            </a:r>
            <a:r>
              <a:rPr lang="en-US" sz="2400" i="1" noProof="0" dirty="0">
                <a:solidFill>
                  <a:srgbClr val="000000"/>
                </a:solidFill>
              </a:rPr>
              <a:t>returning a new function</a:t>
            </a:r>
          </a:p>
          <a:p>
            <a:r>
              <a:rPr lang="en-US" sz="2400" noProof="0" dirty="0">
                <a:solidFill>
                  <a:srgbClr val="000000"/>
                </a:solidFill>
              </a:rPr>
              <a:t>Note: decorators are listed bottom up in order of execution</a:t>
            </a:r>
          </a:p>
        </p:txBody>
      </p:sp>
    </p:spTree>
    <p:extLst>
      <p:ext uri="{BB962C8B-B14F-4D97-AF65-F5344CB8AC3E}">
        <p14:creationId xmlns:p14="http://schemas.microsoft.com/office/powerpoint/2010/main" val="3197724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Recap functions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2650808" y="1690688"/>
            <a:ext cx="6890384" cy="1315402"/>
            <a:chOff x="2650808" y="1690688"/>
            <a:chExt cx="6890384" cy="1315402"/>
          </a:xfrm>
        </p:grpSpPr>
        <p:sp>
          <p:nvSpPr>
            <p:cNvPr id="4" name="Rectangle 3"/>
            <p:cNvSpPr/>
            <p:nvPr/>
          </p:nvSpPr>
          <p:spPr>
            <a:xfrm>
              <a:off x="4672965" y="1690688"/>
              <a:ext cx="2846070" cy="131540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noProof="0" dirty="0">
                  <a:solidFill>
                    <a:schemeClr val="tx1"/>
                  </a:solidFill>
                </a:rPr>
                <a:t>+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3118485" y="2057400"/>
              <a:ext cx="1554480" cy="1143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3118485" y="2632710"/>
              <a:ext cx="1554480" cy="1143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3531870" y="1690688"/>
              <a:ext cx="582930" cy="36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noProof="0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31870" y="2254568"/>
              <a:ext cx="582930" cy="36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noProof="0" dirty="0">
                  <a:solidFill>
                    <a:srgbClr val="C00000"/>
                  </a:solidFill>
                </a:rPr>
                <a:t>y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650808" y="1886427"/>
              <a:ext cx="5829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661286" y="2470786"/>
              <a:ext cx="5829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7519035" y="2349045"/>
              <a:ext cx="1554480" cy="1143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7869555" y="1926106"/>
              <a:ext cx="853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noProof="0" dirty="0">
                  <a:solidFill>
                    <a:srgbClr val="C00000"/>
                  </a:solidFill>
                </a:rPr>
                <a:t>x</a:t>
              </a:r>
              <a:r>
                <a:rPr lang="en-US" noProof="0" dirty="0">
                  <a:solidFill>
                    <a:srgbClr val="C00000"/>
                  </a:solidFill>
                </a:rPr>
                <a:t> + </a:t>
              </a:r>
              <a:r>
                <a:rPr lang="en-US" i="1" noProof="0" dirty="0">
                  <a:solidFill>
                    <a:srgbClr val="C00000"/>
                  </a:solidFill>
                </a:rPr>
                <a:t>y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958262" y="2219891"/>
              <a:ext cx="5829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7150" y="3372030"/>
            <a:ext cx="12134850" cy="1315402"/>
            <a:chOff x="57150" y="3372030"/>
            <a:chExt cx="12134850" cy="1315402"/>
          </a:xfrm>
        </p:grpSpPr>
        <p:sp>
          <p:nvSpPr>
            <p:cNvPr id="16" name="Rectangle 15"/>
            <p:cNvSpPr/>
            <p:nvPr/>
          </p:nvSpPr>
          <p:spPr>
            <a:xfrm>
              <a:off x="4672965" y="3372030"/>
              <a:ext cx="2846070" cy="131540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noProof="0" dirty="0">
                  <a:solidFill>
                    <a:schemeClr val="tx1"/>
                  </a:solidFill>
                </a:rPr>
                <a:t>sorted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3118485" y="3738742"/>
              <a:ext cx="1554480" cy="1143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3118485" y="4314052"/>
              <a:ext cx="1554480" cy="1143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3531870" y="3372030"/>
              <a:ext cx="582930" cy="36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noProof="0" dirty="0">
                  <a:solidFill>
                    <a:srgbClr val="C00000"/>
                  </a:solidFill>
                </a:rPr>
                <a:t>list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14674" y="3904119"/>
              <a:ext cx="15506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noProof="0" dirty="0">
                  <a:solidFill>
                    <a:srgbClr val="C00000"/>
                  </a:solidFill>
                </a:rPr>
                <a:t>key function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150" y="3567769"/>
              <a:ext cx="30737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['</a:t>
              </a:r>
              <a:r>
                <a:rPr lang="en-US" b="1" noProof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defg</a:t>
              </a:r>
              <a:r>
                <a:rPr lang="en-US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', '</a:t>
              </a:r>
              <a:r>
                <a:rPr lang="en-US" b="1" noProof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ij</a:t>
              </a:r>
              <a:r>
                <a:rPr lang="en-US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', '</a:t>
              </a:r>
              <a:r>
                <a:rPr lang="en-US" b="1" noProof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abc</a:t>
              </a:r>
              <a:r>
                <a:rPr lang="en-US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']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187893" y="4117956"/>
              <a:ext cx="9467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noProof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len</a:t>
              </a:r>
              <a:endParaRPr lang="en-US" b="1" noProof="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7519035" y="4030387"/>
              <a:ext cx="1554480" cy="1143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638097" y="3580092"/>
              <a:ext cx="13201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noProof="0" dirty="0">
                  <a:solidFill>
                    <a:srgbClr val="C00000"/>
                  </a:solidFill>
                </a:rPr>
                <a:t>sorted list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073514" y="3819409"/>
              <a:ext cx="3118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['</a:t>
              </a:r>
              <a:r>
                <a:rPr lang="en-US" b="1" noProof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ij</a:t>
              </a:r>
              <a:r>
                <a:rPr lang="en-US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', '</a:t>
              </a:r>
              <a:r>
                <a:rPr lang="en-US" b="1" noProof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abc</a:t>
              </a:r>
              <a:r>
                <a:rPr lang="en-US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', '</a:t>
              </a:r>
              <a:r>
                <a:rPr lang="en-US" b="1" noProof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defg</a:t>
              </a:r>
              <a:r>
                <a:rPr lang="en-US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']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114674" y="5031703"/>
            <a:ext cx="5955030" cy="1315402"/>
            <a:chOff x="3114674" y="5031703"/>
            <a:chExt cx="5955030" cy="1315402"/>
          </a:xfrm>
        </p:grpSpPr>
        <p:sp>
          <p:nvSpPr>
            <p:cNvPr id="26" name="Rectangle 25"/>
            <p:cNvSpPr/>
            <p:nvPr/>
          </p:nvSpPr>
          <p:spPr>
            <a:xfrm>
              <a:off x="4669154" y="5031703"/>
              <a:ext cx="2846070" cy="131540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i="1" noProof="0" dirty="0">
                  <a:solidFill>
                    <a:schemeClr val="tx1"/>
                  </a:solidFill>
                </a:rPr>
                <a:t>decorator</a:t>
              </a: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3114674" y="5641899"/>
              <a:ext cx="1554480" cy="1143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3114674" y="5312155"/>
              <a:ext cx="15506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noProof="0" dirty="0">
                  <a:solidFill>
                    <a:srgbClr val="C00000"/>
                  </a:solidFill>
                </a:rPr>
                <a:t>original function</a:t>
              </a: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7515224" y="5690060"/>
              <a:ext cx="1554480" cy="1143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7632381" y="5366238"/>
              <a:ext cx="13201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noProof="0" dirty="0">
                  <a:solidFill>
                    <a:srgbClr val="C00000"/>
                  </a:solidFill>
                </a:rPr>
                <a:t>decorated function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405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Contrived example : Plus one (I-II)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761384"/>
              </p:ext>
            </p:extLst>
          </p:nvPr>
        </p:nvGraphicFramePr>
        <p:xfrm>
          <a:off x="931578" y="1690688"/>
          <a:ext cx="466958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9589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plus_one1.py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+ 1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** 2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cube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** 3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(5)))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cube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994349"/>
              </p:ext>
            </p:extLst>
          </p:nvPr>
        </p:nvGraphicFramePr>
        <p:xfrm>
          <a:off x="6536088" y="1690688"/>
          <a:ext cx="466958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9589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plus_one2.py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+ 1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 ** 2)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cube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 ** 3)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cube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8200" y="6171248"/>
            <a:ext cx="4903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Assume we </a:t>
            </a:r>
            <a:r>
              <a:rPr lang="en-US" i="1" noProof="0" dirty="0"/>
              <a:t>always</a:t>
            </a:r>
            <a:r>
              <a:rPr lang="en-US" noProof="0" dirty="0"/>
              <a:t> need to call </a:t>
            </a:r>
            <a:r>
              <a:rPr lang="en-US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plus_one</a:t>
            </a:r>
            <a:r>
              <a:rPr lang="en-US" noProof="0" dirty="0"/>
              <a:t> on the result of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noProof="0" dirty="0"/>
              <a:t> and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cube</a:t>
            </a:r>
            <a:r>
              <a:rPr lang="en-US" noProof="0" dirty="0"/>
              <a:t> (don’t ask why!)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3396" y="6171248"/>
            <a:ext cx="5234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We could call </a:t>
            </a:r>
            <a:r>
              <a:rPr lang="en-US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plus_one</a:t>
            </a:r>
            <a:r>
              <a:rPr lang="en-US" noProof="0" dirty="0"/>
              <a:t> inside functions</a:t>
            </a:r>
            <a:br>
              <a:rPr lang="en-US" noProof="0" dirty="0"/>
            </a:br>
            <a:r>
              <a:rPr lang="en-US" noProof="0" dirty="0"/>
              <a:t>(but could be more </a:t>
            </a:r>
            <a:r>
              <a:rPr lang="en-US" noProof="0" dirty="0">
                <a:latin typeface="Courier" pitchFamily="49" charset="0"/>
              </a:rPr>
              <a:t>return</a:t>
            </a:r>
            <a:r>
              <a:rPr lang="en-US" noProof="0" dirty="0"/>
              <a:t> statements in functions)</a:t>
            </a:r>
          </a:p>
        </p:txBody>
      </p:sp>
    </p:spTree>
    <p:extLst>
      <p:ext uri="{BB962C8B-B14F-4D97-AF65-F5344CB8AC3E}">
        <p14:creationId xmlns:p14="http://schemas.microsoft.com/office/powerpoint/2010/main" val="186383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Contrived example : Plus one (III-IV)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603027"/>
              </p:ext>
            </p:extLst>
          </p:nvPr>
        </p:nvGraphicFramePr>
        <p:xfrm>
          <a:off x="485808" y="1690688"/>
          <a:ext cx="6050280" cy="464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02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plus_one3.py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+ 1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square(x):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** 2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cube(x):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** 3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square_original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square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cube_original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cube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 = lambda x: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square_original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cube = lambda x: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cube_original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print(square(5))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print(cube(5))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270591"/>
              </p:ext>
            </p:extLst>
          </p:nvPr>
        </p:nvGraphicFramePr>
        <p:xfrm>
          <a:off x="7022949" y="1690688"/>
          <a:ext cx="4669589" cy="464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9589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plus_one4.py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+ 1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plus_one_decorator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return lambda x: 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(f(x))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square(x):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** 2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cube(x):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** 3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 =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plus_one_decorator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(square)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cube =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plus_one_decorator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(cube)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print(square(5))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print(cube(5))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85808" y="6338888"/>
            <a:ext cx="605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Overwrite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noProof="0" dirty="0"/>
              <a:t> and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cube</a:t>
            </a:r>
            <a:r>
              <a:rPr lang="en-US" noProof="0" dirty="0"/>
              <a:t> with </a:t>
            </a:r>
            <a:r>
              <a:rPr lang="en-US" noProof="0" dirty="0">
                <a:solidFill>
                  <a:srgbClr val="C00000"/>
                </a:solidFill>
              </a:rPr>
              <a:t>decorated</a:t>
            </a:r>
            <a:r>
              <a:rPr lang="en-US" noProof="0" dirty="0"/>
              <a:t> versions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6386781"/>
            <a:ext cx="542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Create a </a:t>
            </a:r>
            <a:r>
              <a:rPr lang="en-US" noProof="0" dirty="0">
                <a:solidFill>
                  <a:srgbClr val="C00000"/>
                </a:solidFill>
              </a:rPr>
              <a:t>decorator function </a:t>
            </a:r>
            <a:r>
              <a:rPr lang="en-US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plus_one_decorator</a:t>
            </a:r>
            <a:endParaRPr lang="en-US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50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Contrived example : Plus one (V-VI)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986568"/>
              </p:ext>
            </p:extLst>
          </p:nvPr>
        </p:nvGraphicFramePr>
        <p:xfrm>
          <a:off x="931578" y="1690688"/>
          <a:ext cx="458343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34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plus_one5.py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+ 1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plus_one_decorator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lambda x: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(f(x))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@plus_one_decorator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** 2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@plus_one_decorator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cube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** 3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cube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290670"/>
              </p:ext>
            </p:extLst>
          </p:nvPr>
        </p:nvGraphicFramePr>
        <p:xfrm>
          <a:off x="6684211" y="1690688"/>
          <a:ext cx="466958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9589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plus_one6.py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plus_one_decorator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f(x) + 1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</a:t>
                      </a:r>
                      <a:endParaRPr lang="en-US" sz="1600" b="1" noProof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@plus_one_decorator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** 2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@plus_one_decorator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cube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** 3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cube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31578" y="6338887"/>
            <a:ext cx="4583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Use Python </a:t>
            </a:r>
            <a:r>
              <a:rPr lang="en-US" noProof="0" dirty="0">
                <a:solidFill>
                  <a:srgbClr val="C00000"/>
                </a:solidFill>
              </a:rPr>
              <a:t>decorator syntax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6386781"/>
            <a:ext cx="4678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Create </a:t>
            </a:r>
            <a:r>
              <a:rPr lang="en-US" noProof="0" dirty="0">
                <a:solidFill>
                  <a:srgbClr val="C00000"/>
                </a:solidFill>
              </a:rPr>
              <a:t>local function</a:t>
            </a:r>
            <a:r>
              <a:rPr lang="en-US" noProof="0" dirty="0"/>
              <a:t> instead of using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lambda</a:t>
            </a:r>
            <a:endParaRPr lang="en-US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59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Contrived example : Plus one (VII)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40967"/>
              </p:ext>
            </p:extLst>
          </p:nvPr>
        </p:nvGraphicFramePr>
        <p:xfrm>
          <a:off x="920148" y="1449706"/>
          <a:ext cx="6050280" cy="522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02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plus_one7.py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plus_one_decorator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f(x) + 1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plus_one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@plus_one_decorator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@plus_one_decorator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** 2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@plus_one_decorator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@plus_one_decorator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@plus_one_decorator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cube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** 3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cube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27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128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06648" y="2816293"/>
            <a:ext cx="44710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noProof="0" dirty="0"/>
              <a:t>A function can have an arbitrary number of decorators (also the same repeated)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US" sz="2400" noProof="0" dirty="0"/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noProof="0" dirty="0">
                <a:solidFill>
                  <a:srgbClr val="000000"/>
                </a:solidFill>
              </a:rPr>
              <a:t>Decorators are listed bottom up in order of execution</a:t>
            </a:r>
          </a:p>
        </p:txBody>
      </p:sp>
    </p:spTree>
    <p:extLst>
      <p:ext uri="{BB962C8B-B14F-4D97-AF65-F5344CB8AC3E}">
        <p14:creationId xmlns:p14="http://schemas.microsoft.com/office/powerpoint/2010/main" val="1815524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Handling arguments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079260"/>
              </p:ext>
            </p:extLst>
          </p:nvPr>
        </p:nvGraphicFramePr>
        <p:xfrm>
          <a:off x="931578" y="1690688"/>
          <a:ext cx="4583430" cy="376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34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run_twice1.py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run_twice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wrapper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f()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f()     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wrapper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@run_twice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hello_world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print('Hello world')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hello_world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 world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 world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557334"/>
              </p:ext>
            </p:extLst>
          </p:nvPr>
        </p:nvGraphicFramePr>
        <p:xfrm>
          <a:off x="7796316" y="786157"/>
          <a:ext cx="323881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81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run_twice2.py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run_twice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wrapper(</a:t>
                      </a:r>
                      <a:r>
                        <a:rPr lang="en-US" sz="16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</a:t>
                      </a:r>
                      <a:r>
                        <a:rPr lang="en-US" sz="1600" b="1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f(</a:t>
                      </a:r>
                      <a:r>
                        <a:rPr lang="en-US" sz="16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</a:t>
                      </a:r>
                      <a:r>
                        <a:rPr lang="en-US" sz="1600" b="1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f(</a:t>
                      </a:r>
                      <a:r>
                        <a:rPr lang="en-US" sz="16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</a:t>
                      </a:r>
                      <a:r>
                        <a:rPr lang="en-US" sz="1600" b="1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wrapper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@run_twice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hello_world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print('Hello world')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@run_twice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hello(txt)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print('Hello', txt)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hello_world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('Mars')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 world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 world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 Mars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 Mars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4467" y="5659488"/>
            <a:ext cx="4337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”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wrapper</a:t>
            </a:r>
            <a:r>
              <a:rPr lang="en-US" noProof="0" dirty="0"/>
              <a:t>” is a common name for the function returned by a decorator</a:t>
            </a:r>
            <a:endParaRPr lang="en-US" noProof="0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64065" y="6089677"/>
            <a:ext cx="3703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noProof="0" dirty="0"/>
              <a:t> holds the </a:t>
            </a:r>
            <a:r>
              <a:rPr lang="en-US" noProof="0" dirty="0">
                <a:solidFill>
                  <a:srgbClr val="C00000"/>
                </a:solidFill>
              </a:rPr>
              <a:t>arguments</a:t>
            </a:r>
            <a:r>
              <a:rPr lang="en-US" noProof="0" dirty="0"/>
              <a:t> </a:t>
            </a:r>
            <a:r>
              <a:rPr lang="en-US" noProof="0" dirty="0">
                <a:solidFill>
                  <a:srgbClr val="C00000"/>
                </a:solidFill>
              </a:rPr>
              <a:t>in a tuple </a:t>
            </a:r>
            <a:r>
              <a:rPr lang="en-US" noProof="0" dirty="0"/>
              <a:t>given to the function to be decorated</a:t>
            </a:r>
            <a:endParaRPr lang="en-US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9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r>
              <a:rPr lang="en-US" noProof="0" dirty="0"/>
              <a:t>Question – What does the decorated program print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5478" y="2209083"/>
            <a:ext cx="2711245" cy="4351338"/>
          </a:xfrm>
        </p:spPr>
        <p:txBody>
          <a:bodyPr/>
          <a:lstStyle/>
          <a:p>
            <a:r>
              <a:rPr lang="en-US" noProof="0" dirty="0"/>
              <a:t>7</a:t>
            </a:r>
          </a:p>
          <a:p>
            <a:r>
              <a:rPr lang="en-US" noProof="0" dirty="0"/>
              <a:t>10</a:t>
            </a:r>
          </a:p>
          <a:p>
            <a:r>
              <a:rPr lang="en-US" noProof="0" dirty="0"/>
              <a:t>14</a:t>
            </a:r>
          </a:p>
          <a:p>
            <a:r>
              <a:rPr lang="en-US" noProof="0" dirty="0"/>
              <a:t>17</a:t>
            </a:r>
          </a:p>
          <a:p>
            <a:r>
              <a:rPr lang="en-US" noProof="0" dirty="0"/>
              <a:t>20</a:t>
            </a:r>
          </a:p>
          <a:p>
            <a:r>
              <a:rPr lang="en-US" noProof="0" dirty="0"/>
              <a:t>Don’t know</a:t>
            </a:r>
          </a:p>
          <a:p>
            <a:endParaRPr lang="en-US" noProof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65633"/>
              </p:ext>
            </p:extLst>
          </p:nvPr>
        </p:nvGraphicFramePr>
        <p:xfrm>
          <a:off x="2183991" y="1675684"/>
          <a:ext cx="391200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2009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decorator_quiz.py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double(f):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wrapper(*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2 * f(*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wrapper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add_three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wrapper(*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3 + f(*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wrapper</a:t>
                      </a:r>
                    </a:p>
                    <a:p>
                      <a:endParaRPr lang="en-US" sz="18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@double</a:t>
                      </a:r>
                    </a:p>
                    <a:p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@add_three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seven():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7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print(seven())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Smiley Face 4" descr="QuizAnswer"/>
          <p:cNvSpPr/>
          <p:nvPr/>
        </p:nvSpPr>
        <p:spPr>
          <a:xfrm>
            <a:off x="6962756" y="4288232"/>
            <a:ext cx="374567" cy="363338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799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318416" cy="3726815"/>
          </a:xfrm>
        </p:spPr>
        <p:txBody>
          <a:bodyPr>
            <a:normAutofit/>
          </a:bodyPr>
          <a:lstStyle/>
          <a:p>
            <a:r>
              <a:rPr lang="en-US" noProof="0" dirty="0"/>
              <a:t>Example: Enforcing</a:t>
            </a:r>
            <a:br>
              <a:rPr lang="en-US" noProof="0" dirty="0"/>
            </a:br>
            <a:r>
              <a:rPr lang="en-US" noProof="0" dirty="0"/>
              <a:t>argument </a:t>
            </a:r>
            <a:br>
              <a:rPr lang="en-US" noProof="0" dirty="0"/>
            </a:br>
            <a:r>
              <a:rPr lang="en-US" noProof="0" dirty="0"/>
              <a:t>types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173240"/>
              </p:ext>
            </p:extLst>
          </p:nvPr>
        </p:nvGraphicFramePr>
        <p:xfrm>
          <a:off x="5413058" y="285115"/>
          <a:ext cx="6202045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204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integer_sum1.py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integer_sum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(*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all([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int) for x in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]),\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'all arguments most be int'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sum(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integer_sum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(1, 2, 3, 4)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integer_sum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(1, 2, 3.2, 4)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AssertionError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all arguments most be int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967413"/>
              </p:ext>
            </p:extLst>
          </p:nvPr>
        </p:nvGraphicFramePr>
        <p:xfrm>
          <a:off x="5413058" y="2919412"/>
          <a:ext cx="6202045" cy="364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204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integer_sum2.py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enforce_integer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(f): 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decorator function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wrapper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(*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assert all([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int) for x in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]),\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'all arguments most be int'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f(*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wrapper</a:t>
                      </a: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@enforce_integer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integer_sum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(*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sum(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integer_sum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(1, 2, 3, 4)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integer_sum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(1, 2, 3.2, 4)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AssertionError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all arguments most be int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4025526"/>
            <a:ext cx="4156710" cy="2315686"/>
          </a:xfrm>
        </p:spPr>
        <p:txBody>
          <a:bodyPr/>
          <a:lstStyle/>
          <a:p>
            <a:r>
              <a:rPr lang="en-US" noProof="0" dirty="0"/>
              <a:t>Defining decorators can be (slightly) complicated</a:t>
            </a:r>
          </a:p>
          <a:p>
            <a:r>
              <a:rPr lang="en-US" noProof="0" dirty="0"/>
              <a:t>Using decorators is easy</a:t>
            </a:r>
          </a:p>
        </p:txBody>
      </p:sp>
    </p:spTree>
    <p:extLst>
      <p:ext uri="{BB962C8B-B14F-4D97-AF65-F5344CB8AC3E}">
        <p14:creationId xmlns:p14="http://schemas.microsoft.com/office/powerpoint/2010/main" val="219188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Decorators can take arguments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400800" y="1690688"/>
            <a:ext cx="4843072" cy="3555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07043"/>
              </p:ext>
            </p:extLst>
          </p:nvPr>
        </p:nvGraphicFramePr>
        <p:xfrm>
          <a:off x="1023972" y="2631054"/>
          <a:ext cx="40055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55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89282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872678">
                <a:tc>
                  <a:txBody>
                    <a:bodyPr/>
                    <a:lstStyle/>
                    <a:p>
                      <a:r>
                        <a:rPr lang="en-US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@dec(argA, </a:t>
                      </a:r>
                      <a:r>
                        <a:rPr lang="en-US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argB</a:t>
                      </a:r>
                      <a:r>
                        <a:rPr lang="en-US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...)</a:t>
                      </a:r>
                    </a:p>
                    <a:p>
                      <a:r>
                        <a:rPr lang="en-US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(arg1, arg2, ...):</a:t>
                      </a:r>
                    </a:p>
                    <a:p>
                      <a:r>
                        <a:rPr lang="en-US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pass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70166"/>
              </p:ext>
            </p:extLst>
          </p:nvPr>
        </p:nvGraphicFramePr>
        <p:xfrm>
          <a:off x="6303007" y="2631054"/>
          <a:ext cx="482473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47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89068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872034">
                <a:tc>
                  <a:txBody>
                    <a:bodyPr/>
                    <a:lstStyle/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(arg1, arg2, ...):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pass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 err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dec(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argA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argB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...)</a:t>
                      </a: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 err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289030" y="3023572"/>
            <a:ext cx="8392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noProof="0" dirty="0"/>
              <a:t>≡</a:t>
            </a:r>
          </a:p>
        </p:txBody>
      </p:sp>
      <p:sp>
        <p:nvSpPr>
          <p:cNvPr id="9" name="Arc 8"/>
          <p:cNvSpPr/>
          <p:nvPr/>
        </p:nvSpPr>
        <p:spPr>
          <a:xfrm>
            <a:off x="544999" y="3190130"/>
            <a:ext cx="805543" cy="2242457"/>
          </a:xfrm>
          <a:prstGeom prst="arc">
            <a:avLst>
              <a:gd name="adj1" fmla="val 5695524"/>
              <a:gd name="adj2" fmla="val 16251305"/>
            </a:avLst>
          </a:prstGeom>
          <a:ln w="19050">
            <a:solidFill>
              <a:srgbClr val="C0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947770" y="4995157"/>
            <a:ext cx="10596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</a:t>
            </a:r>
            <a:r>
              <a:rPr lang="en-US" sz="2400" noProof="0" dirty="0">
                <a:solidFill>
                  <a:srgbClr val="000000"/>
                </a:solidFill>
              </a:rPr>
              <a:t> is a function (decorator) that takes a </a:t>
            </a:r>
            <a:r>
              <a:rPr lang="en-US" sz="2400" i="1" noProof="0" dirty="0">
                <a:solidFill>
                  <a:srgbClr val="000000"/>
                </a:solidFill>
              </a:rPr>
              <a:t>list of arguments</a:t>
            </a:r>
            <a:r>
              <a:rPr lang="en-US" sz="2400" noProof="0" dirty="0">
                <a:solidFill>
                  <a:srgbClr val="000000"/>
                </a:solidFill>
              </a:rPr>
              <a:t> and </a:t>
            </a:r>
            <a:r>
              <a:rPr lang="en-US" sz="2400" i="1" noProof="0" dirty="0">
                <a:solidFill>
                  <a:srgbClr val="000000"/>
                </a:solidFill>
              </a:rPr>
              <a:t>returns a function</a:t>
            </a:r>
            <a:r>
              <a:rPr lang="en-US" sz="2400" noProof="0" dirty="0">
                <a:solidFill>
                  <a:srgbClr val="000000"/>
                </a:solidFill>
              </a:rPr>
              <a:t> (to decorate </a:t>
            </a:r>
            <a:r>
              <a:rPr lang="en-US" sz="2400" noProof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400" noProof="0" dirty="0">
                <a:solidFill>
                  <a:srgbClr val="000000"/>
                </a:solidFill>
              </a:rPr>
              <a:t>) that takes a </a:t>
            </a:r>
            <a:r>
              <a:rPr lang="en-US" sz="2400" i="1" noProof="0" dirty="0">
                <a:solidFill>
                  <a:srgbClr val="000000"/>
                </a:solidFill>
              </a:rPr>
              <a:t>function as an argument </a:t>
            </a:r>
            <a:r>
              <a:rPr lang="en-US" sz="2400" noProof="0" dirty="0">
                <a:solidFill>
                  <a:srgbClr val="000000"/>
                </a:solidFill>
              </a:rPr>
              <a:t>and </a:t>
            </a:r>
            <a:r>
              <a:rPr lang="en-US" sz="2400" i="1" noProof="0" dirty="0">
                <a:solidFill>
                  <a:srgbClr val="000000"/>
                </a:solidFill>
              </a:rPr>
              <a:t>returns a new function</a:t>
            </a:r>
          </a:p>
        </p:txBody>
      </p:sp>
    </p:spTree>
    <p:extLst>
      <p:ext uri="{BB962C8B-B14F-4D97-AF65-F5344CB8AC3E}">
        <p14:creationId xmlns:p14="http://schemas.microsoft.com/office/powerpoint/2010/main" val="2410450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826" y="0"/>
            <a:ext cx="10515600" cy="1325563"/>
          </a:xfrm>
        </p:spPr>
        <p:txBody>
          <a:bodyPr/>
          <a:lstStyle/>
          <a:p>
            <a:r>
              <a:rPr lang="en-US" noProof="0" dirty="0"/>
              <a:t>Example: Generic type enforcing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957195"/>
              </p:ext>
            </p:extLst>
          </p:nvPr>
        </p:nvGraphicFramePr>
        <p:xfrm>
          <a:off x="264826" y="1137673"/>
          <a:ext cx="11662347" cy="55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2347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print_repeated.py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enforce_types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(*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decorator_args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decorator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def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wrapper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(*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assert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==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decorator_args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 \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f'got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)} arguments, expected {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decorator_args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)}'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assert all([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t) for x, t in zip(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decorator_args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)]), \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'unexpected types'        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return f(*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wrapper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decorator</a:t>
                      </a: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@enforce_types(str, int)  # decorator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with arguments</a:t>
                      </a:r>
                      <a:endParaRPr lang="en-US" sz="16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print_repeated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(txt, n):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print(txt * n)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print_repeated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('Hello ', 3)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print_repeated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('Hello ', 'world')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AssertionError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unexpected types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682781"/>
              </p:ext>
            </p:extLst>
          </p:nvPr>
        </p:nvGraphicFramePr>
        <p:xfrm>
          <a:off x="7998455" y="3318509"/>
          <a:ext cx="3799205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2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22561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53414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@dec(argA,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argB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...)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(arg1, arg2, ...):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pass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40300"/>
              </p:ext>
            </p:extLst>
          </p:nvPr>
        </p:nvGraphicFramePr>
        <p:xfrm>
          <a:off x="7998457" y="4621823"/>
          <a:ext cx="3799205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2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00149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80359">
                <a:tc>
                  <a:txBody>
                    <a:bodyPr/>
                    <a:lstStyle/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4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sz="14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(arg1, arg2, ...):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pass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 err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sz="14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dec(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argA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argB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...)</a:t>
                      </a:r>
                      <a:r>
                        <a:rPr lang="en-US" sz="14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baseline="0" noProof="0" dirty="0" err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sz="14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577637" y="4250460"/>
            <a:ext cx="64084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noProof="0" dirty="0"/>
              <a:t>≡</a:t>
            </a:r>
          </a:p>
        </p:txBody>
      </p:sp>
    </p:spTree>
    <p:extLst>
      <p:ext uri="{BB962C8B-B14F-4D97-AF65-F5344CB8AC3E}">
        <p14:creationId xmlns:p14="http://schemas.microsoft.com/office/powerpoint/2010/main" val="886526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649" y="145203"/>
            <a:ext cx="6515434" cy="1325563"/>
          </a:xfrm>
        </p:spPr>
        <p:txBody>
          <a:bodyPr/>
          <a:lstStyle/>
          <a:p>
            <a:r>
              <a:rPr lang="en-US" noProof="0" dirty="0"/>
              <a:t>Example: A timer decorator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826029"/>
              </p:ext>
            </p:extLst>
          </p:nvPr>
        </p:nvGraphicFramePr>
        <p:xfrm>
          <a:off x="661649" y="1470766"/>
          <a:ext cx="653923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92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03168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time_it.py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time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time_it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wrapper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(*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**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kwargs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t_start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time.time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result =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f(*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**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kwargs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t_end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time.time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t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t_end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-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t_start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print(f'{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f.__name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__} took {t:.2f} seconds')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result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wrapper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@time_it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slow_function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sum_ = 0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x in range(n):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sum_ += x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print('The sum is:', sum_)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i in range(6):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slow_function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(1_000_000 * 2 ** i)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047592"/>
              </p:ext>
            </p:extLst>
          </p:nvPr>
        </p:nvGraphicFramePr>
        <p:xfrm>
          <a:off x="7690786" y="3238606"/>
          <a:ext cx="387223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22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 sum is: 499999500000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slow_function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took 0.27 sec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 sum is: 1999999000000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slow_function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took 0.23 sec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 sum is: 7999998000000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slow_function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took 0.41 sec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 sum is: 31999996000000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slow_function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took 0.81 sec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 sum is: 127999992000000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slow_function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took 1.52 sec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 sum is: 511999984000000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slow_function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took 3.12 sec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6574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947"/>
            <a:ext cx="10515600" cy="1325563"/>
          </a:xfrm>
        </p:spPr>
        <p:txBody>
          <a:bodyPr/>
          <a:lstStyle/>
          <a:p>
            <a:r>
              <a:rPr lang="en-US" noProof="0" dirty="0"/>
              <a:t>Built-in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@property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04145"/>
            <a:ext cx="11168921" cy="1469036"/>
          </a:xfrm>
        </p:spPr>
        <p:txBody>
          <a:bodyPr>
            <a:normAutofit/>
          </a:bodyPr>
          <a:lstStyle/>
          <a:p>
            <a:r>
              <a:rPr lang="en-US" noProof="0" dirty="0"/>
              <a:t>decorator specific for class methods</a:t>
            </a:r>
          </a:p>
          <a:p>
            <a:r>
              <a:rPr lang="en-US" noProof="0" dirty="0"/>
              <a:t>allows accessing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x.attribute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noProof="0" dirty="0"/>
              <a:t> as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x.attribute</a:t>
            </a:r>
            <a:r>
              <a:rPr lang="en-US" noProof="0" dirty="0"/>
              <a:t>, </a:t>
            </a:r>
            <a:br>
              <a:rPr lang="en-US" noProof="0" dirty="0"/>
            </a:br>
            <a:r>
              <a:rPr lang="en-US" noProof="0" dirty="0"/>
              <a:t>convenient if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  <a:r>
              <a:rPr lang="en-US" noProof="0" dirty="0"/>
              <a:t> does not take any arguments (also </a:t>
            </a:r>
            <a:r>
              <a:rPr lang="en-US" noProof="0" dirty="0" err="1"/>
              <a:t>readonly</a:t>
            </a:r>
            <a:r>
              <a:rPr lang="en-US" noProof="0" dirty="0"/>
              <a:t>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593549"/>
              </p:ext>
            </p:extLst>
          </p:nvPr>
        </p:nvGraphicFramePr>
        <p:xfrm>
          <a:off x="785207" y="2948623"/>
          <a:ext cx="5072380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23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rectangle1.py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width, height):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self.width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width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self.height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height</a:t>
                      </a: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 @property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self.width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*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self.height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 = Rectangle(3, 4)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r.area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sz="16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671038"/>
              </p:ext>
            </p:extLst>
          </p:nvPr>
        </p:nvGraphicFramePr>
        <p:xfrm>
          <a:off x="6281420" y="2948623"/>
          <a:ext cx="5072380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23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03168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rectangle2.py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width, height):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self.width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width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self.height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height</a:t>
                      </a: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@property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self.width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*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self.height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 = Rectangle(3, 4)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r.area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sz="16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183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Class decorators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825625"/>
            <a:ext cx="4843072" cy="3555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0" y="1825625"/>
            <a:ext cx="4843072" cy="3555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053238"/>
              </p:ext>
            </p:extLst>
          </p:nvPr>
        </p:nvGraphicFramePr>
        <p:xfrm>
          <a:off x="1407827" y="2826307"/>
          <a:ext cx="411542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542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58932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103391">
                <a:tc>
                  <a:txBody>
                    <a:bodyPr/>
                    <a:lstStyle/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@dec2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@dec1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pass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414283"/>
              </p:ext>
            </p:extLst>
          </p:nvPr>
        </p:nvGraphicFramePr>
        <p:xfrm>
          <a:off x="6686862" y="2826307"/>
          <a:ext cx="411542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542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33155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082754">
                <a:tc>
                  <a:txBody>
                    <a:bodyPr/>
                    <a:lstStyle/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pass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endParaRPr lang="en-US" sz="1800" b="1" baseline="0" noProof="0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dec2</a:t>
                      </a: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dec1</a:t>
                      </a: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8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72885" y="3218826"/>
            <a:ext cx="8392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noProof="0" dirty="0"/>
              <a:t>≡</a:t>
            </a:r>
          </a:p>
        </p:txBody>
      </p:sp>
    </p:spTree>
    <p:extLst>
      <p:ext uri="{BB962C8B-B14F-4D97-AF65-F5344CB8AC3E}">
        <p14:creationId xmlns:p14="http://schemas.microsoft.com/office/powerpoint/2010/main" val="783900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Module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dataclasses</a:t>
            </a:r>
            <a:r>
              <a:rPr lang="en-US" noProof="0" dirty="0"/>
              <a:t> (Since Python 3.7)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3066"/>
            <a:ext cx="10515600" cy="524684"/>
          </a:xfrm>
        </p:spPr>
        <p:txBody>
          <a:bodyPr/>
          <a:lstStyle/>
          <a:p>
            <a:r>
              <a:rPr lang="en-US" noProof="0" dirty="0"/>
              <a:t>New (and more configurable) alternative to </a:t>
            </a:r>
            <a:r>
              <a:rPr lang="en-US" noProof="0" dirty="0" err="1">
                <a:latin typeface="Courier"/>
              </a:rPr>
              <a:t>namedtuple</a:t>
            </a:r>
            <a:endParaRPr lang="en-US" noProof="0" dirty="0">
              <a:latin typeface="Couri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92584" y="6111845"/>
            <a:ext cx="83994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noProof="0" dirty="0">
                <a:hlinkClick r:id="rId3"/>
              </a:rPr>
              <a:t>docs.python.org/3/library/</a:t>
            </a:r>
            <a:r>
              <a:rPr lang="en-US" sz="2000" noProof="0" dirty="0" err="1">
                <a:hlinkClick r:id="rId3"/>
              </a:rPr>
              <a:t>dataclasses.html#module-dataclasses</a:t>
            </a:r>
            <a:endParaRPr lang="en-US" sz="2000" noProof="0" dirty="0"/>
          </a:p>
        </p:txBody>
      </p:sp>
      <p:sp>
        <p:nvSpPr>
          <p:cNvPr id="7" name="Rectangle 6"/>
          <p:cNvSpPr/>
          <p:nvPr/>
        </p:nvSpPr>
        <p:spPr>
          <a:xfrm>
            <a:off x="2251423" y="6421782"/>
            <a:ext cx="99405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noProof="0" dirty="0">
                <a:hlinkClick r:id="rId4"/>
              </a:rPr>
              <a:t>Raymond Hettinger - </a:t>
            </a:r>
            <a:r>
              <a:rPr lang="en-US" sz="2000" noProof="0" dirty="0" err="1">
                <a:hlinkClick r:id="rId4"/>
              </a:rPr>
              <a:t>Dataclasses</a:t>
            </a:r>
            <a:r>
              <a:rPr lang="en-US" sz="2000" noProof="0" dirty="0">
                <a:hlinkClick r:id="rId4"/>
              </a:rPr>
              <a:t>: The code generator to end all code generators - </a:t>
            </a:r>
            <a:r>
              <a:rPr lang="en-US" sz="2000" noProof="0" dirty="0" err="1">
                <a:hlinkClick r:id="rId4"/>
              </a:rPr>
              <a:t>PyCon</a:t>
            </a:r>
            <a:r>
              <a:rPr lang="en-US" sz="2000" noProof="0" dirty="0">
                <a:hlinkClick r:id="rId4"/>
              </a:rPr>
              <a:t> 2018</a:t>
            </a:r>
            <a:endParaRPr lang="en-US" sz="2000" noProof="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28171"/>
              </p:ext>
            </p:extLst>
          </p:nvPr>
        </p:nvGraphicFramePr>
        <p:xfrm>
          <a:off x="2254885" y="2462568"/>
          <a:ext cx="7682230" cy="3545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22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14890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2146978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dataclasses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dataclass</a:t>
                      </a:r>
                      <a:endParaRPr lang="en-US" sz="14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dataclass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uses a decorator to add methods to the class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class Person: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    name: str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uses type annotation to define fields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    appeared: int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    height: str = 'unknown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height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field with default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value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person = Person('Donald Duck', 1934, '3 feet')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person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Person(name='Donald Duck', appeared=1934, height='3 feet')</a:t>
                      </a:r>
                      <a:endParaRPr lang="en-US" sz="14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person.name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'Donald Duck'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person.height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'3.5 feet'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Person('Mickey Mouse', 1928) 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Person(name='Mickey Mouse', appeared=1928, height='unknown height')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8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@functools.total_ordering (class decorator)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09285" y="1738888"/>
            <a:ext cx="3312827" cy="4351338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Automatically creates &lt;, &lt;=, &gt;, &gt;= if at least one of the functions is implemented and == is implemented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780428"/>
              </p:ext>
            </p:extLst>
          </p:nvPr>
        </p:nvGraphicFramePr>
        <p:xfrm>
          <a:off x="166974" y="1883873"/>
          <a:ext cx="8372793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27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031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functools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@functools.total_ordering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name,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student_id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self.name = name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self.id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student_id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__eq__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other):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(self.name == other.name and self.id == other.id)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lt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other):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my_name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', '.join(reversed(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self.name.split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()))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other_name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', '.join(reversed(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other.name.split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()))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my_name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other_name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or 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my_name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other_name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 self.id &lt; other.id))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donald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Student('Donald Duck', 7)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gladstone = Student('Gladstone Gander', 42)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grandma = Student('Grandma Duck', 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702879"/>
              </p:ext>
            </p:extLst>
          </p:nvPr>
        </p:nvGraphicFramePr>
        <p:xfrm>
          <a:off x="8709285" y="3993023"/>
          <a:ext cx="3312827" cy="2691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2827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donald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 grandma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grandma &gt;= gladstone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grandma &lt;= gladstone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donald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&gt; gladstone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883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27DB98-8442-4110-88AF-C04EAD3DF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60013"/>
              </p:ext>
            </p:extLst>
          </p:nvPr>
        </p:nvGraphicFramePr>
        <p:xfrm>
          <a:off x="112110" y="81676"/>
          <a:ext cx="8060244" cy="641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0244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031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class_decorator.py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add_lessequal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'''Class decorator to add __le__ given __eq__ and __</a:t>
                      </a:r>
                      <a:r>
                        <a:rPr lang="en-US" sz="1400" b="1" noProof="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lt</a:t>
                      </a:r>
                      <a:r>
                        <a:rPr lang="en-US" sz="1400" b="1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__.'''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__le__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lambda self, other : self == other or self &lt; other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the original class </a:t>
                      </a:r>
                      <a:r>
                        <a:rPr lang="en-US" sz="14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cls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with attribute __le__ added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add_lessequal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</a:t>
                      </a:r>
                      <a:r>
                        <a:rPr lang="en-US" sz="1400" b="1" i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alternative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sub_cls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__le__(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self, other):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return self == other or self &lt; other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sub_cls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new subclass of class </a:t>
                      </a:r>
                      <a:r>
                        <a:rPr lang="en-US" sz="14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cls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add_lessequal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Vector = </a:t>
                      </a:r>
                      <a:r>
                        <a:rPr lang="en-US" sz="14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add_lessequal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(Vector)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Vector: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__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__(self, x, y):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self.x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x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self.y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y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_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length_squared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self.x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** 2 +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self.y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** 2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__eq__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other):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Required, otherwise Vector(1, 2) == Vector(1, 2) is False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self._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length_squared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== other._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length_squared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lt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other):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self._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length_squared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&lt; other._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length_squared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  def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__le__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other):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      return self._</a:t>
                      </a:r>
                      <a:r>
                        <a:rPr lang="en-US" sz="1400" b="1" noProof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length_squared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&lt;= other._</a:t>
                      </a:r>
                      <a:r>
                        <a:rPr lang="en-US" sz="1400" b="1" noProof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length_squared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  def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__le__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other):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     return self == other or self &lt; other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4BA663-435A-4D48-AE4E-2D56112B9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777633"/>
              </p:ext>
            </p:extLst>
          </p:nvPr>
        </p:nvGraphicFramePr>
        <p:xfrm>
          <a:off x="8284464" y="81677"/>
          <a:ext cx="3795426" cy="6418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5426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02442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6113598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 = Vector(3, 4)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 = Vector(2, 5)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u.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__eq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u.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__ne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not </a:t>
                      </a:r>
                      <a:r>
                        <a:rPr lang="en-US" sz="14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u.__eq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__(v)</a:t>
                      </a:r>
                      <a:endParaRPr lang="en-US" sz="14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u.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lt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US" sz="14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u.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gt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NotImplemented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 special value</a:t>
                      </a:r>
                      <a:endParaRPr lang="en-US" sz="14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u.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__le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added by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@add_lessequal</a:t>
                      </a:r>
                      <a:endParaRPr lang="en-US" sz="14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u.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NotImplemented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 special value</a:t>
                      </a:r>
                      <a:endParaRPr lang="en-US" sz="14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US" sz="14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!=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US" sz="14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US" sz="14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 v &lt; u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US" sz="14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US" sz="14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&gt;=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 v &lt;= u</a:t>
                      </a: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US" sz="14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93A1EE1-C049-485D-A0A4-DB97D5353CF7}"/>
              </a:ext>
            </a:extLst>
          </p:cNvPr>
          <p:cNvSpPr txBox="1"/>
          <p:nvPr/>
        </p:nvSpPr>
        <p:spPr>
          <a:xfrm>
            <a:off x="4440174" y="6497716"/>
            <a:ext cx="7751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https://docs.python.org/3/reference/datamodel.html#basic-customization</a:t>
            </a:r>
            <a:endParaRPr lang="en-US" noProof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46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@</a:t>
            </a:r>
            <a:r>
              <a:rPr lang="en-US" i="1" noProof="0" dirty="0"/>
              <a:t>decorator_name</a:t>
            </a:r>
          </a:p>
          <a:p>
            <a:r>
              <a:rPr lang="en-US" noProof="0" dirty="0" err="1"/>
              <a:t>Pyton</a:t>
            </a:r>
            <a:r>
              <a:rPr lang="en-US" noProof="0" dirty="0"/>
              <a:t> decorators are just </a:t>
            </a:r>
            <a:r>
              <a:rPr lang="en-US" noProof="0" dirty="0" err="1"/>
              <a:t>syntatic</a:t>
            </a:r>
            <a:r>
              <a:rPr lang="en-US" noProof="0" dirty="0"/>
              <a:t> sugar</a:t>
            </a:r>
          </a:p>
          <a:p>
            <a:r>
              <a:rPr lang="en-US" noProof="0" dirty="0"/>
              <a:t>Adds functionality to a function without having to augment each</a:t>
            </a:r>
            <a:br>
              <a:rPr lang="en-US" noProof="0" dirty="0"/>
            </a:br>
            <a:r>
              <a:rPr lang="en-US" noProof="0" dirty="0"/>
              <a:t>call to the function or each return statement in the function</a:t>
            </a:r>
          </a:p>
          <a:p>
            <a:r>
              <a:rPr lang="en-US" noProof="0" dirty="0"/>
              <a:t>There are decorators for functions, class methods, and classes</a:t>
            </a:r>
          </a:p>
          <a:p>
            <a:r>
              <a:rPr lang="en-US" noProof="0" dirty="0"/>
              <a:t>There are many decorators in the Python Standard Library</a:t>
            </a:r>
          </a:p>
          <a:p>
            <a:r>
              <a:rPr lang="en-US" noProof="0" dirty="0"/>
              <a:t>Decorators are easy to use</a:t>
            </a:r>
          </a:p>
          <a:p>
            <a:r>
              <a:rPr lang="en-US" noProof="0" dirty="0"/>
              <a:t>...and (slightly) harder to write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1050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42888</TotalTime>
  <Words>3307</Words>
  <Application>Microsoft Office PowerPoint</Application>
  <PresentationFormat>Widescreen</PresentationFormat>
  <Paragraphs>565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Courier</vt:lpstr>
      <vt:lpstr>Courier New</vt:lpstr>
      <vt:lpstr>Wingdings</vt:lpstr>
      <vt:lpstr>Office Theme</vt:lpstr>
      <vt:lpstr>Decorators</vt:lpstr>
      <vt:lpstr>Course overview</vt:lpstr>
      <vt:lpstr>Python decorators are just syntatic sugar</vt:lpstr>
      <vt:lpstr>Recap functions</vt:lpstr>
      <vt:lpstr>Contrived example : Plus one (I-II)</vt:lpstr>
      <vt:lpstr>Contrived example : Plus one (III-IV)</vt:lpstr>
      <vt:lpstr>Contrived example : Plus one (V-VI)</vt:lpstr>
      <vt:lpstr>Contrived example : Plus one (VII)</vt:lpstr>
      <vt:lpstr>Handling arguments</vt:lpstr>
      <vt:lpstr>Question – What does the decorated program print ?</vt:lpstr>
      <vt:lpstr>Example: Enforcing argument  types</vt:lpstr>
      <vt:lpstr>Decorators can take arguments</vt:lpstr>
      <vt:lpstr>Example: Generic type enforcing</vt:lpstr>
      <vt:lpstr>Example: A timer decorator</vt:lpstr>
      <vt:lpstr>Built-in @property</vt:lpstr>
      <vt:lpstr>Class decorators</vt:lpstr>
      <vt:lpstr>Module dataclasses (Since Python 3.7)</vt:lpstr>
      <vt:lpstr>@functools.total_ordering (class decorator)</vt:lpstr>
      <vt:lpstr>PowerPoint Presentation</vt:lpstr>
      <vt:lpstr>Summary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1496</cp:revision>
  <dcterms:created xsi:type="dcterms:W3CDTF">2017-10-19T06:54:16Z</dcterms:created>
  <dcterms:modified xsi:type="dcterms:W3CDTF">2026-03-16T06:38:37Z</dcterms:modified>
</cp:coreProperties>
</file>