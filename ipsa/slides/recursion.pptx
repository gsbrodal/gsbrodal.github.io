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463" r:id="rId2"/>
    <p:sldId id="588" r:id="rId3"/>
    <p:sldId id="596" r:id="rId4"/>
    <p:sldId id="595" r:id="rId5"/>
    <p:sldId id="598" r:id="rId6"/>
    <p:sldId id="589" r:id="rId7"/>
    <p:sldId id="590" r:id="rId8"/>
    <p:sldId id="610" r:id="rId9"/>
    <p:sldId id="608" r:id="rId10"/>
    <p:sldId id="592" r:id="rId11"/>
    <p:sldId id="593" r:id="rId12"/>
    <p:sldId id="599" r:id="rId13"/>
    <p:sldId id="601" r:id="rId14"/>
    <p:sldId id="602" r:id="rId15"/>
    <p:sldId id="604" r:id="rId16"/>
    <p:sldId id="605" r:id="rId17"/>
    <p:sldId id="587" r:id="rId18"/>
    <p:sldId id="606" r:id="rId19"/>
    <p:sldId id="609" r:id="rId20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  <a:srgbClr val="FFA7A7"/>
    <a:srgbClr val="DEEBF7"/>
    <a:srgbClr val="E2F0D9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C7D86B-7C44-41F9-9707-0400E88CBD28}" v="28" dt="2026-02-18T07:53:40.7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825" autoAdjust="0"/>
    <p:restoredTop sz="64245" autoAdjust="0"/>
  </p:normalViewPr>
  <p:slideViewPr>
    <p:cSldViewPr snapToGrid="0">
      <p:cViewPr>
        <p:scale>
          <a:sx n="75" d="100"/>
          <a:sy n="75" d="100"/>
        </p:scale>
        <p:origin x="-744" y="-576"/>
      </p:cViewPr>
      <p:guideLst/>
    </p:cSldViewPr>
  </p:slideViewPr>
  <p:outlineViewPr>
    <p:cViewPr>
      <p:scale>
        <a:sx n="33" d="100"/>
        <a:sy n="33" d="100"/>
      </p:scale>
      <p:origin x="0" y="-6808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5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th Stølting Brodal" userId="04ef4784-6591-4f86-a140-f5c3b108582a" providerId="ADAL" clId="{73BAC7D6-516A-44B5-B4B0-C7B08CA8B392}"/>
    <pc:docChg chg="undo custSel modSld">
      <pc:chgData name="Gerth Stølting Brodal" userId="04ef4784-6591-4f86-a140-f5c3b108582a" providerId="ADAL" clId="{73BAC7D6-516A-44B5-B4B0-C7B08CA8B392}" dt="2026-02-18T07:53:40.757" v="92" actId="207"/>
      <pc:docMkLst>
        <pc:docMk/>
      </pc:docMkLst>
      <pc:sldChg chg="modSp mod">
        <pc:chgData name="Gerth Stølting Brodal" userId="04ef4784-6591-4f86-a140-f5c3b108582a" providerId="ADAL" clId="{73BAC7D6-516A-44B5-B4B0-C7B08CA8B392}" dt="2026-02-18T07:13:23.094" v="5" actId="790"/>
        <pc:sldMkLst>
          <pc:docMk/>
          <pc:sldMk cId="3801011593" sldId="463"/>
        </pc:sldMkLst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3801011593" sldId="463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3801011593" sldId="463"/>
            <ac:spMk id="3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2-18T07:13:23.094" v="5" actId="790"/>
        <pc:sldMkLst>
          <pc:docMk/>
          <pc:sldMk cId="567584679" sldId="587"/>
        </pc:sldMkLst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567584679" sldId="587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567584679" sldId="587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2-18T07:13:23.094" v="5" actId="790"/>
          <ac:graphicFrameMkLst>
            <pc:docMk/>
            <pc:sldMk cId="567584679" sldId="587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2-18T07:13:23.094" v="5" actId="790"/>
        <pc:sldMkLst>
          <pc:docMk/>
          <pc:sldMk cId="2853058908" sldId="588"/>
        </pc:sldMkLst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2853058908" sldId="588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2853058908" sldId="588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2853058908" sldId="588"/>
            <ac:spMk id="8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2853058908" sldId="588"/>
            <ac:spMk id="1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2853058908" sldId="588"/>
            <ac:spMk id="18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2853058908" sldId="588"/>
            <ac:spMk id="21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2853058908" sldId="588"/>
            <ac:spMk id="2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2853058908" sldId="588"/>
            <ac:spMk id="24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2853058908" sldId="588"/>
            <ac:spMk id="2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2853058908" sldId="588"/>
            <ac:spMk id="28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2-18T07:13:23.094" v="5" actId="790"/>
        <pc:sldMkLst>
          <pc:docMk/>
          <pc:sldMk cId="2445053109" sldId="589"/>
        </pc:sldMkLst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2445053109" sldId="589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2445053109" sldId="589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2445053109" sldId="589"/>
            <ac:spMk id="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2445053109" sldId="589"/>
            <ac:spMk id="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2445053109" sldId="589"/>
            <ac:spMk id="7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2-18T07:13:23.094" v="5" actId="790"/>
          <ac:graphicFrameMkLst>
            <pc:docMk/>
            <pc:sldMk cId="2445053109" sldId="589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2-18T07:13:23.094" v="5" actId="790"/>
          <ac:graphicFrameMkLst>
            <pc:docMk/>
            <pc:sldMk cId="2445053109" sldId="589"/>
            <ac:graphicFrameMk id="8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2-18T07:13:23.094" v="5" actId="790"/>
          <ac:graphicFrameMkLst>
            <pc:docMk/>
            <pc:sldMk cId="2445053109" sldId="589"/>
            <ac:graphicFrameMk id="9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2-18T07:13:23.094" v="5" actId="790"/>
        <pc:sldMkLst>
          <pc:docMk/>
          <pc:sldMk cId="1177245852" sldId="590"/>
        </pc:sldMkLst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1177245852" sldId="590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1177245852" sldId="590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2-18T07:13:23.094" v="5" actId="790"/>
          <ac:graphicFrameMkLst>
            <pc:docMk/>
            <pc:sldMk cId="1177245852" sldId="590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2-18T07:13:23.094" v="5" actId="790"/>
        <pc:sldMkLst>
          <pc:docMk/>
          <pc:sldMk cId="1526489455" sldId="592"/>
        </pc:sldMkLst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1526489455" sldId="592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1526489455" sldId="592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2-18T07:13:23.094" v="5" actId="790"/>
          <ac:graphicFrameMkLst>
            <pc:docMk/>
            <pc:sldMk cId="1526489455" sldId="592"/>
            <ac:graphicFrameMk id="4" creationId="{00000000-0000-0000-0000-000000000000}"/>
          </ac:graphicFrameMkLst>
        </pc:graphicFrameChg>
      </pc:sldChg>
      <pc:sldChg chg="modSp mod modAnim modNotesTx">
        <pc:chgData name="Gerth Stølting Brodal" userId="04ef4784-6591-4f86-a140-f5c3b108582a" providerId="ADAL" clId="{73BAC7D6-516A-44B5-B4B0-C7B08CA8B392}" dt="2026-02-18T07:40:44.093" v="41" actId="20577"/>
        <pc:sldMkLst>
          <pc:docMk/>
          <pc:sldMk cId="3354709852" sldId="593"/>
        </pc:sldMkLst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3354709852" sldId="593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40:44.093" v="41" actId="20577"/>
          <ac:spMkLst>
            <pc:docMk/>
            <pc:sldMk cId="3354709852" sldId="593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2-18T07:13:23.094" v="5" actId="790"/>
          <ac:graphicFrameMkLst>
            <pc:docMk/>
            <pc:sldMk cId="3354709852" sldId="593"/>
            <ac:graphicFrameMk id="4" creationId="{00000000-0000-0000-0000-000000000000}"/>
          </ac:graphicFrameMkLst>
        </pc:graphicFrameChg>
      </pc:sldChg>
      <pc:sldChg chg="addSp modSp mod addAnim delAnim modAnim">
        <pc:chgData name="Gerth Stølting Brodal" userId="04ef4784-6591-4f86-a140-f5c3b108582a" providerId="ADAL" clId="{73BAC7D6-516A-44B5-B4B0-C7B08CA8B392}" dt="2026-02-18T07:22:37.362" v="36"/>
        <pc:sldMkLst>
          <pc:docMk/>
          <pc:sldMk cId="930238539" sldId="595"/>
        </pc:sldMkLst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930238539" sldId="595"/>
            <ac:spMk id="2" creationId="{00000000-0000-0000-0000-000000000000}"/>
          </ac:spMkLst>
        </pc:spChg>
        <pc:spChg chg="add mod">
          <ac:chgData name="Gerth Stølting Brodal" userId="04ef4784-6591-4f86-a140-f5c3b108582a" providerId="ADAL" clId="{73BAC7D6-516A-44B5-B4B0-C7B08CA8B392}" dt="2026-02-18T07:22:17.452" v="34" actId="164"/>
          <ac:spMkLst>
            <pc:docMk/>
            <pc:sldMk cId="930238539" sldId="595"/>
            <ac:spMk id="3" creationId="{D0E78CAC-665A-3005-7AFC-E63517226BCC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930238539" sldId="595"/>
            <ac:spMk id="40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930238539" sldId="595"/>
            <ac:spMk id="41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930238539" sldId="595"/>
            <ac:spMk id="4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930238539" sldId="595"/>
            <ac:spMk id="44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930238539" sldId="595"/>
            <ac:spMk id="4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930238539" sldId="595"/>
            <ac:spMk id="4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930238539" sldId="595"/>
            <ac:spMk id="50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930238539" sldId="595"/>
            <ac:spMk id="51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22:17.452" v="34" actId="164"/>
          <ac:spMkLst>
            <pc:docMk/>
            <pc:sldMk cId="930238539" sldId="595"/>
            <ac:spMk id="80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930238539" sldId="595"/>
            <ac:spMk id="81" creationId="{00000000-0000-0000-0000-000000000000}"/>
          </ac:spMkLst>
        </pc:spChg>
        <pc:grpChg chg="add mod">
          <ac:chgData name="Gerth Stølting Brodal" userId="04ef4784-6591-4f86-a140-f5c3b108582a" providerId="ADAL" clId="{73BAC7D6-516A-44B5-B4B0-C7B08CA8B392}" dt="2026-02-18T07:22:17.452" v="34" actId="164"/>
          <ac:grpSpMkLst>
            <pc:docMk/>
            <pc:sldMk cId="930238539" sldId="595"/>
            <ac:grpSpMk id="5" creationId="{836C5E89-5FFC-7D08-7ED8-9ED8AF1CA0D1}"/>
          </ac:grpSpMkLst>
        </pc:grpChg>
      </pc:sldChg>
      <pc:sldChg chg="modSp mod">
        <pc:chgData name="Gerth Stølting Brodal" userId="04ef4784-6591-4f86-a140-f5c3b108582a" providerId="ADAL" clId="{73BAC7D6-516A-44B5-B4B0-C7B08CA8B392}" dt="2026-02-18T07:13:23.094" v="5" actId="790"/>
        <pc:sldMkLst>
          <pc:docMk/>
          <pc:sldMk cId="3149368856" sldId="596"/>
        </pc:sldMkLst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3149368856" sldId="596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3149368856" sldId="596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3149368856" sldId="596"/>
            <ac:spMk id="3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3149368856" sldId="596"/>
            <ac:spMk id="37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3149368856" sldId="596"/>
            <ac:spMk id="38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3149368856" sldId="596"/>
            <ac:spMk id="39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2-18T07:13:23.094" v="5" actId="790"/>
          <ac:graphicFrameMkLst>
            <pc:docMk/>
            <pc:sldMk cId="3149368856" sldId="596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2-18T07:13:23.094" v="5" actId="790"/>
          <ac:graphicFrameMkLst>
            <pc:docMk/>
            <pc:sldMk cId="3149368856" sldId="596"/>
            <ac:graphicFrameMk id="35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2-18T07:13:23.094" v="5" actId="790"/>
        <pc:sldMkLst>
          <pc:docMk/>
          <pc:sldMk cId="345092261" sldId="598"/>
        </pc:sldMkLst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345092261" sldId="598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345092261" sldId="598"/>
            <ac:spMk id="3" creationId="{C46E9671-7052-4F22-AFFE-4B31A74DBB92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345092261" sldId="598"/>
            <ac:spMk id="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345092261" sldId="598"/>
            <ac:spMk id="6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2-18T07:13:23.094" v="5" actId="790"/>
          <ac:graphicFrameMkLst>
            <pc:docMk/>
            <pc:sldMk cId="345092261" sldId="598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2-18T07:49:27.366" v="58" actId="1038"/>
        <pc:sldMkLst>
          <pc:docMk/>
          <pc:sldMk cId="3608860866" sldId="599"/>
        </pc:sldMkLst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3608860866" sldId="599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3608860866" sldId="599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3608860866" sldId="599"/>
            <ac:spMk id="4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3608860866" sldId="599"/>
            <ac:spMk id="6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2-18T07:13:23.094" v="5" actId="790"/>
          <ac:graphicFrameMkLst>
            <pc:docMk/>
            <pc:sldMk cId="3608860866" sldId="599"/>
            <ac:graphicFrameMk id="5" creationId="{00000000-0000-0000-0000-000000000000}"/>
          </ac:graphicFrameMkLst>
        </pc:graphicFrameChg>
        <pc:graphicFrameChg chg="mod modGraphic">
          <ac:chgData name="Gerth Stølting Brodal" userId="04ef4784-6591-4f86-a140-f5c3b108582a" providerId="ADAL" clId="{73BAC7D6-516A-44B5-B4B0-C7B08CA8B392}" dt="2026-02-18T07:49:27.366" v="58" actId="1038"/>
          <ac:graphicFrameMkLst>
            <pc:docMk/>
            <pc:sldMk cId="3608860866" sldId="599"/>
            <ac:graphicFrameMk id="9" creationId="{4A9AFBE2-ED33-413C-B3AB-4F117126A0AF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2-18T07:13:23.094" v="5" actId="790"/>
        <pc:sldMkLst>
          <pc:docMk/>
          <pc:sldMk cId="2518119805" sldId="601"/>
        </pc:sldMkLst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2518119805" sldId="601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2518119805" sldId="601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2518119805" sldId="601"/>
            <ac:spMk id="5" creationId="{EC500E2C-2DBB-4718-912E-C47C1F4AD9E1}"/>
          </ac:spMkLst>
        </pc:spChg>
        <pc:graphicFrameChg chg="modGraphic">
          <ac:chgData name="Gerth Stølting Brodal" userId="04ef4784-6591-4f86-a140-f5c3b108582a" providerId="ADAL" clId="{73BAC7D6-516A-44B5-B4B0-C7B08CA8B392}" dt="2026-02-18T07:13:23.094" v="5" actId="790"/>
          <ac:graphicFrameMkLst>
            <pc:docMk/>
            <pc:sldMk cId="2518119805" sldId="601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2-18T07:13:23.094" v="5" actId="790"/>
        <pc:sldMkLst>
          <pc:docMk/>
          <pc:sldMk cId="1045497289" sldId="602"/>
        </pc:sldMkLst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1045497289" sldId="602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1045497289" sldId="602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1045497289" sldId="602"/>
            <ac:spMk id="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1045497289" sldId="602"/>
            <ac:spMk id="6" creationId="{75B12BBD-3B40-4DDA-BECE-F7ECC213EEB2}"/>
          </ac:spMkLst>
        </pc:spChg>
        <pc:graphicFrameChg chg="modGraphic">
          <ac:chgData name="Gerth Stølting Brodal" userId="04ef4784-6591-4f86-a140-f5c3b108582a" providerId="ADAL" clId="{73BAC7D6-516A-44B5-B4B0-C7B08CA8B392}" dt="2026-02-18T07:13:23.094" v="5" actId="790"/>
          <ac:graphicFrameMkLst>
            <pc:docMk/>
            <pc:sldMk cId="1045497289" sldId="602"/>
            <ac:graphicFrameMk id="4" creationId="{00000000-0000-0000-0000-000000000000}"/>
          </ac:graphicFrameMkLst>
        </pc:graphicFrameChg>
      </pc:sldChg>
      <pc:sldChg chg="addSp delSp modSp mod delAnim modAnim">
        <pc:chgData name="Gerth Stølting Brodal" userId="04ef4784-6591-4f86-a140-f5c3b108582a" providerId="ADAL" clId="{73BAC7D6-516A-44B5-B4B0-C7B08CA8B392}" dt="2026-02-18T07:53:40.757" v="92" actId="207"/>
        <pc:sldMkLst>
          <pc:docMk/>
          <pc:sldMk cId="430264950" sldId="604"/>
        </pc:sldMkLst>
        <pc:spChg chg="add del mod">
          <ac:chgData name="Gerth Stølting Brodal" userId="04ef4784-6591-4f86-a140-f5c3b108582a" providerId="ADAL" clId="{73BAC7D6-516A-44B5-B4B0-C7B08CA8B392}" dt="2026-02-18T07:53:15.147" v="82" actId="478"/>
          <ac:spMkLst>
            <pc:docMk/>
            <pc:sldMk cId="430264950" sldId="604"/>
            <ac:spMk id="2" creationId="{218FA5F8-B964-6C9C-F1F8-72E67E439608}"/>
          </ac:spMkLst>
        </pc:spChg>
        <pc:spChg chg="add mod">
          <ac:chgData name="Gerth Stølting Brodal" userId="04ef4784-6591-4f86-a140-f5c3b108582a" providerId="ADAL" clId="{73BAC7D6-516A-44B5-B4B0-C7B08CA8B392}" dt="2026-02-18T07:53:40.757" v="92" actId="207"/>
          <ac:spMkLst>
            <pc:docMk/>
            <pc:sldMk cId="430264950" sldId="604"/>
            <ac:spMk id="3" creationId="{0B026C9D-6B45-6516-8E8B-02FDF21818E9}"/>
          </ac:spMkLst>
        </pc:spChg>
        <pc:graphicFrameChg chg="modGraphic">
          <ac:chgData name="Gerth Stølting Brodal" userId="04ef4784-6591-4f86-a140-f5c3b108582a" providerId="ADAL" clId="{73BAC7D6-516A-44B5-B4B0-C7B08CA8B392}" dt="2026-02-18T07:13:23.094" v="5" actId="790"/>
          <ac:graphicFrameMkLst>
            <pc:docMk/>
            <pc:sldMk cId="430264950" sldId="604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2-18T07:13:23.094" v="5" actId="790"/>
        <pc:sldMkLst>
          <pc:docMk/>
          <pc:sldMk cId="2526829614" sldId="605"/>
        </pc:sldMkLst>
        <pc:graphicFrameChg chg="modGraphic">
          <ac:chgData name="Gerth Stølting Brodal" userId="04ef4784-6591-4f86-a140-f5c3b108582a" providerId="ADAL" clId="{73BAC7D6-516A-44B5-B4B0-C7B08CA8B392}" dt="2026-02-18T07:13:23.094" v="5" actId="790"/>
          <ac:graphicFrameMkLst>
            <pc:docMk/>
            <pc:sldMk cId="2526829614" sldId="605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2-18T07:13:23.094" v="5" actId="790"/>
        <pc:sldMkLst>
          <pc:docMk/>
          <pc:sldMk cId="1220840155" sldId="606"/>
        </pc:sldMkLst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1220840155" sldId="606"/>
            <ac:spMk id="8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1220840155" sldId="606"/>
            <ac:spMk id="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1220840155" sldId="606"/>
            <ac:spMk id="18" creationId="{8D1D5184-0C00-6938-B81E-0C5FFAD29939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1220840155" sldId="606"/>
            <ac:spMk id="21" creationId="{7AE58AD1-43A6-1F54-1977-A32C9793999A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1220840155" sldId="606"/>
            <ac:spMk id="24" creationId="{FAD0D07C-EFD3-4852-DB40-7BE03ECD38AA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1220840155" sldId="606"/>
            <ac:spMk id="25" creationId="{84116969-B436-AC74-8FA4-DEB548E716E4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1220840155" sldId="606"/>
            <ac:spMk id="27" creationId="{2B9E923D-62F8-9064-2199-01A8343F301E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1220840155" sldId="606"/>
            <ac:spMk id="33" creationId="{62056A9F-68AB-33EA-F2F0-3A19A9A37752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1220840155" sldId="606"/>
            <ac:spMk id="34" creationId="{3B544454-7884-9807-F7B5-887C11C398F2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1220840155" sldId="606"/>
            <ac:spMk id="36" creationId="{CD3190C1-BF03-65B4-0588-CD8D1B8827ED}"/>
          </ac:spMkLst>
        </pc:spChg>
      </pc:sldChg>
      <pc:sldChg chg="modSp mod">
        <pc:chgData name="Gerth Stølting Brodal" userId="04ef4784-6591-4f86-a140-f5c3b108582a" providerId="ADAL" clId="{73BAC7D6-516A-44B5-B4B0-C7B08CA8B392}" dt="2026-02-18T07:13:23.094" v="5" actId="790"/>
        <pc:sldMkLst>
          <pc:docMk/>
          <pc:sldMk cId="1429464979" sldId="608"/>
        </pc:sldMkLst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1429464979" sldId="608"/>
            <ac:spMk id="2" creationId="{16900BCC-51B6-40D8-AC04-CD22C1F85DE7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1429464979" sldId="608"/>
            <ac:spMk id="12" creationId="{AC01858C-058C-406E-9809-010A1986214A}"/>
          </ac:spMkLst>
        </pc:spChg>
        <pc:graphicFrameChg chg="modGraphic">
          <ac:chgData name="Gerth Stølting Brodal" userId="04ef4784-6591-4f86-a140-f5c3b108582a" providerId="ADAL" clId="{73BAC7D6-516A-44B5-B4B0-C7B08CA8B392}" dt="2026-02-18T07:13:23.094" v="5" actId="790"/>
          <ac:graphicFrameMkLst>
            <pc:docMk/>
            <pc:sldMk cId="1429464979" sldId="608"/>
            <ac:graphicFrameMk id="6" creationId="{430153D5-9894-4E26-A759-6BEE34861823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2-18T07:13:23.094" v="5" actId="790"/>
          <ac:graphicFrameMkLst>
            <pc:docMk/>
            <pc:sldMk cId="1429464979" sldId="608"/>
            <ac:graphicFrameMk id="9" creationId="{6B920E13-B858-4396-9BA7-39071AB1F606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2-18T07:13:23.094" v="5" actId="790"/>
        <pc:sldMkLst>
          <pc:docMk/>
          <pc:sldMk cId="398569820" sldId="609"/>
        </pc:sldMkLst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398569820" sldId="609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398569820" sldId="609"/>
            <ac:spMk id="5" creationId="{2541C217-2EC0-DD57-6EEE-F934237B9178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398569820" sldId="609"/>
            <ac:spMk id="21" creationId="{1C11BD08-50AA-9CA2-657B-6D921A637146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398569820" sldId="609"/>
            <ac:spMk id="22" creationId="{4FFDE4CD-FE19-AD67-DE79-062811FC6D9E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398569820" sldId="609"/>
            <ac:spMk id="23" creationId="{EE91BB49-DC71-D43F-A921-10D69472B25C}"/>
          </ac:spMkLst>
        </pc:spChg>
        <pc:graphicFrameChg chg="modGraphic">
          <ac:chgData name="Gerth Stølting Brodal" userId="04ef4784-6591-4f86-a140-f5c3b108582a" providerId="ADAL" clId="{73BAC7D6-516A-44B5-B4B0-C7B08CA8B392}" dt="2026-02-18T07:13:23.094" v="5" actId="790"/>
          <ac:graphicFrameMkLst>
            <pc:docMk/>
            <pc:sldMk cId="398569820" sldId="609"/>
            <ac:graphicFrameMk id="4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2-18T07:13:23.094" v="5" actId="790"/>
        <pc:sldMkLst>
          <pc:docMk/>
          <pc:sldMk cId="3874947569" sldId="610"/>
        </pc:sldMkLst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3874947569" sldId="610"/>
            <ac:spMk id="2" creationId="{8A7D887A-477E-5547-4340-E05CE57BD2FF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3874947569" sldId="610"/>
            <ac:spMk id="5" creationId="{C1A056DD-7942-DC13-82F0-C8F8674A5A1E}"/>
          </ac:spMkLst>
        </pc:spChg>
        <pc:spChg chg="mod">
          <ac:chgData name="Gerth Stølting Brodal" userId="04ef4784-6591-4f86-a140-f5c3b108582a" providerId="ADAL" clId="{73BAC7D6-516A-44B5-B4B0-C7B08CA8B392}" dt="2026-02-18T07:13:23.094" v="5" actId="790"/>
          <ac:spMkLst>
            <pc:docMk/>
            <pc:sldMk cId="3874947569" sldId="610"/>
            <ac:spMk id="7" creationId="{466F199C-B196-A43F-39AB-8BD5282B5F33}"/>
          </ac:spMkLst>
        </pc:spChg>
        <pc:graphicFrameChg chg="modGraphic">
          <ac:chgData name="Gerth Stølting Brodal" userId="04ef4784-6591-4f86-a140-f5c3b108582a" providerId="ADAL" clId="{73BAC7D6-516A-44B5-B4B0-C7B08CA8B392}" dt="2026-02-18T07:13:23.094" v="5" actId="790"/>
          <ac:graphicFrameMkLst>
            <pc:docMk/>
            <pc:sldMk cId="3874947569" sldId="610"/>
            <ac:graphicFrameMk id="4" creationId="{565B82F5-449A-5B10-740F-0B39EBF86426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A172F-81D4-4DC4-9113-1DBD56EC364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563DD8-32AB-41BE-B1C6-8EAC4522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0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 f(x):</a:t>
            </a:r>
          </a:p>
          <a:p>
            <a:r>
              <a:rPr lang="en-US" dirty="0"/>
              <a:t>    print('x =', x)</a:t>
            </a:r>
          </a:p>
          <a:p>
            <a:r>
              <a:rPr lang="en-US" dirty="0"/>
              <a:t>    f(x + 1)</a:t>
            </a:r>
          </a:p>
          <a:p>
            <a:endParaRPr lang="en-US" dirty="0"/>
          </a:p>
          <a:p>
            <a:r>
              <a:rPr lang="en-US" dirty="0"/>
              <a:t>f(10)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0227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48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259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382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Recursive</a:t>
            </a:r>
            <a:r>
              <a:rPr lang="da-DK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solution </a:t>
            </a:r>
            <a:r>
              <a:rPr lang="da-DK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</a:t>
            </a:r>
            <a:r>
              <a:rPr lang="da-DK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”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RecursionError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maximum recursion depth exceeded” when n = 2000, whereas iterative does not!</a:t>
            </a:r>
            <a:endParaRPr lang="da-DK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a-DK" dirty="0"/>
          </a:p>
          <a:p>
            <a:r>
              <a:rPr lang="da-DK" dirty="0"/>
              <a:t>def </a:t>
            </a:r>
            <a:r>
              <a:rPr lang="da-DK" dirty="0" err="1"/>
              <a:t>factorial</a:t>
            </a:r>
            <a:r>
              <a:rPr lang="da-DK" dirty="0"/>
              <a:t>(n):</a:t>
            </a:r>
          </a:p>
          <a:p>
            <a:r>
              <a:rPr lang="da-DK" dirty="0"/>
              <a:t>    return </a:t>
            </a:r>
            <a:r>
              <a:rPr lang="da-DK" dirty="0" err="1"/>
              <a:t>math.prod</a:t>
            </a:r>
            <a:r>
              <a:rPr lang="da-DK" dirty="0"/>
              <a:t>(range(1, n + 1))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810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Try binomial(100,</a:t>
            </a:r>
            <a:r>
              <a:rPr lang="da-DK" baseline="0" dirty="0"/>
              <a:t> 50) VERY SLOW!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1945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equivalent descriptions of binomial(n, k); what code do you find the easiest to read</a:t>
            </a:r>
          </a:p>
          <a:p>
            <a:r>
              <a:rPr lang="en-US" dirty="0"/>
              <a:t>Henrik Bærbak Christensen </a:t>
            </a:r>
            <a:r>
              <a:rPr lang="en-US" dirty="0" err="1"/>
              <a:t>bruger</a:t>
            </a:r>
            <a:r>
              <a:rPr lang="en-US" dirty="0"/>
              <a:t> “bail out fast” in SWEA course - https://baerbak.cs.au.dk/c/swea/resource/cleancode.pdf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Henrik is based on </a:t>
            </a:r>
            <a:r>
              <a:rPr lang="en-US" b="1" dirty="0"/>
              <a:t>Clean Code -  Handbook of Agile Software Craftsmanship (2009), Robert C Martin (Chapter 3 on Functions)</a:t>
            </a:r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51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2x return has </a:t>
            </a:r>
            <a:r>
              <a:rPr lang="da-DK" dirty="0" err="1"/>
              <a:t>been</a:t>
            </a:r>
            <a:r>
              <a:rPr lang="da-DK" dirty="0"/>
              <a:t> </a:t>
            </a:r>
            <a:r>
              <a:rPr lang="da-DK" dirty="0" err="1"/>
              <a:t>replaced</a:t>
            </a:r>
            <a:r>
              <a:rPr lang="da-DK" dirty="0"/>
              <a:t> by a single return at end of </a:t>
            </a:r>
            <a:r>
              <a:rPr lang="da-DK" dirty="0" err="1"/>
              <a:t>function</a:t>
            </a:r>
            <a:r>
              <a:rPr lang="da-DK" dirty="0"/>
              <a:t>; </a:t>
            </a:r>
            <a:r>
              <a:rPr lang="da-DK" dirty="0" err="1"/>
              <a:t>introduced</a:t>
            </a:r>
            <a:r>
              <a:rPr lang="da-DK" dirty="0"/>
              <a:t> ”</a:t>
            </a:r>
            <a:r>
              <a:rPr lang="da-DK" dirty="0" err="1"/>
              <a:t>result</a:t>
            </a:r>
            <a:r>
              <a:rPr lang="da-DK" dirty="0"/>
              <a:t>” variable</a:t>
            </a:r>
          </a:p>
          <a:p>
            <a:endParaRPr lang="da-DK" dirty="0"/>
          </a:p>
          <a:p>
            <a:r>
              <a:rPr lang="da-DK" dirty="0"/>
              <a:t>In </a:t>
            </a:r>
            <a:r>
              <a:rPr lang="da-DK" dirty="0" err="1"/>
              <a:t>lecture</a:t>
            </a:r>
            <a:r>
              <a:rPr lang="da-DK" dirty="0"/>
              <a:t> on </a:t>
            </a:r>
            <a:r>
              <a:rPr lang="da-DK" dirty="0" err="1"/>
              <a:t>decorators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see</a:t>
            </a:r>
            <a:r>
              <a:rPr lang="da-DK" dirty="0"/>
              <a:t> the </a:t>
            </a:r>
            <a:r>
              <a:rPr lang="da-DK" dirty="0" err="1"/>
              <a:t>decorator</a:t>
            </a:r>
            <a:r>
              <a:rPr lang="da-DK" dirty="0"/>
              <a:t> </a:t>
            </a:r>
            <a:r>
              <a:rPr lang="da-DK" b="1" dirty="0"/>
              <a:t>@trace</a:t>
            </a:r>
            <a:r>
              <a:rPr lang="da-DK" b="0" dirty="0"/>
              <a:t> </a:t>
            </a:r>
            <a:r>
              <a:rPr lang="da-DK" b="0" dirty="0" err="1"/>
              <a:t>that</a:t>
            </a:r>
            <a:r>
              <a:rPr lang="da-DK" b="0" dirty="0"/>
              <a:t> </a:t>
            </a:r>
            <a:r>
              <a:rPr lang="da-DK" b="0" dirty="0" err="1"/>
              <a:t>automatically</a:t>
            </a:r>
            <a:r>
              <a:rPr lang="da-DK" b="0" dirty="0"/>
              <a:t> </a:t>
            </a:r>
            <a:r>
              <a:rPr lang="da-DK" b="0" dirty="0" err="1"/>
              <a:t>adds</a:t>
            </a:r>
            <a:r>
              <a:rPr lang="da-DK" b="0" dirty="0"/>
              <a:t> the </a:t>
            </a:r>
            <a:r>
              <a:rPr lang="da-DK" b="0" dirty="0" err="1"/>
              <a:t>this</a:t>
            </a:r>
            <a:r>
              <a:rPr lang="da-DK" b="0" dirty="0"/>
              <a:t> </a:t>
            </a:r>
            <a:r>
              <a:rPr lang="da-DK" b="0" dirty="0" err="1"/>
              <a:t>tracing</a:t>
            </a:r>
            <a:r>
              <a:rPr lang="da-DK" b="0" dirty="0"/>
              <a:t> to a </a:t>
            </a:r>
            <a:r>
              <a:rPr lang="da-DK" b="0" dirty="0" err="1"/>
              <a:t>recursive</a:t>
            </a:r>
            <a:r>
              <a:rPr lang="da-DK" b="0" dirty="0"/>
              <a:t> procedure (</a:t>
            </a:r>
            <a:r>
              <a:rPr lang="da-DK" b="0" dirty="0" err="1"/>
              <a:t>see</a:t>
            </a:r>
            <a:r>
              <a:rPr lang="da-DK" b="0" dirty="0"/>
              <a:t> slides)</a:t>
            </a:r>
            <a:endParaRPr lang="da-DK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2765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Note: No base case necessary for n==k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236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binomial_A</a:t>
            </a:r>
            <a:r>
              <a:rPr lang="en-US" baseline="0" dirty="0"/>
              <a:t>, temporary result is not integer,</a:t>
            </a:r>
          </a:p>
          <a:p>
            <a:r>
              <a:rPr lang="en-US" baseline="0" dirty="0"/>
              <a:t>replace // with / will compute with floats,</a:t>
            </a:r>
          </a:p>
          <a:p>
            <a:r>
              <a:rPr lang="en-US" dirty="0"/>
              <a:t>&gt;&gt;&gt; print(f'{</a:t>
            </a:r>
            <a:r>
              <a:rPr lang="en-US" dirty="0" err="1"/>
              <a:t>binomial_A</a:t>
            </a:r>
            <a:r>
              <a:rPr lang="en-US" dirty="0"/>
              <a:t>(8,5):0.30f}')</a:t>
            </a:r>
          </a:p>
          <a:p>
            <a:r>
              <a:rPr lang="en-US" dirty="0"/>
              <a:t>56.000000000000007105427357601002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9198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Replacing  “</a:t>
            </a:r>
            <a:r>
              <a:rPr lang="en-US" sz="1200" b="1" baseline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leaves.add</a:t>
            </a:r>
            <a:r>
              <a:rPr lang="en-US" sz="1200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(tree)” by “leaves |= {tree}” requires “nonlocal”, since otherwise leaves is assumed to be a local variable, due to </a:t>
            </a:r>
            <a:r>
              <a:rPr lang="en-US" sz="1200" b="1" baseline="0">
                <a:latin typeface="Courier New" panose="02070309020205020404" pitchFamily="49" charset="0"/>
                <a:cs typeface="Courier New" panose="02070309020205020404" pitchFamily="49" charset="0"/>
              </a:rPr>
              <a:t>the assignment.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3296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Warning: </a:t>
            </a:r>
            <a:r>
              <a:rPr lang="en-US" dirty="0" err="1"/>
              <a:t>Behaviour</a:t>
            </a:r>
            <a:r>
              <a:rPr lang="en-US" dirty="0"/>
              <a:t> different on Windows and Mac</a:t>
            </a:r>
          </a:p>
          <a:p>
            <a:endParaRPr lang="en-US" dirty="0"/>
          </a:p>
          <a:p>
            <a:r>
              <a:rPr lang="en-US" dirty="0"/>
              <a:t>Increasing recursion depth can cause the program to crash!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9410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Concatenates list using +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6112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Concatenates list using [*] notation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plt.axis</a:t>
            </a:r>
            <a:r>
              <a:rPr lang="en-US" dirty="0"/>
              <a:t>([</a:t>
            </a:r>
            <a:r>
              <a:rPr lang="en-US" dirty="0" err="1"/>
              <a:t>xmin</a:t>
            </a:r>
            <a:r>
              <a:rPr lang="en-US" dirty="0"/>
              <a:t>, </a:t>
            </a:r>
            <a:r>
              <a:rPr lang="en-US" dirty="0" err="1"/>
              <a:t>xmax</a:t>
            </a:r>
            <a:r>
              <a:rPr lang="en-US" dirty="0"/>
              <a:t>, </a:t>
            </a:r>
            <a:r>
              <a:rPr lang="en-US" dirty="0" err="1"/>
              <a:t>ymin</a:t>
            </a:r>
            <a:r>
              <a:rPr lang="en-US" dirty="0"/>
              <a:t>, </a:t>
            </a:r>
            <a:r>
              <a:rPr lang="en-US" dirty="0" err="1"/>
              <a:t>ymax</a:t>
            </a:r>
            <a:r>
              <a:rPr lang="en-US" dirty="0"/>
              <a:t>])</a:t>
            </a:r>
          </a:p>
          <a:p>
            <a:endParaRPr lang="en-US" dirty="0"/>
          </a:p>
          <a:p>
            <a:r>
              <a:rPr lang="en-US" dirty="0" err="1"/>
              <a:t>plt.plot</a:t>
            </a:r>
            <a:r>
              <a:rPr lang="en-US" dirty="0"/>
              <a:t>(*zip(*</a:t>
            </a:r>
            <a:r>
              <a:rPr lang="en-US" dirty="0" err="1"/>
              <a:t>z_curve</a:t>
            </a:r>
            <a:r>
              <a:rPr lang="en-US" dirty="0"/>
              <a:t>(6))); </a:t>
            </a: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32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8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7188" indent="-357188">
              <a:buClr>
                <a:srgbClr val="C00000"/>
              </a:buClr>
              <a:buFont typeface="Wingdings" panose="05000000000000000000" pitchFamily="2" charset="2"/>
              <a:buChar char="§"/>
              <a:defRPr/>
            </a:lvl1pPr>
            <a:lvl2pPr>
              <a:buClr>
                <a:srgbClr val="C00000"/>
              </a:buClr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7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45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5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78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79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8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1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05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41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A9CD-0304-4E0B-9E82-E7E0115DE05B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9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Koch_snowflake" TargetMode="External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Z-order_curv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8631" y="2920558"/>
            <a:ext cx="9835433" cy="1325563"/>
          </a:xfrm>
        </p:spPr>
        <p:txBody>
          <a:bodyPr/>
          <a:lstStyle/>
          <a:p>
            <a:pPr algn="r"/>
            <a:r>
              <a:rPr lang="en-US" noProof="0" dirty="0"/>
              <a:t>Recursion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6355" y="3920647"/>
            <a:ext cx="3995057" cy="2937353"/>
          </a:xfrm>
        </p:spPr>
        <p:txBody>
          <a:bodyPr>
            <a:normAutofit/>
          </a:bodyPr>
          <a:lstStyle/>
          <a:p>
            <a:r>
              <a:rPr lang="en-US" noProof="0" dirty="0"/>
              <a:t>symbol table</a:t>
            </a:r>
          </a:p>
          <a:p>
            <a:r>
              <a:rPr lang="en-US" noProof="0" dirty="0"/>
              <a:t>stack frames</a:t>
            </a:r>
          </a:p>
        </p:txBody>
      </p:sp>
    </p:spTree>
    <p:extLst>
      <p:ext uri="{BB962C8B-B14F-4D97-AF65-F5344CB8AC3E}">
        <p14:creationId xmlns:p14="http://schemas.microsoft.com/office/powerpoint/2010/main" val="3801011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588936" y="2995810"/>
            <a:ext cx="5377911" cy="37152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Recursion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0989" y="1426634"/>
            <a:ext cx="4928637" cy="1420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noProof="0" dirty="0"/>
              <a:t>Recursive function  </a:t>
            </a:r>
            <a:br>
              <a:rPr lang="en-US" noProof="0" dirty="0"/>
            </a:br>
            <a:r>
              <a:rPr lang="en-US" noProof="0" dirty="0"/>
              <a:t>≡</a:t>
            </a:r>
            <a:br>
              <a:rPr lang="en-US" noProof="0" dirty="0"/>
            </a:br>
            <a:r>
              <a:rPr lang="en-US" noProof="0" dirty="0"/>
              <a:t>”function that calls itself”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247372"/>
              </p:ext>
            </p:extLst>
          </p:nvPr>
        </p:nvGraphicFramePr>
        <p:xfrm>
          <a:off x="6496260" y="854720"/>
          <a:ext cx="5017204" cy="5861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7204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recursive_function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if x &gt; 0: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print("start", x)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recursive_function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 - 1)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print("end", x)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else:</a:t>
                      </a:r>
                    </a:p>
                    <a:p>
                      <a:pPr marL="0" indent="0">
                        <a:spcAft>
                          <a:spcPts val="12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print("done")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recursive_function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(5)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 5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 4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 3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 2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 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done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 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 2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 3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 4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 5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58675" y="3159417"/>
            <a:ext cx="3135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recursive_function</a:t>
            </a:r>
            <a:r>
              <a:rPr lang="en-US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8671" y="3753214"/>
            <a:ext cx="3135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recursive_function</a:t>
            </a:r>
            <a:r>
              <a:rPr lang="en-US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58671" y="4347011"/>
            <a:ext cx="3135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recursive_function</a:t>
            </a:r>
            <a:r>
              <a:rPr lang="en-US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8670" y="4940808"/>
            <a:ext cx="3135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recursive_function</a:t>
            </a:r>
            <a:r>
              <a:rPr lang="en-US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8669" y="5534605"/>
            <a:ext cx="3135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recursive_function</a:t>
            </a:r>
            <a:r>
              <a:rPr lang="en-US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8668" y="6128401"/>
            <a:ext cx="3135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recursive_function</a:t>
            </a:r>
            <a:r>
              <a:rPr lang="en-US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</a:p>
        </p:txBody>
      </p:sp>
      <p:sp>
        <p:nvSpPr>
          <p:cNvPr id="11" name="Arc 10"/>
          <p:cNvSpPr/>
          <p:nvPr/>
        </p:nvSpPr>
        <p:spPr>
          <a:xfrm>
            <a:off x="1747650" y="3299950"/>
            <a:ext cx="458125" cy="596440"/>
          </a:xfrm>
          <a:prstGeom prst="arc">
            <a:avLst>
              <a:gd name="adj1" fmla="val 5768311"/>
              <a:gd name="adj2" fmla="val 15725575"/>
            </a:avLst>
          </a:prstGeom>
          <a:ln w="571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noProof="0" dirty="0"/>
          </a:p>
        </p:txBody>
      </p:sp>
      <p:sp>
        <p:nvSpPr>
          <p:cNvPr id="12" name="Arc 11"/>
          <p:cNvSpPr/>
          <p:nvPr/>
        </p:nvSpPr>
        <p:spPr>
          <a:xfrm>
            <a:off x="1745670" y="3939238"/>
            <a:ext cx="458125" cy="596440"/>
          </a:xfrm>
          <a:prstGeom prst="arc">
            <a:avLst>
              <a:gd name="adj1" fmla="val 5768311"/>
              <a:gd name="adj2" fmla="val 15725575"/>
            </a:avLst>
          </a:prstGeom>
          <a:ln w="571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noProof="0" dirty="0"/>
          </a:p>
        </p:txBody>
      </p:sp>
      <p:sp>
        <p:nvSpPr>
          <p:cNvPr id="13" name="Arc 12"/>
          <p:cNvSpPr/>
          <p:nvPr/>
        </p:nvSpPr>
        <p:spPr>
          <a:xfrm>
            <a:off x="1733798" y="4568631"/>
            <a:ext cx="458125" cy="596440"/>
          </a:xfrm>
          <a:prstGeom prst="arc">
            <a:avLst>
              <a:gd name="adj1" fmla="val 5768311"/>
              <a:gd name="adj2" fmla="val 15725575"/>
            </a:avLst>
          </a:prstGeom>
          <a:ln w="571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noProof="0" dirty="0"/>
          </a:p>
        </p:txBody>
      </p:sp>
      <p:sp>
        <p:nvSpPr>
          <p:cNvPr id="14" name="Arc 13"/>
          <p:cNvSpPr/>
          <p:nvPr/>
        </p:nvSpPr>
        <p:spPr>
          <a:xfrm>
            <a:off x="1733798" y="5167997"/>
            <a:ext cx="458125" cy="596440"/>
          </a:xfrm>
          <a:prstGeom prst="arc">
            <a:avLst>
              <a:gd name="adj1" fmla="val 5768311"/>
              <a:gd name="adj2" fmla="val 15725575"/>
            </a:avLst>
          </a:prstGeom>
          <a:ln w="571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noProof="0" dirty="0"/>
          </a:p>
        </p:txBody>
      </p:sp>
      <p:sp>
        <p:nvSpPr>
          <p:cNvPr id="15" name="Arc 14"/>
          <p:cNvSpPr/>
          <p:nvPr/>
        </p:nvSpPr>
        <p:spPr>
          <a:xfrm>
            <a:off x="1744993" y="5764437"/>
            <a:ext cx="458125" cy="596440"/>
          </a:xfrm>
          <a:prstGeom prst="arc">
            <a:avLst>
              <a:gd name="adj1" fmla="val 5768311"/>
              <a:gd name="adj2" fmla="val 15725575"/>
            </a:avLst>
          </a:prstGeom>
          <a:ln w="571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noProof="0" dirty="0"/>
          </a:p>
        </p:txBody>
      </p:sp>
      <p:sp>
        <p:nvSpPr>
          <p:cNvPr id="16" name="Arc 15"/>
          <p:cNvSpPr/>
          <p:nvPr/>
        </p:nvSpPr>
        <p:spPr>
          <a:xfrm>
            <a:off x="4646652" y="3272122"/>
            <a:ext cx="458125" cy="596440"/>
          </a:xfrm>
          <a:prstGeom prst="arc">
            <a:avLst>
              <a:gd name="adj1" fmla="val 16023499"/>
              <a:gd name="adj2" fmla="val 4641643"/>
            </a:avLst>
          </a:prstGeom>
          <a:ln w="571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noProof="0" dirty="0"/>
          </a:p>
        </p:txBody>
      </p:sp>
      <p:sp>
        <p:nvSpPr>
          <p:cNvPr id="17" name="Arc 16"/>
          <p:cNvSpPr/>
          <p:nvPr/>
        </p:nvSpPr>
        <p:spPr>
          <a:xfrm>
            <a:off x="4644672" y="3900926"/>
            <a:ext cx="458125" cy="596440"/>
          </a:xfrm>
          <a:prstGeom prst="arc">
            <a:avLst>
              <a:gd name="adj1" fmla="val 16023499"/>
              <a:gd name="adj2" fmla="val 4641643"/>
            </a:avLst>
          </a:prstGeom>
          <a:ln w="571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noProof="0" dirty="0"/>
          </a:p>
        </p:txBody>
      </p:sp>
      <p:sp>
        <p:nvSpPr>
          <p:cNvPr id="18" name="Arc 17"/>
          <p:cNvSpPr/>
          <p:nvPr/>
        </p:nvSpPr>
        <p:spPr>
          <a:xfrm>
            <a:off x="4681565" y="4526391"/>
            <a:ext cx="458125" cy="596440"/>
          </a:xfrm>
          <a:prstGeom prst="arc">
            <a:avLst>
              <a:gd name="adj1" fmla="val 16023499"/>
              <a:gd name="adj2" fmla="val 4641643"/>
            </a:avLst>
          </a:prstGeom>
          <a:ln w="571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noProof="0" dirty="0"/>
          </a:p>
        </p:txBody>
      </p:sp>
      <p:sp>
        <p:nvSpPr>
          <p:cNvPr id="19" name="Arc 18"/>
          <p:cNvSpPr/>
          <p:nvPr/>
        </p:nvSpPr>
        <p:spPr>
          <a:xfrm>
            <a:off x="4658172" y="5145051"/>
            <a:ext cx="458125" cy="596440"/>
          </a:xfrm>
          <a:prstGeom prst="arc">
            <a:avLst>
              <a:gd name="adj1" fmla="val 16023499"/>
              <a:gd name="adj2" fmla="val 4641643"/>
            </a:avLst>
          </a:prstGeom>
          <a:ln w="571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noProof="0" dirty="0"/>
          </a:p>
        </p:txBody>
      </p:sp>
      <p:sp>
        <p:nvSpPr>
          <p:cNvPr id="20" name="Arc 19"/>
          <p:cNvSpPr/>
          <p:nvPr/>
        </p:nvSpPr>
        <p:spPr>
          <a:xfrm>
            <a:off x="4646651" y="5787878"/>
            <a:ext cx="458125" cy="596440"/>
          </a:xfrm>
          <a:prstGeom prst="arc">
            <a:avLst>
              <a:gd name="adj1" fmla="val 16023499"/>
              <a:gd name="adj2" fmla="val 4641643"/>
            </a:avLst>
          </a:prstGeom>
          <a:ln w="571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784606" y="316112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noProof="0" dirty="0">
                <a:solidFill>
                  <a:srgbClr val="C00000"/>
                </a:solidFill>
              </a:rPr>
              <a:t>start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606" y="378540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noProof="0" dirty="0">
                <a:solidFill>
                  <a:srgbClr val="C00000"/>
                </a:solidFill>
              </a:rPr>
              <a:t>start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606" y="440968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noProof="0" dirty="0">
                <a:solidFill>
                  <a:srgbClr val="C00000"/>
                </a:solidFill>
              </a:rPr>
              <a:t>start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606" y="503397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noProof="0" dirty="0">
                <a:solidFill>
                  <a:srgbClr val="C00000"/>
                </a:solidFill>
              </a:rPr>
              <a:t>start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606" y="553775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noProof="0" dirty="0">
                <a:solidFill>
                  <a:srgbClr val="C00000"/>
                </a:solidFill>
              </a:rPr>
              <a:t>start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83619" y="638823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noProof="0" dirty="0">
                <a:solidFill>
                  <a:srgbClr val="C00000"/>
                </a:solidFill>
              </a:rPr>
              <a:t>done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797" y="315941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C00000"/>
                </a:solidFill>
              </a:rPr>
              <a:t>end 5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02797" y="433320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C00000"/>
                </a:solidFill>
              </a:rPr>
              <a:t>end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02797" y="492010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C00000"/>
                </a:solidFill>
              </a:rPr>
              <a:t>end 2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02797" y="374631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C00000"/>
                </a:solidFill>
              </a:rPr>
              <a:t>end 4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2797" y="550699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C00000"/>
                </a:solidFill>
              </a:rPr>
              <a:t>end 1 </a:t>
            </a:r>
          </a:p>
        </p:txBody>
      </p:sp>
    </p:spTree>
    <p:extLst>
      <p:ext uri="{BB962C8B-B14F-4D97-AF65-F5344CB8AC3E}">
        <p14:creationId xmlns:p14="http://schemas.microsoft.com/office/powerpoint/2010/main" val="2853058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5" grpId="0"/>
      <p:bldP spid="6" grpId="0"/>
      <p:bldP spid="7" grpId="0"/>
      <p:bldP spid="8" grpId="0"/>
      <p:bldP spid="9" grpId="0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/>
      <p:bldP spid="23" grpId="0"/>
      <p:bldP spid="24" grpId="0"/>
      <p:bldP spid="25" grpId="0"/>
      <p:bldP spid="26" grpId="0"/>
      <p:bldP spid="28" grpId="0"/>
      <p:bldP spid="29" grpId="0"/>
      <p:bldP spid="30" grpId="0"/>
      <p:bldP spid="31" grpId="0"/>
      <p:bldP spid="33" grpId="0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Recursion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801720"/>
              </p:ext>
            </p:extLst>
          </p:nvPr>
        </p:nvGraphicFramePr>
        <p:xfrm>
          <a:off x="6490807" y="849147"/>
          <a:ext cx="5017204" cy="5861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7204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recursive_function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if x &gt; 0: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print("start", x)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recursive_function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 - 1)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print("end", x)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else:</a:t>
                      </a:r>
                    </a:p>
                    <a:p>
                      <a:pPr marL="0" indent="0">
                        <a:spcAft>
                          <a:spcPts val="12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print("done")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recursive_function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(5)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 5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 4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 3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 2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 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done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 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 2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 3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 4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 5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993371"/>
              </p:ext>
            </p:extLst>
          </p:nvPr>
        </p:nvGraphicFramePr>
        <p:xfrm>
          <a:off x="1072760" y="2212283"/>
          <a:ext cx="3209353" cy="365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7611">
                  <a:extLst>
                    <a:ext uri="{9D8B030D-6E8A-4147-A177-3AD203B41FA5}">
                      <a16:colId xmlns:a16="http://schemas.microsoft.com/office/drawing/2014/main" val="1660599354"/>
                    </a:ext>
                  </a:extLst>
                </a:gridCol>
                <a:gridCol w="1241742">
                  <a:extLst>
                    <a:ext uri="{9D8B030D-6E8A-4147-A177-3AD203B41FA5}">
                      <a16:colId xmlns:a16="http://schemas.microsoft.com/office/drawing/2014/main" val="2863872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x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295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600" noProof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noProof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733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x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98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600" noProof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noProof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801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x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067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600" noProof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noProof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8710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x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815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600" noProof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noProof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016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x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177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600" noProof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noProof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3423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x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535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600" noProof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noProof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05784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err="1"/>
                        <a:t>recursive_function</a:t>
                      </a:r>
                      <a:endParaRPr lang="en-US" noProof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&lt;function&gt;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947917"/>
                  </a:ext>
                </a:extLst>
              </a:tr>
            </a:tbl>
          </a:graphicData>
        </a:graphic>
      </p:graphicFrame>
      <p:sp>
        <p:nvSpPr>
          <p:cNvPr id="36" name="Right Brace 35"/>
          <p:cNvSpPr/>
          <p:nvPr/>
        </p:nvSpPr>
        <p:spPr>
          <a:xfrm>
            <a:off x="4376450" y="5516049"/>
            <a:ext cx="108000" cy="354967"/>
          </a:xfrm>
          <a:prstGeom prst="rightBrace">
            <a:avLst>
              <a:gd name="adj1" fmla="val 37445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TextBox 36"/>
          <p:cNvSpPr txBox="1"/>
          <p:nvPr/>
        </p:nvSpPr>
        <p:spPr>
          <a:xfrm>
            <a:off x="4484450" y="5516049"/>
            <a:ext cx="1683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C00000"/>
                </a:solidFill>
              </a:rPr>
              <a:t>global  variables</a:t>
            </a:r>
          </a:p>
        </p:txBody>
      </p:sp>
      <p:sp>
        <p:nvSpPr>
          <p:cNvPr id="38" name="Right Brace 37"/>
          <p:cNvSpPr/>
          <p:nvPr/>
        </p:nvSpPr>
        <p:spPr>
          <a:xfrm>
            <a:off x="4376450" y="2243369"/>
            <a:ext cx="108000" cy="354967"/>
          </a:xfrm>
          <a:prstGeom prst="rightBrace">
            <a:avLst>
              <a:gd name="adj1" fmla="val 37445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4549060" y="2212282"/>
            <a:ext cx="1433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C00000"/>
                </a:solidFill>
              </a:rPr>
              <a:t>stack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894" y="6022146"/>
            <a:ext cx="3990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Recursion stack when x = 0 is reached</a:t>
            </a:r>
          </a:p>
        </p:txBody>
      </p:sp>
    </p:spTree>
    <p:extLst>
      <p:ext uri="{BB962C8B-B14F-4D97-AF65-F5344CB8AC3E}">
        <p14:creationId xmlns:p14="http://schemas.microsoft.com/office/powerpoint/2010/main" val="3149368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/>
      <p:bldP spid="38" grpId="0" animBg="1"/>
      <p:bldP spid="39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/>
          <p:cNvSpPr/>
          <p:nvPr/>
        </p:nvSpPr>
        <p:spPr>
          <a:xfrm>
            <a:off x="1792566" y="3211830"/>
            <a:ext cx="6561437" cy="33271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9" name="Group 78"/>
          <p:cNvGrpSpPr/>
          <p:nvPr/>
        </p:nvGrpSpPr>
        <p:grpSpPr>
          <a:xfrm>
            <a:off x="2068322" y="3718913"/>
            <a:ext cx="6127857" cy="2553730"/>
            <a:chOff x="827902" y="3800573"/>
            <a:chExt cx="6127857" cy="2553730"/>
          </a:xfrm>
        </p:grpSpPr>
        <p:sp>
          <p:nvSpPr>
            <p:cNvPr id="36" name="TextBox 35"/>
            <p:cNvSpPr txBox="1"/>
            <p:nvPr/>
          </p:nvSpPr>
          <p:spPr>
            <a:xfrm>
              <a:off x="827902" y="5983600"/>
              <a:ext cx="790833" cy="3707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noProof="0" dirty="0"/>
                <a:t>rec(0)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590334" y="5983600"/>
              <a:ext cx="790833" cy="3707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noProof="0" dirty="0"/>
                <a:t>rec(0)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352766" y="5983600"/>
              <a:ext cx="790833" cy="3707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noProof="0" dirty="0"/>
                <a:t>rec(0)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115198" y="5983600"/>
              <a:ext cx="790833" cy="3707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noProof="0" dirty="0"/>
                <a:t>rec(0)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877630" y="5983600"/>
              <a:ext cx="790833" cy="3707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noProof="0" dirty="0"/>
                <a:t>rec(0)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640062" y="5983600"/>
              <a:ext cx="790833" cy="3707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noProof="0" dirty="0"/>
                <a:t>rec(0)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402494" y="5983600"/>
              <a:ext cx="790833" cy="3707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noProof="0" dirty="0"/>
                <a:t>rec(0)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164926" y="5983600"/>
              <a:ext cx="790833" cy="3707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noProof="0" dirty="0"/>
                <a:t>rec(0)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194917" y="5283384"/>
              <a:ext cx="790833" cy="3707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noProof="0" dirty="0"/>
                <a:t>rec(1)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719781" y="5283384"/>
              <a:ext cx="790833" cy="3707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noProof="0" dirty="0"/>
                <a:t>rec(1)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244645" y="5283384"/>
              <a:ext cx="790833" cy="3707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noProof="0" dirty="0"/>
                <a:t>rec(1)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769509" y="5283384"/>
              <a:ext cx="790833" cy="3707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noProof="0" dirty="0"/>
                <a:t>rec(1)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992576" y="4562573"/>
              <a:ext cx="79083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noProof="0" dirty="0"/>
                <a:t>rec(2)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042304" y="4562573"/>
              <a:ext cx="79083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noProof="0" dirty="0"/>
                <a:t>rec(2)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510614" y="3800573"/>
              <a:ext cx="79083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noProof="0" dirty="0"/>
                <a:t>rec(3)</a:t>
              </a:r>
            </a:p>
          </p:txBody>
        </p:sp>
        <p:cxnSp>
          <p:nvCxnSpPr>
            <p:cNvPr id="53" name="Straight Connector 52"/>
            <p:cNvCxnSpPr>
              <a:stCxn id="36" idx="0"/>
            </p:cNvCxnSpPr>
            <p:nvPr/>
          </p:nvCxnSpPr>
          <p:spPr>
            <a:xfrm flipV="1">
              <a:off x="1223319" y="5654087"/>
              <a:ext cx="216000" cy="36000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V="1">
              <a:off x="1653961" y="4901418"/>
              <a:ext cx="551019" cy="381966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V="1">
              <a:off x="4251706" y="5654087"/>
              <a:ext cx="216000" cy="36000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flipV="1">
              <a:off x="5734283" y="5644066"/>
              <a:ext cx="216000" cy="36000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endCxn id="46" idx="2"/>
            </p:cNvCxnSpPr>
            <p:nvPr/>
          </p:nvCxnSpPr>
          <p:spPr>
            <a:xfrm flipH="1" flipV="1">
              <a:off x="4640062" y="5654087"/>
              <a:ext cx="216000" cy="36000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H="1" flipV="1">
              <a:off x="1653961" y="5661730"/>
              <a:ext cx="216000" cy="36000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flipH="1" flipV="1">
              <a:off x="2447829" y="4901418"/>
              <a:ext cx="517792" cy="381966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flipH="1" flipV="1">
              <a:off x="6171031" y="5654087"/>
              <a:ext cx="216000" cy="36000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flipH="1" flipV="1">
              <a:off x="4027003" y="4139419"/>
              <a:ext cx="1015301" cy="423154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flipV="1">
              <a:off x="2607275" y="4139419"/>
              <a:ext cx="1191435" cy="423154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>
              <a:stCxn id="46" idx="0"/>
            </p:cNvCxnSpPr>
            <p:nvPr/>
          </p:nvCxnSpPr>
          <p:spPr>
            <a:xfrm flipV="1">
              <a:off x="4640062" y="4901418"/>
              <a:ext cx="519583" cy="381966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flipH="1" flipV="1">
              <a:off x="5402494" y="4901418"/>
              <a:ext cx="430643" cy="36000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V="1">
              <a:off x="2772582" y="5646444"/>
              <a:ext cx="216000" cy="36000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flipH="1" flipV="1">
              <a:off x="3203224" y="5654087"/>
              <a:ext cx="216000" cy="36000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048584"/>
              </p:ext>
            </p:extLst>
          </p:nvPr>
        </p:nvGraphicFramePr>
        <p:xfrm>
          <a:off x="1796473" y="422371"/>
          <a:ext cx="6561437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61437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4444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527749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if x &gt; 0: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print("start", x)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 - 1)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 - 1)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print("end", x)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else:</a:t>
                      </a:r>
                    </a:p>
                    <a:p>
                      <a:pPr marL="0" indent="0">
                        <a:spcAft>
                          <a:spcPts val="12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print("done")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721312"/>
              </p:ext>
            </p:extLst>
          </p:nvPr>
        </p:nvGraphicFramePr>
        <p:xfrm>
          <a:off x="8530266" y="422371"/>
          <a:ext cx="1957705" cy="6105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7705">
                  <a:extLst>
                    <a:ext uri="{9D8B030D-6E8A-4147-A177-3AD203B41FA5}">
                      <a16:colId xmlns:a16="http://schemas.microsoft.com/office/drawing/2014/main" val="121462628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 3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 2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 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done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done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 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 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done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done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 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 2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 2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 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done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done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 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 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done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done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 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 2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 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826856" y="3402320"/>
            <a:ext cx="2128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/>
              <a:t>Recursion tree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6C5E89-5FFC-7D08-7ED8-9ED8AF1CA0D1}"/>
              </a:ext>
            </a:extLst>
          </p:cNvPr>
          <p:cNvGrpSpPr/>
          <p:nvPr/>
        </p:nvGrpSpPr>
        <p:grpSpPr>
          <a:xfrm>
            <a:off x="2045752" y="3930758"/>
            <a:ext cx="6440612" cy="2426664"/>
            <a:chOff x="2045752" y="3930758"/>
            <a:chExt cx="6440612" cy="2426664"/>
          </a:xfrm>
        </p:grpSpPr>
        <p:sp>
          <p:nvSpPr>
            <p:cNvPr id="80" name="Freeform 79"/>
            <p:cNvSpPr/>
            <p:nvPr/>
          </p:nvSpPr>
          <p:spPr>
            <a:xfrm>
              <a:off x="2045752" y="3930758"/>
              <a:ext cx="5881727" cy="2426664"/>
            </a:xfrm>
            <a:custGeom>
              <a:avLst/>
              <a:gdLst>
                <a:gd name="connsiteX0" fmla="*/ 2650234 w 5881727"/>
                <a:gd name="connsiteY0" fmla="*/ 92989 h 2426664"/>
                <a:gd name="connsiteX1" fmla="*/ 1239889 w 5881727"/>
                <a:gd name="connsiteY1" fmla="*/ 619932 h 2426664"/>
                <a:gd name="connsiteX2" fmla="*/ 402980 w 5881727"/>
                <a:gd name="connsiteY2" fmla="*/ 1379349 h 2426664"/>
                <a:gd name="connsiteX3" fmla="*/ 24 w 5881727"/>
                <a:gd name="connsiteY3" fmla="*/ 2200759 h 2426664"/>
                <a:gd name="connsiteX4" fmla="*/ 418479 w 5881727"/>
                <a:gd name="connsiteY4" fmla="*/ 2402237 h 2426664"/>
                <a:gd name="connsiteX5" fmla="*/ 728445 w 5881727"/>
                <a:gd name="connsiteY5" fmla="*/ 1751308 h 2426664"/>
                <a:gd name="connsiteX6" fmla="*/ 1053909 w 5881727"/>
                <a:gd name="connsiteY6" fmla="*/ 2340244 h 2426664"/>
                <a:gd name="connsiteX7" fmla="*/ 1441367 w 5881727"/>
                <a:gd name="connsiteY7" fmla="*/ 2138766 h 2426664"/>
                <a:gd name="connsiteX8" fmla="*/ 1053909 w 5881727"/>
                <a:gd name="connsiteY8" fmla="*/ 1394847 h 2426664"/>
                <a:gd name="connsiteX9" fmla="*/ 1487862 w 5881727"/>
                <a:gd name="connsiteY9" fmla="*/ 1038386 h 2426664"/>
                <a:gd name="connsiteX10" fmla="*/ 1921814 w 5881727"/>
                <a:gd name="connsiteY10" fmla="*/ 1503335 h 2426664"/>
                <a:gd name="connsiteX11" fmla="*/ 1720336 w 5881727"/>
                <a:gd name="connsiteY11" fmla="*/ 2123267 h 2426664"/>
                <a:gd name="connsiteX12" fmla="*/ 2138790 w 5881727"/>
                <a:gd name="connsiteY12" fmla="*/ 2231756 h 2426664"/>
                <a:gd name="connsiteX13" fmla="*/ 2324770 w 5881727"/>
                <a:gd name="connsiteY13" fmla="*/ 1797803 h 2426664"/>
                <a:gd name="connsiteX14" fmla="*/ 2650234 w 5881727"/>
                <a:gd name="connsiteY14" fmla="*/ 2293749 h 2426664"/>
                <a:gd name="connsiteX15" fmla="*/ 2913706 w 5881727"/>
                <a:gd name="connsiteY15" fmla="*/ 1921789 h 2426664"/>
                <a:gd name="connsiteX16" fmla="*/ 2650234 w 5881727"/>
                <a:gd name="connsiteY16" fmla="*/ 1239864 h 2426664"/>
                <a:gd name="connsiteX17" fmla="*/ 2030302 w 5881727"/>
                <a:gd name="connsiteY17" fmla="*/ 821410 h 2426664"/>
                <a:gd name="connsiteX18" fmla="*/ 3099685 w 5881727"/>
                <a:gd name="connsiteY18" fmla="*/ 325464 h 2426664"/>
                <a:gd name="connsiteX19" fmla="*/ 3983089 w 5881727"/>
                <a:gd name="connsiteY19" fmla="*/ 712922 h 2426664"/>
                <a:gd name="connsiteX20" fmla="*/ 3425150 w 5881727"/>
                <a:gd name="connsiteY20" fmla="*/ 1348352 h 2426664"/>
                <a:gd name="connsiteX21" fmla="*/ 3192675 w 5881727"/>
                <a:gd name="connsiteY21" fmla="*/ 2123267 h 2426664"/>
                <a:gd name="connsiteX22" fmla="*/ 3549136 w 5881727"/>
                <a:gd name="connsiteY22" fmla="*/ 2262752 h 2426664"/>
                <a:gd name="connsiteX23" fmla="*/ 3750614 w 5881727"/>
                <a:gd name="connsiteY23" fmla="*/ 1890793 h 2426664"/>
                <a:gd name="connsiteX24" fmla="*/ 4091577 w 5881727"/>
                <a:gd name="connsiteY24" fmla="*/ 2293749 h 2426664"/>
                <a:gd name="connsiteX25" fmla="*/ 4370546 w 5881727"/>
                <a:gd name="connsiteY25" fmla="*/ 1890793 h 2426664"/>
                <a:gd name="connsiteX26" fmla="*/ 4060580 w 5881727"/>
                <a:gd name="connsiteY26" fmla="*/ 1503335 h 2426664"/>
                <a:gd name="connsiteX27" fmla="*/ 4494533 w 5881727"/>
                <a:gd name="connsiteY27" fmla="*/ 1069383 h 2426664"/>
                <a:gd name="connsiteX28" fmla="*/ 4974980 w 5881727"/>
                <a:gd name="connsiteY28" fmla="*/ 1472339 h 2426664"/>
                <a:gd name="connsiteX29" fmla="*/ 4742506 w 5881727"/>
                <a:gd name="connsiteY29" fmla="*/ 1952786 h 2426664"/>
                <a:gd name="connsiteX30" fmla="*/ 4866492 w 5881727"/>
                <a:gd name="connsiteY30" fmla="*/ 2216257 h 2426664"/>
                <a:gd name="connsiteX31" fmla="*/ 5238451 w 5881727"/>
                <a:gd name="connsiteY31" fmla="*/ 1844298 h 2426664"/>
                <a:gd name="connsiteX32" fmla="*/ 5424431 w 5881727"/>
                <a:gd name="connsiteY32" fmla="*/ 2154264 h 2426664"/>
                <a:gd name="connsiteX33" fmla="*/ 5811889 w 5881727"/>
                <a:gd name="connsiteY33" fmla="*/ 2154264 h 2426664"/>
                <a:gd name="connsiteX34" fmla="*/ 5796390 w 5881727"/>
                <a:gd name="connsiteY34" fmla="*/ 1456840 h 2426664"/>
                <a:gd name="connsiteX35" fmla="*/ 4959482 w 5881727"/>
                <a:gd name="connsiteY35" fmla="*/ 557939 h 2426664"/>
                <a:gd name="connsiteX36" fmla="*/ 3611129 w 5881727"/>
                <a:gd name="connsiteY36" fmla="*/ 0 h 2426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5881727" h="2426664">
                  <a:moveTo>
                    <a:pt x="2650234" y="92989"/>
                  </a:moveTo>
                  <a:cubicBezTo>
                    <a:pt x="2132332" y="249264"/>
                    <a:pt x="1614431" y="405539"/>
                    <a:pt x="1239889" y="619932"/>
                  </a:cubicBezTo>
                  <a:cubicBezTo>
                    <a:pt x="865347" y="834325"/>
                    <a:pt x="609624" y="1115878"/>
                    <a:pt x="402980" y="1379349"/>
                  </a:cubicBezTo>
                  <a:cubicBezTo>
                    <a:pt x="196336" y="1642820"/>
                    <a:pt x="-2559" y="2030278"/>
                    <a:pt x="24" y="2200759"/>
                  </a:cubicBezTo>
                  <a:cubicBezTo>
                    <a:pt x="2607" y="2371240"/>
                    <a:pt x="297075" y="2477146"/>
                    <a:pt x="418479" y="2402237"/>
                  </a:cubicBezTo>
                  <a:cubicBezTo>
                    <a:pt x="539882" y="2327329"/>
                    <a:pt x="622540" y="1761640"/>
                    <a:pt x="728445" y="1751308"/>
                  </a:cubicBezTo>
                  <a:cubicBezTo>
                    <a:pt x="834350" y="1740976"/>
                    <a:pt x="935089" y="2275668"/>
                    <a:pt x="1053909" y="2340244"/>
                  </a:cubicBezTo>
                  <a:cubicBezTo>
                    <a:pt x="1172729" y="2404820"/>
                    <a:pt x="1441367" y="2296332"/>
                    <a:pt x="1441367" y="2138766"/>
                  </a:cubicBezTo>
                  <a:cubicBezTo>
                    <a:pt x="1441367" y="1981200"/>
                    <a:pt x="1046160" y="1578244"/>
                    <a:pt x="1053909" y="1394847"/>
                  </a:cubicBezTo>
                  <a:cubicBezTo>
                    <a:pt x="1061658" y="1211450"/>
                    <a:pt x="1343211" y="1020305"/>
                    <a:pt x="1487862" y="1038386"/>
                  </a:cubicBezTo>
                  <a:cubicBezTo>
                    <a:pt x="1632513" y="1056467"/>
                    <a:pt x="1883068" y="1322522"/>
                    <a:pt x="1921814" y="1503335"/>
                  </a:cubicBezTo>
                  <a:cubicBezTo>
                    <a:pt x="1960560" y="1684149"/>
                    <a:pt x="1684173" y="2001863"/>
                    <a:pt x="1720336" y="2123267"/>
                  </a:cubicBezTo>
                  <a:cubicBezTo>
                    <a:pt x="1756499" y="2244671"/>
                    <a:pt x="2038051" y="2286000"/>
                    <a:pt x="2138790" y="2231756"/>
                  </a:cubicBezTo>
                  <a:cubicBezTo>
                    <a:pt x="2239529" y="2177512"/>
                    <a:pt x="2239529" y="1787471"/>
                    <a:pt x="2324770" y="1797803"/>
                  </a:cubicBezTo>
                  <a:cubicBezTo>
                    <a:pt x="2410011" y="1808135"/>
                    <a:pt x="2552078" y="2273085"/>
                    <a:pt x="2650234" y="2293749"/>
                  </a:cubicBezTo>
                  <a:cubicBezTo>
                    <a:pt x="2748390" y="2314413"/>
                    <a:pt x="2913706" y="2097436"/>
                    <a:pt x="2913706" y="1921789"/>
                  </a:cubicBezTo>
                  <a:cubicBezTo>
                    <a:pt x="2913706" y="1746142"/>
                    <a:pt x="2797468" y="1423260"/>
                    <a:pt x="2650234" y="1239864"/>
                  </a:cubicBezTo>
                  <a:cubicBezTo>
                    <a:pt x="2503000" y="1056468"/>
                    <a:pt x="1955394" y="973810"/>
                    <a:pt x="2030302" y="821410"/>
                  </a:cubicBezTo>
                  <a:cubicBezTo>
                    <a:pt x="2105210" y="669010"/>
                    <a:pt x="2774221" y="343545"/>
                    <a:pt x="3099685" y="325464"/>
                  </a:cubicBezTo>
                  <a:cubicBezTo>
                    <a:pt x="3425150" y="307383"/>
                    <a:pt x="3928845" y="542441"/>
                    <a:pt x="3983089" y="712922"/>
                  </a:cubicBezTo>
                  <a:cubicBezTo>
                    <a:pt x="4037333" y="883403"/>
                    <a:pt x="3556886" y="1113295"/>
                    <a:pt x="3425150" y="1348352"/>
                  </a:cubicBezTo>
                  <a:cubicBezTo>
                    <a:pt x="3293414" y="1583409"/>
                    <a:pt x="3172011" y="1970867"/>
                    <a:pt x="3192675" y="2123267"/>
                  </a:cubicBezTo>
                  <a:cubicBezTo>
                    <a:pt x="3213339" y="2275667"/>
                    <a:pt x="3456146" y="2301498"/>
                    <a:pt x="3549136" y="2262752"/>
                  </a:cubicBezTo>
                  <a:cubicBezTo>
                    <a:pt x="3642126" y="2224006"/>
                    <a:pt x="3660207" y="1885627"/>
                    <a:pt x="3750614" y="1890793"/>
                  </a:cubicBezTo>
                  <a:cubicBezTo>
                    <a:pt x="3841021" y="1895959"/>
                    <a:pt x="3988255" y="2293749"/>
                    <a:pt x="4091577" y="2293749"/>
                  </a:cubicBezTo>
                  <a:cubicBezTo>
                    <a:pt x="4194899" y="2293749"/>
                    <a:pt x="4375712" y="2022529"/>
                    <a:pt x="4370546" y="1890793"/>
                  </a:cubicBezTo>
                  <a:cubicBezTo>
                    <a:pt x="4365380" y="1759057"/>
                    <a:pt x="4039916" y="1640237"/>
                    <a:pt x="4060580" y="1503335"/>
                  </a:cubicBezTo>
                  <a:cubicBezTo>
                    <a:pt x="4081244" y="1366433"/>
                    <a:pt x="4342133" y="1074549"/>
                    <a:pt x="4494533" y="1069383"/>
                  </a:cubicBezTo>
                  <a:cubicBezTo>
                    <a:pt x="4646933" y="1064217"/>
                    <a:pt x="4933651" y="1325105"/>
                    <a:pt x="4974980" y="1472339"/>
                  </a:cubicBezTo>
                  <a:cubicBezTo>
                    <a:pt x="5016309" y="1619573"/>
                    <a:pt x="4760587" y="1828800"/>
                    <a:pt x="4742506" y="1952786"/>
                  </a:cubicBezTo>
                  <a:cubicBezTo>
                    <a:pt x="4724425" y="2076772"/>
                    <a:pt x="4783835" y="2234338"/>
                    <a:pt x="4866492" y="2216257"/>
                  </a:cubicBezTo>
                  <a:cubicBezTo>
                    <a:pt x="4949149" y="2198176"/>
                    <a:pt x="5145461" y="1854630"/>
                    <a:pt x="5238451" y="1844298"/>
                  </a:cubicBezTo>
                  <a:cubicBezTo>
                    <a:pt x="5331441" y="1833966"/>
                    <a:pt x="5328858" y="2102603"/>
                    <a:pt x="5424431" y="2154264"/>
                  </a:cubicBezTo>
                  <a:cubicBezTo>
                    <a:pt x="5520004" y="2205925"/>
                    <a:pt x="5749896" y="2270501"/>
                    <a:pt x="5811889" y="2154264"/>
                  </a:cubicBezTo>
                  <a:cubicBezTo>
                    <a:pt x="5873882" y="2038027"/>
                    <a:pt x="5938458" y="1722894"/>
                    <a:pt x="5796390" y="1456840"/>
                  </a:cubicBezTo>
                  <a:cubicBezTo>
                    <a:pt x="5654322" y="1190786"/>
                    <a:pt x="5323692" y="800746"/>
                    <a:pt x="4959482" y="557939"/>
                  </a:cubicBezTo>
                  <a:cubicBezTo>
                    <a:pt x="4595272" y="315132"/>
                    <a:pt x="4103200" y="157566"/>
                    <a:pt x="3611129" y="0"/>
                  </a:cubicBezTo>
                </a:path>
              </a:pathLst>
            </a:custGeom>
            <a:noFill/>
            <a:ln>
              <a:solidFill>
                <a:srgbClr val="00B05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0E78CAC-665A-3005-7AFC-E63517226BCC}"/>
                </a:ext>
              </a:extLst>
            </p:cNvPr>
            <p:cNvSpPr txBox="1"/>
            <p:nvPr/>
          </p:nvSpPr>
          <p:spPr>
            <a:xfrm>
              <a:off x="7160081" y="4040904"/>
              <a:ext cx="13262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program execution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0238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68" y="365125"/>
            <a:ext cx="12068431" cy="1325563"/>
          </a:xfrm>
        </p:spPr>
        <p:txBody>
          <a:bodyPr>
            <a:normAutofit/>
          </a:bodyPr>
          <a:lstStyle/>
          <a:p>
            <a:r>
              <a:rPr lang="en-US" sz="4000" noProof="0" dirty="0"/>
              <a:t>Question – How many times does </a:t>
            </a:r>
            <a:r>
              <a:rPr lang="en-US" sz="4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rec(5)</a:t>
            </a:r>
            <a:r>
              <a:rPr lang="en-US" sz="4000" noProof="0" dirty="0"/>
              <a:t> print ”</a:t>
            </a:r>
            <a:r>
              <a:rPr lang="en-US" sz="4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done</a:t>
            </a:r>
            <a:r>
              <a:rPr lang="en-US" sz="4000" noProof="0" dirty="0"/>
              <a:t>”?  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934415"/>
              </p:ext>
            </p:extLst>
          </p:nvPr>
        </p:nvGraphicFramePr>
        <p:xfrm>
          <a:off x="1804100" y="2572588"/>
          <a:ext cx="4211955" cy="2965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19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if x &gt; 0: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print("start", x)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 - 1)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 - 1)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 – 1)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print("end", x)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else:</a:t>
                      </a:r>
                    </a:p>
                    <a:p>
                      <a:pPr marL="0" indent="0">
                        <a:spcAft>
                          <a:spcPts val="12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print("done")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177352" y="2131976"/>
            <a:ext cx="3188044" cy="39159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US" noProof="0" dirty="0"/>
              <a:t>3</a:t>
            </a:r>
          </a:p>
          <a:p>
            <a:pPr marL="514350" indent="-514350">
              <a:buFont typeface="+mj-lt"/>
              <a:buAutoNum type="alphaLcParenR"/>
            </a:pPr>
            <a:r>
              <a:rPr lang="en-US" noProof="0" dirty="0"/>
              <a:t>5</a:t>
            </a:r>
          </a:p>
          <a:p>
            <a:pPr marL="514350" indent="-514350">
              <a:buFont typeface="+mj-lt"/>
              <a:buAutoNum type="alphaLcParenR"/>
            </a:pPr>
            <a:r>
              <a:rPr lang="en-US" noProof="0" dirty="0"/>
              <a:t>15</a:t>
            </a:r>
          </a:p>
          <a:p>
            <a:pPr marL="514350" indent="-514350">
              <a:buFont typeface="+mj-lt"/>
              <a:buAutoNum type="alphaLcParenR"/>
            </a:pPr>
            <a:r>
              <a:rPr lang="en-US" noProof="0" dirty="0"/>
              <a:t>81</a:t>
            </a:r>
          </a:p>
          <a:p>
            <a:pPr marL="514350" indent="-514350">
              <a:buFont typeface="+mj-lt"/>
              <a:buAutoNum type="alphaLcParenR"/>
            </a:pPr>
            <a:r>
              <a:rPr lang="en-US" noProof="0" dirty="0"/>
              <a:t>125</a:t>
            </a:r>
          </a:p>
          <a:p>
            <a:pPr marL="514350" indent="-514350">
              <a:buFont typeface="+mj-lt"/>
              <a:buAutoNum type="alphaLcParenR"/>
            </a:pPr>
            <a:r>
              <a:rPr lang="en-US" noProof="0" dirty="0"/>
              <a:t>243</a:t>
            </a:r>
          </a:p>
          <a:p>
            <a:pPr marL="514350" indent="-514350">
              <a:buFont typeface="+mj-lt"/>
              <a:buAutoNum type="alphaLcParenR"/>
            </a:pPr>
            <a:r>
              <a:rPr lang="en-US" noProof="0" dirty="0"/>
              <a:t>Don’t know</a:t>
            </a:r>
          </a:p>
        </p:txBody>
      </p:sp>
      <p:sp>
        <p:nvSpPr>
          <p:cNvPr id="6" name="Smiley Face 5" descr="QuizAnswer"/>
          <p:cNvSpPr/>
          <p:nvPr/>
        </p:nvSpPr>
        <p:spPr>
          <a:xfrm>
            <a:off x="7571648" y="4743196"/>
            <a:ext cx="374567" cy="363338"/>
          </a:xfrm>
          <a:prstGeom prst="smileyFace">
            <a:avLst>
              <a:gd name="adj" fmla="val 4653"/>
            </a:avLst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6E9671-7052-4F22-AFFE-4B31A74DBB92}"/>
              </a:ext>
            </a:extLst>
          </p:cNvPr>
          <p:cNvSpPr txBox="1"/>
          <p:nvPr/>
        </p:nvSpPr>
        <p:spPr>
          <a:xfrm>
            <a:off x="9330681" y="4634680"/>
            <a:ext cx="805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/>
              <a:t>= 3</a:t>
            </a:r>
            <a:r>
              <a:rPr lang="en-US" sz="2800" baseline="30000" noProof="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509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Factorial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283" y="985166"/>
            <a:ext cx="6662057" cy="26269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noProof="0" dirty="0"/>
              <a:t>n ! = n ∙ (n - 1) ∙ (n - 2) ∙ ∙ ∙ 3 ∙ 2 ∙ 1</a:t>
            </a:r>
          </a:p>
          <a:p>
            <a:pPr marL="0" indent="0" algn="ctr">
              <a:buNone/>
            </a:pPr>
            <a:endParaRPr lang="en-US" noProof="0" dirty="0"/>
          </a:p>
          <a:p>
            <a:pPr marL="0" indent="0">
              <a:buNone/>
            </a:pPr>
            <a:br>
              <a:rPr lang="en-US" b="1" noProof="0" dirty="0">
                <a:solidFill>
                  <a:srgbClr val="C00000"/>
                </a:solidFill>
              </a:rPr>
            </a:br>
            <a:r>
              <a:rPr lang="en-US" b="1" noProof="0" dirty="0">
                <a:solidFill>
                  <a:srgbClr val="C00000"/>
                </a:solidFill>
              </a:rPr>
              <a:t>Observation</a:t>
            </a:r>
            <a:r>
              <a:rPr lang="en-US" noProof="0" dirty="0"/>
              <a:t>		 1 ! = 1</a:t>
            </a:r>
          </a:p>
          <a:p>
            <a:pPr marL="0" indent="0">
              <a:buNone/>
            </a:pPr>
            <a:r>
              <a:rPr lang="en-US" noProof="0" dirty="0"/>
              <a:t>			 n ! = n ∙ (n - 1) !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148661"/>
              </p:ext>
            </p:extLst>
          </p:nvPr>
        </p:nvGraphicFramePr>
        <p:xfrm>
          <a:off x="2883258" y="3868481"/>
          <a:ext cx="446607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607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06552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factorial.py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731681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factorial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n &lt;= 1: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1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n *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factorial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 - 1)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Right Brace 4"/>
          <p:cNvSpPr/>
          <p:nvPr/>
        </p:nvSpPr>
        <p:spPr>
          <a:xfrm rot="5400000">
            <a:off x="8421471" y="-239088"/>
            <a:ext cx="169539" cy="3530062"/>
          </a:xfrm>
          <a:prstGeom prst="rightBrace">
            <a:avLst>
              <a:gd name="adj1" fmla="val 56275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7922311" y="1610713"/>
            <a:ext cx="1253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solidFill>
                  <a:srgbClr val="C00000"/>
                </a:solidFill>
              </a:rPr>
              <a:t>(n – 1)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97777" y="2741420"/>
            <a:ext cx="214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C00000"/>
                </a:solidFill>
              </a:rPr>
              <a:t>(recursive definition)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014075"/>
              </p:ext>
            </p:extLst>
          </p:nvPr>
        </p:nvGraphicFramePr>
        <p:xfrm>
          <a:off x="7577928" y="4830387"/>
          <a:ext cx="427863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86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06552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factorial_iterative.py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731681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factorial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result = 1</a:t>
                      </a:r>
                    </a:p>
                    <a:p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i in range(2, n + 1):</a:t>
                      </a:r>
                    </a:p>
                    <a:p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result *= i</a:t>
                      </a:r>
                    </a:p>
                    <a:p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return result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697028"/>
              </p:ext>
            </p:extLst>
          </p:nvPr>
        </p:nvGraphicFramePr>
        <p:xfrm>
          <a:off x="613248" y="5561746"/>
          <a:ext cx="6736080" cy="10974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360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06552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factorial.py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731681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factorial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n *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factorial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 - 1) if n &gt; 1 else 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5053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Binomial coefficient</a:t>
                </a:r>
                <a:r>
                  <a:rPr lang="en-US" noProof="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  <m:brk m:alnAt="7"/>
                                </m:rPr>
                                <a:rPr lang="en-US" b="0" noProof="0" smtClean="0">
                                  <a:latin typeface="+mn-lt"/>
                                </a:rPr>
                                <m:t>n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b="0" noProof="0" smtClean="0">
                                  <a:latin typeface="+mn-lt"/>
                                </a:rPr>
                                <m:t>k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noProof="0" dirty="0">
                  <a:latin typeface="+mn-lt"/>
                </a:endParaRPr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286358" y="1825625"/>
                <a:ext cx="9252489" cy="4931435"/>
              </a:xfrm>
            </p:spPr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  <m:brk m:alnAt="7"/>
                                </m:rPr>
                                <a:rPr lang="en-US" noProof="0" smtClean="0"/>
                                <m:t>n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noProof="0" smtClean="0"/>
                                <m:t>k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noProof="0" dirty="0"/>
                  <a:t>  =  number of ways to pick k elements from a set of size n</a:t>
                </a:r>
              </a:p>
              <a:p>
                <a:endParaRPr lang="en-US" noProof="0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  <m:brk m:alnAt="7"/>
                                </m:rPr>
                                <a:rPr lang="en-US" i="0" noProof="0" smtClean="0"/>
                                <m:t>n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i="0" noProof="0" smtClean="0"/>
                                <m:t>k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noProof="0" smtClean="0"/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  <m:brk m:alnAt="7"/>
                                </m:rPr>
                                <a:rPr lang="en-US" b="0" i="0" noProof="0" smtClean="0"/>
                                <m:t>1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b="0" i="0" noProof="0" smtClean="0"/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b="0" i="0" noProof="0" smtClean="0"/>
                                <m:t>  </m:t>
                              </m:r>
                              <m:r>
                                <m:rPr>
                                  <m:nor/>
                                </m:rPr>
                                <a:rPr lang="en-US" b="0" i="0" noProof="0" smtClean="0"/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b="0" i="0" noProof="0" smtClean="0"/>
                                <m:t> = 0  </m:t>
                              </m:r>
                              <m:r>
                                <m:rPr>
                                  <m:nor/>
                                </m:rPr>
                                <a:rPr lang="en-US" b="0" i="0" noProof="0" smtClean="0"/>
                                <m:t>or</m:t>
                              </m:r>
                              <m:r>
                                <m:rPr>
                                  <m:nor/>
                                </m:rPr>
                                <a:rPr lang="en-US" b="0" i="0" noProof="0" smtClean="0"/>
                                <m:t>  </m:t>
                              </m:r>
                              <m:r>
                                <m:rPr>
                                  <m:nor/>
                                </m:rPr>
                                <a:rPr lang="en-US" b="0" i="0" noProof="0" smtClean="0"/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b="0" i="0" noProof="0" smtClean="0"/>
                                <m:t> = </m:t>
                              </m:r>
                              <m:r>
                                <m:rPr>
                                  <m:nor/>
                                </m:rPr>
                                <a:rPr lang="en-US" b="0" i="0" noProof="0" smtClean="0"/>
                                <m:t>n</m:t>
                              </m:r>
                            </m:e>
                          </m:mr>
                          <m:mr>
                            <m:e>
                              <m:d>
                                <m:dPr>
                                  <m:ctrlPr>
                                    <a:rPr lang="en-US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nor/>
                                            <m:brk m:alnAt="7"/>
                                          </m:rPr>
                                          <a:rPr lang="en-US" i="0" noProof="0" smtClean="0"/>
                                          <m:t>n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b="0" i="0" noProof="0" smtClean="0"/>
                                          <m:t> − 1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i="0" noProof="0" smtClean="0"/>
                                          <m:t>k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b="0" i="0" noProof="0" smtClean="0"/>
                                <m:t>+</m:t>
                              </m:r>
                              <m:d>
                                <m:dPr>
                                  <m:ctrlPr>
                                    <a:rPr lang="en-US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nor/>
                                            <m:brk m:alnAt="7"/>
                                          </m:rPr>
                                          <a:rPr lang="en-US" i="0" noProof="0" smtClean="0"/>
                                          <m:t>n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b="0" i="0" noProof="0" smtClean="0"/>
                                          <m:t> − 1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i="0" noProof="0" smtClean="0"/>
                                          <m:t>k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b="0" i="0" noProof="0" smtClean="0"/>
                                          <m:t> − 1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b="0" i="0" noProof="0" smtClean="0"/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noProof="0" dirty="0"/>
              </a:p>
              <a:p>
                <a:endParaRPr lang="en-US" noProof="0" dirty="0"/>
              </a:p>
              <a:p>
                <a:endParaRPr lang="en-US" noProof="0" dirty="0"/>
              </a:p>
              <a:p>
                <a:endParaRPr lang="en-US" noProof="0" dirty="0"/>
              </a:p>
              <a:p>
                <a:endParaRPr lang="en-US" noProof="0" dirty="0"/>
              </a:p>
              <a:p>
                <a:endParaRPr lang="en-US" noProof="0" dirty="0"/>
              </a:p>
              <a:p>
                <a:r>
                  <a:rPr lang="en-US" noProof="0" dirty="0"/>
                  <a:t>Unfolding computation shows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  <m:brk m:alnAt="7"/>
                                </m:rPr>
                                <a:rPr lang="en-US" noProof="0" smtClean="0"/>
                                <m:t>n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noProof="0" smtClean="0"/>
                                <m:t>k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noProof="0" dirty="0"/>
                  <a:t> 1’s are added </a:t>
                </a:r>
                <a:r>
                  <a:rPr lang="en-US" noProof="0" dirty="0">
                    <a:sym typeface="Wingdings" panose="05000000000000000000" pitchFamily="2" charset="2"/>
                  </a:rPr>
                  <a:t> </a:t>
                </a:r>
                <a:r>
                  <a:rPr lang="en-US" noProof="0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slow</a:t>
                </a:r>
                <a:endParaRPr lang="en-US" noProof="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6358" y="1825625"/>
                <a:ext cx="9252489" cy="4931435"/>
              </a:xfrm>
              <a:blipFill>
                <a:blip r:embed="rId4"/>
                <a:stretch>
                  <a:fillRect l="-988" t="-1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776851"/>
              </p:ext>
            </p:extLst>
          </p:nvPr>
        </p:nvGraphicFramePr>
        <p:xfrm>
          <a:off x="2250122" y="4291342"/>
          <a:ext cx="769175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917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8292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binomial_recursive.py  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731681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(n, k):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k == 0 or k == n: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1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 - 1, k) +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 - 1, k - 1)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7245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D887A-477E-5547-4340-E05CE57BD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384" y="126733"/>
            <a:ext cx="11689328" cy="1325563"/>
          </a:xfrm>
        </p:spPr>
        <p:txBody>
          <a:bodyPr/>
          <a:lstStyle/>
          <a:p>
            <a:r>
              <a:rPr lang="en-US" noProof="0" dirty="0"/>
              <a:t>Readable functions ? – return early / bail out fast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5B82F5-449A-5B10-740F-0B39EBF864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619443"/>
              </p:ext>
            </p:extLst>
          </p:nvPr>
        </p:nvGraphicFramePr>
        <p:xfrm>
          <a:off x="3840644" y="1440533"/>
          <a:ext cx="8160068" cy="4992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006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binomial_return_early.py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(n, k):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Ugly, nested indentations and redundant else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k == 0: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1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else: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k == n: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return 1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else:</a:t>
                      </a:r>
                    </a:p>
                    <a:p>
                      <a:pPr marL="0" indent="0"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return 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 - 1, k) + 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 - 1, k - 1)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(n, k):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Treat each special case first and return</a:t>
                      </a:r>
                      <a:endParaRPr lang="en-US" sz="14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k == 0: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1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k == n: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1    </a:t>
                      </a:r>
                    </a:p>
                    <a:p>
                      <a:pPr marL="0" indent="0"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 - 1, k) + 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 - 1, k - 1)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(n, k): 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Several cases simultaneously – is test obvious?</a:t>
                      </a:r>
                      <a:endParaRPr lang="en-US" sz="14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k == 0 or k == n: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1</a:t>
                      </a:r>
                    </a:p>
                    <a:p>
                      <a:pPr marL="0" indent="0"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 - 1, k) + 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 - 1, k - 1)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(n, k):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1-liner, but is this the easiest to read?</a:t>
                      </a:r>
                      <a:endParaRPr lang="en-US" sz="14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 - 1, k) + 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 - 1, k - 1) if 0 &lt; k &lt; n else 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6F199C-B196-A43F-39AB-8BD5282B5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660" y="1825625"/>
            <a:ext cx="3172022" cy="4351338"/>
          </a:xfrm>
        </p:spPr>
        <p:txBody>
          <a:bodyPr>
            <a:normAutofit/>
          </a:bodyPr>
          <a:lstStyle/>
          <a:p>
            <a:r>
              <a:rPr lang="en-US" sz="2400" noProof="0" dirty="0"/>
              <a:t>Treat simple cases first and return</a:t>
            </a:r>
          </a:p>
          <a:p>
            <a:r>
              <a:rPr lang="en-US" sz="2400" noProof="0" dirty="0"/>
              <a:t>Do not put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2400" noProof="0" dirty="0"/>
              <a:t> after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400" noProof="0" dirty="0"/>
              <a:t> ending with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</a:p>
          <a:p>
            <a:r>
              <a:rPr lang="en-US" sz="2400" noProof="0" dirty="0"/>
              <a:t>Avoid unnecessary nesting of code</a:t>
            </a:r>
          </a:p>
          <a:p>
            <a:r>
              <a:rPr lang="en-US" sz="2400" noProof="0" dirty="0"/>
              <a:t>1-liners are not always the most readable 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A056DD-7942-DC13-82F0-C8F8674A5A1E}"/>
              </a:ext>
            </a:extLst>
          </p:cNvPr>
          <p:cNvSpPr txBox="1"/>
          <p:nvPr/>
        </p:nvSpPr>
        <p:spPr>
          <a:xfrm>
            <a:off x="1724894" y="6488668"/>
            <a:ext cx="10467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noProof="0" dirty="0"/>
              <a:t>See also </a:t>
            </a:r>
            <a:r>
              <a:rPr lang="en-US" i="1" noProof="0" dirty="0"/>
              <a:t>Clean Code -  Handbook of Agile Software Craftsmanship</a:t>
            </a:r>
            <a:r>
              <a:rPr lang="en-US" noProof="0" dirty="0"/>
              <a:t>, by Robert C. Martin (2009)</a:t>
            </a:r>
          </a:p>
        </p:txBody>
      </p:sp>
    </p:spTree>
    <p:extLst>
      <p:ext uri="{BB962C8B-B14F-4D97-AF65-F5344CB8AC3E}">
        <p14:creationId xmlns:p14="http://schemas.microsoft.com/office/powerpoint/2010/main" val="3874947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00BCC-51B6-40D8-AC04-CD22C1F85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29" y="211771"/>
            <a:ext cx="7691755" cy="874080"/>
          </a:xfrm>
        </p:spPr>
        <p:txBody>
          <a:bodyPr/>
          <a:lstStyle/>
          <a:p>
            <a:r>
              <a:rPr lang="en-US" noProof="0" dirty="0"/>
              <a:t>Tracing the recursion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0153D5-9894-4E26-A759-6BEE34861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119583"/>
              </p:ext>
            </p:extLst>
          </p:nvPr>
        </p:nvGraphicFramePr>
        <p:xfrm>
          <a:off x="226338" y="3677445"/>
          <a:ext cx="816328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3282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8292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binomial_trace.py  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731681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(n, k, </a:t>
                      </a:r>
                      <a:r>
                        <a:rPr lang="en-US" sz="1800" b="1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indent=0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print('   ' * </a:t>
                      </a:r>
                      <a:r>
                        <a:rPr lang="en-US" sz="1800" b="1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indent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f'binomial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({n}, {k})')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k == 0 or k == n: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result = 1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else: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result =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 - 1, k, </a:t>
                      </a:r>
                      <a:r>
                        <a:rPr lang="en-US" sz="1800" b="1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indent=indent + 1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+ \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 - 1, k - 1, </a:t>
                      </a:r>
                      <a:r>
                        <a:rPr lang="en-US" sz="1800" b="1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indent=indent + 1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print('   ' * </a:t>
                      </a:r>
                      <a:r>
                        <a:rPr lang="en-US" sz="1800" b="1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indent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f'return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{result}')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result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B920E13-B858-4396-9BA7-39071AB1F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427456"/>
              </p:ext>
            </p:extLst>
          </p:nvPr>
        </p:nvGraphicFramePr>
        <p:xfrm>
          <a:off x="8582382" y="254475"/>
          <a:ext cx="3383280" cy="6349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(4, 2)</a:t>
                      </a:r>
                      <a:endParaRPr lang="en-US" sz="16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binomial(4, 2)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binomial(3, 2)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binomial(2, 2)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return 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binomial(2, 1)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binomial(1, 1)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return 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binomial(1, 0)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return 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return 2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return 3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binomial(3, 1)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binomial(2, 1)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binomial(1, 1)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return 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binomial(1, 0)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return 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return 2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binomial(2, 0)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return 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return 3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return 6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C01858C-058C-406E-9809-010A19862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118" y="1345566"/>
            <a:ext cx="7408975" cy="1911984"/>
          </a:xfrm>
        </p:spPr>
        <p:txBody>
          <a:bodyPr>
            <a:normAutofit/>
          </a:bodyPr>
          <a:lstStyle/>
          <a:p>
            <a:r>
              <a:rPr lang="en-US" noProof="0" dirty="0"/>
              <a:t>At beginning of function call, </a:t>
            </a:r>
            <a:r>
              <a:rPr lang="en-US" noProof="0" dirty="0">
                <a:solidFill>
                  <a:schemeClr val="accent1">
                    <a:lumMod val="50000"/>
                  </a:schemeClr>
                </a:solidFill>
              </a:rPr>
              <a:t>print</a:t>
            </a:r>
            <a:r>
              <a:rPr lang="en-US" noProof="0" dirty="0"/>
              <a:t> arguments</a:t>
            </a:r>
          </a:p>
          <a:p>
            <a:r>
              <a:rPr lang="en-US" noProof="0" dirty="0"/>
              <a:t>Before returning, </a:t>
            </a:r>
            <a:r>
              <a:rPr lang="en-US" noProof="0" dirty="0">
                <a:solidFill>
                  <a:schemeClr val="accent1">
                    <a:lumMod val="50000"/>
                  </a:schemeClr>
                </a:solidFill>
              </a:rPr>
              <a:t>print</a:t>
            </a:r>
            <a:r>
              <a:rPr lang="en-US" noProof="0" dirty="0"/>
              <a:t> return value</a:t>
            </a:r>
          </a:p>
          <a:p>
            <a:r>
              <a:rPr lang="en-US" noProof="0" dirty="0"/>
              <a:t>Keep track of recursion depth in a argument to print </a:t>
            </a:r>
            <a:r>
              <a:rPr lang="en-US" noProof="0" dirty="0">
                <a:solidFill>
                  <a:schemeClr val="accent6"/>
                </a:solidFill>
              </a:rPr>
              <a:t>indentation</a:t>
            </a:r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29464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Binomial coefficient</a:t>
                </a:r>
                <a:r>
                  <a:rPr lang="en-US" noProof="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  <m:brk m:alnAt="7"/>
                                </m:rPr>
                                <a:rPr lang="en-US" b="0" noProof="0" smtClean="0">
                                  <a:latin typeface="+mn-lt"/>
                                </a:rPr>
                                <m:t>n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b="0" noProof="0" smtClean="0">
                                  <a:latin typeface="+mn-lt"/>
                                </a:rPr>
                                <m:t>k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noProof="0" dirty="0">
                  <a:latin typeface="+mn-lt"/>
                </a:endParaRPr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1074" y="1986514"/>
                <a:ext cx="11269852" cy="4491778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noProof="0" dirty="0">
                    <a:solidFill>
                      <a:srgbClr val="C00000"/>
                    </a:solidFill>
                  </a:rPr>
                  <a:t>Observation </a:t>
                </a:r>
                <a:r>
                  <a:rPr lang="en-US" noProof="0" dirty="0"/>
                  <a:t>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  <m:brk m:alnAt="7"/>
                                </m:rPr>
                                <a:rPr lang="en-US" i="0" noProof="0" smtClean="0"/>
                                <m:t>n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i="0" noProof="0" smtClean="0"/>
                                <m:t>k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nor/>
                      </m:rPr>
                      <a:rPr lang="en-US" b="0" i="0" noProof="0" smtClean="0"/>
                      <m:t> = </m:t>
                    </m:r>
                    <m:f>
                      <m:f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noProof="0" smtClean="0"/>
                          <m:t>n</m:t>
                        </m:r>
                        <m:r>
                          <m:rPr>
                            <m:nor/>
                          </m:rPr>
                          <a:rPr lang="en-US" b="0" i="0" noProof="0" smtClean="0"/>
                          <m:t> !</m:t>
                        </m:r>
                      </m:num>
                      <m:den>
                        <m:d>
                          <m:dPr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b="0" i="0" noProof="0" smtClean="0"/>
                              <m:t>n</m:t>
                            </m:r>
                            <m:r>
                              <m:rPr>
                                <m:nor/>
                              </m:rPr>
                              <a:rPr lang="en-US" b="0" i="0" noProof="0" smtClean="0"/>
                              <m:t> − </m:t>
                            </m:r>
                            <m:r>
                              <m:rPr>
                                <m:nor/>
                              </m:rPr>
                              <a:rPr lang="en-US" b="0" i="0" noProof="0" smtClean="0"/>
                              <m:t>k</m:t>
                            </m:r>
                          </m:e>
                        </m:d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0" i="0" noProof="0" smtClean="0"/>
                          <m:t>! </m:t>
                        </m:r>
                        <m:r>
                          <m:rPr>
                            <m:nor/>
                          </m:rPr>
                          <a:rPr lang="en-US" b="0" i="0" noProof="0" smtClean="0">
                            <a:ea typeface="Cambria Math" panose="02040503050406030204" pitchFamily="18" charset="0"/>
                          </a:rPr>
                          <m:t>∙ </m:t>
                        </m:r>
                        <m:r>
                          <m:rPr>
                            <m:nor/>
                          </m:rPr>
                          <a:rPr lang="en-US" b="0" i="0" noProof="0" smtClean="0">
                            <a:ea typeface="Cambria Math" panose="02040503050406030204" pitchFamily="18" charset="0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b="0" i="0" noProof="0" smtClean="0">
                            <a:ea typeface="Cambria Math" panose="02040503050406030204" pitchFamily="18" charset="0"/>
                          </a:rPr>
                          <m:t> !</m:t>
                        </m:r>
                      </m:den>
                    </m:f>
                  </m:oMath>
                </a14:m>
                <a:endParaRPr lang="en-US" noProof="0" dirty="0"/>
              </a:p>
              <a:p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r>
                  <a:rPr lang="en-US" noProof="0" dirty="0"/>
                  <a:t>Unfolding computation shows 2n - 2 multiplications and 2 divisions </a:t>
                </a:r>
                <a:r>
                  <a:rPr lang="en-US" noProof="0" dirty="0">
                    <a:sym typeface="Wingdings" panose="05000000000000000000" pitchFamily="2" charset="2"/>
                  </a:rPr>
                  <a:t> </a:t>
                </a:r>
                <a:r>
                  <a:rPr lang="en-US" noProof="0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fast</a:t>
                </a:r>
              </a:p>
              <a:p>
                <a:r>
                  <a:rPr lang="en-US" noProof="0" dirty="0">
                    <a:sym typeface="Wingdings" panose="05000000000000000000" pitchFamily="2" charset="2"/>
                  </a:rPr>
                  <a:t>Intermediate value n !  can have significantly more digits than result (</a:t>
                </a:r>
                <a:r>
                  <a:rPr lang="en-US" noProof="0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bad</a:t>
                </a:r>
                <a:r>
                  <a:rPr lang="en-US" noProof="0" dirty="0">
                    <a:sym typeface="Wingdings" panose="05000000000000000000" pitchFamily="2" charset="2"/>
                  </a:rPr>
                  <a:t>)</a:t>
                </a:r>
                <a:endParaRPr lang="en-US" noProof="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1074" y="1986514"/>
                <a:ext cx="11269852" cy="4491778"/>
              </a:xfrm>
              <a:blipFill>
                <a:blip r:embed="rId3"/>
                <a:stretch>
                  <a:fillRect l="-974" r="-703" b="-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055846"/>
              </p:ext>
            </p:extLst>
          </p:nvPr>
        </p:nvGraphicFramePr>
        <p:xfrm>
          <a:off x="1908810" y="3483197"/>
          <a:ext cx="8374380" cy="10974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743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8292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binomial_factorial.py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731681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(n, k):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factorial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(n) //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factorial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(k) //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factorial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 - k)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48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Binomial coefficient</a:t>
                </a:r>
                <a:r>
                  <a:rPr lang="en-US" noProof="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  <m:brk m:alnAt="7"/>
                                </m:rPr>
                                <a:rPr lang="en-US" b="0" noProof="0" smtClean="0">
                                  <a:latin typeface="+mn-lt"/>
                                </a:rPr>
                                <m:t>n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b="0" noProof="0" smtClean="0">
                                  <a:latin typeface="+mn-lt"/>
                                </a:rPr>
                                <m:t>k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noProof="0" dirty="0">
                  <a:latin typeface="+mn-lt"/>
                </a:endParaRPr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70853" y="1986514"/>
                <a:ext cx="11223357" cy="4871486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noProof="0" dirty="0">
                    <a:solidFill>
                      <a:srgbClr val="C00000"/>
                    </a:solidFill>
                  </a:rPr>
                  <a:t>Observation </a:t>
                </a:r>
                <a:r>
                  <a:rPr lang="en-US" noProof="0" dirty="0"/>
                  <a:t>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  <m:brk m:alnAt="7"/>
                                </m:rPr>
                                <a:rPr lang="en-US" i="0" noProof="0" smtClean="0"/>
                                <m:t>n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i="0" noProof="0" smtClean="0"/>
                                <m:t>k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nor/>
                      </m:rPr>
                      <a:rPr lang="en-US" b="0" i="0" noProof="0" smtClean="0"/>
                      <m:t> = </m:t>
                    </m:r>
                    <m:f>
                      <m:f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noProof="0" smtClean="0"/>
                          <m:t>n</m:t>
                        </m:r>
                        <m:r>
                          <m:rPr>
                            <m:nor/>
                          </m:rPr>
                          <a:rPr lang="en-US" b="0" i="0" noProof="0" smtClean="0"/>
                          <m:t> ∙ (</m:t>
                        </m:r>
                        <m:r>
                          <m:rPr>
                            <m:nor/>
                          </m:rPr>
                          <a:rPr lang="en-US" b="0" i="0" noProof="0" smtClean="0">
                            <a:ea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b="0" i="0" noProof="0" smtClean="0">
                            <a:ea typeface="Cambria Math" panose="02040503050406030204" pitchFamily="18" charset="0"/>
                          </a:rPr>
                          <m:t> −1) ∙ (</m:t>
                        </m:r>
                        <m:r>
                          <m:rPr>
                            <m:nor/>
                          </m:rPr>
                          <a:rPr lang="en-US" noProof="0" smtClean="0">
                            <a:ea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noProof="0" smtClean="0">
                            <a:ea typeface="Cambria Math" panose="02040503050406030204" pitchFamily="18" charset="0"/>
                          </a:rPr>
                          <m:t> − 2) ∙∙∙ (</m:t>
                        </m:r>
                        <m:r>
                          <m:rPr>
                            <m:nor/>
                          </m:rPr>
                          <a:rPr lang="en-US" noProof="0" smtClean="0">
                            <a:ea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noProof="0" smtClean="0">
                            <a:ea typeface="Cambria Math" panose="02040503050406030204" pitchFamily="18" charset="0"/>
                          </a:rPr>
                          <m:t> − </m:t>
                        </m:r>
                        <m:r>
                          <m:rPr>
                            <m:nor/>
                          </m:rPr>
                          <a:rPr lang="en-US" b="0" i="0" noProof="0" smtClean="0">
                            <a:ea typeface="Cambria Math" panose="02040503050406030204" pitchFamily="18" charset="0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b="0" i="0" noProof="0" smtClean="0">
                            <a:ea typeface="Cambria Math" panose="02040503050406030204" pitchFamily="18" charset="0"/>
                          </a:rPr>
                          <m:t> + 1)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noProof="0" smtClean="0">
                            <a:ea typeface="Cambria Math" panose="02040503050406030204" pitchFamily="18" charset="0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b="0" i="0" noProof="0" smtClean="0">
                            <a:ea typeface="Cambria Math" panose="02040503050406030204" pitchFamily="18" charset="0"/>
                          </a:rPr>
                          <m:t> ∙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b="0" i="0" noProof="0" smtClean="0">
                                <a:ea typeface="Cambria Math" panose="02040503050406030204" pitchFamily="18" charset="0"/>
                              </a:rPr>
                              <m:t>k</m:t>
                            </m:r>
                            <m:r>
                              <m:rPr>
                                <m:nor/>
                              </m:rPr>
                              <a:rPr lang="en-US" b="0" i="0" noProof="0" smtClean="0">
                                <a:ea typeface="Cambria Math" panose="02040503050406030204" pitchFamily="18" charset="0"/>
                              </a:rPr>
                              <m:t> −1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 b="0" i="0" noProof="0" smtClean="0"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noProof="0" smtClean="0"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b="0" i="0" noProof="0" smtClean="0">
                                <a:ea typeface="Cambria Math" panose="02040503050406030204" pitchFamily="18" charset="0"/>
                              </a:rPr>
                              <m:t>k</m:t>
                            </m:r>
                            <m:r>
                              <m:rPr>
                                <m:nor/>
                              </m:rPr>
                              <a:rPr lang="en-US" b="0" i="0" noProof="0" smtClean="0">
                                <a:ea typeface="Cambria Math" panose="02040503050406030204" pitchFamily="18" charset="0"/>
                              </a:rPr>
                              <m:t> −2</m:t>
                            </m:r>
                          </m:e>
                        </m:d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noProof="0" smtClean="0">
                            <a:ea typeface="Cambria Math" panose="02040503050406030204" pitchFamily="18" charset="0"/>
                          </a:rPr>
                          <m:t>∙∙∙</m:t>
                        </m:r>
                        <m:r>
                          <m:rPr>
                            <m:nor/>
                          </m:rPr>
                          <a:rPr lang="en-US" b="0" i="0" noProof="0" smtClean="0">
                            <a:ea typeface="Cambria Math" panose="02040503050406030204" pitchFamily="18" charset="0"/>
                          </a:rPr>
                          <m:t> 1</m:t>
                        </m:r>
                      </m:den>
                    </m:f>
                  </m:oMath>
                </a14:m>
                <a:r>
                  <a:rPr lang="en-US" noProof="0" dirty="0"/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/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>
                            <a:ea typeface="Cambria Math" panose="02040503050406030204" pitchFamily="18" charset="0"/>
                          </a:rPr>
                          <m:t>k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  <m:brk m:alnAt="7"/>
                                </m:rPr>
                                <a:rPr lang="en-US" noProof="0" smtClean="0"/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US" b="0" i="0" noProof="0" smtClean="0"/>
                                <m:t> − 1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noProof="0" smtClean="0"/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b="0" i="0" noProof="0" smtClean="0"/>
                                <m:t> − 1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noProof="0" dirty="0"/>
              </a:p>
              <a:p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br>
                  <a:rPr lang="en-US" noProof="0" dirty="0"/>
                </a:b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r>
                  <a:rPr lang="en-US" noProof="0" dirty="0"/>
                  <a:t>Unfolding computation shows k multiplications and divisions </a:t>
                </a:r>
                <a:r>
                  <a:rPr lang="en-US" noProof="0" dirty="0">
                    <a:sym typeface="Wingdings" panose="05000000000000000000" pitchFamily="2" charset="2"/>
                  </a:rPr>
                  <a:t> </a:t>
                </a:r>
                <a:r>
                  <a:rPr lang="en-US" noProof="0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fast</a:t>
                </a:r>
              </a:p>
              <a:p>
                <a:r>
                  <a:rPr lang="en-US" noProof="0" dirty="0">
                    <a:sym typeface="Wingdings" panose="05000000000000000000" pitchFamily="2" charset="2"/>
                  </a:rPr>
                  <a:t>Multiplication with fractions ≥ 1  intermediate numbers limited size</a:t>
                </a:r>
                <a:endParaRPr lang="en-US" noProof="0" dirty="0"/>
              </a:p>
              <a:p>
                <a:endParaRPr lang="en-US" noProof="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0853" y="1986514"/>
                <a:ext cx="11223357" cy="4871486"/>
              </a:xfrm>
              <a:blipFill>
                <a:blip r:embed="rId4"/>
                <a:stretch>
                  <a:fillRect l="-978" b="-10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895743"/>
              </p:ext>
            </p:extLst>
          </p:nvPr>
        </p:nvGraphicFramePr>
        <p:xfrm>
          <a:off x="2882753" y="3325227"/>
          <a:ext cx="659955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95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8292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binomial_recursive_product.py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731681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(n, k):</a:t>
                      </a:r>
                    </a:p>
                    <a:p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k == 0:</a:t>
                      </a:r>
                    </a:p>
                    <a:p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return 1</a:t>
                      </a:r>
                    </a:p>
                    <a:p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 - 1, k - 1) * n // 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4709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Questions – Which correctly computes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  <m:brk m:alnAt="7"/>
                                </m:rPr>
                                <a:rPr lang="en-US" b="0" noProof="0" smtClean="0"/>
                                <m:t>n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b="0" noProof="0" smtClean="0"/>
                                <m:t>k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noProof="0" dirty="0"/>
                  <a:t> ? </a:t>
                </a:r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072" y="3484989"/>
            <a:ext cx="3037320" cy="2561024"/>
          </a:xfrm>
        </p:spPr>
        <p:txBody>
          <a:bodyPr/>
          <a:lstStyle/>
          <a:p>
            <a:pPr marL="514350" indent="-514350">
              <a:buFont typeface="+mj-lt"/>
              <a:buAutoNum type="alphaLcParenR"/>
            </a:pPr>
            <a:r>
              <a:rPr lang="en-US" noProof="0" dirty="0"/>
              <a:t> 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binomial_A</a:t>
            </a:r>
            <a:endParaRPr lang="en-US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lphaLcParenR"/>
            </a:pPr>
            <a:r>
              <a:rPr lang="en-US" noProof="0" dirty="0"/>
              <a:t> 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binomial_B</a:t>
            </a:r>
            <a:endParaRPr lang="en-US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lphaLcParenR"/>
            </a:pPr>
            <a:r>
              <a:rPr lang="en-US" noProof="0" dirty="0"/>
              <a:t> both</a:t>
            </a:r>
          </a:p>
          <a:p>
            <a:pPr marL="514350" indent="-514350">
              <a:buFont typeface="+mj-lt"/>
              <a:buAutoNum type="alphaLcParenR"/>
            </a:pPr>
            <a:r>
              <a:rPr lang="en-US" noProof="0" dirty="0"/>
              <a:t> none</a:t>
            </a:r>
          </a:p>
          <a:p>
            <a:pPr marL="514350" indent="-514350">
              <a:buFont typeface="+mj-lt"/>
              <a:buAutoNum type="alphaLcParenR"/>
            </a:pPr>
            <a:r>
              <a:rPr lang="en-US" noProof="0" dirty="0"/>
              <a:t> Don’t know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838200" y="1925466"/>
                <a:ext cx="8214801" cy="86789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57188" indent="-357188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C00000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C00000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Wingdings" panose="05000000000000000000" pitchFamily="2" charset="2"/>
                  <a:buNone/>
                </a:pPr>
                <a:r>
                  <a:rPr lang="en-US" noProof="0" dirty="0">
                    <a:solidFill>
                      <a:srgbClr val="C00000"/>
                    </a:solidFill>
                  </a:rPr>
                  <a:t>Observation </a:t>
                </a:r>
                <a:r>
                  <a:rPr lang="en-US" noProof="0" dirty="0"/>
                  <a:t>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  <m:brk m:alnAt="7"/>
                                </m:rPr>
                                <a:rPr lang="en-US" noProof="0" smtClean="0"/>
                                <m:t>n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noProof="0" smtClean="0"/>
                                <m:t>k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nor/>
                      </m:rPr>
                      <a:rPr lang="en-US" noProof="0" smtClean="0"/>
                      <m:t> = </m:t>
                    </m:r>
                    <m:f>
                      <m:f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noProof="0" smtClean="0"/>
                          <m:t>n</m:t>
                        </m:r>
                        <m:r>
                          <m:rPr>
                            <m:nor/>
                          </m:rPr>
                          <a:rPr lang="en-US" noProof="0" smtClean="0"/>
                          <m:t> ∙ (</m:t>
                        </m:r>
                        <m:r>
                          <m:rPr>
                            <m:nor/>
                          </m:rPr>
                          <a:rPr lang="en-US" noProof="0" smtClean="0">
                            <a:ea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noProof="0" smtClean="0">
                            <a:ea typeface="Cambria Math" panose="02040503050406030204" pitchFamily="18" charset="0"/>
                          </a:rPr>
                          <m:t> −1) ∙ (</m:t>
                        </m:r>
                        <m:r>
                          <m:rPr>
                            <m:nor/>
                          </m:rPr>
                          <a:rPr lang="en-US" noProof="0" smtClean="0">
                            <a:ea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noProof="0" smtClean="0">
                            <a:ea typeface="Cambria Math" panose="02040503050406030204" pitchFamily="18" charset="0"/>
                          </a:rPr>
                          <m:t> − 2) ∙∙∙ (</m:t>
                        </m:r>
                        <m:r>
                          <m:rPr>
                            <m:nor/>
                          </m:rPr>
                          <a:rPr lang="en-US" noProof="0" smtClean="0">
                            <a:ea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noProof="0" smtClean="0">
                            <a:ea typeface="Cambria Math" panose="02040503050406030204" pitchFamily="18" charset="0"/>
                          </a:rPr>
                          <m:t> − </m:t>
                        </m:r>
                        <m:r>
                          <m:rPr>
                            <m:nor/>
                          </m:rPr>
                          <a:rPr lang="en-US" noProof="0" smtClean="0">
                            <a:ea typeface="Cambria Math" panose="02040503050406030204" pitchFamily="18" charset="0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noProof="0" smtClean="0">
                            <a:ea typeface="Cambria Math" panose="02040503050406030204" pitchFamily="18" charset="0"/>
                          </a:rPr>
                          <m:t> + 1)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noProof="0" smtClean="0">
                            <a:ea typeface="Cambria Math" panose="02040503050406030204" pitchFamily="18" charset="0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noProof="0" smtClean="0">
                            <a:ea typeface="Cambria Math" panose="02040503050406030204" pitchFamily="18" charset="0"/>
                          </a:rPr>
                          <m:t> ∙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noProof="0" smtClean="0">
                                <a:ea typeface="Cambria Math" panose="02040503050406030204" pitchFamily="18" charset="0"/>
                              </a:rPr>
                              <m:t>k</m:t>
                            </m:r>
                            <m:r>
                              <m:rPr>
                                <m:nor/>
                              </m:rPr>
                              <a:rPr lang="en-US" noProof="0" smtClean="0">
                                <a:ea typeface="Cambria Math" panose="02040503050406030204" pitchFamily="18" charset="0"/>
                              </a:rPr>
                              <m:t> −1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 noProof="0" smtClean="0">
                            <a:ea typeface="Cambria Math" panose="02040503050406030204" pitchFamily="18" charset="0"/>
                          </a:rPr>
                          <m:t> ∙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noProof="0" smtClean="0">
                                <a:ea typeface="Cambria Math" panose="02040503050406030204" pitchFamily="18" charset="0"/>
                              </a:rPr>
                              <m:t>k</m:t>
                            </m:r>
                            <m:r>
                              <m:rPr>
                                <m:nor/>
                              </m:rPr>
                              <a:rPr lang="en-US" noProof="0" smtClean="0">
                                <a:ea typeface="Cambria Math" panose="02040503050406030204" pitchFamily="18" charset="0"/>
                              </a:rPr>
                              <m:t> −2</m:t>
                            </m:r>
                          </m:e>
                        </m:d>
                        <m:r>
                          <a:rPr lang="en-US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noProof="0" smtClean="0">
                            <a:ea typeface="Cambria Math" panose="02040503050406030204" pitchFamily="18" charset="0"/>
                          </a:rPr>
                          <m:t>∙∙∙ 1</m:t>
                        </m:r>
                      </m:den>
                    </m:f>
                  </m:oMath>
                </a14:m>
                <a:endParaRPr lang="en-US" noProof="0" dirty="0"/>
              </a:p>
            </p:txBody>
          </p:sp>
        </mc:Choice>
        <mc:Fallback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25466"/>
                <a:ext cx="8214801" cy="867897"/>
              </a:xfrm>
              <a:prstGeom prst="rect">
                <a:avLst/>
              </a:prstGeom>
              <a:blipFill>
                <a:blip r:embed="rId4"/>
                <a:stretch>
                  <a:fillRect l="-1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055862"/>
              </p:ext>
            </p:extLst>
          </p:nvPr>
        </p:nvGraphicFramePr>
        <p:xfrm>
          <a:off x="5664213" y="3126995"/>
          <a:ext cx="624770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7702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8292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binomial_iterative.py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731681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binomial_A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(n, k):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result = 1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i in range(k):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result = result * (n - i) // (k - i)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result</a:t>
                      </a:r>
                    </a:p>
                    <a:p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binomial_B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(n, k):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result = 1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i in range(k)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[::-1]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result = result * (n - i) // (k - i)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result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6" name="Smiley Face 5" descr="QuizAnswer"/>
          <p:cNvSpPr/>
          <p:nvPr/>
        </p:nvSpPr>
        <p:spPr>
          <a:xfrm>
            <a:off x="838200" y="4028687"/>
            <a:ext cx="374567" cy="363338"/>
          </a:xfrm>
          <a:prstGeom prst="smileyFace">
            <a:avLst>
              <a:gd name="adj" fmla="val 4653"/>
            </a:avLst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aphicFrame>
        <p:nvGraphicFramePr>
          <p:cNvPr id="9" name="Table 8" descr="QuizAnswer">
            <a:extLst>
              <a:ext uri="{FF2B5EF4-FFF2-40B4-BE49-F238E27FC236}">
                <a16:creationId xmlns:a16="http://schemas.microsoft.com/office/drawing/2014/main" id="{4A9AFBE2-ED33-413C-B3AB-4F117126A0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032777"/>
              </p:ext>
            </p:extLst>
          </p:nvPr>
        </p:nvGraphicFramePr>
        <p:xfrm>
          <a:off x="9134249" y="2427131"/>
          <a:ext cx="290703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70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42121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901210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binomial_A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(5, 2) 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binomial_B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(5, 2) 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8860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Recursively print all leaves of a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181522" cy="692288"/>
          </a:xfrm>
        </p:spPr>
        <p:txBody>
          <a:bodyPr/>
          <a:lstStyle/>
          <a:p>
            <a:r>
              <a:rPr lang="en-US" noProof="0" dirty="0"/>
              <a:t>Assume a recursively nested tuple represents a tree with strings as leaves</a:t>
            </a:r>
            <a:endParaRPr lang="en-US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428875"/>
              </p:ext>
            </p:extLst>
          </p:nvPr>
        </p:nvGraphicFramePr>
        <p:xfrm>
          <a:off x="3750233" y="2772138"/>
          <a:ext cx="5357455" cy="3697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74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20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20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print_leaves</a:t>
                      </a: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(tree):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if </a:t>
                      </a:r>
                      <a:r>
                        <a:rPr lang="en-US" sz="20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isinstance</a:t>
                      </a: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(tree, str):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print('Leaf:', tree)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else: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for child in tree:</a:t>
                      </a:r>
                    </a:p>
                    <a:p>
                      <a:pPr marL="0" indent="0">
                        <a:spcAft>
                          <a:spcPts val="12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</a:t>
                      </a:r>
                      <a:r>
                        <a:rPr lang="en-US" sz="20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print_leaves</a:t>
                      </a: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(child)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20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print_leaves</a:t>
                      </a: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(('a',('</a:t>
                      </a:r>
                      <a:r>
                        <a:rPr lang="en-US" sz="20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b','c</a:t>
                      </a: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')))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Leaf: a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Leaf: b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Leaf: c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C500E2C-2DBB-4718-912E-C47C1F4AD9E1}"/>
              </a:ext>
            </a:extLst>
          </p:cNvPr>
          <p:cNvSpPr txBox="1"/>
          <p:nvPr/>
        </p:nvSpPr>
        <p:spPr>
          <a:xfrm>
            <a:off x="9753600" y="4620783"/>
            <a:ext cx="1905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/\</a:t>
            </a:r>
          </a:p>
          <a:p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/  \</a:t>
            </a:r>
          </a:p>
          <a:p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'a'  /\</a:t>
            </a:r>
          </a:p>
          <a:p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 /  \</a:t>
            </a:r>
          </a:p>
          <a:p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'b'  'c'</a:t>
            </a:r>
          </a:p>
        </p:txBody>
      </p:sp>
    </p:spTree>
    <p:extLst>
      <p:ext uri="{BB962C8B-B14F-4D97-AF65-F5344CB8AC3E}">
        <p14:creationId xmlns:p14="http://schemas.microsoft.com/office/powerpoint/2010/main" val="2518119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247783" cy="1325563"/>
          </a:xfrm>
        </p:spPr>
        <p:txBody>
          <a:bodyPr/>
          <a:lstStyle/>
          <a:p>
            <a:r>
              <a:rPr lang="en-US" noProof="0" dirty="0"/>
              <a:t>Question – How many times is 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print_leaves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noProof="0" dirty="0"/>
              <a:t>function called in the example?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8700" y="2636818"/>
            <a:ext cx="2705100" cy="2690192"/>
          </a:xfrm>
        </p:spPr>
        <p:txBody>
          <a:bodyPr/>
          <a:lstStyle/>
          <a:p>
            <a:pPr marL="514350" indent="-514350">
              <a:buFont typeface="+mj-lt"/>
              <a:buAutoNum type="alphaLcParenR"/>
            </a:pPr>
            <a:r>
              <a:rPr lang="en-US" noProof="0" dirty="0"/>
              <a:t>3</a:t>
            </a:r>
          </a:p>
          <a:p>
            <a:pPr marL="514350" indent="-514350">
              <a:buFont typeface="+mj-lt"/>
              <a:buAutoNum type="alphaLcParenR"/>
            </a:pPr>
            <a:r>
              <a:rPr lang="en-US" noProof="0" dirty="0"/>
              <a:t>4</a:t>
            </a:r>
          </a:p>
          <a:p>
            <a:pPr marL="514350" indent="-514350">
              <a:buFont typeface="+mj-lt"/>
              <a:buAutoNum type="alphaLcParenR"/>
            </a:pPr>
            <a:r>
              <a:rPr lang="en-US" noProof="0" dirty="0"/>
              <a:t>5</a:t>
            </a:r>
          </a:p>
          <a:p>
            <a:pPr marL="514350" indent="-514350">
              <a:buFont typeface="+mj-lt"/>
              <a:buAutoNum type="alphaLcParenR"/>
            </a:pPr>
            <a:r>
              <a:rPr lang="en-US" noProof="0" dirty="0"/>
              <a:t>6</a:t>
            </a:r>
          </a:p>
          <a:p>
            <a:pPr marL="514350" indent="-514350">
              <a:buFont typeface="+mj-lt"/>
              <a:buAutoNum type="alphaLcParenR"/>
            </a:pPr>
            <a:r>
              <a:rPr lang="en-US" noProof="0" dirty="0"/>
              <a:t>Don’t know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829004"/>
              </p:ext>
            </p:extLst>
          </p:nvPr>
        </p:nvGraphicFramePr>
        <p:xfrm>
          <a:off x="1848151" y="2285669"/>
          <a:ext cx="5453797" cy="3697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797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20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20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print_leaves</a:t>
                      </a: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(tree):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if </a:t>
                      </a:r>
                      <a:r>
                        <a:rPr lang="en-US" sz="20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isinstance</a:t>
                      </a: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(tree, str):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print('Leaf:', tree)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else: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for child in tree:</a:t>
                      </a:r>
                    </a:p>
                    <a:p>
                      <a:pPr marL="0" indent="0">
                        <a:spcAft>
                          <a:spcPts val="12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</a:t>
                      </a:r>
                      <a:r>
                        <a:rPr lang="en-US" sz="20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print_leaves</a:t>
                      </a: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(child)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20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print_leaves</a:t>
                      </a: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(('a',('</a:t>
                      </a:r>
                      <a:r>
                        <a:rPr lang="en-US" sz="20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b','c</a:t>
                      </a: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')))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Leaf: a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Leaf: b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Leaf: c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Smiley Face 4" descr="QuizAnswer"/>
          <p:cNvSpPr/>
          <p:nvPr/>
        </p:nvSpPr>
        <p:spPr>
          <a:xfrm>
            <a:off x="8118420" y="3677847"/>
            <a:ext cx="374567" cy="363338"/>
          </a:xfrm>
          <a:prstGeom prst="smileyFace">
            <a:avLst>
              <a:gd name="adj" fmla="val 4653"/>
            </a:avLst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B12BBD-3B40-4DDA-BECE-F7ECC213EEB2}"/>
              </a:ext>
            </a:extLst>
          </p:cNvPr>
          <p:cNvSpPr txBox="1"/>
          <p:nvPr/>
        </p:nvSpPr>
        <p:spPr>
          <a:xfrm>
            <a:off x="0" y="4134314"/>
            <a:ext cx="1905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/\</a:t>
            </a:r>
          </a:p>
          <a:p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/  \</a:t>
            </a:r>
          </a:p>
          <a:p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'a'  /\</a:t>
            </a:r>
          </a:p>
          <a:p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 /  \</a:t>
            </a:r>
          </a:p>
          <a:p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'b'  'c'</a:t>
            </a:r>
          </a:p>
        </p:txBody>
      </p:sp>
    </p:spTree>
    <p:extLst>
      <p:ext uri="{BB962C8B-B14F-4D97-AF65-F5344CB8AC3E}">
        <p14:creationId xmlns:p14="http://schemas.microsoft.com/office/powerpoint/2010/main" val="104549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088455"/>
              </p:ext>
            </p:extLst>
          </p:nvPr>
        </p:nvGraphicFramePr>
        <p:xfrm>
          <a:off x="382522" y="1166192"/>
          <a:ext cx="11411585" cy="4642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69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  <a:gridCol w="5094605">
                  <a:extLst>
                    <a:ext uri="{9D8B030D-6E8A-4147-A177-3AD203B41FA5}">
                      <a16:colId xmlns:a16="http://schemas.microsoft.com/office/drawing/2014/main" val="1896351341"/>
                    </a:ext>
                  </a:extLst>
                </a:gridCol>
              </a:tblGrid>
              <a:tr h="405450">
                <a:tc gridSpan="2"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a-DK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6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collect_leaves_wrong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(tree, </a:t>
                      </a: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leaves = set()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if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isinstance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(tree, str):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leaves.add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(tree)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else: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for child in tree: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</a:t>
                      </a:r>
                      <a:r>
                        <a:rPr lang="en-US" sz="16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collect_leaves_wrong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(child, leaves)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return leaves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endParaRPr lang="en-US" sz="16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6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collect_leaves_right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(tree, </a:t>
                      </a: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leaves = None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if leaves == None: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leaves = set()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if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isinstance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(tree, str):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leaves.add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(tree)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else: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for child in tree: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</a:t>
                      </a:r>
                      <a:r>
                        <a:rPr lang="en-US" sz="16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collect_leaves_right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(child, </a:t>
                      </a: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leaves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return leaves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collect_leaves_wrong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(('a',('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b','c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')))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{'a', 'c', 'b'}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collect_leaves_wrong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(('d',('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e','f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')))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{'b', 'e', 'a', 'f', 'c', 'd'}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endParaRPr lang="en-US" sz="16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endParaRPr lang="en-US" sz="16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endParaRPr lang="en-US" sz="16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endParaRPr lang="en-US" sz="16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collect_leaves_right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(('a',('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b','c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')))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{'b', 'a', 'c'}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collect_leaves_right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(('d',('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e','f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')))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{'f', 'd', 'e'}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endParaRPr lang="en-US" sz="16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262" y="1850231"/>
            <a:ext cx="487666" cy="4059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026C9D-6B45-6516-8E8B-02FDF21818E9}"/>
              </a:ext>
            </a:extLst>
          </p:cNvPr>
          <p:cNvSpPr txBox="1"/>
          <p:nvPr/>
        </p:nvSpPr>
        <p:spPr>
          <a:xfrm>
            <a:off x="4435510" y="2188399"/>
            <a:ext cx="2248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solidFill>
                  <a:schemeClr val="bg1">
                    <a:lumMod val="50000"/>
                  </a:schemeClr>
                </a:solidFill>
              </a:rPr>
              <a:t>Shared among calls</a:t>
            </a:r>
          </a:p>
        </p:txBody>
      </p:sp>
    </p:spTree>
    <p:extLst>
      <p:ext uri="{BB962C8B-B14F-4D97-AF65-F5344CB8AC3E}">
        <p14:creationId xmlns:p14="http://schemas.microsoft.com/office/powerpoint/2010/main" val="430264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190506"/>
              </p:ext>
            </p:extLst>
          </p:nvPr>
        </p:nvGraphicFramePr>
        <p:xfrm>
          <a:off x="2767913" y="530087"/>
          <a:ext cx="6959183" cy="5830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918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20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20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collect_leaves</a:t>
                      </a: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(tree):</a:t>
                      </a:r>
                    </a:p>
                    <a:p>
                      <a:pPr marL="0" indent="0">
                        <a:spcAft>
                          <a:spcPts val="12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leaves = set()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def </a:t>
                      </a:r>
                      <a:r>
                        <a:rPr lang="en-US" sz="20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traverse</a:t>
                      </a: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(tree):</a:t>
                      </a:r>
                      <a:b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nonlocal leaves  </a:t>
                      </a:r>
                      <a:r>
                        <a:rPr lang="en-US" sz="20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</a:t>
                      </a:r>
                      <a:r>
                        <a:rPr lang="en-US" sz="2000" b="1" i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can be omitted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if </a:t>
                      </a:r>
                      <a:r>
                        <a:rPr lang="en-US" sz="20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isinstance</a:t>
                      </a: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(tree, str):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</a:t>
                      </a:r>
                      <a:r>
                        <a:rPr lang="en-US" sz="20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leaves.add</a:t>
                      </a: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(tree)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else: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for child in tree:</a:t>
                      </a:r>
                    </a:p>
                    <a:p>
                      <a:pPr marL="0" indent="0">
                        <a:spcAft>
                          <a:spcPts val="12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</a:t>
                      </a:r>
                      <a:r>
                        <a:rPr lang="en-US" sz="20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traverse</a:t>
                      </a: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(child)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</a:t>
                      </a:r>
                      <a:r>
                        <a:rPr lang="en-US" sz="20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traverse</a:t>
                      </a: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(tree)</a:t>
                      </a:r>
                    </a:p>
                    <a:p>
                      <a:pPr marL="0" indent="0">
                        <a:spcAft>
                          <a:spcPts val="12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20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return leaves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20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collect_leaves</a:t>
                      </a:r>
                      <a:r>
                        <a:rPr lang="en-US" sz="20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(('a', ('b', 'c')))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20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{'b', 'a', 'c'}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20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collect_leaves</a:t>
                      </a:r>
                      <a:r>
                        <a:rPr lang="en-US" sz="20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(('d', ('e', 'f')))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20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{'f', 'd', 'e'}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endParaRPr lang="en-US" sz="20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6829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Maximum recursion depth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003942" cy="435133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endParaRPr lang="en-US" noProof="0" dirty="0"/>
          </a:p>
          <a:p>
            <a:pPr>
              <a:spcBef>
                <a:spcPts val="0"/>
              </a:spcBef>
            </a:pPr>
            <a:endParaRPr lang="en-US" noProof="0" dirty="0"/>
          </a:p>
          <a:p>
            <a:pPr>
              <a:spcBef>
                <a:spcPts val="0"/>
              </a:spcBef>
            </a:pPr>
            <a:r>
              <a:rPr lang="en-US" noProof="0" dirty="0"/>
              <a:t>Pythons maximum allowed recursion depth can be increased by </a:t>
            </a:r>
          </a:p>
          <a:p>
            <a:pPr>
              <a:spcBef>
                <a:spcPts val="0"/>
              </a:spcBef>
            </a:pPr>
            <a:endParaRPr lang="en-US" noProof="0" dirty="0"/>
          </a:p>
          <a:p>
            <a:pPr marL="0" indent="0">
              <a:spcBef>
                <a:spcPts val="0"/>
              </a:spcBef>
              <a:buNone/>
            </a:pP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import sys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sys.setrecursionlimit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(1500)</a:t>
            </a:r>
          </a:p>
          <a:p>
            <a:pPr>
              <a:spcBef>
                <a:spcPts val="0"/>
              </a:spcBef>
            </a:pPr>
            <a:endParaRPr lang="en-US" noProof="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052787"/>
              </p:ext>
            </p:extLst>
          </p:nvPr>
        </p:nvGraphicFramePr>
        <p:xfrm>
          <a:off x="8018050" y="1412873"/>
          <a:ext cx="3776162" cy="4764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6162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f(x): 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print("#", x)</a:t>
                      </a:r>
                    </a:p>
                    <a:p>
                      <a:pPr marL="0" indent="0">
                        <a:spcAft>
                          <a:spcPts val="12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f(x + 1)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f(1)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2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3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975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976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977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978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RecursionError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maximum recursion depth exceeded while pickling an object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75846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0391" y="168792"/>
            <a:ext cx="9991928" cy="1325563"/>
          </a:xfrm>
        </p:spPr>
        <p:txBody>
          <a:bodyPr/>
          <a:lstStyle/>
          <a:p>
            <a:r>
              <a:rPr lang="en-US" noProof="0" dirty="0"/>
              <a:t>Koch Curves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225245"/>
              </p:ext>
            </p:extLst>
          </p:nvPr>
        </p:nvGraphicFramePr>
        <p:xfrm>
          <a:off x="5383865" y="797011"/>
          <a:ext cx="6402436" cy="531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2436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83566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koch_curve.py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37061">
                <a:tc>
                  <a:txBody>
                    <a:bodyPr/>
                    <a:lstStyle/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</a:t>
                      </a:r>
                      <a:endParaRPr lang="en-US" sz="14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math import sqrt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4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koch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(p, q, depth=3):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depth == 0: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1" baseline="0" noProof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return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[p, q]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endParaRPr lang="en-US" sz="14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(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px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), (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qx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qy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= p, q 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dx,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dy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qx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-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px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qy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-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</a:t>
                      </a:r>
                      <a:endParaRPr lang="en-US" sz="14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h = 1 / sqrt(12)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p1 =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px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dx / 3,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dy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/ 3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p2 =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px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dx / 2 - h *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dy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dy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/ 2 + h * dx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p3 =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px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dx * 2 / 3,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dy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* 2 / 3    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</a:t>
                      </a:r>
                      <a:r>
                        <a:rPr lang="en-US" sz="14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koch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(p,  p1, depth - 1)[:-1]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+ </a:t>
                      </a:r>
                      <a:r>
                        <a:rPr lang="en-US" sz="14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koch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(p1, p2, depth - 1)[:-1]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+ </a:t>
                      </a:r>
                      <a:r>
                        <a:rPr lang="en-US" sz="14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koch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(p2, p3, depth - 1)[:-1]</a:t>
                      </a:r>
                    </a:p>
                    <a:p>
                      <a:pPr marL="0" indent="0"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+ </a:t>
                      </a:r>
                      <a:r>
                        <a:rPr lang="en-US" sz="14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koch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(p3, q,  depth - 1))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points = </a:t>
                      </a:r>
                      <a:r>
                        <a:rPr lang="en-US" sz="14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koch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((0, 0), (1, 0), depth=3)</a:t>
                      </a:r>
                    </a:p>
                    <a:p>
                      <a:pPr marL="0" indent="0"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X, Y = zip(*points)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plt.subplot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(aspect='equal')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Y, 'r-')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Y, 'k.')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8" name="Freeform 7"/>
          <p:cNvSpPr/>
          <p:nvPr/>
        </p:nvSpPr>
        <p:spPr>
          <a:xfrm flipV="1">
            <a:off x="9443145" y="4430212"/>
            <a:ext cx="371613" cy="475698"/>
          </a:xfrm>
          <a:custGeom>
            <a:avLst/>
            <a:gdLst>
              <a:gd name="connsiteX0" fmla="*/ 3578087 w 3578087"/>
              <a:gd name="connsiteY0" fmla="*/ 0 h 1431235"/>
              <a:gd name="connsiteX1" fmla="*/ 914400 w 3578087"/>
              <a:gd name="connsiteY1" fmla="*/ 768626 h 1431235"/>
              <a:gd name="connsiteX2" fmla="*/ 0 w 3578087"/>
              <a:gd name="connsiteY2" fmla="*/ 1431235 h 1431235"/>
              <a:gd name="connsiteX0" fmla="*/ 3472070 w 3472070"/>
              <a:gd name="connsiteY0" fmla="*/ 0 h 1020418"/>
              <a:gd name="connsiteX1" fmla="*/ 914400 w 3472070"/>
              <a:gd name="connsiteY1" fmla="*/ 357809 h 1020418"/>
              <a:gd name="connsiteX2" fmla="*/ 0 w 3472070"/>
              <a:gd name="connsiteY2" fmla="*/ 1020418 h 1020418"/>
              <a:gd name="connsiteX0" fmla="*/ 3472070 w 3472070"/>
              <a:gd name="connsiteY0" fmla="*/ 0 h 1020418"/>
              <a:gd name="connsiteX1" fmla="*/ 914400 w 3472070"/>
              <a:gd name="connsiteY1" fmla="*/ 357809 h 1020418"/>
              <a:gd name="connsiteX2" fmla="*/ 0 w 3472070"/>
              <a:gd name="connsiteY2" fmla="*/ 1020418 h 102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2070" h="1020418">
                <a:moveTo>
                  <a:pt x="3472070" y="0"/>
                </a:moveTo>
                <a:cubicBezTo>
                  <a:pt x="2160104" y="0"/>
                  <a:pt x="1493078" y="187739"/>
                  <a:pt x="914400" y="357809"/>
                </a:cubicBezTo>
                <a:cubicBezTo>
                  <a:pt x="335722" y="527879"/>
                  <a:pt x="159026" y="808383"/>
                  <a:pt x="0" y="1020418"/>
                </a:cubicBezTo>
              </a:path>
            </a:pathLst>
          </a:custGeom>
          <a:noFill/>
          <a:ln>
            <a:solidFill>
              <a:srgbClr val="C0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9581326" y="4666420"/>
            <a:ext cx="22484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solidFill>
                  <a:srgbClr val="C00000"/>
                </a:solidFill>
              </a:rPr>
              <a:t>remove last point (equal to first point in next recursive call)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B86994-CC7E-5907-4B27-9169C9B15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42" y="1543550"/>
            <a:ext cx="3509736" cy="1635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36BDD6-D026-9035-B946-C90C5DE71E6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140" b="2321"/>
          <a:stretch/>
        </p:blipFill>
        <p:spPr>
          <a:xfrm>
            <a:off x="782814" y="2021805"/>
            <a:ext cx="3529184" cy="10241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F5380C-AE1D-547E-2C81-E4F3617302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99" y="3232256"/>
            <a:ext cx="3442813" cy="104102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0563BCC-3D90-389B-09FB-4553A3ED7F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99" y="4495135"/>
            <a:ext cx="3569223" cy="10335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43B16EC-1057-D885-A77A-BCD9CCE0CDC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486"/>
          <a:stretch/>
        </p:blipFill>
        <p:spPr>
          <a:xfrm>
            <a:off x="901379" y="5713242"/>
            <a:ext cx="3494864" cy="103288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D1D5184-0C00-6938-B81E-0C5FFAD29939}"/>
              </a:ext>
            </a:extLst>
          </p:cNvPr>
          <p:cNvSpPr txBox="1"/>
          <p:nvPr/>
        </p:nvSpPr>
        <p:spPr>
          <a:xfrm>
            <a:off x="3351780" y="1269885"/>
            <a:ext cx="1192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depth =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68F901-48B5-CB67-7347-E429F43F22EA}"/>
              </a:ext>
            </a:extLst>
          </p:cNvPr>
          <p:cNvSpPr txBox="1"/>
          <p:nvPr/>
        </p:nvSpPr>
        <p:spPr>
          <a:xfrm>
            <a:off x="3351780" y="1976355"/>
            <a:ext cx="1192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depth =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38C3B9-AADE-D63B-697D-4E45B535B8FC}"/>
              </a:ext>
            </a:extLst>
          </p:cNvPr>
          <p:cNvSpPr txBox="1"/>
          <p:nvPr/>
        </p:nvSpPr>
        <p:spPr>
          <a:xfrm>
            <a:off x="3351780" y="3341619"/>
            <a:ext cx="1192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depth =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E58AD1-43A6-1F54-1977-A32C9793999A}"/>
              </a:ext>
            </a:extLst>
          </p:cNvPr>
          <p:cNvSpPr txBox="1"/>
          <p:nvPr/>
        </p:nvSpPr>
        <p:spPr>
          <a:xfrm>
            <a:off x="3351780" y="4516106"/>
            <a:ext cx="1192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depth =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E19717-7A93-FF85-6223-8CB3086F933F}"/>
              </a:ext>
            </a:extLst>
          </p:cNvPr>
          <p:cNvSpPr txBox="1"/>
          <p:nvPr/>
        </p:nvSpPr>
        <p:spPr>
          <a:xfrm>
            <a:off x="3351780" y="5733634"/>
            <a:ext cx="1192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depth = 4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6CEAD96-9D62-1624-E0E3-E0380D0AB46F}"/>
              </a:ext>
            </a:extLst>
          </p:cNvPr>
          <p:cNvGrpSpPr/>
          <p:nvPr/>
        </p:nvGrpSpPr>
        <p:grpSpPr>
          <a:xfrm>
            <a:off x="776494" y="1717707"/>
            <a:ext cx="3587401" cy="1485949"/>
            <a:chOff x="5289228" y="169201"/>
            <a:chExt cx="4595285" cy="214135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AD0D07C-EFD3-4852-DB40-7BE03ECD38AA}"/>
                </a:ext>
              </a:extLst>
            </p:cNvPr>
            <p:cNvSpPr txBox="1"/>
            <p:nvPr/>
          </p:nvSpPr>
          <p:spPr>
            <a:xfrm>
              <a:off x="5289228" y="1916587"/>
              <a:ext cx="2989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noProof="0" dirty="0"/>
                <a:t>p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4116969-B436-AC74-8FA4-DEB548E716E4}"/>
                </a:ext>
              </a:extLst>
            </p:cNvPr>
            <p:cNvSpPr txBox="1"/>
            <p:nvPr/>
          </p:nvSpPr>
          <p:spPr>
            <a:xfrm>
              <a:off x="9585575" y="1941220"/>
              <a:ext cx="2989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noProof="0" dirty="0"/>
                <a:t>q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8CE2A34-7D74-EF7F-CB7E-3BE9AED10AD2}"/>
                </a:ext>
              </a:extLst>
            </p:cNvPr>
            <p:cNvSpPr txBox="1"/>
            <p:nvPr/>
          </p:nvSpPr>
          <p:spPr>
            <a:xfrm>
              <a:off x="6700602" y="1924293"/>
              <a:ext cx="514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noProof="0" dirty="0"/>
                <a:t>p</a:t>
              </a:r>
              <a:r>
                <a:rPr lang="en-US" baseline="-25000" noProof="0" dirty="0"/>
                <a:t>1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B9E923D-62F8-9064-2199-01A8343F301E}"/>
                </a:ext>
              </a:extLst>
            </p:cNvPr>
            <p:cNvSpPr txBox="1"/>
            <p:nvPr/>
          </p:nvSpPr>
          <p:spPr>
            <a:xfrm>
              <a:off x="7395313" y="169201"/>
              <a:ext cx="514351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noProof="0" dirty="0"/>
                <a:t>p</a:t>
              </a:r>
              <a:r>
                <a:rPr lang="en-US" baseline="-25000" noProof="0" dirty="0"/>
                <a:t>2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268ECAA-87AB-E4D8-2C85-DBFB88D70D62}"/>
                </a:ext>
              </a:extLst>
            </p:cNvPr>
            <p:cNvSpPr txBox="1"/>
            <p:nvPr/>
          </p:nvSpPr>
          <p:spPr>
            <a:xfrm>
              <a:off x="8153400" y="1916587"/>
              <a:ext cx="514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noProof="0" dirty="0"/>
                <a:t>p</a:t>
              </a:r>
              <a:r>
                <a:rPr lang="en-US" baseline="-25000" noProof="0" dirty="0"/>
                <a:t>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3E1D210-3CF0-C9C7-FE43-5FAC6652BC07}"/>
              </a:ext>
            </a:extLst>
          </p:cNvPr>
          <p:cNvGrpSpPr/>
          <p:nvPr/>
        </p:nvGrpSpPr>
        <p:grpSpPr>
          <a:xfrm>
            <a:off x="1704115" y="4172933"/>
            <a:ext cx="1079079" cy="1486972"/>
            <a:chOff x="6468032" y="170548"/>
            <a:chExt cx="1382248" cy="2142823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3B9E54F-0284-4A96-5123-870496AC4656}"/>
                </a:ext>
              </a:extLst>
            </p:cNvPr>
            <p:cNvSpPr txBox="1"/>
            <p:nvPr/>
          </p:nvSpPr>
          <p:spPr>
            <a:xfrm>
              <a:off x="6741153" y="1944039"/>
              <a:ext cx="2989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noProof="0" dirty="0"/>
                <a:t>p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6331490-728F-276F-BEE2-30DA2A391F6C}"/>
                </a:ext>
              </a:extLst>
            </p:cNvPr>
            <p:cNvSpPr txBox="1"/>
            <p:nvPr/>
          </p:nvSpPr>
          <p:spPr>
            <a:xfrm>
              <a:off x="7425983" y="170548"/>
              <a:ext cx="2989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noProof="0" dirty="0"/>
                <a:t>q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1C6D4D5-F851-A56D-5187-6647B0513855}"/>
                </a:ext>
              </a:extLst>
            </p:cNvPr>
            <p:cNvSpPr txBox="1"/>
            <p:nvPr/>
          </p:nvSpPr>
          <p:spPr>
            <a:xfrm>
              <a:off x="7103237" y="1334069"/>
              <a:ext cx="5143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noProof="0" dirty="0"/>
                <a:t>p</a:t>
              </a:r>
              <a:r>
                <a:rPr lang="en-US" baseline="-25000" noProof="0" dirty="0"/>
                <a:t>1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2056A9F-68AB-33EA-F2F0-3A19A9A37752}"/>
                </a:ext>
              </a:extLst>
            </p:cNvPr>
            <p:cNvSpPr txBox="1"/>
            <p:nvPr/>
          </p:nvSpPr>
          <p:spPr>
            <a:xfrm>
              <a:off x="6468032" y="745703"/>
              <a:ext cx="514351" cy="369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noProof="0" dirty="0"/>
                <a:t>p</a:t>
              </a:r>
              <a:r>
                <a:rPr lang="en-US" baseline="-25000" noProof="0" dirty="0"/>
                <a:t>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B544454-7884-9807-F7B5-887C11C398F2}"/>
                </a:ext>
              </a:extLst>
            </p:cNvPr>
            <p:cNvSpPr txBox="1"/>
            <p:nvPr/>
          </p:nvSpPr>
          <p:spPr>
            <a:xfrm>
              <a:off x="7335929" y="914580"/>
              <a:ext cx="5143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noProof="0" dirty="0"/>
                <a:t>p</a:t>
              </a:r>
              <a:r>
                <a:rPr lang="en-US" baseline="-25000" noProof="0" dirty="0"/>
                <a:t>3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CD3190C1-BF03-65B4-0588-CD8D1B8827ED}"/>
              </a:ext>
            </a:extLst>
          </p:cNvPr>
          <p:cNvSpPr txBox="1"/>
          <p:nvPr/>
        </p:nvSpPr>
        <p:spPr>
          <a:xfrm>
            <a:off x="7296150" y="6438078"/>
            <a:ext cx="4762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noProof="0" dirty="0">
                <a:hlinkClick r:id="rId8"/>
              </a:rPr>
              <a:t>en.wikipedia.org/wiki/</a:t>
            </a:r>
            <a:r>
              <a:rPr lang="en-US" noProof="0" dirty="0" err="1">
                <a:hlinkClick r:id="rId8"/>
              </a:rPr>
              <a:t>Koch_snowflake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20840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120A0AC3-F8A0-3764-F5E9-C62D222FC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409" y="1372570"/>
            <a:ext cx="4734072" cy="50920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0391" y="175098"/>
            <a:ext cx="9991928" cy="1325563"/>
          </a:xfrm>
        </p:spPr>
        <p:txBody>
          <a:bodyPr/>
          <a:lstStyle/>
          <a:p>
            <a:r>
              <a:rPr lang="en-US" noProof="0" dirty="0"/>
              <a:t>Z-curves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630809"/>
              </p:ext>
            </p:extLst>
          </p:nvPr>
        </p:nvGraphicFramePr>
        <p:xfrm>
          <a:off x="6153376" y="175098"/>
          <a:ext cx="5820093" cy="615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009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83566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z_curve.py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547375">
                <a:tc>
                  <a:txBody>
                    <a:bodyPr/>
                    <a:lstStyle/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</a:t>
                      </a:r>
                      <a:endParaRPr lang="en-US" sz="14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endParaRPr lang="en-US" sz="14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z_curve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(depth, x0=0, y0=0, x1=1, y1=1):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x, y = (x0 + x1) / 2, (y0 + y1) / 2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depth == 0: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1" baseline="0" noProof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return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[(x, y)]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baseline="0" noProof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return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*</a:t>
                      </a:r>
                      <a:r>
                        <a:rPr lang="en-US" sz="14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z_curve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(depth - 1, x0, y0, x, y),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*</a:t>
                      </a:r>
                      <a:r>
                        <a:rPr lang="en-US" sz="14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z_curve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(depth - 1, x, y0, x1, y),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*</a:t>
                      </a:r>
                      <a:r>
                        <a:rPr lang="en-US" sz="14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z_curve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(depth - 1, x0, y, x, y1),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*</a:t>
                      </a:r>
                      <a:r>
                        <a:rPr lang="en-US" sz="14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z_curve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(depth - 1, x, y, x1, y1)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]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endParaRPr lang="en-US" sz="14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depth in range(4):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X, Y = zip(*</a:t>
                      </a:r>
                      <a:r>
                        <a:rPr lang="en-US" sz="14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z_curve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(depth))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plt.subplot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 2, 1 + depth, aspect='equal')    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plt.title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f'depth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{depth}')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plt.axis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('off')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plt.axis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([0, 1, 0, 1])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[0,1,1,0,0], [0,0,1,1,0], 'k:',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dash box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[0.5,0.5], [0,1], 'k:',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dash vertical</a:t>
                      </a:r>
                    </a:p>
                    <a:p>
                      <a:pPr marL="0" indent="0" algn="ctr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[0,1], [0.5,0.5], 'k:’,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dash horizontal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X, Y, 'k-',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Z-curve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X, Y, 'r.',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Z-curve points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)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541C217-2EC0-DD57-6EEE-F934237B9178}"/>
              </a:ext>
            </a:extLst>
          </p:cNvPr>
          <p:cNvSpPr txBox="1"/>
          <p:nvPr/>
        </p:nvSpPr>
        <p:spPr>
          <a:xfrm>
            <a:off x="8230216" y="6431280"/>
            <a:ext cx="3717607" cy="367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noProof="0" dirty="0">
                <a:hlinkClick r:id="rId4"/>
              </a:rPr>
              <a:t>en.wikipedia.org/wiki/Z-</a:t>
            </a:r>
            <a:r>
              <a:rPr lang="en-US" noProof="0" dirty="0" err="1">
                <a:hlinkClick r:id="rId4"/>
              </a:rPr>
              <a:t>order_curve</a:t>
            </a:r>
            <a:endParaRPr lang="en-U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11BD08-50AA-9CA2-657B-6D921A637146}"/>
              </a:ext>
            </a:extLst>
          </p:cNvPr>
          <p:cNvSpPr txBox="1"/>
          <p:nvPr/>
        </p:nvSpPr>
        <p:spPr>
          <a:xfrm>
            <a:off x="2800350" y="1338280"/>
            <a:ext cx="834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/>
              <a:t>(x1, y1)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FDE4CD-FE19-AD67-DE79-062811FC6D9E}"/>
              </a:ext>
            </a:extLst>
          </p:cNvPr>
          <p:cNvSpPr txBox="1"/>
          <p:nvPr/>
        </p:nvSpPr>
        <p:spPr>
          <a:xfrm>
            <a:off x="2068830" y="2389345"/>
            <a:ext cx="708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/>
              <a:t>(x, y)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91BB49-DC71-D43F-A921-10D69472B25C}"/>
              </a:ext>
            </a:extLst>
          </p:cNvPr>
          <p:cNvSpPr txBox="1"/>
          <p:nvPr/>
        </p:nvSpPr>
        <p:spPr>
          <a:xfrm>
            <a:off x="548137" y="3698520"/>
            <a:ext cx="8105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noProof="0" dirty="0"/>
              <a:t>(x0, y0)</a:t>
            </a:r>
          </a:p>
        </p:txBody>
      </p:sp>
    </p:spTree>
    <p:extLst>
      <p:ext uri="{BB962C8B-B14F-4D97-AF65-F5344CB8AC3E}">
        <p14:creationId xmlns:p14="http://schemas.microsoft.com/office/powerpoint/2010/main" val="398569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7F7F7F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27830</TotalTime>
  <Words>2980</Words>
  <Application>Microsoft Office PowerPoint</Application>
  <PresentationFormat>Widescreen</PresentationFormat>
  <Paragraphs>527</Paragraphs>
  <Slides>19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Recursion</vt:lpstr>
      <vt:lpstr>Recursion </vt:lpstr>
      <vt:lpstr>Recursion </vt:lpstr>
      <vt:lpstr>PowerPoint Presentation</vt:lpstr>
      <vt:lpstr>Question – How many times does rec(5) print ”done”?   </vt:lpstr>
      <vt:lpstr>Factorial</vt:lpstr>
      <vt:lpstr>Binomial coefficient (■8("n" @"k" ))</vt:lpstr>
      <vt:lpstr>Readable functions ? – return early / bail out fast</vt:lpstr>
      <vt:lpstr>Tracing the recursion</vt:lpstr>
      <vt:lpstr>Binomial coefficient (■8("n" @"k" ))</vt:lpstr>
      <vt:lpstr>Binomial coefficient (■8("n" @"k" ))</vt:lpstr>
      <vt:lpstr>Questions – Which correctly computes (■8("n" @"k" )) ? </vt:lpstr>
      <vt:lpstr>Recursively print all leaves of a tree</vt:lpstr>
      <vt:lpstr>Question – How many times is print_leaves function called in the example?</vt:lpstr>
      <vt:lpstr>PowerPoint Presentation</vt:lpstr>
      <vt:lpstr>PowerPoint Presentation</vt:lpstr>
      <vt:lpstr>Maximum recursion depth ?</vt:lpstr>
      <vt:lpstr>Koch Curves</vt:lpstr>
      <vt:lpstr>Z-curves</vt:lpstr>
    </vt:vector>
  </TitlesOfParts>
  <Company>Aarhus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Gerth Stølting Brodal</dc:creator>
  <cp:lastModifiedBy>Gerth Stølting Brodal</cp:lastModifiedBy>
  <cp:revision>938</cp:revision>
  <dcterms:created xsi:type="dcterms:W3CDTF">2017-10-19T06:54:16Z</dcterms:created>
  <dcterms:modified xsi:type="dcterms:W3CDTF">2026-02-18T07:53:52Z</dcterms:modified>
</cp:coreProperties>
</file>