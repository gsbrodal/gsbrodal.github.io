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64" r:id="rId2"/>
    <p:sldId id="719" r:id="rId3"/>
    <p:sldId id="724" r:id="rId4"/>
    <p:sldId id="721" r:id="rId5"/>
    <p:sldId id="720" r:id="rId6"/>
    <p:sldId id="722" r:id="rId7"/>
    <p:sldId id="723" r:id="rId8"/>
    <p:sldId id="726" r:id="rId9"/>
    <p:sldId id="725" r:id="rId10"/>
    <p:sldId id="731" r:id="rId11"/>
    <p:sldId id="732" r:id="rId12"/>
    <p:sldId id="729" r:id="rId13"/>
    <p:sldId id="730" r:id="rId14"/>
    <p:sldId id="727" r:id="rId15"/>
    <p:sldId id="728" r:id="rId16"/>
    <p:sldId id="733" r:id="rId17"/>
    <p:sldId id="735" r:id="rId18"/>
    <p:sldId id="734" r:id="rId19"/>
    <p:sldId id="737" r:id="rId20"/>
    <p:sldId id="736" r:id="rId2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FF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701B71-9891-473F-AD59-47BF21EE949C}" v="3" dt="2026-05-03T20:11:02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4" autoAdjust="0"/>
    <p:restoredTop sz="88051" autoAdjust="0"/>
  </p:normalViewPr>
  <p:slideViewPr>
    <p:cSldViewPr snapToGrid="0">
      <p:cViewPr varScale="1">
        <p:scale>
          <a:sx n="51" d="100"/>
          <a:sy n="51" d="100"/>
        </p:scale>
        <p:origin x="48" y="72"/>
      </p:cViewPr>
      <p:guideLst/>
    </p:cSldViewPr>
  </p:slideViewPr>
  <p:outlineViewPr>
    <p:cViewPr>
      <p:scale>
        <a:sx n="33" d="100"/>
        <a:sy n="33" d="100"/>
      </p:scale>
      <p:origin x="0" y="-421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custSel modSld">
      <pc:chgData name="Gerth Stølting Brodal" userId="04ef4784-6591-4f86-a140-f5c3b108582a" providerId="ADAL" clId="{73BAC7D6-516A-44B5-B4B0-C7B08CA8B392}" dt="2026-05-04T07:05:08.929" v="114" actId="20577"/>
      <pc:docMkLst>
        <pc:docMk/>
      </pc:docMkLst>
      <pc:sldChg chg="modSp modAnim">
        <pc:chgData name="Gerth Stølting Brodal" userId="04ef4784-6591-4f86-a140-f5c3b108582a" providerId="ADAL" clId="{73BAC7D6-516A-44B5-B4B0-C7B08CA8B392}" dt="2026-05-03T20:10:34.683" v="53"/>
        <pc:sldMkLst>
          <pc:docMk/>
          <pc:sldMk cId="615192665" sldId="722"/>
        </pc:sldMkLst>
        <pc:spChg chg="mod">
          <ac:chgData name="Gerth Stølting Brodal" userId="04ef4784-6591-4f86-a140-f5c3b108582a" providerId="ADAL" clId="{73BAC7D6-516A-44B5-B4B0-C7B08CA8B392}" dt="2026-05-03T20:10:33.331" v="52"/>
          <ac:spMkLst>
            <pc:docMk/>
            <pc:sldMk cId="615192665" sldId="722"/>
            <ac:spMk id="3" creationId="{00000000-0000-0000-0000-000000000000}"/>
          </ac:spMkLst>
        </pc:spChg>
      </pc:sldChg>
      <pc:sldChg chg="addSp delSp modSp mod">
        <pc:chgData name="Gerth Stølting Brodal" userId="04ef4784-6591-4f86-a140-f5c3b108582a" providerId="ADAL" clId="{73BAC7D6-516A-44B5-B4B0-C7B08CA8B392}" dt="2026-05-03T19:49:56.778" v="40" actId="1035"/>
        <pc:sldMkLst>
          <pc:docMk/>
          <pc:sldMk cId="3232636054" sldId="724"/>
        </pc:sldMkLst>
        <pc:picChg chg="add del mod ord">
          <ac:chgData name="Gerth Stølting Brodal" userId="04ef4784-6591-4f86-a140-f5c3b108582a" providerId="ADAL" clId="{73BAC7D6-516A-44B5-B4B0-C7B08CA8B392}" dt="2026-05-03T19:47:07.313" v="34" actId="167"/>
          <ac:picMkLst>
            <pc:docMk/>
            <pc:sldMk cId="3232636054" sldId="724"/>
            <ac:picMk id="3" creationId="{19C8794E-A018-4433-B6EB-3B14B3ABBA1D}"/>
          </ac:picMkLst>
        </pc:picChg>
        <pc:picChg chg="mod ord">
          <ac:chgData name="Gerth Stølting Brodal" userId="04ef4784-6591-4f86-a140-f5c3b108582a" providerId="ADAL" clId="{73BAC7D6-516A-44B5-B4B0-C7B08CA8B392}" dt="2026-05-03T19:47:30.488" v="37" actId="167"/>
          <ac:picMkLst>
            <pc:docMk/>
            <pc:sldMk cId="3232636054" sldId="724"/>
            <ac:picMk id="4" creationId="{00000000-0000-0000-0000-000000000000}"/>
          </ac:picMkLst>
        </pc:picChg>
        <pc:picChg chg="add del">
          <ac:chgData name="Gerth Stølting Brodal" userId="04ef4784-6591-4f86-a140-f5c3b108582a" providerId="ADAL" clId="{73BAC7D6-516A-44B5-B4B0-C7B08CA8B392}" dt="2026-05-03T19:43:47.751" v="7" actId="22"/>
          <ac:picMkLst>
            <pc:docMk/>
            <pc:sldMk cId="3232636054" sldId="724"/>
            <ac:picMk id="6" creationId="{DE037D80-6953-FA08-CA84-20426A9A0877}"/>
          </ac:picMkLst>
        </pc:picChg>
        <pc:picChg chg="add del mod ord modCrop">
          <ac:chgData name="Gerth Stølting Brodal" userId="04ef4784-6591-4f86-a140-f5c3b108582a" providerId="ADAL" clId="{73BAC7D6-516A-44B5-B4B0-C7B08CA8B392}" dt="2026-05-03T19:46:10.357" v="30" actId="478"/>
          <ac:picMkLst>
            <pc:docMk/>
            <pc:sldMk cId="3232636054" sldId="724"/>
            <ac:picMk id="8" creationId="{57762077-75C9-585C-C090-61937A81CDC6}"/>
          </ac:picMkLst>
        </pc:picChg>
        <pc:picChg chg="add mod ord">
          <ac:chgData name="Gerth Stølting Brodal" userId="04ef4784-6591-4f86-a140-f5c3b108582a" providerId="ADAL" clId="{73BAC7D6-516A-44B5-B4B0-C7B08CA8B392}" dt="2026-05-03T19:49:56.778" v="40" actId="1035"/>
          <ac:picMkLst>
            <pc:docMk/>
            <pc:sldMk cId="3232636054" sldId="724"/>
            <ac:picMk id="10" creationId="{3D55E4ED-F300-A147-432D-3733BD3DC8FE}"/>
          </ac:picMkLst>
        </pc:picChg>
      </pc:sldChg>
      <pc:sldChg chg="modSp mod modNotesTx">
        <pc:chgData name="Gerth Stølting Brodal" userId="04ef4784-6591-4f86-a140-f5c3b108582a" providerId="ADAL" clId="{73BAC7D6-516A-44B5-B4B0-C7B08CA8B392}" dt="2026-05-04T07:04:15.942" v="105" actId="20577"/>
        <pc:sldMkLst>
          <pc:docMk/>
          <pc:sldMk cId="1890479042" sldId="725"/>
        </pc:sldMkLst>
        <pc:graphicFrameChg chg="modGraphic">
          <ac:chgData name="Gerth Stølting Brodal" userId="04ef4784-6591-4f86-a140-f5c3b108582a" providerId="ADAL" clId="{73BAC7D6-516A-44B5-B4B0-C7B08CA8B392}" dt="2026-05-04T07:04:15.942" v="105" actId="20577"/>
          <ac:graphicFrameMkLst>
            <pc:docMk/>
            <pc:sldMk cId="1890479042" sldId="725"/>
            <ac:graphicFrameMk id="6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5-04T07:05:08.929" v="114" actId="20577"/>
        <pc:sldMkLst>
          <pc:docMk/>
          <pc:sldMk cId="998947821" sldId="731"/>
        </pc:sldMkLst>
        <pc:graphicFrameChg chg="modGraphic">
          <ac:chgData name="Gerth Stølting Brodal" userId="04ef4784-6591-4f86-a140-f5c3b108582a" providerId="ADAL" clId="{73BAC7D6-516A-44B5-B4B0-C7B08CA8B392}" dt="2026-05-04T07:05:08.929" v="114" actId="20577"/>
          <ac:graphicFrameMkLst>
            <pc:docMk/>
            <pc:sldMk cId="998947821" sldId="731"/>
            <ac:graphicFrameMk id="6" creationId="{00000000-0000-0000-0000-000000000000}"/>
          </ac:graphicFrameMkLst>
        </pc:graphicFrameChg>
      </pc:sldChg>
      <pc:sldChg chg="addSp delSp modSp mod">
        <pc:chgData name="Gerth Stølting Brodal" userId="04ef4784-6591-4f86-a140-f5c3b108582a" providerId="ADAL" clId="{73BAC7D6-516A-44B5-B4B0-C7B08CA8B392}" dt="2026-05-04T07:01:59.242" v="87" actId="20577"/>
        <pc:sldMkLst>
          <pc:docMk/>
          <pc:sldMk cId="3170264930" sldId="732"/>
        </pc:sldMkLst>
        <pc:spChg chg="del mod">
          <ac:chgData name="Gerth Stølting Brodal" userId="04ef4784-6591-4f86-a140-f5c3b108582a" providerId="ADAL" clId="{73BAC7D6-516A-44B5-B4B0-C7B08CA8B392}" dt="2026-05-03T20:40:44.198" v="77" actId="478"/>
          <ac:spMkLst>
            <pc:docMk/>
            <pc:sldMk cId="3170264930" sldId="732"/>
            <ac:spMk id="2" creationId="{00000000-0000-0000-0000-000000000000}"/>
          </ac:spMkLst>
        </pc:spChg>
        <pc:spChg chg="del mod">
          <ac:chgData name="Gerth Stølting Brodal" userId="04ef4784-6591-4f86-a140-f5c3b108582a" providerId="ADAL" clId="{73BAC7D6-516A-44B5-B4B0-C7B08CA8B392}" dt="2026-05-03T20:40:37.968" v="75" actId="478"/>
          <ac:spMkLst>
            <pc:docMk/>
            <pc:sldMk cId="3170264930" sldId="732"/>
            <ac:spMk id="3" creationId="{00000000-0000-0000-0000-000000000000}"/>
          </ac:spMkLst>
        </pc:spChg>
        <pc:spChg chg="add del mod">
          <ac:chgData name="Gerth Stølting Brodal" userId="04ef4784-6591-4f86-a140-f5c3b108582a" providerId="ADAL" clId="{73BAC7D6-516A-44B5-B4B0-C7B08CA8B392}" dt="2026-05-03T20:40:48.374" v="78" actId="478"/>
          <ac:spMkLst>
            <pc:docMk/>
            <pc:sldMk cId="3170264930" sldId="732"/>
            <ac:spMk id="8" creationId="{1DF30F7A-424B-2EB6-794D-BBA33D5476F5}"/>
          </ac:spMkLst>
        </pc:spChg>
        <pc:graphicFrameChg chg="mod modGraphic">
          <ac:chgData name="Gerth Stølting Brodal" userId="04ef4784-6591-4f86-a140-f5c3b108582a" providerId="ADAL" clId="{73BAC7D6-516A-44B5-B4B0-C7B08CA8B392}" dt="2026-05-04T07:01:59.242" v="87" actId="20577"/>
          <ac:graphicFrameMkLst>
            <pc:docMk/>
            <pc:sldMk cId="3170264930" sldId="732"/>
            <ac:graphicFrameMk id="4" creationId="{00000000-0000-0000-0000-000000000000}"/>
          </ac:graphicFrameMkLst>
        </pc:graphicFrameChg>
        <pc:picChg chg="mod">
          <ac:chgData name="Gerth Stølting Brodal" userId="04ef4784-6591-4f86-a140-f5c3b108582a" providerId="ADAL" clId="{73BAC7D6-516A-44B5-B4B0-C7B08CA8B392}" dt="2026-05-03T20:40:33.758" v="74" actId="1035"/>
          <ac:picMkLst>
            <pc:docMk/>
            <pc:sldMk cId="3170264930" sldId="732"/>
            <ac:picMk id="5" creationId="{00000000-0000-0000-0000-000000000000}"/>
          </ac:picMkLst>
        </pc:picChg>
        <pc:picChg chg="mod">
          <ac:chgData name="Gerth Stølting Brodal" userId="04ef4784-6591-4f86-a140-f5c3b108582a" providerId="ADAL" clId="{73BAC7D6-516A-44B5-B4B0-C7B08CA8B392}" dt="2026-05-03T20:40:33.758" v="74" actId="1035"/>
          <ac:picMkLst>
            <pc:docMk/>
            <pc:sldMk cId="3170264930" sldId="732"/>
            <ac:picMk id="6" creationId="{00000000-0000-0000-0000-000000000000}"/>
          </ac:picMkLst>
        </pc:picChg>
      </pc:sldChg>
      <pc:sldChg chg="modNotesTx">
        <pc:chgData name="Gerth Stølting Brodal" userId="04ef4784-6591-4f86-a140-f5c3b108582a" providerId="ADAL" clId="{73BAC7D6-516A-44B5-B4B0-C7B08CA8B392}" dt="2026-05-03T19:59:08.210" v="51" actId="20577"/>
        <pc:sldMkLst>
          <pc:docMk/>
          <pc:sldMk cId="3428786955" sldId="7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basic text interface for a calculator from the console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25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“Our desktop runs on </a:t>
            </a:r>
            <a:r>
              <a:rPr lang="en-US" dirty="0" err="1"/>
              <a:t>BackSlash</a:t>
            </a:r>
            <a:r>
              <a:rPr lang="en-US" dirty="0"/>
              <a:t> Shell which is composted of a number of Open-Source Components and is built </a:t>
            </a:r>
            <a:r>
              <a:rPr lang="en-US" b="1" dirty="0"/>
              <a:t>using Qt</a:t>
            </a:r>
            <a:r>
              <a:rPr lang="en-US" dirty="0"/>
              <a:t>. 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62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pronounced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"tickle tee-kay"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76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place</a:t>
            </a:r>
            <a:r>
              <a:rPr lang="da-DK" dirty="0"/>
              <a:t> </a:t>
            </a:r>
            <a:r>
              <a:rPr lang="da-DK" dirty="0" err="1"/>
              <a:t>should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avoided</a:t>
            </a:r>
            <a:r>
              <a:rPr lang="da-DK" dirty="0"/>
              <a:t> (</a:t>
            </a:r>
            <a:r>
              <a:rPr lang="en-US" dirty="0"/>
              <a:t>specific position in the parent widget)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56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00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&amp;inversion of control</a:t>
            </a:r>
          </a:p>
          <a:p>
            <a:r>
              <a:rPr lang="en-US" dirty="0" err="1"/>
              <a:t>mainloop</a:t>
            </a:r>
            <a:r>
              <a:rPr lang="en-US" dirty="0"/>
              <a:t>  # without this,</a:t>
            </a:r>
            <a:r>
              <a:rPr lang="en-US" baseline="0" dirty="0"/>
              <a:t> the window will show up but program terminates if run from shell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28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(0,0) = upper </a:t>
            </a:r>
            <a:r>
              <a:rPr lang="da-DK" dirty="0" err="1"/>
              <a:t>left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965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Qt</a:t>
            </a:r>
            <a:r>
              <a:rPr lang="en-US" baseline="0" noProof="0" dirty="0"/>
              <a:t> more modern framework (written in C++)</a:t>
            </a:r>
          </a:p>
          <a:p>
            <a:r>
              <a:rPr lang="en-US" baseline="0" noProof="0" dirty="0"/>
              <a:t>Can use </a:t>
            </a:r>
            <a:r>
              <a:rPr lang="en-US" baseline="0" noProof="0" dirty="0" err="1"/>
              <a:t>QtDesigner</a:t>
            </a:r>
            <a:r>
              <a:rPr lang="en-US" baseline="0" noProof="0" dirty="0"/>
              <a:t> to design interfaces</a:t>
            </a:r>
          </a:p>
          <a:p>
            <a:endParaRPr lang="en-US" baseline="0" noProof="0" dirty="0"/>
          </a:p>
          <a:p>
            <a:r>
              <a:rPr lang="en-US" baseline="0" noProof="0" dirty="0" err="1"/>
              <a:t>tkinter.messagebox.showinfo</a:t>
            </a:r>
            <a:r>
              <a:rPr lang="en-US" baseline="0" noProof="0" dirty="0"/>
              <a:t>  requires ”import </a:t>
            </a:r>
            <a:r>
              <a:rPr lang="en-US" baseline="0" noProof="0" dirty="0" err="1"/>
              <a:t>tkinter.messagebox</a:t>
            </a:r>
            <a:r>
              <a:rPr lang="en-US" baseline="0" noProof="0" dirty="0"/>
              <a:t>”, otherwise fails with ”module '</a:t>
            </a:r>
            <a:r>
              <a:rPr lang="en-US" baseline="0" noProof="0" dirty="0" err="1"/>
              <a:t>tkinter</a:t>
            </a:r>
            <a:r>
              <a:rPr lang="en-US" baseline="0" noProof="0" dirty="0"/>
              <a:t>' has no attribute '</a:t>
            </a:r>
            <a:r>
              <a:rPr lang="en-US" baseline="0" noProof="0" dirty="0" err="1"/>
              <a:t>messagebox</a:t>
            </a:r>
            <a:r>
              <a:rPr lang="en-US" baseline="0" noProof="0" dirty="0"/>
              <a:t>’” since submodule</a:t>
            </a:r>
          </a:p>
          <a:p>
            <a:r>
              <a:rPr lang="en-US" baseline="0" noProof="0" dirty="0"/>
              <a:t>.</a:t>
            </a:r>
            <a:r>
              <a:rPr lang="en-US" baseline="0" noProof="0" dirty="0" err="1"/>
              <a:t>resizeable</a:t>
            </a:r>
            <a:r>
              <a:rPr lang="en-US" baseline="0" noProof="0" dirty="0"/>
              <a:t>(False, False) or .</a:t>
            </a:r>
            <a:r>
              <a:rPr lang="en-US" baseline="0" noProof="0" dirty="0" err="1"/>
              <a:t>resizeable</a:t>
            </a:r>
            <a:r>
              <a:rPr lang="en-US" baseline="0" noProof="0" dirty="0"/>
              <a:t>(0, 0) disables </a:t>
            </a:r>
            <a:r>
              <a:rPr lang="en-US" baseline="0" noProof="0" dirty="0" err="1"/>
              <a:t>resizeable</a:t>
            </a:r>
            <a:r>
              <a:rPr lang="en-US" baseline="0" noProof="0" dirty="0"/>
              <a:t> and “</a:t>
            </a:r>
            <a:r>
              <a:rPr lang="en-US" baseline="0" noProof="0" dirty="0" err="1"/>
              <a:t>fullscreen</a:t>
            </a:r>
            <a:r>
              <a:rPr lang="en-US" baseline="0" noProof="0" dirty="0"/>
              <a:t>” button on the window’s </a:t>
            </a:r>
            <a:r>
              <a:rPr lang="en-US" baseline="0" noProof="0" dirty="0" err="1"/>
              <a:t>topbar</a:t>
            </a:r>
            <a:r>
              <a:rPr lang="en-US" baseline="0" noProof="0" dirty="0"/>
              <a:t>.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97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root.config</a:t>
            </a:r>
            <a:r>
              <a:rPr lang="en-US" dirty="0"/>
              <a:t> to show menu instead of .pack or .grid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98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Keys are bound to the root window, whereas mouse clicks are bound to the specific widget</a:t>
            </a:r>
            <a:r>
              <a:rPr lang="en-US"/>
              <a:t>(=canvas)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1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 : top-row 2 buttons + </a:t>
            </a:r>
            <a:r>
              <a:rPr lang="en-US" dirty="0" err="1"/>
              <a:t>tkinter.Checkbutton</a:t>
            </a:r>
            <a:r>
              <a:rPr lang="da-DK" dirty="0"/>
              <a:t>, </a:t>
            </a:r>
            <a:r>
              <a:rPr lang="da-DK" dirty="0" err="1"/>
              <a:t>button-row</a:t>
            </a:r>
            <a:r>
              <a:rPr lang="da-DK" dirty="0"/>
              <a:t> </a:t>
            </a:r>
            <a:r>
              <a:rPr lang="da-DK" dirty="0" err="1"/>
              <a:t>canvas</a:t>
            </a:r>
            <a:r>
              <a:rPr lang="da-DK" dirty="0"/>
              <a:t> with </a:t>
            </a:r>
            <a:r>
              <a:rPr lang="da-DK" dirty="0" err="1"/>
              <a:t>columnspan</a:t>
            </a:r>
            <a:r>
              <a:rPr lang="da-DK" dirty="0"/>
              <a:t>=3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92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iki.python.org/moin/GuiProgramm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32" y="2920558"/>
            <a:ext cx="11478568" cy="1325563"/>
          </a:xfrm>
        </p:spPr>
        <p:txBody>
          <a:bodyPr/>
          <a:lstStyle/>
          <a:p>
            <a:pPr algn="r"/>
            <a:r>
              <a:rPr lang="da-DK" dirty="0" err="1"/>
              <a:t>Graphical</a:t>
            </a:r>
            <a:r>
              <a:rPr lang="da-DK" dirty="0"/>
              <a:t> </a:t>
            </a:r>
            <a:r>
              <a:rPr lang="da-DK" dirty="0" err="1"/>
              <a:t>user</a:t>
            </a:r>
            <a:r>
              <a:rPr lang="da-DK" dirty="0"/>
              <a:t> interfaces (GUI)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9029" y="3920647"/>
            <a:ext cx="6932383" cy="2937353"/>
          </a:xfrm>
        </p:spPr>
        <p:txBody>
          <a:bodyPr>
            <a:normAutofit/>
          </a:bodyPr>
          <a:lstStyle/>
          <a:p>
            <a:r>
              <a:rPr lang="en-US" dirty="0" err="1"/>
              <a:t>Tkinter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29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516177"/>
              </p:ext>
            </p:extLst>
          </p:nvPr>
        </p:nvGraphicFramePr>
        <p:xfrm>
          <a:off x="797038" y="594360"/>
          <a:ext cx="8237855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378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primitive_calculator.py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accumulator = 0</a:t>
                      </a:r>
                    </a:p>
                    <a:p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print('Accumulator:', accumulator)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print('Select:')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  1: clear')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  2: add')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  3: subtract')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  4: multiply')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  5: quit')</a:t>
                      </a:r>
                    </a:p>
                    <a:p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choice = int(input('Choice: '))</a:t>
                      </a:r>
                    </a:p>
                    <a:p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match choice: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case 1: accumulator = 0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case 2: accumulator += int(input('add: '))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case 3: accumulator -= int(input('subtract: '))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case 4: accumulator *= int(input('multiply by: '))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case 5: break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577140"/>
              </p:ext>
            </p:extLst>
          </p:nvPr>
        </p:nvGraphicFramePr>
        <p:xfrm>
          <a:off x="9300074" y="594360"/>
          <a:ext cx="213868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86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699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5299340">
                <a:tc>
                  <a:txBody>
                    <a:bodyPr/>
                    <a:lstStyle/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Accumulator: </a:t>
                      </a: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1: clear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2: add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3: subtract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4: multiply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5: quit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Choice: </a:t>
                      </a:r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add: </a:t>
                      </a:r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Accumulator: </a:t>
                      </a: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1: clear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2: add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3: subtract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4: multiply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5: quit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Choice: </a:t>
                      </a:r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add: </a:t>
                      </a:r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Accumulator: </a:t>
                      </a: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  <a:endParaRPr lang="pt-BR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276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2759" t="59602" r="12657"/>
          <a:stretch/>
        </p:blipFill>
        <p:spPr>
          <a:xfrm>
            <a:off x="0" y="-83013"/>
            <a:ext cx="12192000" cy="69133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C8794E-A018-4433-B6EB-3B14B3ABB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7671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55E4ED-F300-A147-432D-3733BD3DC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84571" y="4582886"/>
            <a:ext cx="1665515" cy="293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36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85" y="745304"/>
            <a:ext cx="11843657" cy="50589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785399" y="6211669"/>
            <a:ext cx="25994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/>
              <a:t>BackSlash</a:t>
            </a:r>
            <a:r>
              <a:rPr lang="en-US" b="1" dirty="0"/>
              <a:t> Linux GUI</a:t>
            </a:r>
            <a:br>
              <a:rPr lang="en-US" b="1" dirty="0"/>
            </a:br>
            <a:r>
              <a:rPr lang="en-US" b="1" dirty="0"/>
              <a:t>www.backslashlinux.com</a:t>
            </a:r>
          </a:p>
        </p:txBody>
      </p:sp>
    </p:spTree>
    <p:extLst>
      <p:ext uri="{BB962C8B-B14F-4D97-AF65-F5344CB8AC3E}">
        <p14:creationId xmlns:p14="http://schemas.microsoft.com/office/powerpoint/2010/main" val="2151226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GUI’s (Graphical Users Interfaces)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There is a long list of GUI frameworks and toolkits, designer tools</a:t>
            </a:r>
          </a:p>
          <a:p>
            <a:pPr lvl="1"/>
            <a:r>
              <a:rPr lang="en-US" dirty="0"/>
              <a:t>we will only briefly look at </a:t>
            </a:r>
            <a:r>
              <a:rPr lang="en-US" dirty="0" err="1">
                <a:solidFill>
                  <a:srgbClr val="C00000"/>
                </a:solidFill>
              </a:rPr>
              <a:t>Tkinter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GUI are, opposed to a text terminal,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easier to use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more intuitive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flexible</a:t>
            </a:r>
          </a:p>
          <a:p>
            <a:r>
              <a:rPr lang="en-US" dirty="0"/>
              <a:t>Windows, icons, menus, buttons, scrollbars </a:t>
            </a:r>
            <a:br>
              <a:rPr lang="en-US" dirty="0"/>
            </a:br>
            <a:r>
              <a:rPr lang="en-US" dirty="0"/>
              <a:t>mouse / touch / keyboard interaction etc.</a:t>
            </a:r>
          </a:p>
          <a:p>
            <a:r>
              <a:rPr lang="en-US" dirty="0"/>
              <a:t>Operating system (e.g. Windows, </a:t>
            </a:r>
            <a:r>
              <a:rPr lang="en-US" dirty="0" err="1"/>
              <a:t>maxOS</a:t>
            </a:r>
            <a:r>
              <a:rPr lang="en-US" dirty="0"/>
              <a:t>, iOS, </a:t>
            </a:r>
            <a:br>
              <a:rPr lang="en-US" dirty="0"/>
            </a:br>
            <a:r>
              <a:rPr lang="en-US" dirty="0"/>
              <a:t>Linux, Android) provides basic functionality</a:t>
            </a:r>
            <a:br>
              <a:rPr lang="en-US" dirty="0"/>
            </a:br>
            <a:r>
              <a:rPr lang="en-US" dirty="0"/>
              <a:t>in particular a </a:t>
            </a:r>
            <a:r>
              <a:rPr lang="en-US" dirty="0">
                <a:solidFill>
                  <a:srgbClr val="C00000"/>
                </a:solidFill>
              </a:rPr>
              <a:t>window manager</a:t>
            </a:r>
          </a:p>
          <a:p>
            <a:r>
              <a:rPr lang="en-US" dirty="0"/>
              <a:t>Writing GUI applications from scratch can be </a:t>
            </a:r>
            <a:br>
              <a:rPr lang="en-US" dirty="0"/>
            </a:br>
            <a:r>
              <a:rPr lang="en-US" dirty="0"/>
              <a:t>painful – frameworks try to provide all standard </a:t>
            </a:r>
            <a:br>
              <a:rPr lang="en-US" dirty="0"/>
            </a:br>
            <a:r>
              <a:rPr lang="en-US" dirty="0"/>
              <a:t>functionality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053124" y="6350322"/>
            <a:ext cx="39948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hlinkClick r:id="rId2"/>
              </a:rPr>
              <a:t>wiki.python.org/</a:t>
            </a:r>
            <a:r>
              <a:rPr lang="en-US" dirty="0" err="1">
                <a:hlinkClick r:id="rId2"/>
              </a:rPr>
              <a:t>moin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GuiProgramming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606" y="2900063"/>
            <a:ext cx="3459328" cy="25944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31529" y="5494559"/>
            <a:ext cx="39174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en.wikipedia.org/wiki/</a:t>
            </a:r>
            <a:r>
              <a:rPr lang="en-US" sz="1400" dirty="0" err="1"/>
              <a:t>Colossal_Cave_Adventure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72606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Tkinter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738536"/>
            <a:ext cx="10632141" cy="5032375"/>
          </a:xfrm>
        </p:spPr>
        <p:txBody>
          <a:bodyPr>
            <a:normAutofit/>
          </a:bodyPr>
          <a:lstStyle/>
          <a:p>
            <a:r>
              <a:rPr lang="en-US" dirty="0"/>
              <a:t>“</a:t>
            </a:r>
            <a:r>
              <a:rPr lang="en-US" dirty="0" err="1">
                <a:solidFill>
                  <a:srgbClr val="C00000"/>
                </a:solidFill>
              </a:rPr>
              <a:t>Tkinter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Python's de-facto standard GUI </a:t>
            </a:r>
            <a:r>
              <a:rPr lang="en-US" dirty="0"/>
              <a:t>(Graphical User Interface) package. It is a thin object-oriented layer on top of </a:t>
            </a:r>
            <a:r>
              <a:rPr lang="en-US" dirty="0" err="1">
                <a:solidFill>
                  <a:srgbClr val="C00000"/>
                </a:solidFill>
              </a:rPr>
              <a:t>Tcl</a:t>
            </a:r>
            <a:r>
              <a:rPr lang="en-US" dirty="0">
                <a:solidFill>
                  <a:srgbClr val="C00000"/>
                </a:solidFill>
              </a:rPr>
              <a:t>/Tk</a:t>
            </a:r>
            <a:r>
              <a:rPr lang="en-US" dirty="0"/>
              <a:t>.”</a:t>
            </a:r>
          </a:p>
          <a:p>
            <a:r>
              <a:rPr lang="en-US" dirty="0"/>
              <a:t>“</a:t>
            </a:r>
            <a:r>
              <a:rPr lang="en-US" dirty="0" err="1">
                <a:solidFill>
                  <a:srgbClr val="C00000"/>
                </a:solidFill>
              </a:rPr>
              <a:t>Tcl</a:t>
            </a:r>
            <a:r>
              <a:rPr lang="en-US" dirty="0"/>
              <a:t> is a high-level, general-purpose, interpreted, dynamic programming language.”</a:t>
            </a:r>
          </a:p>
          <a:p>
            <a:r>
              <a:rPr lang="en-US" dirty="0"/>
              <a:t>“</a:t>
            </a:r>
            <a:r>
              <a:rPr lang="en-US" dirty="0" err="1">
                <a:solidFill>
                  <a:srgbClr val="C00000"/>
                </a:solidFill>
              </a:rPr>
              <a:t>Tk</a:t>
            </a:r>
            <a:r>
              <a:rPr lang="en-US" dirty="0"/>
              <a:t> is a free and open-source, cross-platform widget toolkit that provides a library of basic elements of GUI widgets for building a graphical user interface (GUI) in many programming languages.”</a:t>
            </a:r>
          </a:p>
          <a:p>
            <a:r>
              <a:rPr lang="en-US" dirty="0"/>
              <a:t>“The popular combination of </a:t>
            </a:r>
            <a:r>
              <a:rPr lang="en-US" dirty="0" err="1"/>
              <a:t>Tcl</a:t>
            </a:r>
            <a:r>
              <a:rPr lang="en-US" dirty="0"/>
              <a:t> with the </a:t>
            </a:r>
            <a:r>
              <a:rPr lang="en-US" dirty="0" err="1"/>
              <a:t>Tk</a:t>
            </a:r>
            <a:r>
              <a:rPr lang="en-US" dirty="0"/>
              <a:t> extension is referred to as </a:t>
            </a:r>
            <a:r>
              <a:rPr lang="en-US" dirty="0" err="1"/>
              <a:t>Tcl</a:t>
            </a:r>
            <a:r>
              <a:rPr lang="en-US" dirty="0"/>
              <a:t>/</a:t>
            </a:r>
            <a:r>
              <a:rPr lang="en-US" dirty="0" err="1"/>
              <a:t>Tk</a:t>
            </a:r>
            <a:r>
              <a:rPr lang="en-US" dirty="0"/>
              <a:t>, and enables building a graphical user interface (GUI) natively in </a:t>
            </a:r>
            <a:r>
              <a:rPr lang="en-US" dirty="0" err="1"/>
              <a:t>Tcl</a:t>
            </a:r>
            <a:r>
              <a:rPr lang="en-US" dirty="0"/>
              <a:t>. </a:t>
            </a:r>
            <a:r>
              <a:rPr lang="en-US" dirty="0" err="1">
                <a:solidFill>
                  <a:srgbClr val="C00000"/>
                </a:solidFill>
              </a:rPr>
              <a:t>Tcl</a:t>
            </a:r>
            <a:r>
              <a:rPr lang="en-US" dirty="0">
                <a:solidFill>
                  <a:srgbClr val="C00000"/>
                </a:solidFill>
              </a:rPr>
              <a:t>/</a:t>
            </a:r>
            <a:r>
              <a:rPr lang="en-US" dirty="0" err="1">
                <a:solidFill>
                  <a:srgbClr val="C00000"/>
                </a:solidFill>
              </a:rPr>
              <a:t>Tk</a:t>
            </a:r>
            <a:r>
              <a:rPr lang="en-US" dirty="0">
                <a:solidFill>
                  <a:srgbClr val="C00000"/>
                </a:solidFill>
              </a:rPr>
              <a:t> is included in the standard Python installation in the form of </a:t>
            </a:r>
            <a:r>
              <a:rPr lang="en-US" dirty="0" err="1">
                <a:solidFill>
                  <a:srgbClr val="C00000"/>
                </a:solidFill>
              </a:rPr>
              <a:t>Tkinter</a:t>
            </a:r>
            <a:r>
              <a:rPr lang="en-US" dirty="0"/>
              <a:t>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7365" y="6401191"/>
            <a:ext cx="1735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en.wikipedia.org</a:t>
            </a:r>
          </a:p>
        </p:txBody>
      </p:sp>
    </p:spTree>
    <p:extLst>
      <p:ext uri="{BB962C8B-B14F-4D97-AF65-F5344CB8AC3E}">
        <p14:creationId xmlns:p14="http://schemas.microsoft.com/office/powerpoint/2010/main" val="61519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258" y="365125"/>
            <a:ext cx="10803542" cy="1325563"/>
          </a:xfrm>
        </p:spPr>
        <p:txBody>
          <a:bodyPr/>
          <a:lstStyle/>
          <a:p>
            <a:r>
              <a:rPr lang="da-DK" dirty="0" err="1"/>
              <a:t>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258" y="1825625"/>
            <a:ext cx="10803542" cy="4351338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widgets</a:t>
            </a:r>
            <a:r>
              <a:rPr lang="en-US" dirty="0"/>
              <a:t> (e.g. buttons, editable text fields, labels, scrollbars, menus, radio buttons, check buttons, canvas for drawing, frames...)</a:t>
            </a:r>
          </a:p>
          <a:p>
            <a:r>
              <a:rPr lang="en-US" dirty="0">
                <a:solidFill>
                  <a:srgbClr val="C00000"/>
                </a:solidFill>
              </a:rPr>
              <a:t>events</a:t>
            </a:r>
            <a:r>
              <a:rPr lang="en-US" dirty="0"/>
              <a:t> (e.g. key press, mouse click, mouse entering/leaving, resizing windows, redraw requests, ...)</a:t>
            </a:r>
          </a:p>
          <a:p>
            <a:r>
              <a:rPr lang="en-US" dirty="0">
                <a:solidFill>
                  <a:srgbClr val="C00000"/>
                </a:solidFill>
              </a:rPr>
              <a:t>listening</a:t>
            </a:r>
            <a:r>
              <a:rPr lang="en-US" dirty="0"/>
              <a:t> (application waits for events to be fired)</a:t>
            </a:r>
          </a:p>
          <a:p>
            <a:r>
              <a:rPr lang="en-US" dirty="0">
                <a:solidFill>
                  <a:srgbClr val="C00000"/>
                </a:solidFill>
              </a:rPr>
              <a:t>event handler</a:t>
            </a:r>
            <a:r>
              <a:rPr lang="en-US" dirty="0"/>
              <a:t> (a function whose purpose is to handle an event, many triggered by user or OS/Window manager)</a:t>
            </a:r>
          </a:p>
          <a:p>
            <a:r>
              <a:rPr lang="en-US" dirty="0">
                <a:solidFill>
                  <a:srgbClr val="C00000"/>
                </a:solidFill>
              </a:rPr>
              <a:t>geometry managers</a:t>
            </a:r>
            <a:r>
              <a:rPr lang="en-US" dirty="0"/>
              <a:t> (how to organize widgets in a window: </a:t>
            </a:r>
            <a:r>
              <a:rPr lang="en-US" dirty="0" err="1"/>
              <a:t>Tkinter</a:t>
            </a:r>
            <a:r>
              <a:rPr lang="en-US" dirty="0"/>
              <a:t> </a:t>
            </a:r>
            <a:r>
              <a:rPr lang="en-US" i="1" dirty="0"/>
              <a:t>pack</a:t>
            </a:r>
            <a:r>
              <a:rPr lang="en-US" dirty="0"/>
              <a:t>, </a:t>
            </a:r>
            <a:r>
              <a:rPr lang="en-US" i="1" dirty="0"/>
              <a:t>grid</a:t>
            </a:r>
            <a:r>
              <a:rPr lang="en-US" dirty="0"/>
              <a:t>, </a:t>
            </a:r>
            <a:r>
              <a:rPr lang="en-US" i="1" dirty="0"/>
              <a:t>place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14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docs.python.org/3/library/tk.html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90937"/>
            <a:ext cx="10515600" cy="667677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</a:t>
            </a:r>
            <a:r>
              <a:rPr lang="en-US" i="1" dirty="0" err="1"/>
              <a:t>tkinter</a:t>
            </a:r>
            <a:r>
              <a:rPr lang="en-US" i="1" dirty="0"/>
              <a:t> is also famous for having an outdated look and feel</a:t>
            </a:r>
            <a:r>
              <a:rPr lang="en-US" dirty="0"/>
              <a:t>”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33" y="3290937"/>
            <a:ext cx="487666" cy="40590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267216-01DE-41F7-88A2-E9164B52849C}"/>
              </a:ext>
            </a:extLst>
          </p:cNvPr>
          <p:cNvSpPr txBox="1">
            <a:spLocks/>
          </p:cNvSpPr>
          <p:nvPr/>
        </p:nvSpPr>
        <p:spPr>
          <a:xfrm>
            <a:off x="838200" y="5171089"/>
            <a:ext cx="10515600" cy="1124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 err="1"/>
              <a:t>Comes</a:t>
            </a:r>
            <a:r>
              <a:rPr lang="da-DK" dirty="0"/>
              <a:t> with Python</a:t>
            </a:r>
          </a:p>
          <a:p>
            <a:r>
              <a:rPr lang="da-DK" dirty="0"/>
              <a:t>Alternatives </a:t>
            </a:r>
            <a:r>
              <a:rPr lang="da-DK" dirty="0" err="1"/>
              <a:t>PySide</a:t>
            </a:r>
            <a:r>
              <a:rPr lang="da-DK" dirty="0"/>
              <a:t>, </a:t>
            </a:r>
            <a:r>
              <a:rPr lang="da-DK" dirty="0" err="1"/>
              <a:t>PyQt</a:t>
            </a:r>
            <a:r>
              <a:rPr lang="da-DK" dirty="0"/>
              <a:t>, </a:t>
            </a:r>
            <a:r>
              <a:rPr lang="da-DK" dirty="0" err="1"/>
              <a:t>Kivy</a:t>
            </a:r>
            <a:r>
              <a:rPr lang="da-DK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3483016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10981497" y="1720659"/>
            <a:ext cx="69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padx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Welcome</a:t>
            </a:r>
            <a:r>
              <a:rPr lang="da-DK" dirty="0"/>
              <a:t> </a:t>
            </a:r>
            <a:r>
              <a:rPr lang="da-DK" dirty="0" err="1"/>
              <a:t>example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201015"/>
              </p:ext>
            </p:extLst>
          </p:nvPr>
        </p:nvGraphicFramePr>
        <p:xfrm>
          <a:off x="407035" y="2370310"/>
          <a:ext cx="11377930" cy="440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79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welcome.py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 = 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tkinter.Tk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</a:t>
                      </a:r>
                      <a:r>
                        <a:rPr lang="pt-BR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8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root window</a:t>
                      </a:r>
                      <a:endParaRPr lang="pt-BR" sz="1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do_close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  </a:t>
                      </a:r>
                      <a:r>
                        <a:rPr lang="pt-BR" sz="1800" b="1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event handler for</a:t>
                      </a:r>
                      <a:r>
                        <a:rPr lang="pt-BR" sz="1800" b="1" i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'Close' button</a:t>
                      </a:r>
                      <a:r>
                        <a:rPr lang="pt-BR" sz="1800" b="1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root.destroy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.title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('Tkinter Welcome GUI')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label = 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tkinter.Label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(root, text='Welcome to Tkinter', background='yellow',</a:t>
                      </a:r>
                      <a:b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anchor=tkinter.SE, font=('Helvetica', '24', 'bold italic'),</a:t>
                      </a:r>
                      <a:b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padx=10, pady=10)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label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.pack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(side=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tkinter.LEFT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fill=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tkinter.BOTH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expand=True)</a:t>
                      </a:r>
                    </a:p>
                    <a:p>
                      <a:endParaRPr lang="pt-BR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close_button = 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tkinter.Button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(root, text='Close', command=</a:t>
                      </a:r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do_close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close_button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.pack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(side=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tkinter.RIGHT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.mainloop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</a:t>
                      </a:r>
                      <a:r>
                        <a:rPr lang="pt-BR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loop until all windows are closed/destroyed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08956" y="5632780"/>
            <a:ext cx="2536372" cy="337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a-DK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da-DK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011512" y="5799684"/>
            <a:ext cx="500744" cy="13062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3886200" y="4707924"/>
            <a:ext cx="1626056" cy="10812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549" y="340011"/>
            <a:ext cx="4776485" cy="135067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8" name="Group 17"/>
          <p:cNvGrpSpPr/>
          <p:nvPr/>
        </p:nvGrpSpPr>
        <p:grpSpPr>
          <a:xfrm>
            <a:off x="11215540" y="1737671"/>
            <a:ext cx="116267" cy="72000"/>
            <a:chOff x="11215540" y="1737671"/>
            <a:chExt cx="116267" cy="720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11215540" y="1773671"/>
              <a:ext cx="1154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 flipV="1">
              <a:off x="11217111" y="1737671"/>
              <a:ext cx="0" cy="72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 flipV="1">
              <a:off x="11331807" y="1737671"/>
              <a:ext cx="0" cy="72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 rot="16200000">
            <a:off x="6868127" y="1596955"/>
            <a:ext cx="116267" cy="72000"/>
            <a:chOff x="11215540" y="1737671"/>
            <a:chExt cx="116267" cy="72000"/>
          </a:xfrm>
        </p:grpSpPr>
        <p:cxnSp>
          <p:nvCxnSpPr>
            <p:cNvPr id="24" name="Straight Connector 23"/>
            <p:cNvCxnSpPr/>
            <p:nvPr/>
          </p:nvCxnSpPr>
          <p:spPr>
            <a:xfrm>
              <a:off x="11215540" y="1773671"/>
              <a:ext cx="1154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 flipV="1">
              <a:off x="11217111" y="1737671"/>
              <a:ext cx="0" cy="72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 flipV="1">
              <a:off x="11331807" y="1737671"/>
              <a:ext cx="0" cy="72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6209217" y="1426283"/>
            <a:ext cx="69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pady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479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2" y="73706"/>
            <a:ext cx="10515600" cy="1325563"/>
          </a:xfrm>
        </p:spPr>
        <p:txBody>
          <a:bodyPr/>
          <a:lstStyle/>
          <a:p>
            <a:r>
              <a:rPr lang="da-DK" dirty="0" err="1"/>
              <a:t>Welcome</a:t>
            </a:r>
            <a:r>
              <a:rPr lang="da-DK" dirty="0"/>
              <a:t> </a:t>
            </a:r>
            <a:r>
              <a:rPr lang="da-DK" dirty="0" err="1"/>
              <a:t>example</a:t>
            </a:r>
            <a:r>
              <a:rPr lang="da-DK" dirty="0"/>
              <a:t> (</a:t>
            </a:r>
            <a:r>
              <a:rPr lang="da-DK" dirty="0" err="1"/>
              <a:t>class</a:t>
            </a:r>
            <a:r>
              <a:rPr lang="da-DK" dirty="0"/>
              <a:t>)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707886"/>
              </p:ext>
            </p:extLst>
          </p:nvPr>
        </p:nvGraphicFramePr>
        <p:xfrm>
          <a:off x="503872" y="1257756"/>
          <a:ext cx="11184255" cy="505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42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welcome_class.py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tkinter</a:t>
                      </a:r>
                    </a:p>
                    <a:p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Welcome: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do_close(self): 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event</a:t>
                      </a:r>
                      <a:r>
                        <a:rPr lang="pt-BR" sz="16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handler for 'Close'</a:t>
                      </a:r>
                      <a:endParaRPr lang="pt-BR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self.root.destroy()</a:t>
                      </a:r>
                    </a:p>
                    <a:p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__init__(self, window_title):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self.root = tkinter.Tk()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self.root.title(window_title)</a:t>
                      </a:r>
                    </a:p>
                    <a:p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self.label = tkinter.Label(self.root, text='Welcome')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self.label.pack(side=tkinter.LEFT)</a:t>
                      </a:r>
                    </a:p>
                    <a:p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self.close_button = tkinter.Button(self.root, text='Close', command=self.</a:t>
                      </a:r>
                      <a:r>
                        <a:rPr lang="pt-BR" sz="16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do_close)</a:t>
                      </a:r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self.close_button.pack(side=tkinter.RIGHT)</a:t>
                      </a:r>
                    </a:p>
                    <a:p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Welcome('My Window')</a:t>
                      </a:r>
                    </a:p>
                    <a:p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tkinter.mainloop()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453" y="2168981"/>
            <a:ext cx="339090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47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956156"/>
              </p:ext>
            </p:extLst>
          </p:nvPr>
        </p:nvGraphicFramePr>
        <p:xfrm>
          <a:off x="283446" y="702007"/>
          <a:ext cx="11625107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5107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increment.py (part I)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tkinter</a:t>
                      </a:r>
                    </a:p>
                    <a:p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Counter: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add(self, x):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self.counter += x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self.count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.set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(self.counter)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__init__(self, message):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self.counter = 0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self.root = tkinter.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Toplevel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new window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self.root.title('Counter')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self.label = tkinter.Label(self.root, text=message)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self.label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.grid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(row=0, columnspan=3)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self.minus_button = tkinter.Button(self.root, text='-', command=lambda: self.add(-1))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self.minus_button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.grid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(row=1, column=0)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self.count =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tkinter.IntVar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self.count_label = tkinter.Label(self.root,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textvariable=self.count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self.count_label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.grid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(row=1, column=1)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self.plus_button = tkinter.Button(self.root, text='+', command=lambda: self.add(+1))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self.plus_button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.grid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(row=1, column=2)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4127" y="1364788"/>
            <a:ext cx="3067050" cy="1123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127" y="2690351"/>
            <a:ext cx="306705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64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308618"/>
              </p:ext>
            </p:extLst>
          </p:nvPr>
        </p:nvGraphicFramePr>
        <p:xfrm>
          <a:off x="76041" y="1314506"/>
          <a:ext cx="12039918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991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increment.py (part II)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Counter_app: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__init__(self):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self.counters = 0</a:t>
                      </a:r>
                    </a:p>
                    <a:p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self.root =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tkinter.Tk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self.create =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tkinter.Button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(self.root, text='Create counter', command=self.new_counter)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self.create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.pack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new_counter(self):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('Counter ' + chr(ord('A') + self.counters))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self.counters += 1 </a:t>
                      </a:r>
                    </a:p>
                    <a:p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Counter_app()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tkinter.mainloop()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883" y="2225731"/>
            <a:ext cx="26193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4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Canvas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736661"/>
              </p:ext>
            </p:extLst>
          </p:nvPr>
        </p:nvGraphicFramePr>
        <p:xfrm>
          <a:off x="968829" y="1937362"/>
          <a:ext cx="10874828" cy="4039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482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82356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canvas.py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536796">
                <a:tc>
                  <a:txBody>
                    <a:bodyPr/>
                    <a:lstStyle/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tkinter</a:t>
                      </a:r>
                    </a:p>
                    <a:p>
                      <a:endParaRPr lang="pt-BR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 = tkinter.Tk()</a:t>
                      </a:r>
                    </a:p>
                    <a:p>
                      <a:endParaRPr lang="pt-BR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canvas = tkinter.Canvas(root, width=100, height=100)</a:t>
                      </a:r>
                    </a:p>
                    <a:p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canvas.pack()</a:t>
                      </a:r>
                    </a:p>
                    <a:p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canvas.create_line(0, 0, 100, 100)</a:t>
                      </a:r>
                    </a:p>
                    <a:p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canvas.create_oval(20, 20, 80, 80, fill='blue')</a:t>
                      </a:r>
                    </a:p>
                    <a:p>
                      <a:endParaRPr lang="pt-BR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 = tkinter.Button(root, text='Close', command=root.destroy)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close.pack()</a:t>
                      </a:r>
                    </a:p>
                    <a:p>
                      <a:endParaRPr lang="pt-BR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tkinter.mainloop()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741" y="2151969"/>
            <a:ext cx="261937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74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130753"/>
            <a:ext cx="6618514" cy="485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54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882263"/>
              </p:ext>
            </p:extLst>
          </p:nvPr>
        </p:nvGraphicFramePr>
        <p:xfrm>
          <a:off x="774253" y="316477"/>
          <a:ext cx="10606405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64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calculator.py (Part I)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</a:t>
                      </a:r>
                      <a:endParaRPr lang="da-DK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messagebox</a:t>
                      </a:r>
                      <a:endParaRPr lang="da-DK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da-DK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Calculator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__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self.root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</a:t>
                      </a:r>
                      <a:endParaRPr lang="da-DK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self.display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.Entry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self.root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font=('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Helvetica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16),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justify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tkinter.RIGHT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self.display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.insert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 '0')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self.display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.grid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=0, column=0,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columnspan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=5)  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da-DK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grid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geometry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manager 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0, '7')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1, '8')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2, '9')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3, '*')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4, 'C',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command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clearText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'C' </a:t>
                      </a:r>
                      <a:r>
                        <a:rPr lang="da-DK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endParaRPr lang="da-DK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0, '4')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1, '5')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2, '6')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3, '/')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4, '%')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0, '1')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1, '2')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2, '3')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3, '-')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4, '=',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rowspan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=2,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command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calculateExpression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'=' </a:t>
                      </a:r>
                      <a:r>
                        <a:rPr lang="da-DK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endParaRPr lang="da-DK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(4, 0, '0',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columnspan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=2)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(4, 2, '.')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(4, 3, '+')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568" y="3346236"/>
            <a:ext cx="2420258" cy="177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020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225564"/>
              </p:ext>
            </p:extLst>
          </p:nvPr>
        </p:nvGraphicFramePr>
        <p:xfrm>
          <a:off x="752481" y="109646"/>
          <a:ext cx="10606405" cy="669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64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calculator.py (Part II)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column,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command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=None,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columnspan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=1,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rowspan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=1):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command</a:t>
                      </a:r>
                      <a:r>
                        <a:rPr lang="da-DK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 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None: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command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lambda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appendToDisplay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B =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tkinter.Button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self.root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font=('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Helvetica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11),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command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command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B.grid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column=column,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rowspan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rowspan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columnspan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columnspan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sticky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='NWNESWSE')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clearText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replaceText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('0')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replaceText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self.display.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delete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 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tkinter.END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self.display.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insert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appendToDisplay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self.display.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== '0':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replaceText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self.display.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insert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tkinter.END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calculateExpression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expression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self.display.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().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replace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('%', '/ 100')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result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eval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expression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DON'T DO THIS !!!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da-DK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replaceText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result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except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messagebox.showwarning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('Message', 'Invalid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expression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tkinter.Tk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root.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title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Calculator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root.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resizable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(0, 0)  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da-DK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disallow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resizing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 </a:t>
                      </a:r>
                      <a:r>
                        <a:rPr lang="da-DK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maximizing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the </a:t>
                      </a:r>
                      <a:r>
                        <a:rPr lang="da-DK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window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Calculator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tkinter.mainloop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120" y="4487414"/>
            <a:ext cx="487666" cy="4059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286" y="2047306"/>
            <a:ext cx="2420258" cy="177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786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364" y="1"/>
            <a:ext cx="10515600" cy="669555"/>
          </a:xfrm>
        </p:spPr>
        <p:txBody>
          <a:bodyPr>
            <a:normAutofit fontScale="90000"/>
          </a:bodyPr>
          <a:lstStyle/>
          <a:p>
            <a:r>
              <a:rPr lang="en-US" dirty="0"/>
              <a:t>Creating a menu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269720"/>
              </p:ext>
            </p:extLst>
          </p:nvPr>
        </p:nvGraphicFramePr>
        <p:xfrm>
          <a:off x="201827" y="669556"/>
          <a:ext cx="11795443" cy="6034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54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65505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757906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Rectangles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Colors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['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black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'red', '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blue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'green', '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yellow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</a:t>
                      </a:r>
                    </a:p>
                    <a:p>
                      <a:r>
                        <a:rPr lang="da-DK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create_menu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menubar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Menu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self.root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menubar.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add_command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(label='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Quit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! (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Ctrl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-q)',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command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self.do_quit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editmenu =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Menu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menubar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tearoff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=0)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editmenu.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add_command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(label='Clear',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command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self.clear_all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editmenu.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add_command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(label='Delete last (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Ctrl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-z)',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command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self.delete_last_rectangle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colormenu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Menu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menubar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tearoff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=0)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for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self.Colors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</a:t>
                      </a:r>
                      <a:r>
                        <a:rPr lang="da-DK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list of </a:t>
                      </a:r>
                      <a:r>
                        <a:rPr lang="da-DK" sz="16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</a:t>
                      </a:r>
                      <a:r>
                        <a:rPr lang="da-DK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names</a:t>
                      </a:r>
                      <a:endParaRPr lang="da-DK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colormenu.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add_command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(label=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     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foreground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     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command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self.get_color_handler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menubar.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add_cascade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(label='Edit', menu=editmenu) 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menubar.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add_cascade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(label='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menu=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colormenu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self.root.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config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menu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menubar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da-DK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Show </a:t>
                      </a:r>
                      <a:r>
                        <a:rPr lang="da-DK" sz="16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menubar</a:t>
                      </a:r>
                      <a:endParaRPr lang="da-DK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get_color_handler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color):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lambda :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self.set_color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(color)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set_color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color):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self.current_color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color</a:t>
                      </a:r>
                      <a:b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25266" t="28706" r="51221" b="36251"/>
          <a:stretch/>
        </p:blipFill>
        <p:spPr>
          <a:xfrm>
            <a:off x="9214044" y="4335725"/>
            <a:ext cx="2576866" cy="216022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6335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 key and mouse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a key is pressed, mouse button is pressed/released, mouse is moved, mouse enters/leaves objects etc. </a:t>
            </a:r>
            <a:r>
              <a:rPr lang="en-US" dirty="0">
                <a:solidFill>
                  <a:srgbClr val="C00000"/>
                </a:solidFill>
              </a:rPr>
              <a:t>events</a:t>
            </a:r>
            <a:r>
              <a:rPr lang="en-US" dirty="0"/>
              <a:t> are triggered that can be bound to call a user defined </a:t>
            </a:r>
            <a:r>
              <a:rPr lang="en-US" dirty="0">
                <a:solidFill>
                  <a:srgbClr val="C00000"/>
                </a:solidFill>
              </a:rPr>
              <a:t>event handler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50135"/>
              </p:ext>
            </p:extLst>
          </p:nvPr>
        </p:nvGraphicFramePr>
        <p:xfrm>
          <a:off x="348343" y="3473335"/>
          <a:ext cx="11495314" cy="3117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5314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43849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rectangles.py  (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continued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594502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self.root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tkinter.Tk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self.root.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da-DK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&lt;Control-q&gt;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self.do_quit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self.root.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da-DK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&lt;Control-z&gt;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self.delete_last_rectangle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self.canvas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tkinter.Canvas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self.root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=300,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height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=200, 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  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background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white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  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self.canvas.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da-DK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&lt;Button-1&gt;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self.create_rectangle_start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self.canvas.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da-DK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&lt;B1-Motion&gt;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self.create_rectangle_mouse_move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self.canvas.</a:t>
                      </a:r>
                      <a:r>
                        <a:rPr lang="da-DK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da-DK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&lt;ButtonRelease-1&gt;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self.create_rectangle_end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25088" t="28830" r="51228" b="36238"/>
          <a:stretch/>
        </p:blipFill>
        <p:spPr>
          <a:xfrm>
            <a:off x="9081199" y="4156779"/>
            <a:ext cx="2514991" cy="208651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25266" t="28706" r="51221" b="36251"/>
          <a:stretch/>
        </p:blipFill>
        <p:spPr>
          <a:xfrm>
            <a:off x="13646000" y="3169943"/>
            <a:ext cx="2576866" cy="216022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4942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364" y="1"/>
            <a:ext cx="10515600" cy="836371"/>
          </a:xfrm>
        </p:spPr>
        <p:txBody>
          <a:bodyPr>
            <a:normAutofit/>
          </a:bodyPr>
          <a:lstStyle/>
          <a:p>
            <a:r>
              <a:rPr lang="en-US" dirty="0"/>
              <a:t>Handling mouse events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76533"/>
              </p:ext>
            </p:extLst>
          </p:nvPr>
        </p:nvGraphicFramePr>
        <p:xfrm>
          <a:off x="220364" y="836372"/>
          <a:ext cx="11795443" cy="5943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54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65505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rectangles.py  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continued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757906">
                <a:tc>
                  <a:txBody>
                    <a:bodyPr/>
                    <a:lstStyle/>
                    <a:p>
                      <a:r>
                        <a:rPr lang="da-DK" sz="1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create_rectangle_start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event):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radius = 3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x, y =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event.x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event.y</a:t>
                      </a:r>
                      <a:endParaRPr lang="da-DK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da-DK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self.top_pos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(x, y)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self.bottom_pos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(x, y)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self.rectangle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self.canvas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.create_rectangle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x, y,  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top-</a:t>
                      </a:r>
                      <a:r>
                        <a:rPr lang="da-DK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left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bottom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-right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      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fill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self.current_color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=1,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outline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grey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dash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=(3, 5))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self.corner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self.canvas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.create_oval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- radius, y - radius, x + radius, y + radius,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fill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white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da-DK" sz="1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create_rectangle_mouse_move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event):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self.corner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x, y =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event.x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event.y</a:t>
                      </a:r>
                      <a:endParaRPr lang="da-DK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x_, y_ =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self.bottom_pos</a:t>
                      </a:r>
                      <a:endParaRPr lang="da-DK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self.bottom_pos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(x, y)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self.canvas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.coords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self.rectangle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*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self.top_pos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*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self.bottom_pos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self.canvas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.move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self.corner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x - x_, y - y_)</a:t>
                      </a:r>
                    </a:p>
                    <a:p>
                      <a:r>
                        <a:rPr lang="da-DK" sz="1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create_rectangle_end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event):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self.corner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self.canvas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.delete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self.corner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self.corner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None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self.bottom_pos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!=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self.top_pos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self.rectangles.append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self.rectangle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self.canvas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.itemconfig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self.rectangle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</a:t>
                      </a:r>
                      <a:r>
                        <a:rPr lang="da-DK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da-DK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empty</a:t>
                      </a:r>
                      <a:r>
                        <a:rPr lang="da-DK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400" b="1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rectangle</a:t>
                      </a:r>
                      <a:r>
                        <a:rPr lang="da-DK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skip</a:t>
                      </a:r>
                      <a:endParaRPr lang="da-DK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self.canvas</a:t>
                      </a:r>
                      <a:r>
                        <a:rPr lang="da-DK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.delete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self.rectangle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self.rectangle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None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8373" y="4160551"/>
            <a:ext cx="2576866" cy="21558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9576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25.1 (convex hull GUI)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878" y="2119539"/>
            <a:ext cx="6074243" cy="4351338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3226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55853</TotalTime>
  <Words>2925</Words>
  <Application>Microsoft Office PowerPoint</Application>
  <PresentationFormat>Widescreen</PresentationFormat>
  <Paragraphs>305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Wingdings</vt:lpstr>
      <vt:lpstr>Office Theme</vt:lpstr>
      <vt:lpstr>Graphical user interfaces (GUI)</vt:lpstr>
      <vt:lpstr>PowerPoint Presentation</vt:lpstr>
      <vt:lpstr>PowerPoint Presentation</vt:lpstr>
      <vt:lpstr>PowerPoint Presentation</vt:lpstr>
      <vt:lpstr>Python GUI’s (Graphical Users Interfaces)</vt:lpstr>
      <vt:lpstr>Tkinter</vt:lpstr>
      <vt:lpstr>Terminology</vt:lpstr>
      <vt:lpstr>docs.python.org/3/library/tk.html</vt:lpstr>
      <vt:lpstr>Welcome example</vt:lpstr>
      <vt:lpstr>Welcome example (class)</vt:lpstr>
      <vt:lpstr>PowerPoint Presentation</vt:lpstr>
      <vt:lpstr>PowerPoint Presentation</vt:lpstr>
      <vt:lpstr>Canvas</vt:lpstr>
      <vt:lpstr>PowerPoint Presentation</vt:lpstr>
      <vt:lpstr>PowerPoint Presentation</vt:lpstr>
      <vt:lpstr>PowerPoint Presentation</vt:lpstr>
      <vt:lpstr>Creating a menu</vt:lpstr>
      <vt:lpstr>Binding key and mouse events</vt:lpstr>
      <vt:lpstr>Handling mouse events</vt:lpstr>
      <vt:lpstr>Exercise 25.1 (convex hull GUI)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1928</cp:revision>
  <dcterms:created xsi:type="dcterms:W3CDTF">2017-10-19T06:54:16Z</dcterms:created>
  <dcterms:modified xsi:type="dcterms:W3CDTF">2026-05-04T07:05:09Z</dcterms:modified>
</cp:coreProperties>
</file>