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2"/>
  </p:notesMasterIdLst>
  <p:sldIdLst>
    <p:sldId id="464" r:id="rId2"/>
    <p:sldId id="719" r:id="rId3"/>
    <p:sldId id="724" r:id="rId4"/>
    <p:sldId id="721" r:id="rId5"/>
    <p:sldId id="720" r:id="rId6"/>
    <p:sldId id="722" r:id="rId7"/>
    <p:sldId id="723" r:id="rId8"/>
    <p:sldId id="726" r:id="rId9"/>
    <p:sldId id="725" r:id="rId10"/>
    <p:sldId id="731" r:id="rId11"/>
    <p:sldId id="732" r:id="rId12"/>
    <p:sldId id="729" r:id="rId13"/>
    <p:sldId id="730" r:id="rId14"/>
    <p:sldId id="727" r:id="rId15"/>
    <p:sldId id="728" r:id="rId16"/>
    <p:sldId id="733" r:id="rId17"/>
    <p:sldId id="735" r:id="rId18"/>
    <p:sldId id="734" r:id="rId19"/>
    <p:sldId id="737" r:id="rId20"/>
    <p:sldId id="736" r:id="rId21"/>
  </p:sldIdLst>
  <p:sldSz cx="12192000" cy="6858000"/>
  <p:notesSz cx="6858000" cy="9144000"/>
  <p:defaultTextStyle>
    <a:defPPr>
      <a:defRPr lang="da-DK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00"/>
    <a:srgbClr val="0000FF"/>
    <a:srgbClr val="FFF2CC"/>
    <a:srgbClr val="FFA7A7"/>
    <a:srgbClr val="DEEBF7"/>
    <a:srgbClr val="E2F0D9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644" autoAdjust="0"/>
    <p:restoredTop sz="70543" autoAdjust="0"/>
  </p:normalViewPr>
  <p:slideViewPr>
    <p:cSldViewPr snapToGrid="0">
      <p:cViewPr varScale="1">
        <p:scale>
          <a:sx n="67" d="100"/>
          <a:sy n="67" d="100"/>
        </p:scale>
        <p:origin x="91" y="1920"/>
      </p:cViewPr>
      <p:guideLst/>
    </p:cSldViewPr>
  </p:slideViewPr>
  <p:outlineViewPr>
    <p:cViewPr>
      <p:scale>
        <a:sx n="33" d="100"/>
        <a:sy n="33" d="100"/>
      </p:scale>
      <p:origin x="0" y="-4216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50" d="100"/>
        <a:sy n="5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Relationship Id="rId27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erth Stølting Brodal" userId="04ef4784-6591-4f86-a140-f5c3b108582a" providerId="ADAL" clId="{73BAC7D6-516A-44B5-B4B0-C7B08CA8B392}"/>
    <pc:docChg chg="modSld">
      <pc:chgData name="Gerth Stølting Brodal" userId="04ef4784-6591-4f86-a140-f5c3b108582a" providerId="ADAL" clId="{73BAC7D6-516A-44B5-B4B0-C7B08CA8B392}" dt="2026-03-18T13:07:10.753" v="5" actId="20577"/>
      <pc:docMkLst>
        <pc:docMk/>
      </pc:docMkLst>
      <pc:sldChg chg="modSp mod">
        <pc:chgData name="Gerth Stølting Brodal" userId="04ef4784-6591-4f86-a140-f5c3b108582a" providerId="ADAL" clId="{73BAC7D6-516A-44B5-B4B0-C7B08CA8B392}" dt="2026-03-18T13:07:10.753" v="5" actId="20577"/>
        <pc:sldMkLst>
          <pc:docMk/>
          <pc:sldMk cId="3428786955" sldId="733"/>
        </pc:sldMkLst>
        <pc:graphicFrameChg chg="modGraphic">
          <ac:chgData name="Gerth Stølting Brodal" userId="04ef4784-6591-4f86-a140-f5c3b108582a" providerId="ADAL" clId="{73BAC7D6-516A-44B5-B4B0-C7B08CA8B392}" dt="2026-03-18T13:07:10.753" v="5" actId="20577"/>
          <ac:graphicFrameMkLst>
            <pc:docMk/>
            <pc:sldMk cId="3428786955" sldId="733"/>
            <ac:graphicFrameMk id="4" creationId="{00000000-0000-0000-0000-000000000000}"/>
          </ac:graphicFrameMkLst>
        </pc:graphicFrame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B1A172F-81D4-4DC4-9113-1DBD56EC3646}" type="datetimeFigureOut">
              <a:rPr lang="en-US" smtClean="0"/>
              <a:t>3/18/2026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D563DD8-32AB-41BE-B1C6-8EAC45222A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350554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basic text interface for a calculator from the console</a:t>
            </a:r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922547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“Our desktop runs on </a:t>
            </a:r>
            <a:r>
              <a:rPr lang="en-US" dirty="0" err="1"/>
              <a:t>BackSlash</a:t>
            </a:r>
            <a:r>
              <a:rPr lang="en-US" dirty="0"/>
              <a:t> Shell which is composted of a number of Open-Source Components and is built </a:t>
            </a:r>
            <a:r>
              <a:rPr lang="en-US" b="1" dirty="0"/>
              <a:t>using Qt</a:t>
            </a:r>
            <a:r>
              <a:rPr lang="en-US" dirty="0"/>
              <a:t>. 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266274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a-DK" dirty="0" err="1"/>
              <a:t>place</a:t>
            </a:r>
            <a:r>
              <a:rPr lang="da-DK" dirty="0"/>
              <a:t> </a:t>
            </a:r>
            <a:r>
              <a:rPr lang="da-DK" dirty="0" err="1"/>
              <a:t>should</a:t>
            </a:r>
            <a:r>
              <a:rPr lang="da-DK" dirty="0"/>
              <a:t> </a:t>
            </a:r>
            <a:r>
              <a:rPr lang="da-DK" dirty="0" err="1"/>
              <a:t>be</a:t>
            </a:r>
            <a:r>
              <a:rPr lang="da-DK" dirty="0"/>
              <a:t> </a:t>
            </a:r>
            <a:r>
              <a:rPr lang="da-DK" dirty="0" err="1"/>
              <a:t>avoided</a:t>
            </a:r>
            <a:r>
              <a:rPr lang="da-DK" dirty="0"/>
              <a:t> (</a:t>
            </a:r>
            <a:r>
              <a:rPr lang="en-US" dirty="0"/>
              <a:t>specific position in the parent widget)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405620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420099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inversion of control</a:t>
            </a:r>
          </a:p>
          <a:p>
            <a:endParaRPr lang="en-US" dirty="0"/>
          </a:p>
          <a:p>
            <a:r>
              <a:rPr lang="en-US" dirty="0" err="1"/>
              <a:t>mainloop</a:t>
            </a:r>
            <a:r>
              <a:rPr lang="en-US" dirty="0"/>
              <a:t>  # without this,</a:t>
            </a:r>
            <a:r>
              <a:rPr lang="en-US" baseline="0" dirty="0"/>
              <a:t> the </a:t>
            </a:r>
            <a:r>
              <a:rPr lang="en-US" baseline="0"/>
              <a:t>window will </a:t>
            </a:r>
            <a:r>
              <a:rPr lang="en-US" baseline="0" dirty="0"/>
              <a:t>show up but </a:t>
            </a:r>
            <a:r>
              <a:rPr lang="en-US" baseline="0"/>
              <a:t>program terminates </a:t>
            </a:r>
            <a:r>
              <a:rPr lang="en-US" baseline="0" dirty="0"/>
              <a:t>if run from shell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092880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a-DK" dirty="0"/>
              <a:t>(0,0) = upper </a:t>
            </a:r>
            <a:r>
              <a:rPr lang="da-DK" dirty="0" err="1"/>
              <a:t>left</a:t>
            </a:r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396517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a-DK" dirty="0" err="1"/>
              <a:t>Qt</a:t>
            </a:r>
            <a:r>
              <a:rPr lang="da-DK" baseline="0" dirty="0"/>
              <a:t> more </a:t>
            </a:r>
            <a:r>
              <a:rPr lang="da-DK" baseline="0" dirty="0" err="1"/>
              <a:t>modern</a:t>
            </a:r>
            <a:r>
              <a:rPr lang="da-DK" baseline="0" dirty="0"/>
              <a:t> </a:t>
            </a:r>
            <a:r>
              <a:rPr lang="da-DK" baseline="0" dirty="0" err="1"/>
              <a:t>framework</a:t>
            </a:r>
            <a:r>
              <a:rPr lang="da-DK" baseline="0" dirty="0"/>
              <a:t> (</a:t>
            </a:r>
            <a:r>
              <a:rPr lang="da-DK" baseline="0" dirty="0" err="1"/>
              <a:t>written</a:t>
            </a:r>
            <a:r>
              <a:rPr lang="da-DK" baseline="0" dirty="0"/>
              <a:t> in C++)</a:t>
            </a:r>
          </a:p>
          <a:p>
            <a:r>
              <a:rPr lang="da-DK" baseline="0" dirty="0"/>
              <a:t>Can </a:t>
            </a:r>
            <a:r>
              <a:rPr lang="da-DK" baseline="0" dirty="0" err="1"/>
              <a:t>use</a:t>
            </a:r>
            <a:r>
              <a:rPr lang="da-DK" baseline="0" dirty="0"/>
              <a:t> </a:t>
            </a:r>
            <a:r>
              <a:rPr lang="da-DK" baseline="0" dirty="0" err="1"/>
              <a:t>QtDesigner</a:t>
            </a:r>
            <a:r>
              <a:rPr lang="da-DK" baseline="0" dirty="0"/>
              <a:t> to design interfaces</a:t>
            </a:r>
          </a:p>
          <a:p>
            <a:endParaRPr lang="da-DK" baseline="0" dirty="0"/>
          </a:p>
          <a:p>
            <a:r>
              <a:rPr lang="da-DK" baseline="0" dirty="0" err="1"/>
              <a:t>tkinter.messagebox.showinfo</a:t>
            </a:r>
            <a:r>
              <a:rPr lang="da-DK" baseline="0" dirty="0"/>
              <a:t>  </a:t>
            </a:r>
            <a:r>
              <a:rPr lang="da-DK" baseline="0" dirty="0" err="1"/>
              <a:t>requires</a:t>
            </a:r>
            <a:r>
              <a:rPr lang="da-DK" baseline="0" dirty="0"/>
              <a:t> ”import </a:t>
            </a:r>
            <a:r>
              <a:rPr lang="da-DK" baseline="0" dirty="0" err="1"/>
              <a:t>tkinter.messagebox</a:t>
            </a:r>
            <a:r>
              <a:rPr lang="da-DK" baseline="0" dirty="0"/>
              <a:t>”, </a:t>
            </a:r>
            <a:r>
              <a:rPr lang="da-DK" baseline="0" dirty="0" err="1"/>
              <a:t>other</a:t>
            </a:r>
            <a:r>
              <a:rPr lang="da-DK" baseline="0" dirty="0"/>
              <a:t> </a:t>
            </a:r>
            <a:r>
              <a:rPr lang="da-DK" baseline="0" dirty="0" err="1"/>
              <a:t>fails</a:t>
            </a:r>
            <a:r>
              <a:rPr lang="da-DK" baseline="0" dirty="0"/>
              <a:t> with ”</a:t>
            </a:r>
            <a:r>
              <a:rPr lang="en-US" baseline="0" dirty="0"/>
              <a:t>module '</a:t>
            </a:r>
            <a:r>
              <a:rPr lang="en-US" baseline="0" dirty="0" err="1"/>
              <a:t>tkinter</a:t>
            </a:r>
            <a:r>
              <a:rPr lang="en-US" baseline="0" dirty="0"/>
              <a:t>' has no attribute '</a:t>
            </a:r>
            <a:r>
              <a:rPr lang="en-US" baseline="0" dirty="0" err="1"/>
              <a:t>messagebox</a:t>
            </a:r>
            <a:r>
              <a:rPr lang="en-US" baseline="0" dirty="0"/>
              <a:t>’” since submodule</a:t>
            </a:r>
          </a:p>
          <a:p>
            <a:r>
              <a:rPr lang="en-US" baseline="0" dirty="0"/>
              <a:t>.</a:t>
            </a:r>
            <a:r>
              <a:rPr lang="en-US" baseline="0" dirty="0" err="1"/>
              <a:t>resizeable</a:t>
            </a:r>
            <a:r>
              <a:rPr lang="en-US" baseline="0" dirty="0"/>
              <a:t>(False, False) or .</a:t>
            </a:r>
            <a:r>
              <a:rPr lang="en-US" baseline="0" dirty="0" err="1"/>
              <a:t>resizeable</a:t>
            </a:r>
            <a:r>
              <a:rPr lang="en-US" baseline="0" dirty="0"/>
              <a:t>(0, 0) disables </a:t>
            </a:r>
            <a:r>
              <a:rPr lang="en-US" baseline="0" dirty="0" err="1"/>
              <a:t>resizeable</a:t>
            </a:r>
            <a:r>
              <a:rPr lang="en-US" baseline="0" dirty="0"/>
              <a:t> and “</a:t>
            </a:r>
            <a:r>
              <a:rPr lang="en-US" baseline="0" dirty="0" err="1"/>
              <a:t>fullscreen</a:t>
            </a:r>
            <a:r>
              <a:rPr lang="en-US" baseline="0" dirty="0"/>
              <a:t>” button on the window’s </a:t>
            </a:r>
            <a:r>
              <a:rPr lang="en-US" baseline="0" dirty="0" err="1"/>
              <a:t>topbar</a:t>
            </a:r>
            <a:r>
              <a:rPr lang="en-US" baseline="0" dirty="0"/>
              <a:t>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849768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</a:t>
            </a:r>
            <a:r>
              <a:rPr lang="en-US" dirty="0" err="1"/>
              <a:t>root.config</a:t>
            </a:r>
            <a:r>
              <a:rPr lang="en-US" dirty="0"/>
              <a:t> to show menu instead of .pack or .grid</a:t>
            </a:r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829841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Keys are bound to the root window, whereas mouse clicks are bound to the specific widget</a:t>
            </a:r>
            <a:r>
              <a:rPr lang="en-US"/>
              <a:t>(=canvas)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04112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Grid : top-row 2 buttons + </a:t>
            </a:r>
            <a:r>
              <a:rPr lang="en-US" dirty="0" err="1"/>
              <a:t>tkinter.Checkbutton</a:t>
            </a:r>
            <a:r>
              <a:rPr lang="da-DK" dirty="0"/>
              <a:t>, </a:t>
            </a:r>
            <a:r>
              <a:rPr lang="da-DK" dirty="0" err="1"/>
              <a:t>button-row</a:t>
            </a:r>
            <a:r>
              <a:rPr lang="da-DK" dirty="0"/>
              <a:t> </a:t>
            </a:r>
            <a:r>
              <a:rPr lang="da-DK" dirty="0" err="1"/>
              <a:t>canvas</a:t>
            </a:r>
            <a:r>
              <a:rPr lang="da-DK" dirty="0"/>
              <a:t> with </a:t>
            </a:r>
            <a:r>
              <a:rPr lang="da-DK" dirty="0" err="1"/>
              <a:t>columnspan</a:t>
            </a:r>
            <a:r>
              <a:rPr lang="da-DK" dirty="0"/>
              <a:t>=3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419256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3/18/2026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16827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357188" indent="-357188">
              <a:buClr>
                <a:srgbClr val="C00000"/>
              </a:buClr>
              <a:buFont typeface="Wingdings" panose="05000000000000000000" pitchFamily="2" charset="2"/>
              <a:buChar char="§"/>
              <a:defRPr/>
            </a:lvl1pPr>
            <a:lvl2pPr>
              <a:buClr>
                <a:srgbClr val="C00000"/>
              </a:buClr>
              <a:defRPr/>
            </a:lvl2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3/18/2026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14733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3/18/2026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06451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3/18/2026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60520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3/18/2026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59780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3/18/2026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93776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3/18/2026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94792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3/18/2026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67897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3/18/2026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68114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3/18/2026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86055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3/18/2026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06419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560A9CD-0304-4E0B-9E82-E7E0115DE05B}" type="datetimeFigureOut">
              <a:rPr lang="en-US" smtClean="0"/>
              <a:t>3/18/2026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07961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rgbClr val="C00000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a-D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hyperlink" Target="https://wiki.python.org/moin/GuiProgramming" TargetMode="Externa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08632" y="2920558"/>
            <a:ext cx="11478568" cy="1325563"/>
          </a:xfrm>
        </p:spPr>
        <p:txBody>
          <a:bodyPr/>
          <a:lstStyle/>
          <a:p>
            <a:pPr algn="r"/>
            <a:r>
              <a:rPr lang="da-DK" dirty="0" err="1"/>
              <a:t>Graphical</a:t>
            </a:r>
            <a:r>
              <a:rPr lang="da-DK" dirty="0"/>
              <a:t> </a:t>
            </a:r>
            <a:r>
              <a:rPr lang="da-DK" dirty="0" err="1"/>
              <a:t>user</a:t>
            </a:r>
            <a:r>
              <a:rPr lang="da-DK" dirty="0"/>
              <a:t> interfaces (GUI)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999029" y="3920647"/>
            <a:ext cx="6932383" cy="2937353"/>
          </a:xfrm>
        </p:spPr>
        <p:txBody>
          <a:bodyPr>
            <a:normAutofit/>
          </a:bodyPr>
          <a:lstStyle/>
          <a:p>
            <a:r>
              <a:rPr lang="en-US" dirty="0" err="1"/>
              <a:t>Tkinter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942922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31516177"/>
              </p:ext>
            </p:extLst>
          </p:nvPr>
        </p:nvGraphicFramePr>
        <p:xfrm>
          <a:off x="797038" y="594360"/>
          <a:ext cx="8237855" cy="5669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37855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da-DK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primitive_calculator.py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2088904">
                <a:tc>
                  <a:txBody>
                    <a:bodyPr/>
                    <a:lstStyle/>
                    <a:p>
                      <a:r>
                        <a:rPr lang="en-U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accumulator = 0</a:t>
                      </a:r>
                    </a:p>
                    <a:p>
                      <a:endParaRPr lang="en-US" sz="18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while True:</a:t>
                      </a:r>
                    </a:p>
                    <a:p>
                      <a:r>
                        <a:rPr lang="en-U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print('Accumulator:', accumulator)</a:t>
                      </a:r>
                    </a:p>
                    <a:p>
                      <a:r>
                        <a:rPr lang="en-U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print('Select:')</a:t>
                      </a:r>
                    </a:p>
                    <a:p>
                      <a:r>
                        <a:rPr lang="en-U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print('  1: clear')</a:t>
                      </a:r>
                    </a:p>
                    <a:p>
                      <a:r>
                        <a:rPr lang="en-U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print('  2: add')</a:t>
                      </a:r>
                    </a:p>
                    <a:p>
                      <a:r>
                        <a:rPr lang="en-U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print('  3: subtract')</a:t>
                      </a:r>
                    </a:p>
                    <a:p>
                      <a:r>
                        <a:rPr lang="en-U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print('  4: multiply')</a:t>
                      </a:r>
                    </a:p>
                    <a:p>
                      <a:r>
                        <a:rPr lang="en-U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print('  5: quit')</a:t>
                      </a:r>
                    </a:p>
                    <a:p>
                      <a:endParaRPr lang="en-US" sz="18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choice = int(input('Choice: '))</a:t>
                      </a:r>
                    </a:p>
                    <a:p>
                      <a:endParaRPr lang="en-US" sz="18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match choice:</a:t>
                      </a:r>
                    </a:p>
                    <a:p>
                      <a:r>
                        <a:rPr lang="en-U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case 1: accumulator = 0</a:t>
                      </a:r>
                    </a:p>
                    <a:p>
                      <a:r>
                        <a:rPr lang="en-U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case 2: accumulator += int(input('add: '))</a:t>
                      </a:r>
                    </a:p>
                    <a:p>
                      <a:r>
                        <a:rPr lang="en-U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case 3: accumulator -= int(input('subtract: '))</a:t>
                      </a:r>
                    </a:p>
                    <a:p>
                      <a:r>
                        <a:rPr lang="en-U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case 4: accumulator *= int(input('multiply by: '))</a:t>
                      </a:r>
                    </a:p>
                    <a:p>
                      <a:r>
                        <a:rPr lang="en-U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case 5: break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83577140"/>
              </p:ext>
            </p:extLst>
          </p:nvPr>
        </p:nvGraphicFramePr>
        <p:xfrm>
          <a:off x="9300074" y="594360"/>
          <a:ext cx="2138680" cy="5669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38680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369940">
                <a:tc>
                  <a:txBody>
                    <a:bodyPr/>
                    <a:lstStyle/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r>
                        <a:rPr lang="da-DK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</a:t>
                      </a:r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da-DK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shell</a:t>
                      </a:r>
                      <a:endParaRPr lang="da-DK" sz="16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5299340">
                <a:tc>
                  <a:txBody>
                    <a:bodyPr/>
                    <a:lstStyle/>
                    <a:p>
                      <a:pPr marL="0" indent="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None/>
                      </a:pPr>
                      <a:r>
                        <a:rPr lang="en-US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Accumulator: </a:t>
                      </a:r>
                      <a:r>
                        <a:rPr lang="en-US" sz="1600" b="1" baseline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</a:t>
                      </a:r>
                    </a:p>
                    <a:p>
                      <a:pPr marL="0" indent="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None/>
                      </a:pPr>
                      <a:r>
                        <a:rPr lang="en-US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Select:</a:t>
                      </a:r>
                    </a:p>
                    <a:p>
                      <a:pPr marL="0" indent="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None/>
                      </a:pPr>
                      <a:r>
                        <a:rPr lang="en-US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1: clear</a:t>
                      </a:r>
                    </a:p>
                    <a:p>
                      <a:pPr marL="0" indent="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None/>
                      </a:pPr>
                      <a:r>
                        <a:rPr lang="en-US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2: add</a:t>
                      </a:r>
                    </a:p>
                    <a:p>
                      <a:pPr marL="0" indent="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None/>
                      </a:pPr>
                      <a:r>
                        <a:rPr lang="en-US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3: subtract</a:t>
                      </a:r>
                    </a:p>
                    <a:p>
                      <a:pPr marL="0" indent="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None/>
                      </a:pPr>
                      <a:r>
                        <a:rPr lang="en-US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4: multiply</a:t>
                      </a:r>
                    </a:p>
                    <a:p>
                      <a:pPr marL="0" indent="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None/>
                      </a:pPr>
                      <a:r>
                        <a:rPr lang="en-US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5: quit</a:t>
                      </a:r>
                    </a:p>
                    <a:p>
                      <a:pPr marL="0" indent="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None/>
                      </a:pPr>
                      <a:r>
                        <a:rPr lang="en-US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Choice: </a:t>
                      </a:r>
                      <a:r>
                        <a:rPr lang="en-US" sz="1600" b="1" baseline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</a:t>
                      </a:r>
                    </a:p>
                    <a:p>
                      <a:pPr marL="0" indent="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None/>
                      </a:pPr>
                      <a:r>
                        <a:rPr lang="en-US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add: </a:t>
                      </a:r>
                      <a:r>
                        <a:rPr lang="en-US" sz="1600" b="1" baseline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10</a:t>
                      </a:r>
                    </a:p>
                    <a:p>
                      <a:pPr marL="0" indent="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None/>
                      </a:pPr>
                      <a:r>
                        <a:rPr lang="en-US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Accumulator: </a:t>
                      </a:r>
                      <a:r>
                        <a:rPr lang="en-US" sz="1600" b="1" baseline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10</a:t>
                      </a:r>
                    </a:p>
                    <a:p>
                      <a:pPr marL="0" indent="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None/>
                      </a:pPr>
                      <a:r>
                        <a:rPr lang="en-US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Select:</a:t>
                      </a:r>
                    </a:p>
                    <a:p>
                      <a:pPr marL="0" indent="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None/>
                      </a:pPr>
                      <a:r>
                        <a:rPr lang="en-US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1: clear</a:t>
                      </a:r>
                    </a:p>
                    <a:p>
                      <a:pPr marL="0" indent="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None/>
                      </a:pPr>
                      <a:r>
                        <a:rPr lang="en-US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2: add</a:t>
                      </a:r>
                    </a:p>
                    <a:p>
                      <a:pPr marL="0" indent="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None/>
                      </a:pPr>
                      <a:r>
                        <a:rPr lang="en-US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3: subtract</a:t>
                      </a:r>
                    </a:p>
                    <a:p>
                      <a:pPr marL="0" indent="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None/>
                      </a:pPr>
                      <a:r>
                        <a:rPr lang="en-US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4: multiply</a:t>
                      </a:r>
                    </a:p>
                    <a:p>
                      <a:pPr marL="0" indent="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None/>
                      </a:pPr>
                      <a:r>
                        <a:rPr lang="en-US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5: quit</a:t>
                      </a:r>
                    </a:p>
                    <a:p>
                      <a:pPr marL="0" indent="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None/>
                      </a:pPr>
                      <a:r>
                        <a:rPr lang="en-US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Choice: </a:t>
                      </a:r>
                      <a:r>
                        <a:rPr lang="en-US" sz="1600" b="1" baseline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</a:t>
                      </a:r>
                    </a:p>
                    <a:p>
                      <a:pPr marL="0" indent="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None/>
                      </a:pPr>
                      <a:r>
                        <a:rPr lang="en-US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add: </a:t>
                      </a:r>
                      <a:r>
                        <a:rPr lang="en-US" sz="1600" b="1" baseline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15</a:t>
                      </a:r>
                    </a:p>
                    <a:p>
                      <a:pPr marL="0" indent="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None/>
                      </a:pPr>
                      <a:r>
                        <a:rPr lang="en-US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Accumulator: </a:t>
                      </a:r>
                      <a:r>
                        <a:rPr lang="en-US" sz="1600" b="1" baseline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25</a:t>
                      </a:r>
                    </a:p>
                    <a:p>
                      <a:pPr marL="0" indent="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None/>
                      </a:pPr>
                      <a:r>
                        <a:rPr lang="en-US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Select:</a:t>
                      </a:r>
                    </a:p>
                    <a:p>
                      <a:pPr marL="0" indent="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None/>
                      </a:pPr>
                      <a:r>
                        <a:rPr lang="en-US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...</a:t>
                      </a:r>
                      <a:endParaRPr lang="pt-BR" sz="1600" b="1" baseline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4427630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 rotWithShape="1">
          <a:blip r:embed="rId2"/>
          <a:srcRect l="12759" t="59602" r="12657"/>
          <a:stretch/>
        </p:blipFill>
        <p:spPr>
          <a:xfrm>
            <a:off x="0" y="-55342"/>
            <a:ext cx="12192000" cy="6913342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7184571" y="4582886"/>
            <a:ext cx="1665515" cy="29391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9C8794E-A018-4433-B6EB-3B14B3ABBA1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051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26360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3285" y="745304"/>
            <a:ext cx="11843657" cy="5058985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4785399" y="6211669"/>
            <a:ext cx="2599430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b="1" dirty="0" err="1"/>
              <a:t>BackSlash</a:t>
            </a:r>
            <a:r>
              <a:rPr lang="en-US" b="1" dirty="0"/>
              <a:t> Linux GUI</a:t>
            </a:r>
            <a:br>
              <a:rPr lang="en-US" b="1" dirty="0"/>
            </a:br>
            <a:r>
              <a:rPr lang="en-US" b="1" dirty="0"/>
              <a:t>www.backslashlinux.com</a:t>
            </a:r>
          </a:p>
        </p:txBody>
      </p:sp>
    </p:spTree>
    <p:extLst>
      <p:ext uri="{BB962C8B-B14F-4D97-AF65-F5344CB8AC3E}">
        <p14:creationId xmlns:p14="http://schemas.microsoft.com/office/powerpoint/2010/main" val="215122633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Python GUI’s (Graphical Users Interfaces)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5167312"/>
          </a:xfrm>
        </p:spPr>
        <p:txBody>
          <a:bodyPr>
            <a:normAutofit lnSpcReduction="10000"/>
          </a:bodyPr>
          <a:lstStyle/>
          <a:p>
            <a:r>
              <a:rPr lang="en-US" dirty="0"/>
              <a:t>There is a long list of GUI frameworks and toolkits, designer tools</a:t>
            </a:r>
          </a:p>
          <a:p>
            <a:pPr lvl="1"/>
            <a:r>
              <a:rPr lang="en-US" dirty="0"/>
              <a:t>we will only briefly look at </a:t>
            </a:r>
            <a:r>
              <a:rPr lang="en-US" dirty="0" err="1">
                <a:solidFill>
                  <a:srgbClr val="C00000"/>
                </a:solidFill>
              </a:rPr>
              <a:t>Tkinter</a:t>
            </a:r>
            <a:endParaRPr lang="en-US" dirty="0">
              <a:solidFill>
                <a:srgbClr val="C00000"/>
              </a:solidFill>
            </a:endParaRPr>
          </a:p>
          <a:p>
            <a:r>
              <a:rPr lang="en-US" dirty="0"/>
              <a:t>GUI are, opposed to a text terminal,</a:t>
            </a:r>
            <a:br>
              <a:rPr lang="en-US" dirty="0"/>
            </a:br>
            <a:r>
              <a:rPr lang="en-US" dirty="0">
                <a:solidFill>
                  <a:srgbClr val="C00000"/>
                </a:solidFill>
              </a:rPr>
              <a:t>easier to use</a:t>
            </a:r>
            <a:r>
              <a:rPr lang="en-US" dirty="0"/>
              <a:t>, </a:t>
            </a:r>
            <a:r>
              <a:rPr lang="en-US" dirty="0">
                <a:solidFill>
                  <a:srgbClr val="C00000"/>
                </a:solidFill>
              </a:rPr>
              <a:t>more intuitive</a:t>
            </a:r>
            <a:r>
              <a:rPr lang="en-US" dirty="0"/>
              <a:t> and </a:t>
            </a:r>
            <a:r>
              <a:rPr lang="en-US" dirty="0">
                <a:solidFill>
                  <a:srgbClr val="C00000"/>
                </a:solidFill>
              </a:rPr>
              <a:t>flexible</a:t>
            </a:r>
          </a:p>
          <a:p>
            <a:r>
              <a:rPr lang="en-US" dirty="0"/>
              <a:t>Windows, icons, menus, buttons, scrollbars </a:t>
            </a:r>
            <a:br>
              <a:rPr lang="en-US" dirty="0"/>
            </a:br>
            <a:r>
              <a:rPr lang="en-US" dirty="0"/>
              <a:t>mouse / touch / keyboard interaction etc.</a:t>
            </a:r>
          </a:p>
          <a:p>
            <a:r>
              <a:rPr lang="en-US" dirty="0"/>
              <a:t>Operating system (e.g. Windows, </a:t>
            </a:r>
            <a:r>
              <a:rPr lang="en-US" dirty="0" err="1"/>
              <a:t>maxOS</a:t>
            </a:r>
            <a:r>
              <a:rPr lang="en-US" dirty="0"/>
              <a:t>, iOS, </a:t>
            </a:r>
            <a:br>
              <a:rPr lang="en-US" dirty="0"/>
            </a:br>
            <a:r>
              <a:rPr lang="en-US" dirty="0"/>
              <a:t>Linux, Android) provides basic functionality</a:t>
            </a:r>
            <a:br>
              <a:rPr lang="en-US" dirty="0"/>
            </a:br>
            <a:r>
              <a:rPr lang="en-US" dirty="0"/>
              <a:t>in particular a </a:t>
            </a:r>
            <a:r>
              <a:rPr lang="en-US" dirty="0">
                <a:solidFill>
                  <a:srgbClr val="C00000"/>
                </a:solidFill>
              </a:rPr>
              <a:t>window manager</a:t>
            </a:r>
          </a:p>
          <a:p>
            <a:r>
              <a:rPr lang="en-US" dirty="0"/>
              <a:t>Writing GUI applications from scratch can be </a:t>
            </a:r>
            <a:br>
              <a:rPr lang="en-US" dirty="0"/>
            </a:br>
            <a:r>
              <a:rPr lang="en-US" dirty="0"/>
              <a:t>painful – frameworks try to provide all standard </a:t>
            </a:r>
            <a:br>
              <a:rPr lang="en-US" dirty="0"/>
            </a:br>
            <a:r>
              <a:rPr lang="en-US" dirty="0"/>
              <a:t>functionality</a:t>
            </a:r>
          </a:p>
          <a:p>
            <a:endParaRPr lang="en-US" dirty="0"/>
          </a:p>
        </p:txBody>
      </p:sp>
      <p:sp>
        <p:nvSpPr>
          <p:cNvPr id="4" name="Rectangle 3"/>
          <p:cNvSpPr/>
          <p:nvPr/>
        </p:nvSpPr>
        <p:spPr>
          <a:xfrm>
            <a:off x="8053124" y="6350322"/>
            <a:ext cx="399481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n-US" dirty="0">
                <a:hlinkClick r:id="rId2"/>
              </a:rPr>
              <a:t>wiki.python.org/</a:t>
            </a:r>
            <a:r>
              <a:rPr lang="en-US" dirty="0" err="1">
                <a:hlinkClick r:id="rId2"/>
              </a:rPr>
              <a:t>moin</a:t>
            </a:r>
            <a:r>
              <a:rPr lang="en-US" dirty="0">
                <a:hlinkClick r:id="rId2"/>
              </a:rPr>
              <a:t>/</a:t>
            </a:r>
            <a:r>
              <a:rPr lang="en-US" dirty="0" err="1">
                <a:hlinkClick r:id="rId2"/>
              </a:rPr>
              <a:t>GuiProgramming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60606" y="2900063"/>
            <a:ext cx="3459328" cy="2594496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231529" y="5494559"/>
            <a:ext cx="3917482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1400" dirty="0"/>
              <a:t>en.wikipedia.org/wiki/</a:t>
            </a:r>
            <a:r>
              <a:rPr lang="en-US" sz="1400" dirty="0" err="1"/>
              <a:t>Colossal_Cave_Adventure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347260657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Tkinter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199" y="1738536"/>
            <a:ext cx="10632141" cy="5032375"/>
          </a:xfrm>
        </p:spPr>
        <p:txBody>
          <a:bodyPr>
            <a:normAutofit/>
          </a:bodyPr>
          <a:lstStyle/>
          <a:p>
            <a:r>
              <a:rPr lang="en-US" dirty="0"/>
              <a:t>“</a:t>
            </a:r>
            <a:r>
              <a:rPr lang="en-US" dirty="0" err="1">
                <a:solidFill>
                  <a:srgbClr val="C00000"/>
                </a:solidFill>
              </a:rPr>
              <a:t>Tkinter</a:t>
            </a:r>
            <a:r>
              <a:rPr lang="en-US" dirty="0"/>
              <a:t> is </a:t>
            </a:r>
            <a:r>
              <a:rPr lang="en-US" dirty="0">
                <a:solidFill>
                  <a:srgbClr val="C00000"/>
                </a:solidFill>
              </a:rPr>
              <a:t>Python's de-facto standard GUI </a:t>
            </a:r>
            <a:r>
              <a:rPr lang="en-US" dirty="0"/>
              <a:t>(Graphical User Interface) package. It is a thin object-oriented layer on top of </a:t>
            </a:r>
            <a:r>
              <a:rPr lang="en-US" dirty="0" err="1">
                <a:solidFill>
                  <a:srgbClr val="C00000"/>
                </a:solidFill>
              </a:rPr>
              <a:t>Tcl</a:t>
            </a:r>
            <a:r>
              <a:rPr lang="en-US" dirty="0">
                <a:solidFill>
                  <a:srgbClr val="C00000"/>
                </a:solidFill>
              </a:rPr>
              <a:t>/Tk</a:t>
            </a:r>
            <a:r>
              <a:rPr lang="en-US" dirty="0"/>
              <a:t>.”</a:t>
            </a:r>
          </a:p>
          <a:p>
            <a:r>
              <a:rPr lang="en-US" dirty="0"/>
              <a:t>“</a:t>
            </a:r>
            <a:r>
              <a:rPr lang="en-US" dirty="0" err="1">
                <a:solidFill>
                  <a:srgbClr val="C00000"/>
                </a:solidFill>
              </a:rPr>
              <a:t>Tcl</a:t>
            </a:r>
            <a:r>
              <a:rPr lang="en-US" dirty="0"/>
              <a:t> is a high-level, general-purpose, interpreted, dynamic programming language.”</a:t>
            </a:r>
          </a:p>
          <a:p>
            <a:r>
              <a:rPr lang="en-US" dirty="0"/>
              <a:t>“</a:t>
            </a:r>
            <a:r>
              <a:rPr lang="en-US" dirty="0" err="1">
                <a:solidFill>
                  <a:srgbClr val="C00000"/>
                </a:solidFill>
              </a:rPr>
              <a:t>Tk</a:t>
            </a:r>
            <a:r>
              <a:rPr lang="en-US" dirty="0"/>
              <a:t> is a free and open-source, cross-platform widget toolkit that provides a library of basic elements of GUI widgets for building a graphical user interface (GUI) in many programming languages.”</a:t>
            </a:r>
          </a:p>
          <a:p>
            <a:r>
              <a:rPr lang="en-US" dirty="0"/>
              <a:t>“The popular combination of </a:t>
            </a:r>
            <a:r>
              <a:rPr lang="en-US" dirty="0" err="1"/>
              <a:t>Tcl</a:t>
            </a:r>
            <a:r>
              <a:rPr lang="en-US" dirty="0"/>
              <a:t> with the </a:t>
            </a:r>
            <a:r>
              <a:rPr lang="en-US" dirty="0" err="1"/>
              <a:t>Tk</a:t>
            </a:r>
            <a:r>
              <a:rPr lang="en-US" dirty="0"/>
              <a:t> extension is referred to as </a:t>
            </a:r>
            <a:r>
              <a:rPr lang="en-US" dirty="0" err="1"/>
              <a:t>Tcl</a:t>
            </a:r>
            <a:r>
              <a:rPr lang="en-US" dirty="0"/>
              <a:t>/</a:t>
            </a:r>
            <a:r>
              <a:rPr lang="en-US" dirty="0" err="1"/>
              <a:t>Tk</a:t>
            </a:r>
            <a:r>
              <a:rPr lang="en-US" dirty="0"/>
              <a:t>, and enables building a graphical user interface (GUI) natively in </a:t>
            </a:r>
            <a:r>
              <a:rPr lang="en-US" dirty="0" err="1"/>
              <a:t>Tcl</a:t>
            </a:r>
            <a:r>
              <a:rPr lang="en-US" dirty="0"/>
              <a:t>. </a:t>
            </a:r>
            <a:r>
              <a:rPr lang="en-US" dirty="0" err="1">
                <a:solidFill>
                  <a:srgbClr val="C00000"/>
                </a:solidFill>
              </a:rPr>
              <a:t>Tcl</a:t>
            </a:r>
            <a:r>
              <a:rPr lang="en-US" dirty="0">
                <a:solidFill>
                  <a:srgbClr val="C00000"/>
                </a:solidFill>
              </a:rPr>
              <a:t>/</a:t>
            </a:r>
            <a:r>
              <a:rPr lang="en-US" dirty="0" err="1">
                <a:solidFill>
                  <a:srgbClr val="C00000"/>
                </a:solidFill>
              </a:rPr>
              <a:t>Tk</a:t>
            </a:r>
            <a:r>
              <a:rPr lang="en-US" dirty="0">
                <a:solidFill>
                  <a:srgbClr val="C00000"/>
                </a:solidFill>
              </a:rPr>
              <a:t> is included in the standard Python installation in the form of </a:t>
            </a:r>
            <a:r>
              <a:rPr lang="en-US" dirty="0" err="1">
                <a:solidFill>
                  <a:srgbClr val="C00000"/>
                </a:solidFill>
              </a:rPr>
              <a:t>Tkinter</a:t>
            </a:r>
            <a:r>
              <a:rPr lang="en-US" dirty="0"/>
              <a:t>.”</a:t>
            </a:r>
          </a:p>
        </p:txBody>
      </p:sp>
      <p:sp>
        <p:nvSpPr>
          <p:cNvPr id="4" name="Rectangle 3"/>
          <p:cNvSpPr/>
          <p:nvPr/>
        </p:nvSpPr>
        <p:spPr>
          <a:xfrm>
            <a:off x="10377365" y="6401191"/>
            <a:ext cx="173515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en.wikipedia.org</a:t>
            </a:r>
          </a:p>
        </p:txBody>
      </p:sp>
    </p:spTree>
    <p:extLst>
      <p:ext uri="{BB962C8B-B14F-4D97-AF65-F5344CB8AC3E}">
        <p14:creationId xmlns:p14="http://schemas.microsoft.com/office/powerpoint/2010/main" val="6151926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50258" y="365125"/>
            <a:ext cx="10803542" cy="1325563"/>
          </a:xfrm>
        </p:spPr>
        <p:txBody>
          <a:bodyPr/>
          <a:lstStyle/>
          <a:p>
            <a:r>
              <a:rPr lang="da-DK" dirty="0" err="1"/>
              <a:t>Terminology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50258" y="1825625"/>
            <a:ext cx="10803542" cy="4351338"/>
          </a:xfrm>
        </p:spPr>
        <p:txBody>
          <a:bodyPr/>
          <a:lstStyle/>
          <a:p>
            <a:r>
              <a:rPr lang="en-US" dirty="0">
                <a:solidFill>
                  <a:srgbClr val="C00000"/>
                </a:solidFill>
              </a:rPr>
              <a:t>widgets</a:t>
            </a:r>
            <a:r>
              <a:rPr lang="en-US" dirty="0"/>
              <a:t> (e.g. buttons, editable text fields, labels, scrollbars, menus, radio buttons, check buttons, canvas for drawing, frames...)</a:t>
            </a:r>
          </a:p>
          <a:p>
            <a:r>
              <a:rPr lang="en-US" dirty="0">
                <a:solidFill>
                  <a:srgbClr val="C00000"/>
                </a:solidFill>
              </a:rPr>
              <a:t>events</a:t>
            </a:r>
            <a:r>
              <a:rPr lang="en-US" dirty="0"/>
              <a:t> (e.g. key press, mouse click, mouse entering/leaving, resizing windows, redraw requests, ...)</a:t>
            </a:r>
          </a:p>
          <a:p>
            <a:r>
              <a:rPr lang="en-US" dirty="0">
                <a:solidFill>
                  <a:srgbClr val="C00000"/>
                </a:solidFill>
              </a:rPr>
              <a:t>listening</a:t>
            </a:r>
            <a:r>
              <a:rPr lang="en-US" dirty="0"/>
              <a:t> (application waits for events to be fired)</a:t>
            </a:r>
          </a:p>
          <a:p>
            <a:r>
              <a:rPr lang="en-US" dirty="0">
                <a:solidFill>
                  <a:srgbClr val="C00000"/>
                </a:solidFill>
              </a:rPr>
              <a:t>event handler</a:t>
            </a:r>
            <a:r>
              <a:rPr lang="en-US" dirty="0"/>
              <a:t> (a function whose purpose is to handle an event, many triggered by user or OS/Window manager)</a:t>
            </a:r>
          </a:p>
          <a:p>
            <a:r>
              <a:rPr lang="en-US" dirty="0">
                <a:solidFill>
                  <a:srgbClr val="C00000"/>
                </a:solidFill>
              </a:rPr>
              <a:t>geometry managers</a:t>
            </a:r>
            <a:r>
              <a:rPr lang="en-US" dirty="0"/>
              <a:t> (how to organize widgets in a window: </a:t>
            </a:r>
            <a:r>
              <a:rPr lang="en-US" dirty="0" err="1"/>
              <a:t>Tkinter</a:t>
            </a:r>
            <a:r>
              <a:rPr lang="en-US" dirty="0"/>
              <a:t> </a:t>
            </a:r>
            <a:r>
              <a:rPr lang="en-US" i="1" dirty="0"/>
              <a:t>pack</a:t>
            </a:r>
            <a:r>
              <a:rPr lang="en-US" dirty="0"/>
              <a:t>, </a:t>
            </a:r>
            <a:r>
              <a:rPr lang="en-US" i="1" dirty="0"/>
              <a:t>grid</a:t>
            </a:r>
            <a:r>
              <a:rPr lang="en-US" dirty="0"/>
              <a:t>, </a:t>
            </a:r>
            <a:r>
              <a:rPr lang="en-US" i="1" dirty="0"/>
              <a:t>place</a:t>
            </a:r>
            <a:r>
              <a:rPr lang="en-US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914067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docs.python.org/3/library/tk.html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3290937"/>
            <a:ext cx="10515600" cy="667677"/>
          </a:xfrm>
        </p:spPr>
        <p:txBody>
          <a:bodyPr/>
          <a:lstStyle/>
          <a:p>
            <a:pPr marL="0" indent="0" algn="ctr">
              <a:buNone/>
            </a:pPr>
            <a:r>
              <a:rPr lang="en-US" dirty="0"/>
              <a:t>“</a:t>
            </a:r>
            <a:r>
              <a:rPr lang="en-US" i="1" dirty="0" err="1"/>
              <a:t>tkinter</a:t>
            </a:r>
            <a:r>
              <a:rPr lang="en-US" i="1" dirty="0"/>
              <a:t> is also famous for having an outdated look and feel</a:t>
            </a:r>
            <a:r>
              <a:rPr lang="en-US" dirty="0"/>
              <a:t>”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4833" y="3290937"/>
            <a:ext cx="487666" cy="405904"/>
          </a:xfrm>
          <a:prstGeom prst="rect">
            <a:avLst/>
          </a:prstGeom>
        </p:spPr>
      </p:pic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27267216-01DE-41F7-88A2-E9164B52849C}"/>
              </a:ext>
            </a:extLst>
          </p:cNvPr>
          <p:cNvSpPr txBox="1">
            <a:spLocks/>
          </p:cNvSpPr>
          <p:nvPr/>
        </p:nvSpPr>
        <p:spPr>
          <a:xfrm>
            <a:off x="838200" y="5171089"/>
            <a:ext cx="10515600" cy="112460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57188" indent="-357188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C00000"/>
              </a:buClr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C00000"/>
              </a:buClr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a-DK" dirty="0" err="1"/>
              <a:t>Comes</a:t>
            </a:r>
            <a:r>
              <a:rPr lang="da-DK" dirty="0"/>
              <a:t> with Python</a:t>
            </a:r>
          </a:p>
          <a:p>
            <a:r>
              <a:rPr lang="da-DK" dirty="0"/>
              <a:t>Alternatives </a:t>
            </a:r>
            <a:r>
              <a:rPr lang="da-DK" dirty="0" err="1"/>
              <a:t>PySide</a:t>
            </a:r>
            <a:r>
              <a:rPr lang="da-DK" dirty="0"/>
              <a:t>, </a:t>
            </a:r>
            <a:r>
              <a:rPr lang="da-DK" dirty="0" err="1"/>
              <a:t>PyQt</a:t>
            </a:r>
            <a:r>
              <a:rPr lang="da-DK" dirty="0"/>
              <a:t>, </a:t>
            </a:r>
            <a:r>
              <a:rPr lang="da-DK" dirty="0" err="1"/>
              <a:t>Kivy</a:t>
            </a:r>
            <a:r>
              <a:rPr lang="da-DK" dirty="0"/>
              <a:t>, …</a:t>
            </a:r>
          </a:p>
        </p:txBody>
      </p:sp>
    </p:spTree>
    <p:extLst>
      <p:ext uri="{BB962C8B-B14F-4D97-AF65-F5344CB8AC3E}">
        <p14:creationId xmlns:p14="http://schemas.microsoft.com/office/powerpoint/2010/main" val="348301611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Box 16"/>
          <p:cNvSpPr txBox="1"/>
          <p:nvPr/>
        </p:nvSpPr>
        <p:spPr>
          <a:xfrm>
            <a:off x="10981497" y="1720659"/>
            <a:ext cx="6990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padx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Welcome</a:t>
            </a:r>
            <a:r>
              <a:rPr lang="da-DK" dirty="0"/>
              <a:t> </a:t>
            </a:r>
            <a:r>
              <a:rPr lang="da-DK" dirty="0" err="1"/>
              <a:t>example</a:t>
            </a:r>
            <a:endParaRPr lang="en-US" dirty="0"/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74122213"/>
              </p:ext>
            </p:extLst>
          </p:nvPr>
        </p:nvGraphicFramePr>
        <p:xfrm>
          <a:off x="407035" y="2370310"/>
          <a:ext cx="11377930" cy="4404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77930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da-DK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welcome.py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2088904"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</a:pPr>
                      <a:r>
                        <a:rPr lang="pt-BR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import </a:t>
                      </a:r>
                      <a:r>
                        <a:rPr lang="pt-BR" sz="18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tkinter</a:t>
                      </a: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pt-BR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root = </a:t>
                      </a:r>
                      <a:r>
                        <a:rPr lang="pt-BR" sz="18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tkinter.Tk</a:t>
                      </a:r>
                      <a:r>
                        <a:rPr lang="pt-BR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  </a:t>
                      </a:r>
                      <a:r>
                        <a:rPr lang="pt-BR" sz="1800" b="1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</a:t>
                      </a:r>
                      <a:r>
                        <a:rPr lang="pt-BR" sz="1800" b="1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root window</a:t>
                      </a:r>
                      <a:endParaRPr lang="pt-BR" sz="1800" b="1" dirty="0">
                        <a:solidFill>
                          <a:schemeClr val="bg1">
                            <a:lumMod val="50000"/>
                          </a:schemeClr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pt-BR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 </a:t>
                      </a:r>
                      <a:r>
                        <a:rPr lang="pt-BR" sz="1800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do_quit</a:t>
                      </a:r>
                      <a:r>
                        <a:rPr lang="pt-BR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():  </a:t>
                      </a:r>
                      <a:r>
                        <a:rPr lang="pt-BR" sz="1800" b="1" i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event handler for</a:t>
                      </a:r>
                      <a:r>
                        <a:rPr lang="pt-BR" sz="1800" b="1" i="0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'Close' button</a:t>
                      </a:r>
                      <a:r>
                        <a:rPr lang="pt-BR" sz="1800" b="1" i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pt-BR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pt-BR" sz="18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root.destroy</a:t>
                      </a:r>
                      <a:r>
                        <a:rPr lang="pt-BR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</a:t>
                      </a: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pt-BR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root</a:t>
                      </a:r>
                      <a:r>
                        <a:rPr lang="pt-BR" sz="18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.title</a:t>
                      </a:r>
                      <a:r>
                        <a:rPr lang="pt-BR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('Tkinter Welcome GUI')</a:t>
                      </a: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pt-BR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label = </a:t>
                      </a:r>
                      <a:r>
                        <a:rPr lang="pt-BR" sz="18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tkinter.Label</a:t>
                      </a:r>
                      <a:r>
                        <a:rPr lang="pt-BR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(root, text='Welcome to Tkinter', background='yellow',</a:t>
                      </a:r>
                      <a:br>
                        <a:rPr lang="pt-BR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</a:br>
                      <a:r>
                        <a:rPr lang="pt-BR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           anchor=tkinter.SE, font=('Helvetica', '24', 'bold italic'),</a:t>
                      </a:r>
                      <a:br>
                        <a:rPr lang="pt-BR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</a:br>
                      <a:r>
                        <a:rPr lang="pt-BR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           </a:t>
                      </a:r>
                      <a:r>
                        <a:rPr lang="pt-BR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padx=10, pady=10)</a:t>
                      </a:r>
                    </a:p>
                    <a:p>
                      <a:r>
                        <a:rPr lang="pt-BR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label</a:t>
                      </a:r>
                      <a:r>
                        <a:rPr lang="pt-BR" sz="18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.pack</a:t>
                      </a:r>
                      <a:r>
                        <a:rPr lang="pt-BR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(side=</a:t>
                      </a:r>
                      <a:r>
                        <a:rPr lang="pt-BR" sz="18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tkinter.LEFT</a:t>
                      </a:r>
                      <a:r>
                        <a:rPr lang="pt-BR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fill=</a:t>
                      </a:r>
                      <a:r>
                        <a:rPr lang="pt-BR" sz="18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tkinter.BOTH</a:t>
                      </a:r>
                      <a:r>
                        <a:rPr lang="pt-BR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expand=True)</a:t>
                      </a:r>
                    </a:p>
                    <a:p>
                      <a:endParaRPr lang="pt-BR" sz="18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pt-BR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close_button = </a:t>
                      </a:r>
                      <a:r>
                        <a:rPr lang="pt-BR" sz="18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tkinter.Button</a:t>
                      </a:r>
                      <a:r>
                        <a:rPr lang="pt-BR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(root, text='Close', command=</a:t>
                      </a:r>
                      <a:r>
                        <a:rPr lang="pt-BR" sz="1800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do_quit</a:t>
                      </a:r>
                      <a:r>
                        <a:rPr lang="pt-BR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</a:p>
                    <a:p>
                      <a:r>
                        <a:rPr lang="pt-BR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close_button</a:t>
                      </a:r>
                      <a:r>
                        <a:rPr lang="pt-BR" sz="18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.pack</a:t>
                      </a:r>
                      <a:r>
                        <a:rPr lang="pt-BR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(side=</a:t>
                      </a:r>
                      <a:r>
                        <a:rPr lang="pt-BR" sz="18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tkinter.RIGHT</a:t>
                      </a:r>
                      <a:r>
                        <a:rPr lang="pt-BR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pt-BR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tkinter</a:t>
                      </a:r>
                      <a:r>
                        <a:rPr lang="pt-BR" sz="18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.mainloop</a:t>
                      </a:r>
                      <a:r>
                        <a:rPr lang="pt-BR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  </a:t>
                      </a:r>
                      <a:r>
                        <a:rPr lang="pt-BR" sz="1800" b="1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loop until all windows are closed/destroyed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5308956" y="5632780"/>
            <a:ext cx="2536372" cy="33745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a-DK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</a:t>
            </a:r>
            <a:r>
              <a:rPr lang="da-DK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parent</a:t>
            </a:r>
            <a:r>
              <a:rPr lang="da-DK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a-DK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window</a:t>
            </a:r>
            <a:endParaRPr lang="en-US" b="1" dirty="0">
              <a:solidFill>
                <a:schemeClr val="bg1">
                  <a:lumMod val="50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9" name="Straight Arrow Connector 8"/>
          <p:cNvCxnSpPr/>
          <p:nvPr/>
        </p:nvCxnSpPr>
        <p:spPr>
          <a:xfrm flipH="1">
            <a:off x="5011512" y="5799684"/>
            <a:ext cx="500744" cy="130629"/>
          </a:xfrm>
          <a:prstGeom prst="straightConnector1">
            <a:avLst/>
          </a:prstGeom>
          <a:ln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/>
          <p:cNvCxnSpPr/>
          <p:nvPr/>
        </p:nvCxnSpPr>
        <p:spPr>
          <a:xfrm flipH="1" flipV="1">
            <a:off x="3886200" y="4707924"/>
            <a:ext cx="1626056" cy="1081218"/>
          </a:xfrm>
          <a:prstGeom prst="straightConnector1">
            <a:avLst/>
          </a:prstGeom>
          <a:ln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54549" y="340011"/>
            <a:ext cx="4776485" cy="1350677"/>
          </a:xfrm>
          <a:prstGeom prst="rect">
            <a:avLst/>
          </a:prstGeom>
          <a:ln>
            <a:solidFill>
              <a:schemeClr val="tx1"/>
            </a:solidFill>
          </a:ln>
        </p:spPr>
      </p:pic>
      <p:grpSp>
        <p:nvGrpSpPr>
          <p:cNvPr id="18" name="Group 17"/>
          <p:cNvGrpSpPr/>
          <p:nvPr/>
        </p:nvGrpSpPr>
        <p:grpSpPr>
          <a:xfrm>
            <a:off x="11215540" y="1737671"/>
            <a:ext cx="116267" cy="72000"/>
            <a:chOff x="11215540" y="1737671"/>
            <a:chExt cx="116267" cy="72000"/>
          </a:xfrm>
        </p:grpSpPr>
        <p:cxnSp>
          <p:nvCxnSpPr>
            <p:cNvPr id="12" name="Straight Connector 11"/>
            <p:cNvCxnSpPr/>
            <p:nvPr/>
          </p:nvCxnSpPr>
          <p:spPr>
            <a:xfrm>
              <a:off x="11215540" y="1773671"/>
              <a:ext cx="115479" cy="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4" name="Straight Connector 13"/>
            <p:cNvCxnSpPr/>
            <p:nvPr/>
          </p:nvCxnSpPr>
          <p:spPr>
            <a:xfrm flipH="1" flipV="1">
              <a:off x="11217111" y="1737671"/>
              <a:ext cx="0" cy="7200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" name="Straight Connector 15"/>
            <p:cNvCxnSpPr/>
            <p:nvPr/>
          </p:nvCxnSpPr>
          <p:spPr>
            <a:xfrm flipH="1" flipV="1">
              <a:off x="11331807" y="1737671"/>
              <a:ext cx="0" cy="7200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3" name="Group 22"/>
          <p:cNvGrpSpPr/>
          <p:nvPr/>
        </p:nvGrpSpPr>
        <p:grpSpPr>
          <a:xfrm rot="16200000">
            <a:off x="6868127" y="1596955"/>
            <a:ext cx="116267" cy="72000"/>
            <a:chOff x="11215540" y="1737671"/>
            <a:chExt cx="116267" cy="72000"/>
          </a:xfrm>
        </p:grpSpPr>
        <p:cxnSp>
          <p:nvCxnSpPr>
            <p:cNvPr id="24" name="Straight Connector 23"/>
            <p:cNvCxnSpPr/>
            <p:nvPr/>
          </p:nvCxnSpPr>
          <p:spPr>
            <a:xfrm>
              <a:off x="11215540" y="1773671"/>
              <a:ext cx="115479" cy="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5" name="Straight Connector 24"/>
            <p:cNvCxnSpPr/>
            <p:nvPr/>
          </p:nvCxnSpPr>
          <p:spPr>
            <a:xfrm flipH="1" flipV="1">
              <a:off x="11217111" y="1737671"/>
              <a:ext cx="0" cy="7200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6" name="Straight Connector 25"/>
            <p:cNvCxnSpPr/>
            <p:nvPr/>
          </p:nvCxnSpPr>
          <p:spPr>
            <a:xfrm flipH="1" flipV="1">
              <a:off x="11331807" y="1737671"/>
              <a:ext cx="0" cy="7200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7" name="TextBox 26"/>
          <p:cNvSpPr txBox="1"/>
          <p:nvPr/>
        </p:nvSpPr>
        <p:spPr>
          <a:xfrm>
            <a:off x="6209217" y="1426283"/>
            <a:ext cx="6990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 err="1"/>
              <a:t>pady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9047904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3872" y="73706"/>
            <a:ext cx="10515600" cy="1325563"/>
          </a:xfrm>
        </p:spPr>
        <p:txBody>
          <a:bodyPr/>
          <a:lstStyle/>
          <a:p>
            <a:r>
              <a:rPr lang="da-DK" dirty="0" err="1"/>
              <a:t>Welcome</a:t>
            </a:r>
            <a:r>
              <a:rPr lang="da-DK" dirty="0"/>
              <a:t> </a:t>
            </a:r>
            <a:r>
              <a:rPr lang="da-DK" dirty="0" err="1"/>
              <a:t>example</a:t>
            </a:r>
            <a:r>
              <a:rPr lang="da-DK" dirty="0"/>
              <a:t> (</a:t>
            </a:r>
            <a:r>
              <a:rPr lang="da-DK" dirty="0" err="1"/>
              <a:t>class</a:t>
            </a:r>
            <a:r>
              <a:rPr lang="da-DK" dirty="0"/>
              <a:t>)</a:t>
            </a:r>
            <a:endParaRPr lang="en-US" dirty="0"/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65631321"/>
              </p:ext>
            </p:extLst>
          </p:nvPr>
        </p:nvGraphicFramePr>
        <p:xfrm>
          <a:off x="503872" y="1257756"/>
          <a:ext cx="11184255" cy="5059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184255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welcome_class.py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2088904">
                <a:tc>
                  <a:txBody>
                    <a:bodyPr/>
                    <a:lstStyle/>
                    <a:p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import tkinter</a:t>
                      </a:r>
                    </a:p>
                    <a:p>
                      <a:endParaRPr lang="pt-BR" sz="16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pt-BR" sz="1600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class</a:t>
                      </a:r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Welcome:</a:t>
                      </a:r>
                    </a:p>
                    <a:p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pt-BR" sz="1600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</a:t>
                      </a:r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do_quit(self):  </a:t>
                      </a:r>
                      <a:r>
                        <a:rPr lang="pt-BR" sz="1600" b="1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event</a:t>
                      </a:r>
                      <a:r>
                        <a:rPr lang="pt-BR" sz="1600" b="1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handler for 'Close'</a:t>
                      </a:r>
                      <a:endParaRPr lang="pt-BR" sz="1600" b="1" dirty="0">
                        <a:solidFill>
                          <a:schemeClr val="bg1">
                            <a:lumMod val="50000"/>
                          </a:schemeClr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self.root.destroy()</a:t>
                      </a:r>
                    </a:p>
                    <a:p>
                      <a:endParaRPr lang="pt-BR" sz="16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pt-BR" sz="1600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</a:t>
                      </a:r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__init__(self, window_title):</a:t>
                      </a:r>
                    </a:p>
                    <a:p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self.root = tkinter.Tk()</a:t>
                      </a:r>
                    </a:p>
                    <a:p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self.root.title(window_title)</a:t>
                      </a:r>
                    </a:p>
                    <a:p>
                      <a:endParaRPr lang="pt-BR" sz="16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self.label = tkinter.Label(self.root, text='Welcome')</a:t>
                      </a:r>
                    </a:p>
                    <a:p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self.label.pack(side=tkinter.LEFT)</a:t>
                      </a:r>
                    </a:p>
                    <a:p>
                      <a:endParaRPr lang="pt-BR" sz="16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self.close_button = tkinter.Button(self.root, text='Close', command=self.do_quit)</a:t>
                      </a:r>
                    </a:p>
                    <a:p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self.close_button.pack(side=tkinter.RIGHT)</a:t>
                      </a:r>
                    </a:p>
                    <a:p>
                      <a:endParaRPr lang="pt-BR" sz="16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Welcome('My Window')</a:t>
                      </a:r>
                    </a:p>
                    <a:p>
                      <a:endParaRPr lang="pt-BR" sz="16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tkinter.mainloop() 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pic>
        <p:nvPicPr>
          <p:cNvPr id="12" name="Picture 1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4453" y="2168981"/>
            <a:ext cx="3390900" cy="828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894782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23884831"/>
              </p:ext>
            </p:extLst>
          </p:nvPr>
        </p:nvGraphicFramePr>
        <p:xfrm>
          <a:off x="283446" y="365125"/>
          <a:ext cx="11625107" cy="6080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625107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increment.py (part I)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2088904">
                <a:tc>
                  <a:txBody>
                    <a:bodyPr/>
                    <a:lstStyle/>
                    <a:p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import tkinter</a:t>
                      </a:r>
                    </a:p>
                    <a:p>
                      <a:endParaRPr lang="pt-BR" sz="16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class Counter:</a:t>
                      </a:r>
                    </a:p>
                    <a:p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def do_quit(self):</a:t>
                      </a: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self.root.destroy()</a:t>
                      </a:r>
                    </a:p>
                    <a:p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def add(self, x):</a:t>
                      </a:r>
                    </a:p>
                    <a:p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self.counter += x</a:t>
                      </a: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self.count</a:t>
                      </a:r>
                      <a:r>
                        <a:rPr lang="pt-BR" sz="16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.set</a:t>
                      </a:r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(self.counter)</a:t>
                      </a:r>
                    </a:p>
                    <a:p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def __init__(self, message):</a:t>
                      </a: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self.counter = 0</a:t>
                      </a:r>
                    </a:p>
                    <a:p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self.root = tkinter.</a:t>
                      </a:r>
                      <a:r>
                        <a:rPr lang="pt-BR" sz="16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Toplevel</a:t>
                      </a:r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 </a:t>
                      </a:r>
                      <a:r>
                        <a:rPr lang="pt-BR" sz="1600" b="1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# new window</a:t>
                      </a: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self.root.title('Counter')</a:t>
                      </a:r>
                    </a:p>
                    <a:p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self.label = tkinter.Label(self.root, text=message)</a:t>
                      </a: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self.label</a:t>
                      </a:r>
                      <a:r>
                        <a:rPr lang="pt-BR" sz="16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.grid</a:t>
                      </a:r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(row=0, columnspan=3)</a:t>
                      </a:r>
                    </a:p>
                    <a:p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self.minus_button = tkinter.Button(self.root, text='-', command=lambda: self.add(-1))</a:t>
                      </a: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self.minus_button</a:t>
                      </a:r>
                      <a:r>
                        <a:rPr lang="pt-BR" sz="16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.grid</a:t>
                      </a:r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(row=1, column=0)</a:t>
                      </a:r>
                    </a:p>
                    <a:p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self.count = </a:t>
                      </a:r>
                      <a:r>
                        <a:rPr lang="pt-BR" sz="16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tkinter.IntVar</a:t>
                      </a:r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</a:t>
                      </a:r>
                    </a:p>
                    <a:p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self.count_label = tkinter.Label(self.root, </a:t>
                      </a:r>
                      <a:r>
                        <a:rPr lang="pt-BR" sz="16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textvariable=self.count</a:t>
                      </a:r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self.count_label</a:t>
                      </a:r>
                      <a:r>
                        <a:rPr lang="pt-BR" sz="16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.grid</a:t>
                      </a:r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(row=1, column=1)</a:t>
                      </a:r>
                    </a:p>
                    <a:p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self.plus_button = tkinter.Button(self.root, text='+', command=lambda: self.add(+1))</a:t>
                      </a:r>
                    </a:p>
                    <a:p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self.plus_button</a:t>
                      </a:r>
                      <a:r>
                        <a:rPr lang="pt-BR" sz="16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.grid</a:t>
                      </a:r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(row=1, column=2)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64127" y="1027906"/>
            <a:ext cx="3067050" cy="1123950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64127" y="2353469"/>
            <a:ext cx="3067050" cy="1123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026493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36308618"/>
              </p:ext>
            </p:extLst>
          </p:nvPr>
        </p:nvGraphicFramePr>
        <p:xfrm>
          <a:off x="76041" y="1314506"/>
          <a:ext cx="12039918" cy="4328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039918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increment.py (part II)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2088904">
                <a:tc>
                  <a:txBody>
                    <a:bodyPr/>
                    <a:lstStyle/>
                    <a:p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class Counter_app:</a:t>
                      </a:r>
                    </a:p>
                    <a:p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def __init__(self):</a:t>
                      </a:r>
                    </a:p>
                    <a:p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self.counters = 0</a:t>
                      </a:r>
                    </a:p>
                    <a:p>
                      <a:endParaRPr lang="pt-BR" sz="16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self.root = </a:t>
                      </a:r>
                      <a:r>
                        <a:rPr lang="pt-BR" sz="16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tkinter.Tk</a:t>
                      </a:r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</a:t>
                      </a:r>
                    </a:p>
                    <a:p>
                      <a:endParaRPr lang="pt-BR" sz="16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self.create = </a:t>
                      </a:r>
                      <a:r>
                        <a:rPr lang="pt-BR" sz="16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tkinter.Button</a:t>
                      </a:r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(self.root, text='Create counter', command=self.new_counter)</a:t>
                      </a:r>
                    </a:p>
                    <a:p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self.create</a:t>
                      </a:r>
                      <a:r>
                        <a:rPr lang="pt-BR" sz="16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.pack</a:t>
                      </a:r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</a:t>
                      </a:r>
                    </a:p>
                    <a:p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</a:t>
                      </a:r>
                    </a:p>
                    <a:p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def new_counter(self):</a:t>
                      </a:r>
                    </a:p>
                    <a:p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</a:t>
                      </a:r>
                      <a:r>
                        <a:rPr lang="pt-BR" sz="16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Counter</a:t>
                      </a:r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('Counter ' + chr(ord('A') + self.counters))</a:t>
                      </a:r>
                    </a:p>
                    <a:p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self.counters += 1 </a:t>
                      </a:r>
                    </a:p>
                    <a:p>
                      <a:endParaRPr lang="pt-BR" sz="16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Counter_app()</a:t>
                      </a:r>
                    </a:p>
                    <a:p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</a:t>
                      </a:r>
                    </a:p>
                    <a:p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tkinter.mainloop() 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22883" y="2225731"/>
            <a:ext cx="2619375" cy="828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174739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Canvas</a:t>
            </a:r>
            <a:endParaRPr lang="en-US" dirty="0"/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46736661"/>
              </p:ext>
            </p:extLst>
          </p:nvPr>
        </p:nvGraphicFramePr>
        <p:xfrm>
          <a:off x="968829" y="1937362"/>
          <a:ext cx="10874828" cy="40399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874828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382356">
                <a:tc>
                  <a:txBody>
                    <a:bodyPr/>
                    <a:lstStyle/>
                    <a:p>
                      <a:r>
                        <a:rPr lang="da-DK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canvas.py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3536796">
                <a:tc>
                  <a:txBody>
                    <a:bodyPr/>
                    <a:lstStyle/>
                    <a:p>
                      <a:r>
                        <a:rPr lang="pt-BR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import tkinter</a:t>
                      </a:r>
                    </a:p>
                    <a:p>
                      <a:endParaRPr lang="pt-BR" sz="18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pt-BR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root = tkinter.Tk()</a:t>
                      </a:r>
                    </a:p>
                    <a:p>
                      <a:endParaRPr lang="pt-BR" sz="18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pt-BR" sz="18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canvas = tkinter.Canvas(root, width=100, height=100)</a:t>
                      </a:r>
                    </a:p>
                    <a:p>
                      <a:r>
                        <a:rPr lang="pt-BR" sz="18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canvas.pack()</a:t>
                      </a:r>
                    </a:p>
                    <a:p>
                      <a:r>
                        <a:rPr lang="pt-BR" sz="18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canvas.create_line(0, 0, 100, 100)</a:t>
                      </a:r>
                    </a:p>
                    <a:p>
                      <a:r>
                        <a:rPr lang="pt-BR" sz="18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canvas.create_oval(20, 20, 80, 80, fill='blue')</a:t>
                      </a:r>
                    </a:p>
                    <a:p>
                      <a:endParaRPr lang="pt-BR" sz="18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pt-BR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close = tkinter.Button(root, text='Close', command=root.destroy)</a:t>
                      </a:r>
                    </a:p>
                    <a:p>
                      <a:r>
                        <a:rPr lang="pt-BR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close.pack()</a:t>
                      </a:r>
                    </a:p>
                    <a:p>
                      <a:endParaRPr lang="pt-BR" sz="18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pt-BR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tkinter.mainloop()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pic>
        <p:nvPicPr>
          <p:cNvPr id="7" name="Picture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31741" y="2151969"/>
            <a:ext cx="2619375" cy="23145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167460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9400" y="1130753"/>
            <a:ext cx="6618514" cy="4855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575490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31882263"/>
              </p:ext>
            </p:extLst>
          </p:nvPr>
        </p:nvGraphicFramePr>
        <p:xfrm>
          <a:off x="774253" y="316477"/>
          <a:ext cx="10606405" cy="6309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606405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calculator.py (Part I)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2088904">
                <a:tc>
                  <a:txBody>
                    <a:bodyPr/>
                    <a:lstStyle/>
                    <a:p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import </a:t>
                      </a:r>
                      <a:r>
                        <a:rPr lang="da-DK" sz="1400" b="1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tkinter</a:t>
                      </a:r>
                      <a:endParaRPr lang="da-DK" sz="1400" b="1" dirty="0">
                        <a:solidFill>
                          <a:srgbClr val="C0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from </a:t>
                      </a:r>
                      <a:r>
                        <a:rPr lang="da-DK" sz="1400" b="1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tkinter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import </a:t>
                      </a:r>
                      <a:r>
                        <a:rPr lang="da-DK" sz="1400" b="1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messagebox</a:t>
                      </a:r>
                      <a:endParaRPr lang="da-DK" sz="1400" b="1" dirty="0">
                        <a:solidFill>
                          <a:srgbClr val="C0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endParaRPr lang="da-DK" sz="14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class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Calculator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</a:t>
                      </a:r>
                    </a:p>
                    <a:p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def __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init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__(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root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):</a:t>
                      </a: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self.root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root</a:t>
                      </a:r>
                      <a:endParaRPr lang="da-DK" sz="14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self.display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tkinter</a:t>
                      </a:r>
                      <a:r>
                        <a:rPr lang="da-DK" sz="1400" b="1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.Entry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self.root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font=('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Helvetica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', 16),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justify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</a:t>
                      </a:r>
                      <a:r>
                        <a:rPr lang="da-DK" sz="1400" b="1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tkinter.RIGHT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</a:p>
                    <a:p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self.display</a:t>
                      </a:r>
                      <a:r>
                        <a:rPr lang="da-DK" sz="1400" b="1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.insert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(0, '0')</a:t>
                      </a: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self.display</a:t>
                      </a:r>
                      <a:r>
                        <a:rPr lang="da-DK" sz="1400" b="1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.grid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row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=0, column=0,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columnspan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=5)  </a:t>
                      </a:r>
                      <a:r>
                        <a:rPr lang="da-DK" sz="1400" b="1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</a:t>
                      </a:r>
                      <a:r>
                        <a:rPr lang="da-DK" sz="1400" b="1" dirty="0" err="1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grid</a:t>
                      </a:r>
                      <a:r>
                        <a:rPr lang="da-DK" sz="1400" b="1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</a:t>
                      </a:r>
                      <a:r>
                        <a:rPr lang="da-DK" sz="1400" b="1" dirty="0" err="1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geometry</a:t>
                      </a:r>
                      <a:r>
                        <a:rPr lang="da-DK" sz="1400" b="1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manager </a:t>
                      </a:r>
                    </a:p>
                    <a:p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</a:t>
                      </a:r>
                      <a:r>
                        <a:rPr lang="da-DK" sz="1400" b="1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button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(1, 0, '7')</a:t>
                      </a:r>
                    </a:p>
                    <a:p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</a:t>
                      </a:r>
                      <a:r>
                        <a:rPr lang="da-DK" sz="1400" b="1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button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(1, 1, '8')</a:t>
                      </a:r>
                    </a:p>
                    <a:p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</a:t>
                      </a:r>
                      <a:r>
                        <a:rPr lang="da-DK" sz="1400" b="1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button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(1, 2, '9')</a:t>
                      </a:r>
                    </a:p>
                    <a:p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</a:t>
                      </a:r>
                      <a:r>
                        <a:rPr lang="da-DK" sz="1400" b="1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button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(1, 3, '*')</a:t>
                      </a:r>
                    </a:p>
                    <a:p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</a:t>
                      </a:r>
                      <a:r>
                        <a:rPr lang="da-DK" sz="1400" b="1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button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(1, 4, 'C',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command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</a:t>
                      </a:r>
                      <a:r>
                        <a:rPr lang="da-DK" sz="1400" b="1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clearText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  </a:t>
                      </a:r>
                      <a:r>
                        <a:rPr lang="da-DK" sz="1400" b="1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'C' </a:t>
                      </a:r>
                      <a:r>
                        <a:rPr lang="da-DK" sz="1400" b="1" dirty="0" err="1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button</a:t>
                      </a:r>
                      <a:endParaRPr lang="da-DK" sz="1400" b="1" dirty="0">
                        <a:solidFill>
                          <a:schemeClr val="bg1">
                            <a:lumMod val="50000"/>
                          </a:schemeClr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</a:t>
                      </a:r>
                      <a:r>
                        <a:rPr lang="da-DK" sz="1400" b="1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button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(2, 0, '4')</a:t>
                      </a:r>
                    </a:p>
                    <a:p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</a:t>
                      </a:r>
                      <a:r>
                        <a:rPr lang="da-DK" sz="1400" b="1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button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(2, 1, '5')</a:t>
                      </a:r>
                    </a:p>
                    <a:p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</a:t>
                      </a:r>
                      <a:r>
                        <a:rPr lang="da-DK" sz="1400" b="1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button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(2, 2, '6')</a:t>
                      </a:r>
                    </a:p>
                    <a:p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</a:t>
                      </a:r>
                      <a:r>
                        <a:rPr lang="da-DK" sz="1400" b="1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button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(2, 3, '/')</a:t>
                      </a:r>
                    </a:p>
                    <a:p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</a:t>
                      </a:r>
                      <a:r>
                        <a:rPr lang="da-DK" sz="1400" b="1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button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(2, 4, '%')</a:t>
                      </a:r>
                    </a:p>
                    <a:p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</a:t>
                      </a:r>
                      <a:r>
                        <a:rPr lang="da-DK" sz="1400" b="1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button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(3, 0, '1')</a:t>
                      </a:r>
                    </a:p>
                    <a:p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</a:t>
                      </a:r>
                      <a:r>
                        <a:rPr lang="da-DK" sz="1400" b="1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button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(3, 1, '2')</a:t>
                      </a:r>
                    </a:p>
                    <a:p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</a:t>
                      </a:r>
                      <a:r>
                        <a:rPr lang="da-DK" sz="1400" b="1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button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(3, 2, '3')</a:t>
                      </a:r>
                    </a:p>
                    <a:p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</a:t>
                      </a:r>
                      <a:r>
                        <a:rPr lang="da-DK" sz="1400" b="1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button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(3, 3, '-')</a:t>
                      </a:r>
                    </a:p>
                    <a:p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</a:t>
                      </a:r>
                      <a:r>
                        <a:rPr lang="da-DK" sz="1400" b="1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button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(3, 4, '=',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rowspan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=2,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command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</a:t>
                      </a:r>
                      <a:r>
                        <a:rPr lang="da-DK" sz="1400" b="1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calculateExpression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  </a:t>
                      </a:r>
                      <a:r>
                        <a:rPr lang="da-DK" sz="1400" b="1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'=' </a:t>
                      </a:r>
                      <a:r>
                        <a:rPr lang="da-DK" sz="1400" b="1" dirty="0" err="1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button</a:t>
                      </a:r>
                      <a:endParaRPr lang="da-DK" sz="1400" b="1" dirty="0">
                        <a:solidFill>
                          <a:schemeClr val="bg1">
                            <a:lumMod val="50000"/>
                          </a:schemeClr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</a:t>
                      </a:r>
                      <a:r>
                        <a:rPr lang="da-DK" sz="1400" b="1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button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(4, 0, '0',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columnspan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=2)</a:t>
                      </a:r>
                    </a:p>
                    <a:p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</a:t>
                      </a:r>
                      <a:r>
                        <a:rPr lang="da-DK" sz="1400" b="1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button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(4, 2, '.')</a:t>
                      </a:r>
                    </a:p>
                    <a:p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</a:t>
                      </a:r>
                      <a:r>
                        <a:rPr lang="da-DK" sz="1400" b="1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button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(4, 3, '+')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32568" y="3346236"/>
            <a:ext cx="2420258" cy="17757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102040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73225564"/>
              </p:ext>
            </p:extLst>
          </p:nvPr>
        </p:nvGraphicFramePr>
        <p:xfrm>
          <a:off x="752481" y="109646"/>
          <a:ext cx="10606405" cy="669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606405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calculator.py (Part II)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2088904">
                <a:tc>
                  <a:txBody>
                    <a:bodyPr/>
                    <a:lstStyle/>
                    <a:p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def </a:t>
                      </a:r>
                      <a:r>
                        <a:rPr lang="da-DK" sz="1400" b="1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button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row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column,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text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command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=None,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columnspan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=1,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rowspan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=1):</a:t>
                      </a:r>
                    </a:p>
                    <a:p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if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command</a:t>
                      </a:r>
                      <a:r>
                        <a:rPr lang="da-DK" sz="1400" b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is 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None:</a:t>
                      </a:r>
                    </a:p>
                    <a:p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command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lambda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</a:t>
                      </a:r>
                      <a:r>
                        <a:rPr lang="da-DK" sz="1400" b="1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appendToDisplay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text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</a:p>
                    <a:p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B =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tkinter.Button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self.root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font=('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Helvetica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', 11),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text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text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command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command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B.grid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row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row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column=column,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rowspan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rowspan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columnspan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columnspan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</a:t>
                      </a:r>
                      <a:r>
                        <a:rPr lang="da-DK" sz="1400" b="1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sticky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='NWNESWSE')</a:t>
                      </a:r>
                    </a:p>
                    <a:p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def </a:t>
                      </a:r>
                      <a:r>
                        <a:rPr lang="da-DK" sz="1400" b="1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clearText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):</a:t>
                      </a: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</a:t>
                      </a:r>
                      <a:r>
                        <a:rPr lang="da-DK" sz="1400" b="1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replaceText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('0')</a:t>
                      </a:r>
                    </a:p>
                    <a:p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def </a:t>
                      </a:r>
                      <a:r>
                        <a:rPr lang="da-DK" sz="1400" b="1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replaceText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text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):</a:t>
                      </a:r>
                    </a:p>
                    <a:p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self.display.</a:t>
                      </a:r>
                      <a:r>
                        <a:rPr lang="da-DK" sz="1400" b="1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delete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(0, </a:t>
                      </a:r>
                      <a:r>
                        <a:rPr lang="da-DK" sz="1400" b="1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tkinter.END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self.display.</a:t>
                      </a:r>
                      <a:r>
                        <a:rPr lang="da-DK" sz="1400" b="1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insert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(0,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text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</a:p>
                    <a:p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def </a:t>
                      </a:r>
                      <a:r>
                        <a:rPr lang="da-DK" sz="1400" b="1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appendToDisplay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text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):</a:t>
                      </a:r>
                    </a:p>
                    <a:p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if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self.display.</a:t>
                      </a:r>
                      <a:r>
                        <a:rPr lang="da-DK" sz="1400" b="1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get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 == '0':</a:t>
                      </a:r>
                    </a:p>
                    <a:p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</a:t>
                      </a:r>
                      <a:r>
                        <a:rPr lang="da-DK" sz="1400" b="1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replaceText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text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</a:p>
                    <a:p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else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</a:t>
                      </a: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self.display.</a:t>
                      </a:r>
                      <a:r>
                        <a:rPr lang="da-DK" sz="1400" b="1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insert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da-DK" sz="1400" b="1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tkinter.END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text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</a:p>
                    <a:p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def </a:t>
                      </a:r>
                      <a:r>
                        <a:rPr lang="da-DK" sz="1400" b="1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calculateExpression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):</a:t>
                      </a:r>
                    </a:p>
                    <a:p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expression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self.display.</a:t>
                      </a:r>
                      <a:r>
                        <a:rPr lang="da-DK" sz="1400" b="1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get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().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replace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('%', '/ 100')</a:t>
                      </a:r>
                    </a:p>
                    <a:p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try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</a:t>
                      </a:r>
                    </a:p>
                    <a:p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result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</a:t>
                      </a:r>
                      <a:r>
                        <a:rPr lang="da-DK" sz="1400" b="1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eval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expression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  </a:t>
                      </a:r>
                      <a:r>
                        <a:rPr lang="da-DK" sz="1400" b="1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DON'T DO THIS !!!</a:t>
                      </a:r>
                    </a:p>
                    <a:p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</a:t>
                      </a:r>
                      <a:r>
                        <a:rPr lang="da-DK" sz="1400" b="1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replaceText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result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</a:p>
                    <a:p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except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</a:t>
                      </a: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 </a:t>
                      </a:r>
                      <a:r>
                        <a:rPr lang="da-DK" sz="1400" b="1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messagebox.showwarning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('Message', 'Invalid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expression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')</a:t>
                      </a:r>
                    </a:p>
                    <a:p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root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</a:t>
                      </a:r>
                      <a:r>
                        <a:rPr lang="da-DK" sz="1400" b="1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tkinter.Tk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</a:t>
                      </a:r>
                    </a:p>
                    <a:p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root.</a:t>
                      </a:r>
                      <a:r>
                        <a:rPr lang="da-DK" sz="1400" b="1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title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('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Calculator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')</a:t>
                      </a: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root.</a:t>
                      </a:r>
                      <a:r>
                        <a:rPr lang="da-DK" sz="1400" b="1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resizable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(0, 0)  </a:t>
                      </a:r>
                      <a:r>
                        <a:rPr lang="da-DK" sz="1400" b="1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</a:t>
                      </a:r>
                      <a:r>
                        <a:rPr lang="da-DK" sz="1400" b="1" dirty="0" err="1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disallow</a:t>
                      </a:r>
                      <a:r>
                        <a:rPr lang="da-DK" sz="1400" b="1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da-DK" sz="1400" b="1" dirty="0" err="1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resizing</a:t>
                      </a:r>
                      <a:r>
                        <a:rPr lang="da-DK" sz="1400" b="1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and </a:t>
                      </a:r>
                      <a:r>
                        <a:rPr lang="da-DK" sz="1400" b="1" dirty="0" err="1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maximizing</a:t>
                      </a:r>
                      <a:r>
                        <a:rPr lang="da-DK" sz="1400" b="1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the </a:t>
                      </a:r>
                      <a:r>
                        <a:rPr lang="da-DK" sz="1400" b="1" dirty="0" err="1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window</a:t>
                      </a:r>
                      <a:r>
                        <a:rPr lang="da-DK" sz="1400" b="1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Calculator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root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</a:p>
                    <a:p>
                      <a:r>
                        <a:rPr lang="da-DK" sz="1400" b="1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tkinter.mainloop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pic>
        <p:nvPicPr>
          <p:cNvPr id="3" name="Picture 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93120" y="4487414"/>
            <a:ext cx="487666" cy="405904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72286" y="2047306"/>
            <a:ext cx="2420258" cy="17757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878695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0364" y="1"/>
            <a:ext cx="10515600" cy="669555"/>
          </a:xfrm>
        </p:spPr>
        <p:txBody>
          <a:bodyPr>
            <a:normAutofit fontScale="90000"/>
          </a:bodyPr>
          <a:lstStyle/>
          <a:p>
            <a:r>
              <a:rPr lang="en-US" dirty="0"/>
              <a:t>Creating a menu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25269720"/>
              </p:ext>
            </p:extLst>
          </p:nvPr>
        </p:nvGraphicFramePr>
        <p:xfrm>
          <a:off x="201827" y="669556"/>
          <a:ext cx="11795443" cy="603478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795443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365505">
                <a:tc>
                  <a:txBody>
                    <a:bodyPr/>
                    <a:lstStyle/>
                    <a:p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rectangles.py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2757906">
                <a:tc>
                  <a:txBody>
                    <a:bodyPr/>
                    <a:lstStyle/>
                    <a:p>
                      <a:r>
                        <a:rPr lang="da-DK" sz="1600" b="1" dirty="0" err="1">
                          <a:solidFill>
                            <a:schemeClr val="accent5">
                              <a:lumMod val="75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class</a:t>
                      </a:r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da-DK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Rectangles</a:t>
                      </a:r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</a:t>
                      </a: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da-DK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Colors</a:t>
                      </a:r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['</a:t>
                      </a:r>
                      <a:r>
                        <a:rPr lang="da-DK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black</a:t>
                      </a:r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', 'red', '</a:t>
                      </a:r>
                      <a:r>
                        <a:rPr lang="da-DK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blue</a:t>
                      </a:r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', 'green', '</a:t>
                      </a:r>
                      <a:r>
                        <a:rPr lang="da-DK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yellow</a:t>
                      </a:r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']</a:t>
                      </a:r>
                    </a:p>
                    <a:p>
                      <a:r>
                        <a:rPr lang="da-DK" sz="1600" b="1" dirty="0">
                          <a:solidFill>
                            <a:schemeClr val="accent5">
                              <a:lumMod val="75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def</a:t>
                      </a:r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da-DK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create_menu</a:t>
                      </a:r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da-DK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</a:t>
                      </a:r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):</a:t>
                      </a:r>
                    </a:p>
                    <a:p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</a:t>
                      </a:r>
                      <a:r>
                        <a:rPr lang="da-DK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menubar</a:t>
                      </a:r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</a:t>
                      </a:r>
                      <a:r>
                        <a:rPr lang="da-DK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tkinter.</a:t>
                      </a:r>
                      <a:r>
                        <a:rPr lang="da-DK" sz="1600" b="1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Menu</a:t>
                      </a:r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da-DK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self.root</a:t>
                      </a:r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da-DK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da-DK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menubar.</a:t>
                      </a:r>
                      <a:r>
                        <a:rPr lang="da-DK" sz="1600" b="1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add_command</a:t>
                      </a:r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(label='</a:t>
                      </a:r>
                      <a:r>
                        <a:rPr lang="da-DK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Quit</a:t>
                      </a:r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! (</a:t>
                      </a:r>
                      <a:r>
                        <a:rPr lang="da-DK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Ctrl</a:t>
                      </a:r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-q)', </a:t>
                      </a:r>
                      <a:r>
                        <a:rPr lang="da-DK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command</a:t>
                      </a:r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</a:t>
                      </a:r>
                      <a:r>
                        <a:rPr lang="da-DK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self.do_quit</a:t>
                      </a:r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</a:p>
                    <a:p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editmenu = </a:t>
                      </a:r>
                      <a:r>
                        <a:rPr lang="da-DK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tkinter.</a:t>
                      </a:r>
                      <a:r>
                        <a:rPr lang="da-DK" sz="1600" b="1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Menu</a:t>
                      </a:r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da-DK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menubar</a:t>
                      </a:r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</a:t>
                      </a:r>
                      <a:r>
                        <a:rPr lang="da-DK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tearoff</a:t>
                      </a:r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=0)</a:t>
                      </a:r>
                    </a:p>
                    <a:p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</a:t>
                      </a:r>
                      <a:r>
                        <a:rPr lang="da-DK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editmenu.</a:t>
                      </a:r>
                      <a:r>
                        <a:rPr lang="da-DK" sz="1600" b="1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add_command</a:t>
                      </a:r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(label='Clear', </a:t>
                      </a:r>
                      <a:r>
                        <a:rPr lang="da-DK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command</a:t>
                      </a:r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</a:t>
                      </a:r>
                      <a:r>
                        <a:rPr lang="da-DK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self.clear_all</a:t>
                      </a:r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</a:t>
                      </a:r>
                      <a:r>
                        <a:rPr lang="da-DK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editmenu.</a:t>
                      </a:r>
                      <a:r>
                        <a:rPr lang="da-DK" sz="1600" b="1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add_command</a:t>
                      </a:r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(label='Delete last (</a:t>
                      </a:r>
                      <a:r>
                        <a:rPr lang="da-DK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Ctrl</a:t>
                      </a:r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-z)', </a:t>
                      </a:r>
                      <a:r>
                        <a:rPr lang="da-DK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command</a:t>
                      </a:r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</a:t>
                      </a:r>
                      <a:r>
                        <a:rPr lang="da-DK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self.delete_last_rectangle</a:t>
                      </a:r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</a:p>
                    <a:p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</a:t>
                      </a:r>
                      <a:r>
                        <a:rPr lang="da-DK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colormenu</a:t>
                      </a:r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</a:t>
                      </a:r>
                      <a:r>
                        <a:rPr lang="da-DK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tkinter.</a:t>
                      </a:r>
                      <a:r>
                        <a:rPr lang="da-DK" sz="1600" b="1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Menu</a:t>
                      </a:r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da-DK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menubar</a:t>
                      </a:r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</a:t>
                      </a:r>
                      <a:r>
                        <a:rPr lang="da-DK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tearoff</a:t>
                      </a:r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=0)</a:t>
                      </a:r>
                    </a:p>
                    <a:p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for </a:t>
                      </a:r>
                      <a:r>
                        <a:rPr lang="da-DK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color</a:t>
                      </a:r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in </a:t>
                      </a:r>
                      <a:r>
                        <a:rPr lang="da-DK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self.Colors</a:t>
                      </a:r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  </a:t>
                      </a:r>
                      <a:r>
                        <a:rPr lang="da-DK" sz="1600" b="1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list of </a:t>
                      </a:r>
                      <a:r>
                        <a:rPr lang="da-DK" sz="1600" b="1" dirty="0" err="1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color</a:t>
                      </a:r>
                      <a:r>
                        <a:rPr lang="da-DK" sz="1600" b="1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da-DK" sz="1600" b="1" dirty="0" err="1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names</a:t>
                      </a:r>
                      <a:endParaRPr lang="da-DK" sz="1600" b="1" dirty="0">
                        <a:solidFill>
                          <a:schemeClr val="bg1">
                            <a:lumMod val="50000"/>
                          </a:schemeClr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 </a:t>
                      </a:r>
                      <a:r>
                        <a:rPr lang="da-DK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colormenu.</a:t>
                      </a:r>
                      <a:r>
                        <a:rPr lang="da-DK" sz="1600" b="1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add_command</a:t>
                      </a:r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(label=</a:t>
                      </a:r>
                      <a:r>
                        <a:rPr lang="da-DK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color</a:t>
                      </a:r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</a:t>
                      </a:r>
                    </a:p>
                    <a:p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                       </a:t>
                      </a:r>
                      <a:r>
                        <a:rPr lang="da-DK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foreground</a:t>
                      </a:r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</a:t>
                      </a:r>
                      <a:r>
                        <a:rPr lang="da-DK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color</a:t>
                      </a:r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</a:t>
                      </a: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                       </a:t>
                      </a:r>
                      <a:r>
                        <a:rPr lang="da-DK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command</a:t>
                      </a:r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</a:t>
                      </a:r>
                      <a:r>
                        <a:rPr lang="da-DK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self.get_color_handler</a:t>
                      </a:r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da-DK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color</a:t>
                      </a:r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))</a:t>
                      </a:r>
                    </a:p>
                    <a:p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</a:t>
                      </a:r>
                      <a:r>
                        <a:rPr lang="da-DK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menubar.</a:t>
                      </a:r>
                      <a:r>
                        <a:rPr lang="da-DK" sz="1600" b="1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add_cascade</a:t>
                      </a:r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(label='Edit', menu=editmenu) </a:t>
                      </a:r>
                    </a:p>
                    <a:p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</a:t>
                      </a:r>
                      <a:r>
                        <a:rPr lang="da-DK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menubar.</a:t>
                      </a:r>
                      <a:r>
                        <a:rPr lang="da-DK" sz="1600" b="1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add_cascade</a:t>
                      </a:r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(label='</a:t>
                      </a:r>
                      <a:r>
                        <a:rPr lang="da-DK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Color</a:t>
                      </a:r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', menu=</a:t>
                      </a:r>
                      <a:r>
                        <a:rPr lang="da-DK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colormenu</a:t>
                      </a:r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 </a:t>
                      </a: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</a:t>
                      </a:r>
                      <a:r>
                        <a:rPr lang="da-DK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self.root.</a:t>
                      </a:r>
                      <a:r>
                        <a:rPr lang="da-DK" sz="1600" b="1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config</a:t>
                      </a:r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da-DK" sz="16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menu</a:t>
                      </a:r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</a:t>
                      </a:r>
                      <a:r>
                        <a:rPr lang="da-DK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menubar</a:t>
                      </a:r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  </a:t>
                      </a:r>
                      <a:r>
                        <a:rPr lang="da-DK" sz="1600" b="1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Show </a:t>
                      </a:r>
                      <a:r>
                        <a:rPr lang="da-DK" sz="1600" b="1" dirty="0" err="1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menubar</a:t>
                      </a:r>
                      <a:endParaRPr lang="da-DK" sz="16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en-US" sz="1600" b="1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</a:t>
                      </a:r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get_color_handler</a:t>
                      </a:r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(self, color):</a:t>
                      </a: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return lambda : </a:t>
                      </a:r>
                      <a:r>
                        <a:rPr lang="en-US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self.set_color</a:t>
                      </a:r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(color)</a:t>
                      </a:r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en-US" sz="1600" b="1" dirty="0" err="1">
                          <a:solidFill>
                            <a:schemeClr val="accent5">
                              <a:lumMod val="75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</a:t>
                      </a:r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set_color</a:t>
                      </a:r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(self, color):</a:t>
                      </a: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</a:t>
                      </a:r>
                      <a:r>
                        <a:rPr lang="en-US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self.current_color</a:t>
                      </a:r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color</a:t>
                      </a:r>
                      <a:b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</a:br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...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3"/>
          <a:srcRect l="25266" t="28706" r="51221" b="36251"/>
          <a:stretch/>
        </p:blipFill>
        <p:spPr>
          <a:xfrm>
            <a:off x="9214044" y="4335725"/>
            <a:ext cx="2576866" cy="2160229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27633540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Binding key and mouse events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Whenever a key is pressed, mouse button is pressed/released, mouse is moved, mouse enters/leaves objects etc. </a:t>
            </a:r>
            <a:r>
              <a:rPr lang="en-US" dirty="0">
                <a:solidFill>
                  <a:srgbClr val="C00000"/>
                </a:solidFill>
              </a:rPr>
              <a:t>events</a:t>
            </a:r>
            <a:r>
              <a:rPr lang="en-US" dirty="0"/>
              <a:t> are triggered that can be bound to call a user defined </a:t>
            </a:r>
            <a:r>
              <a:rPr lang="en-US" dirty="0">
                <a:solidFill>
                  <a:srgbClr val="C00000"/>
                </a:solidFill>
              </a:rPr>
              <a:t>event handler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3550135"/>
              </p:ext>
            </p:extLst>
          </p:nvPr>
        </p:nvGraphicFramePr>
        <p:xfrm>
          <a:off x="348343" y="3473335"/>
          <a:ext cx="11495314" cy="311752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95314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343849">
                <a:tc>
                  <a:txBody>
                    <a:bodyPr/>
                    <a:lstStyle/>
                    <a:p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rectangles.py  (</a:t>
                      </a:r>
                      <a:r>
                        <a:rPr lang="da-DK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continued</a:t>
                      </a:r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2594502">
                <a:tc>
                  <a:txBody>
                    <a:bodyPr/>
                    <a:lstStyle/>
                    <a:p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...</a:t>
                      </a:r>
                    </a:p>
                    <a:p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</a:t>
                      </a:r>
                      <a:r>
                        <a:rPr lang="da-DK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self.root</a:t>
                      </a:r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</a:t>
                      </a:r>
                      <a:r>
                        <a:rPr lang="da-DK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tkinter.Tk</a:t>
                      </a:r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</a:t>
                      </a:r>
                    </a:p>
                    <a:p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</a:t>
                      </a:r>
                      <a:r>
                        <a:rPr lang="da-DK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self.root.</a:t>
                      </a:r>
                      <a:r>
                        <a:rPr lang="da-DK" sz="1600" b="1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bind</a:t>
                      </a:r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('</a:t>
                      </a:r>
                      <a:r>
                        <a:rPr lang="da-DK" sz="16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&lt;Control-q&gt;</a:t>
                      </a:r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', </a:t>
                      </a:r>
                      <a:r>
                        <a:rPr lang="da-DK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self.do_quit</a:t>
                      </a:r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</a:p>
                    <a:p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</a:t>
                      </a:r>
                      <a:r>
                        <a:rPr lang="da-DK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self.root.</a:t>
                      </a:r>
                      <a:r>
                        <a:rPr lang="da-DK" sz="1600" b="1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bind</a:t>
                      </a:r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('</a:t>
                      </a:r>
                      <a:r>
                        <a:rPr lang="da-DK" sz="16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&lt;Control-z&gt;</a:t>
                      </a:r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', </a:t>
                      </a:r>
                      <a:r>
                        <a:rPr lang="da-DK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self.delete_last_rectangle</a:t>
                      </a:r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</a:p>
                    <a:p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...</a:t>
                      </a:r>
                    </a:p>
                    <a:p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</a:t>
                      </a:r>
                      <a:r>
                        <a:rPr lang="da-DK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self.canvas</a:t>
                      </a:r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</a:t>
                      </a:r>
                      <a:r>
                        <a:rPr lang="da-DK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tkinter.Canvas</a:t>
                      </a:r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da-DK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self.root</a:t>
                      </a:r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</a:t>
                      </a:r>
                      <a:r>
                        <a:rPr lang="da-DK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width</a:t>
                      </a:r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=300, </a:t>
                      </a:r>
                      <a:r>
                        <a:rPr lang="da-DK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height</a:t>
                      </a:r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=200, </a:t>
                      </a:r>
                    </a:p>
                    <a:p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                    </a:t>
                      </a:r>
                      <a:r>
                        <a:rPr lang="da-DK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background</a:t>
                      </a:r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='</a:t>
                      </a:r>
                      <a:r>
                        <a:rPr lang="da-DK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white</a:t>
                      </a:r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')  </a:t>
                      </a:r>
                    </a:p>
                    <a:p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</a:t>
                      </a:r>
                      <a:r>
                        <a:rPr lang="da-DK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self.canvas.</a:t>
                      </a:r>
                      <a:r>
                        <a:rPr lang="da-DK" sz="1600" b="1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bind</a:t>
                      </a:r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('</a:t>
                      </a:r>
                      <a:r>
                        <a:rPr lang="da-DK" sz="16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&lt;Button-1&gt;</a:t>
                      </a:r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', </a:t>
                      </a:r>
                      <a:r>
                        <a:rPr lang="da-DK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self.create_rectangle_start</a:t>
                      </a:r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</a:p>
                    <a:p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</a:t>
                      </a:r>
                      <a:r>
                        <a:rPr lang="da-DK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self.canvas.</a:t>
                      </a:r>
                      <a:r>
                        <a:rPr lang="da-DK" sz="1600" b="1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bind</a:t>
                      </a:r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('</a:t>
                      </a:r>
                      <a:r>
                        <a:rPr lang="da-DK" sz="16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&lt;B1-Motion&gt;</a:t>
                      </a:r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', </a:t>
                      </a:r>
                      <a:r>
                        <a:rPr lang="da-DK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self.create_rectangle_mouse_move</a:t>
                      </a:r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</a:p>
                    <a:p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</a:t>
                      </a:r>
                      <a:r>
                        <a:rPr lang="da-DK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self.canvas.</a:t>
                      </a:r>
                      <a:r>
                        <a:rPr lang="da-DK" sz="1600" b="1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bind</a:t>
                      </a:r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('</a:t>
                      </a:r>
                      <a:r>
                        <a:rPr lang="da-DK" sz="16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&lt;ButtonRelease-1&gt;</a:t>
                      </a:r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', </a:t>
                      </a:r>
                      <a:r>
                        <a:rPr lang="da-DK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self.create_rectangle_end</a:t>
                      </a:r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</a:p>
                    <a:p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...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3"/>
          <a:srcRect l="25088" t="28830" r="51228" b="36238"/>
          <a:stretch/>
        </p:blipFill>
        <p:spPr>
          <a:xfrm>
            <a:off x="9081199" y="4156779"/>
            <a:ext cx="2514991" cy="2086511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4"/>
          <a:srcRect l="25266" t="28706" r="51221" b="36251"/>
          <a:stretch/>
        </p:blipFill>
        <p:spPr>
          <a:xfrm>
            <a:off x="13646000" y="3169943"/>
            <a:ext cx="2576866" cy="2160229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96494266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0364" y="1"/>
            <a:ext cx="10515600" cy="836371"/>
          </a:xfrm>
        </p:spPr>
        <p:txBody>
          <a:bodyPr>
            <a:normAutofit/>
          </a:bodyPr>
          <a:lstStyle/>
          <a:p>
            <a:r>
              <a:rPr lang="en-US" dirty="0"/>
              <a:t>Handling mouse events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36176533"/>
              </p:ext>
            </p:extLst>
          </p:nvPr>
        </p:nvGraphicFramePr>
        <p:xfrm>
          <a:off x="220364" y="836372"/>
          <a:ext cx="11795443" cy="59433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795443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365505">
                <a:tc>
                  <a:txBody>
                    <a:bodyPr/>
                    <a:lstStyle/>
                    <a:p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rectangles.py  (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continued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2757906">
                <a:tc>
                  <a:txBody>
                    <a:bodyPr/>
                    <a:lstStyle/>
                    <a:p>
                      <a:r>
                        <a:rPr lang="da-DK" sz="1400" b="1" dirty="0">
                          <a:solidFill>
                            <a:schemeClr val="accent5">
                              <a:lumMod val="75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create_rectangle_start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event):</a:t>
                      </a:r>
                    </a:p>
                    <a:p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radius = 3</a:t>
                      </a:r>
                    </a:p>
                    <a:p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x, y =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event.x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event.y</a:t>
                      </a:r>
                      <a:endParaRPr lang="da-DK" sz="14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da-DK" sz="14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self.top_pos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(x, y)</a:t>
                      </a:r>
                    </a:p>
                    <a:p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self.bottom_pos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(x, y)</a:t>
                      </a:r>
                    </a:p>
                    <a:p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self.rectangle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self.canvas</a:t>
                      </a:r>
                      <a:r>
                        <a:rPr lang="da-DK" sz="1400" b="1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.create_rectangle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(x, y, x, y,  </a:t>
                      </a:r>
                      <a:r>
                        <a:rPr lang="da-DK" sz="1400" b="1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top-</a:t>
                      </a:r>
                      <a:r>
                        <a:rPr lang="da-DK" sz="1400" b="1" dirty="0" err="1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left</a:t>
                      </a:r>
                      <a:r>
                        <a:rPr lang="da-DK" sz="1400" b="1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</a:t>
                      </a:r>
                      <a:r>
                        <a:rPr lang="da-DK" sz="1400" b="1" dirty="0" err="1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bottom</a:t>
                      </a:r>
                      <a:r>
                        <a:rPr lang="da-DK" sz="1400" b="1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-right</a:t>
                      </a:r>
                    </a:p>
                    <a:p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                             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fill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self.current_color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width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=1,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outline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='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grey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',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dash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=(3, 5))</a:t>
                      </a: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self.corner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self.canvas</a:t>
                      </a:r>
                      <a:r>
                        <a:rPr lang="da-DK" sz="1400" b="1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.create_oval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(x - radius, y - radius, x + radius, y + radius,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fill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='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white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')</a:t>
                      </a:r>
                    </a:p>
                    <a:p>
                      <a:r>
                        <a:rPr lang="da-DK" sz="1400" b="1" dirty="0">
                          <a:solidFill>
                            <a:schemeClr val="accent5">
                              <a:lumMod val="75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create_rectangle_mouse_move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event):</a:t>
                      </a:r>
                    </a:p>
                    <a:p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if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self.corner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</a:t>
                      </a:r>
                    </a:p>
                    <a:p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x, y =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event.x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event.y</a:t>
                      </a:r>
                      <a:endParaRPr lang="da-DK" sz="14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x_, y_ =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self.bottom_pos</a:t>
                      </a:r>
                      <a:endParaRPr lang="da-DK" sz="14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self.bottom_pos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(x, y)</a:t>
                      </a:r>
                    </a:p>
                    <a:p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self.canvas</a:t>
                      </a:r>
                      <a:r>
                        <a:rPr lang="da-DK" sz="1400" b="1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.coords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self.rectangle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*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self.top_pos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*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self.bottom_pos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self.canvas</a:t>
                      </a:r>
                      <a:r>
                        <a:rPr lang="da-DK" sz="1400" b="1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.move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self.corner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x - x_, y - y_)</a:t>
                      </a:r>
                    </a:p>
                    <a:p>
                      <a:r>
                        <a:rPr lang="da-DK" sz="1400" b="1" dirty="0">
                          <a:solidFill>
                            <a:schemeClr val="accent5">
                              <a:lumMod val="75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create_rectangle_end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event):</a:t>
                      </a:r>
                    </a:p>
                    <a:p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if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self.corner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</a:t>
                      </a:r>
                    </a:p>
                    <a:p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self.canvas</a:t>
                      </a:r>
                      <a:r>
                        <a:rPr lang="da-DK" sz="1400" b="1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.delete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self.corner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</a:p>
                    <a:p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self.corner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None</a:t>
                      </a:r>
                    </a:p>
                    <a:p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if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self.bottom_pos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!=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self.top_pos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</a:t>
                      </a:r>
                    </a:p>
                    <a:p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self.rectangles.append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self.rectangle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</a:p>
                    <a:p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self.canvas</a:t>
                      </a:r>
                      <a:r>
                        <a:rPr lang="da-DK" sz="1400" b="1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.itemconfig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self.rectangle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width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=0)</a:t>
                      </a:r>
                    </a:p>
                    <a:p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else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  </a:t>
                      </a:r>
                      <a:r>
                        <a:rPr lang="da-DK" sz="1400" b="1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</a:t>
                      </a:r>
                      <a:r>
                        <a:rPr lang="da-DK" sz="1400" b="1" dirty="0" err="1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empty</a:t>
                      </a:r>
                      <a:r>
                        <a:rPr lang="da-DK" sz="1400" b="1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da-DK" sz="1400" b="1" baseline="0" dirty="0" err="1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rectangle</a:t>
                      </a:r>
                      <a:r>
                        <a:rPr lang="da-DK" sz="1400" b="1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skip</a:t>
                      </a:r>
                      <a:endParaRPr lang="da-DK" sz="1400" b="1" dirty="0">
                        <a:solidFill>
                          <a:schemeClr val="bg1">
                            <a:lumMod val="50000"/>
                          </a:schemeClr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self.canvas</a:t>
                      </a:r>
                      <a:r>
                        <a:rPr lang="da-DK" sz="1400" b="1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.delete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self.rectangle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</a:p>
                    <a:p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self.rectangle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None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48373" y="4160551"/>
            <a:ext cx="2576866" cy="2155809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27957634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Exercise 25.1 (convex hull GUI)</a:t>
            </a:r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58878" y="2119539"/>
            <a:ext cx="6074243" cy="4351338"/>
          </a:xfr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02322684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Custom 1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7F7F7F"/>
      </a:hlink>
      <a:folHlink>
        <a:srgbClr val="7F7F7F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55727</TotalTime>
  <Words>2933</Words>
  <Application>Microsoft Office PowerPoint</Application>
  <PresentationFormat>Widescreen</PresentationFormat>
  <Paragraphs>306</Paragraphs>
  <Slides>20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6" baseType="lpstr">
      <vt:lpstr>Arial</vt:lpstr>
      <vt:lpstr>Calibri</vt:lpstr>
      <vt:lpstr>Calibri Light</vt:lpstr>
      <vt:lpstr>Courier New</vt:lpstr>
      <vt:lpstr>Wingdings</vt:lpstr>
      <vt:lpstr>Office Theme</vt:lpstr>
      <vt:lpstr>Graphical user interfaces (GUI)</vt:lpstr>
      <vt:lpstr>PowerPoint Presentation</vt:lpstr>
      <vt:lpstr>PowerPoint Presentation</vt:lpstr>
      <vt:lpstr>PowerPoint Presentation</vt:lpstr>
      <vt:lpstr>Python GUI’s (Graphical Users Interfaces)</vt:lpstr>
      <vt:lpstr>Tkinter</vt:lpstr>
      <vt:lpstr>Terminology</vt:lpstr>
      <vt:lpstr>docs.python.org/3/library/tk.html</vt:lpstr>
      <vt:lpstr>Welcome example</vt:lpstr>
      <vt:lpstr>Welcome example (class)</vt:lpstr>
      <vt:lpstr>PowerPoint Presentation</vt:lpstr>
      <vt:lpstr>PowerPoint Presentation</vt:lpstr>
      <vt:lpstr>Canvas</vt:lpstr>
      <vt:lpstr>PowerPoint Presentation</vt:lpstr>
      <vt:lpstr>PowerPoint Presentation</vt:lpstr>
      <vt:lpstr>PowerPoint Presentation</vt:lpstr>
      <vt:lpstr>Creating a menu</vt:lpstr>
      <vt:lpstr>Binding key and mouse events</vt:lpstr>
      <vt:lpstr>Handling mouse events</vt:lpstr>
      <vt:lpstr>Exercise 25.1 (convex hull GUI)</vt:lpstr>
    </vt:vector>
  </TitlesOfParts>
  <Company>Aarhus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Gerth Stølting Brodal</dc:creator>
  <cp:lastModifiedBy>Gerth Stølting Brodal</cp:lastModifiedBy>
  <cp:revision>1928</cp:revision>
  <dcterms:created xsi:type="dcterms:W3CDTF">2017-10-19T06:54:16Z</dcterms:created>
  <dcterms:modified xsi:type="dcterms:W3CDTF">2026-03-18T13:07:11Z</dcterms:modified>
</cp:coreProperties>
</file>