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469" r:id="rId2"/>
    <p:sldId id="750" r:id="rId3"/>
    <p:sldId id="740" r:id="rId4"/>
    <p:sldId id="549" r:id="rId5"/>
    <p:sldId id="509" r:id="rId6"/>
    <p:sldId id="721" r:id="rId7"/>
    <p:sldId id="723" r:id="rId8"/>
    <p:sldId id="724" r:id="rId9"/>
    <p:sldId id="722" r:id="rId10"/>
    <p:sldId id="725" r:id="rId11"/>
    <p:sldId id="726" r:id="rId12"/>
    <p:sldId id="727" r:id="rId13"/>
    <p:sldId id="728" r:id="rId14"/>
    <p:sldId id="730" r:id="rId15"/>
    <p:sldId id="731" r:id="rId16"/>
    <p:sldId id="732" r:id="rId17"/>
    <p:sldId id="733" r:id="rId18"/>
    <p:sldId id="734" r:id="rId19"/>
    <p:sldId id="735" r:id="rId20"/>
    <p:sldId id="753" r:id="rId21"/>
    <p:sldId id="614" r:id="rId22"/>
    <p:sldId id="736" r:id="rId23"/>
    <p:sldId id="521" r:id="rId24"/>
    <p:sldId id="743" r:id="rId25"/>
    <p:sldId id="738" r:id="rId26"/>
    <p:sldId id="700" r:id="rId27"/>
    <p:sldId id="739" r:id="rId28"/>
    <p:sldId id="748" r:id="rId29"/>
    <p:sldId id="749" r:id="rId30"/>
    <p:sldId id="508" r:id="rId31"/>
    <p:sldId id="741" r:id="rId32"/>
    <p:sldId id="751" r:id="rId33"/>
    <p:sldId id="742" r:id="rId34"/>
    <p:sldId id="744" r:id="rId35"/>
    <p:sldId id="745" r:id="rId36"/>
    <p:sldId id="747" r:id="rId37"/>
    <p:sldId id="752" r:id="rId38"/>
    <p:sldId id="754" r:id="rId39"/>
    <p:sldId id="755" r:id="rId4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3C495-1DC8-416D-8D2D-6D75C5BDF6C9}" v="3" dt="2026-03-11T07:53:25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7" autoAdjust="0"/>
    <p:restoredTop sz="69154" autoAdjust="0"/>
  </p:normalViewPr>
  <p:slideViewPr>
    <p:cSldViewPr snapToGrid="0">
      <p:cViewPr varScale="1">
        <p:scale>
          <a:sx n="50" d="100"/>
          <a:sy n="50" d="100"/>
        </p:scale>
        <p:origin x="1248" y="28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3-11T08:26:38.443" v="128" actId="114"/>
      <pc:docMkLst>
        <pc:docMk/>
      </pc:docMkLst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968077230" sldId="469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968077230" sldId="46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968077230" sldId="469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8:26:38.443" v="128" actId="114"/>
        <pc:sldMkLst>
          <pc:docMk/>
          <pc:sldMk cId="1110575470" sldId="508"/>
        </pc:sldMkLst>
        <pc:spChg chg="mod">
          <ac:chgData name="Gerth Stølting Brodal" userId="04ef4784-6591-4f86-a140-f5c3b108582a" providerId="ADAL" clId="{73BAC7D6-516A-44B5-B4B0-C7B08CA8B392}" dt="2026-03-11T06:28:58.155" v="38" actId="20577"/>
          <ac:spMkLst>
            <pc:docMk/>
            <pc:sldMk cId="1110575470" sldId="50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8:26:38.443" v="128" actId="114"/>
          <ac:spMkLst>
            <pc:docMk/>
            <pc:sldMk cId="1110575470" sldId="508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2724543761" sldId="509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724543761" sldId="50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724543761" sldId="509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724543761" sldId="509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724543761" sldId="509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724543761" sldId="509"/>
            <ac:spMk id="6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3815491887" sldId="521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815491887" sldId="52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815491887" sldId="521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815491887" sldId="521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3815491887" sldId="521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7:31:30.227" v="100" actId="14100"/>
        <pc:sldMkLst>
          <pc:docMk/>
          <pc:sldMk cId="3640998377" sldId="549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640998377" sldId="54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7:31:30.227" v="100" actId="14100"/>
          <ac:spMkLst>
            <pc:docMk/>
            <pc:sldMk cId="3640998377" sldId="549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584147477" sldId="614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84147477" sldId="61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84147477" sldId="614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2400194343" sldId="700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400194343" sldId="70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400194343" sldId="700"/>
            <ac:spMk id="3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3-11T06:16:40.859" v="8" actId="790"/>
        <pc:sldMkLst>
          <pc:docMk/>
          <pc:sldMk cId="915132952" sldId="721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915132952" sldId="72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915132952" sldId="721"/>
            <ac:spMk id="8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915132952" sldId="721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97718734" sldId="722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97718734" sldId="72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97718734" sldId="722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97718734" sldId="722"/>
            <ac:spMk id="14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3-11T06:17:05.182" v="10" actId="6549"/>
        <pc:sldMkLst>
          <pc:docMk/>
          <pc:sldMk cId="1772632024" sldId="723"/>
        </pc:sldMkLst>
        <pc:spChg chg="mod">
          <ac:chgData name="Gerth Stølting Brodal" userId="04ef4784-6591-4f86-a140-f5c3b108582a" providerId="ADAL" clId="{73BAC7D6-516A-44B5-B4B0-C7B08CA8B392}" dt="2026-03-11T06:16:57.802" v="9" actId="20577"/>
          <ac:spMkLst>
            <pc:docMk/>
            <pc:sldMk cId="1772632024" sldId="72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72632024" sldId="723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72632024" sldId="723"/>
            <ac:spMk id="1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772632024" sldId="723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772632024" sldId="723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772632024" sldId="723"/>
            <ac:graphicFrameMk id="6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11T06:17:20.638" v="11" actId="790"/>
        <pc:sldMkLst>
          <pc:docMk/>
          <pc:sldMk cId="3762067574" sldId="724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762067574" sldId="72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762067574" sldId="724"/>
            <ac:spMk id="1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3762067574" sldId="724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3762067574" sldId="724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3762067574" sldId="724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3212283551" sldId="725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212283551" sldId="72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212283551" sldId="725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665590519" sldId="726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665590519" sldId="726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665590519" sldId="726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4033157669" sldId="727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4033157669" sldId="72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4033157669" sldId="727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4033157669" sldId="727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4033157669" sldId="727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4033157669" sldId="727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4033157669" sldId="727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4033157669" sldId="727"/>
            <ac:spMk id="1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4033157669" sldId="727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529632151" sldId="728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29632151" sldId="72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29632151" sldId="728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29632151" sldId="728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29632151" sldId="728"/>
            <ac:spMk id="1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529632151" sldId="728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11T07:53:46.907" v="127" actId="20577"/>
        <pc:sldMkLst>
          <pc:docMk/>
          <pc:sldMk cId="2271969579" sldId="730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271969579" sldId="73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271969579" sldId="730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271969579" sldId="730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271969579" sldId="730"/>
            <ac:spMk id="1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2271969579" sldId="730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2324826214" sldId="731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324826214" sldId="73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324826214" sldId="731"/>
            <ac:spMk id="1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2324826214" sldId="731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714993263" sldId="732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4993263" sldId="73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4993263" sldId="732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4993263" sldId="732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4993263" sldId="732"/>
            <ac:spMk id="1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714993263" sldId="732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935603617" sldId="733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935603617" sldId="733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935603617" sldId="733"/>
            <ac:spMk id="11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935603617" sldId="733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2599680227" sldId="734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599680227" sldId="734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2599680227" sldId="73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712084666" sldId="735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1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2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2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2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12084666" sldId="735"/>
            <ac:spMk id="24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646757672" sldId="736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646757672" sldId="73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646757672" sldId="736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646757672" sldId="736"/>
            <ac:spMk id="8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612598204" sldId="738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612598204" sldId="73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612598204" sldId="738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612598204" sldId="738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612598204" sldId="738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3700274900" sldId="739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700274900" sldId="73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700274900" sldId="739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545677602" sldId="740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1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1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3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4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4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545677602" sldId="740"/>
            <ac:spMk id="5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620447700" sldId="741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620447700" sldId="74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620447700" sldId="741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620447700" sldId="741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620447700" sldId="741"/>
            <ac:spMk id="8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620447700" sldId="741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3982569386" sldId="742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982569386" sldId="74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982569386" sldId="742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3982569386" sldId="742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3701659171" sldId="743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701659171" sldId="74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701659171" sldId="74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701659171" sldId="743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3701659171" sldId="743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2470406017" sldId="744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470406017" sldId="74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470406017" sldId="744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2470406017" sldId="74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6499050" sldId="745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6499050" sldId="74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6499050" sldId="745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6499050" sldId="745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11T06:39:06.996" v="96" actId="20577"/>
        <pc:sldMkLst>
          <pc:docMk/>
          <pc:sldMk cId="1189195703" sldId="747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189195703" sldId="747"/>
            <ac:spMk id="2" creationId="{447D7889-221E-4872-84EB-2CBC93AFCAB9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189195703" sldId="747"/>
            <ac:spMk id="6" creationId="{7BF8C2F4-E08A-4E3E-A4EA-7A23184E9802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189195703" sldId="747"/>
            <ac:graphicFrameMk id="5" creationId="{FE111968-1638-4444-A129-DD8554BDC4AF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737539052" sldId="748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37539052" sldId="748"/>
            <ac:spMk id="2" creationId="{96BE3BC4-F992-437E-8464-C533EE3E09DF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37539052" sldId="748"/>
            <ac:spMk id="3" creationId="{E2463C16-AF75-4AF4-8E42-E74A473121F4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737539052" sldId="748"/>
            <ac:spMk id="5" creationId="{FD91FFA2-EE27-4D28-82FF-83A8BFC9BB0F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737539052" sldId="748"/>
            <ac:graphicFrameMk id="8" creationId="{F8A64F6A-C25F-4319-BE42-0EE3AFCF56D3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2270359650" sldId="749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270359650" sldId="749"/>
            <ac:spMk id="2" creationId="{3E30ADA5-BDB5-469D-893C-A6E4F381D8D5}"/>
          </ac:spMkLst>
        </pc:sp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2659427478" sldId="750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659427478" sldId="750"/>
            <ac:spMk id="3" creationId="{52E8B608-CA4D-85FA-FB61-25A32075A2B1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2659427478" sldId="750"/>
            <ac:spMk id="5" creationId="{42139654-1B93-DFB2-F363-8922545D274A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3-11T06:31:34.751" v="41" actId="20577"/>
        <pc:sldMkLst>
          <pc:docMk/>
          <pc:sldMk cId="3617586286" sldId="751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617586286" sldId="751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3617586286" sldId="751"/>
            <ac:graphicFrameMk id="7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11T06:39:19.580" v="97" actId="6549"/>
        <pc:sldMkLst>
          <pc:docMk/>
          <pc:sldMk cId="3051839023" sldId="752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051839023" sldId="752"/>
            <ac:spMk id="2" creationId="{447D7889-221E-4872-84EB-2CBC93AFCAB9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3051839023" sldId="752"/>
            <ac:spMk id="6" creationId="{7BF8C2F4-E08A-4E3E-A4EA-7A23184E9802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3051839023" sldId="752"/>
            <ac:graphicFrameMk id="5" creationId="{FE111968-1638-4444-A129-DD8554BDC4AF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246880996" sldId="753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246880996" sldId="753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246880996" sldId="753"/>
            <ac:spMk id="11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246880996" sldId="753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174012123" sldId="754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174012123" sldId="754"/>
            <ac:spMk id="2" creationId="{36401479-2DAB-0E4C-8587-5F928BDCCBC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174012123" sldId="754"/>
            <ac:spMk id="3" creationId="{96CFF389-8FB0-39CB-66EB-9D5E61F0C0E0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174012123" sldId="754"/>
            <ac:spMk id="7" creationId="{8AEEC26E-701A-F711-2D76-43DEA802906E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174012123" sldId="754"/>
            <ac:graphicFrameMk id="4" creationId="{A8B032DE-B45D-754D-B1FB-ADACA52DE00A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174012123" sldId="754"/>
            <ac:graphicFrameMk id="5" creationId="{74EFE3A6-EB7C-A99E-0B34-A66F9C0E40C3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11T06:16:29.049" v="7" actId="790"/>
        <pc:sldMkLst>
          <pc:docMk/>
          <pc:sldMk cId="142449747" sldId="755"/>
        </pc:sldMkLst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42449747" sldId="755"/>
            <ac:spMk id="2" creationId="{7E3DE724-86C5-69E4-E4EF-E2018C97491F}"/>
          </ac:spMkLst>
        </pc:spChg>
        <pc:spChg chg="mod">
          <ac:chgData name="Gerth Stølting Brodal" userId="04ef4784-6591-4f86-a140-f5c3b108582a" providerId="ADAL" clId="{73BAC7D6-516A-44B5-B4B0-C7B08CA8B392}" dt="2026-03-11T06:16:29.049" v="7" actId="790"/>
          <ac:spMkLst>
            <pc:docMk/>
            <pc:sldMk cId="142449747" sldId="755"/>
            <ac:spMk id="5" creationId="{E1F2CF69-C8CE-0A37-B7C7-95873253EF20}"/>
          </ac:spMkLst>
        </pc:spChg>
        <pc:graphicFrameChg chg="modGraphic">
          <ac:chgData name="Gerth Stølting Brodal" userId="04ef4784-6591-4f86-a140-f5c3b108582a" providerId="ADAL" clId="{73BAC7D6-516A-44B5-B4B0-C7B08CA8B392}" dt="2026-03-11T06:16:29.049" v="7" actId="790"/>
          <ac:graphicFrameMkLst>
            <pc:docMk/>
            <pc:sldMk cId="142449747" sldId="755"/>
            <ac:graphicFrameMk id="4" creationId="{FB728F4D-656A-D0F4-DBE6-C61834C1FCD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70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numbers on frequency on errors (2015) </a:t>
            </a:r>
          </a:p>
          <a:p>
            <a:r>
              <a:rPr lang="en-US" dirty="0"/>
              <a:t>- Let us try to avoid introducing </a:t>
            </a:r>
            <a:r>
              <a:rPr lang="en-US" b="1" dirty="0"/>
              <a:t>bugs </a:t>
            </a:r>
            <a:r>
              <a:rPr lang="en-US" b="0" dirty="0"/>
              <a:t>at the first place</a:t>
            </a:r>
            <a:endParaRPr lang="da-DK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73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Idea </a:t>
            </a:r>
            <a:r>
              <a:rPr lang="en-US" dirty="0"/>
              <a:t>can be very clear or less well-developed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99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docstring</a:t>
            </a:r>
            <a:r>
              <a:rPr lang="en-US" dirty="0"/>
              <a:t> is also for writer of code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40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Red exception types are those likely</a:t>
            </a:r>
            <a:r>
              <a:rPr lang="en-US" baseline="0" noProof="0" dirty="0"/>
              <a:t> already seen during the course until now</a:t>
            </a:r>
          </a:p>
          <a:p>
            <a:endParaRPr lang="en-US" noProof="0" dirty="0"/>
          </a:p>
          <a:p>
            <a:r>
              <a:rPr lang="en-US" noProof="0" dirty="0"/>
              <a:t>Blue</a:t>
            </a:r>
            <a:r>
              <a:rPr lang="en-US" baseline="0" noProof="0" dirty="0"/>
              <a:t> are those we consider today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53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to add code for spotting </a:t>
            </a:r>
            <a:r>
              <a:rPr lang="en-US" b="1" dirty="0"/>
              <a:t>fishy</a:t>
            </a:r>
            <a:r>
              <a:rPr lang="en-US" dirty="0"/>
              <a:t> behavior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47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“fail fast” link to article explaining the usage of assertions</a:t>
            </a:r>
          </a:p>
          <a:p>
            <a:r>
              <a:rPr lang="en-US" noProof="0" dirty="0"/>
              <a:t>The str </a:t>
            </a:r>
            <a:r>
              <a:rPr lang="en-US" b="1" noProof="0" dirty="0"/>
              <a:t>argument to assert </a:t>
            </a:r>
            <a:r>
              <a:rPr lang="en-US" noProof="0" dirty="0"/>
              <a:t>can e.g. contain information about unexpected values of 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89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Cannot set __debug__ within the code:</a:t>
            </a:r>
          </a:p>
          <a:p>
            <a:endParaRPr lang="en-US" dirty="0"/>
          </a:p>
          <a:p>
            <a:r>
              <a:rPr lang="en-US" dirty="0">
                <a:latin typeface="CordiaUPC" panose="020B0502040204020203" pitchFamily="34" charset="-34"/>
                <a:cs typeface="CordiaUPC" panose="020B0502040204020203" pitchFamily="34" charset="-34"/>
              </a:rPr>
              <a:t>__debug__ = False</a:t>
            </a:r>
          </a:p>
          <a:p>
            <a:r>
              <a:rPr lang="en-US" dirty="0">
                <a:latin typeface="CordiaUPC" panose="020B0502040204020203" pitchFamily="34" charset="-34"/>
                <a:cs typeface="CordiaUPC" panose="020B0502040204020203" pitchFamily="34" charset="-34"/>
              </a:rPr>
              <a:t>^^^^^^^^^</a:t>
            </a:r>
          </a:p>
          <a:p>
            <a:r>
              <a:rPr lang="en-US" dirty="0" err="1">
                <a:latin typeface="CordiaUPC" panose="020B0502040204020203" pitchFamily="34" charset="-34"/>
                <a:cs typeface="CordiaUPC" panose="020B0502040204020203" pitchFamily="34" charset="-34"/>
              </a:rPr>
              <a:t>SyntaxError</a:t>
            </a:r>
            <a:r>
              <a:rPr lang="en-US" dirty="0">
                <a:latin typeface="CordiaUPC" panose="020B0502040204020203" pitchFamily="34" charset="-34"/>
                <a:cs typeface="CordiaUPC" panose="020B0502040204020203" pitchFamily="34" charset="-34"/>
              </a:rPr>
              <a:t>: cannot assign to __debug__</a:t>
            </a:r>
            <a:endParaRPr lang="da-DK" dirty="0">
              <a:latin typeface="CordiaUPC" panose="020B0502040204020203" pitchFamily="34" charset="-34"/>
              <a:cs typeface="CordiaUPC" panose="020B0502040204020203" pitchFamily="34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47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Writing the doc </a:t>
            </a:r>
            <a:r>
              <a:rPr lang="da-DK" dirty="0" err="1"/>
              <a:t>string</a:t>
            </a:r>
            <a:r>
              <a:rPr lang="da-DK" dirty="0"/>
              <a:t> forces </a:t>
            </a:r>
            <a:r>
              <a:rPr lang="da-DK" dirty="0" err="1"/>
              <a:t>you</a:t>
            </a:r>
            <a:r>
              <a:rPr lang="da-DK" dirty="0"/>
              <a:t> to </a:t>
            </a:r>
            <a:r>
              <a:rPr lang="da-DK" dirty="0" err="1"/>
              <a:t>think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what</a:t>
            </a:r>
            <a:r>
              <a:rPr lang="da-DK" dirty="0"/>
              <a:t> the funktion </a:t>
            </a:r>
            <a:r>
              <a:rPr lang="da-DK" dirty="0" err="1"/>
              <a:t>should</a:t>
            </a:r>
            <a:r>
              <a:rPr lang="da-DK" dirty="0"/>
              <a:t> do and </a:t>
            </a:r>
            <a:r>
              <a:rPr lang="da-DK" dirty="0" err="1"/>
              <a:t>edge</a:t>
            </a:r>
            <a:r>
              <a:rPr lang="da-DK" dirty="0"/>
              <a:t>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37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for the input type is not necessary in typed languages</a:t>
            </a:r>
            <a:r>
              <a:rPr lang="en-US" baseline="0" dirty="0"/>
              <a:t> like C, C++, Java where the method only can be called with arguments of the correct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02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assert </a:t>
            </a:r>
            <a:r>
              <a:rPr lang="en-US" sz="1200" b="1" noProof="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isinstance</a:t>
            </a:r>
            <a:r>
              <a:rPr lang="en-US" sz="1200" b="1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(result, int), f'{result=}')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00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01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22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17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constructive way to only write necessary code – only write code that makes you pass a test</a:t>
            </a:r>
          </a:p>
          <a:p>
            <a:endParaRPr lang="en-US" dirty="0"/>
          </a:p>
          <a:p>
            <a:r>
              <a:rPr lang="en-US" dirty="0"/>
              <a:t>Might consider to use </a:t>
            </a:r>
            <a:r>
              <a:rPr lang="en-US" dirty="0" err="1"/>
              <a:t>random.seed</a:t>
            </a:r>
            <a:r>
              <a:rPr lang="en-US" dirty="0"/>
              <a:t>(0), to ensure the same sequence of random numbers, so that you can repeat the failed test</a:t>
            </a:r>
          </a:p>
          <a:p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random.randint</a:t>
            </a:r>
            <a:r>
              <a:rPr lang="en-US" dirty="0"/>
              <a:t>(1,100) for _ in range(25)]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51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glass box</a:t>
            </a:r>
            <a:r>
              <a:rPr lang="en-US" baseline="0" dirty="0"/>
              <a:t> = you need to know how the code is structured to force different parts to be executed</a:t>
            </a:r>
          </a:p>
          <a:p>
            <a:endParaRPr lang="en-US" baseline="0" dirty="0"/>
          </a:p>
          <a:p>
            <a:r>
              <a:rPr lang="en-US" baseline="0" dirty="0"/>
              <a:t>Integer square root was simple to verify, just consider the squares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80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doctest</a:t>
            </a:r>
            <a:r>
              <a:rPr lang="en-US" dirty="0"/>
              <a:t> comes with Python as standard library</a:t>
            </a:r>
          </a:p>
          <a:p>
            <a:r>
              <a:rPr lang="en-US"/>
              <a:t>Useful for </a:t>
            </a:r>
            <a:r>
              <a:rPr lang="en-US" dirty="0"/>
              <a:t>simple tests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290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name starts with </a:t>
            </a:r>
            <a:r>
              <a:rPr lang="en-US" b="1" dirty="0"/>
              <a:t>Test</a:t>
            </a:r>
            <a:r>
              <a:rPr lang="en-US" dirty="0"/>
              <a:t> (</a:t>
            </a:r>
            <a:r>
              <a:rPr lang="en-US" b="1" dirty="0"/>
              <a:t>without underscore</a:t>
            </a:r>
            <a:r>
              <a:rPr lang="en-US" dirty="0"/>
              <a:t>, since camel-case naming of  class names)</a:t>
            </a:r>
          </a:p>
          <a:p>
            <a:r>
              <a:rPr lang="en-US" dirty="0"/>
              <a:t>The shell should be an </a:t>
            </a:r>
            <a:r>
              <a:rPr lang="en-US" b="1" dirty="0"/>
              <a:t>OS shell</a:t>
            </a:r>
            <a:r>
              <a:rPr lang="en-US" dirty="0"/>
              <a:t>, not a Python shell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169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verbosity level is 1;</a:t>
            </a:r>
            <a:r>
              <a:rPr lang="en-US" baseline="0" dirty="0"/>
              <a:t> level 2 increases the amount of output generated during the </a:t>
            </a:r>
            <a:r>
              <a:rPr lang="en-US" baseline="0"/>
              <a:t>testing phase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037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use debugger, open debugger, and then run code (F5)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471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coverage</a:t>
            </a:r>
            <a:r>
              <a:rPr lang="da-DK" dirty="0"/>
              <a:t> </a:t>
            </a:r>
            <a:r>
              <a:rPr lang="da-DK" i="1" dirty="0" err="1"/>
              <a:t>does</a:t>
            </a:r>
            <a:r>
              <a:rPr lang="da-DK" i="1" dirty="0"/>
              <a:t> not </a:t>
            </a:r>
            <a:r>
              <a:rPr lang="da-DK" dirty="0" err="1"/>
              <a:t>ensure</a:t>
            </a:r>
            <a:r>
              <a:rPr lang="da-DK" dirty="0"/>
              <a:t> all branches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taken</a:t>
            </a:r>
            <a:r>
              <a:rPr lang="da-DK" dirty="0"/>
              <a:t> (an ”</a:t>
            </a:r>
            <a:r>
              <a:rPr lang="da-DK" dirty="0" err="1"/>
              <a:t>if</a:t>
            </a:r>
            <a:r>
              <a:rPr lang="da-DK" dirty="0"/>
              <a:t>:” </a:t>
            </a:r>
            <a:r>
              <a:rPr lang="da-DK" dirty="0" err="1"/>
              <a:t>might</a:t>
            </a:r>
            <a:r>
              <a:rPr lang="da-DK" dirty="0"/>
              <a:t> not have an ”</a:t>
            </a:r>
            <a:r>
              <a:rPr lang="da-DK" dirty="0" err="1"/>
              <a:t>else</a:t>
            </a:r>
            <a:r>
              <a:rPr lang="da-DK" dirty="0"/>
              <a:t>:” part)</a:t>
            </a:r>
          </a:p>
          <a:p>
            <a:endParaRPr lang="da-DK" dirty="0"/>
          </a:p>
          <a:p>
            <a:r>
              <a:rPr lang="da-DK" dirty="0" err="1"/>
              <a:t>Goldbach’s</a:t>
            </a:r>
            <a:r>
              <a:rPr lang="da-DK" dirty="0"/>
              <a:t> </a:t>
            </a:r>
            <a:r>
              <a:rPr lang="da-DK" dirty="0" err="1"/>
              <a:t>weak</a:t>
            </a:r>
            <a:r>
              <a:rPr lang="da-DK" dirty="0"/>
              <a:t> </a:t>
            </a:r>
            <a:r>
              <a:rPr lang="da-DK" dirty="0" err="1"/>
              <a:t>conjecture</a:t>
            </a:r>
            <a:r>
              <a:rPr lang="da-DK" dirty="0"/>
              <a:t> </a:t>
            </a:r>
            <a:r>
              <a:rPr lang="da-DK" dirty="0" err="1"/>
              <a:t>states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line 14 </a:t>
            </a:r>
            <a:r>
              <a:rPr lang="da-DK" dirty="0" err="1"/>
              <a:t>will</a:t>
            </a:r>
            <a:r>
              <a:rPr lang="da-DK" dirty="0"/>
              <a:t> never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executed</a:t>
            </a:r>
            <a:r>
              <a:rPr lang="da-DK" dirty="0"/>
              <a:t>, </a:t>
            </a:r>
            <a:r>
              <a:rPr lang="da-DK" dirty="0" err="1"/>
              <a:t>recently</a:t>
            </a:r>
            <a:r>
              <a:rPr lang="da-DK" dirty="0"/>
              <a:t> </a:t>
            </a:r>
            <a:r>
              <a:rPr lang="da-DK" dirty="0" err="1"/>
              <a:t>proved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Sometimes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</a:t>
            </a:r>
            <a:r>
              <a:rPr lang="da-DK" dirty="0" err="1"/>
              <a:t>significant</a:t>
            </a:r>
            <a:r>
              <a:rPr lang="da-DK" dirty="0"/>
              <a:t> </a:t>
            </a:r>
            <a:r>
              <a:rPr lang="da-DK" dirty="0" err="1"/>
              <a:t>insights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the problem, </a:t>
            </a:r>
            <a:r>
              <a:rPr lang="da-DK" dirty="0" err="1"/>
              <a:t>why</a:t>
            </a:r>
            <a:r>
              <a:rPr lang="da-DK" dirty="0"/>
              <a:t>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never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executed</a:t>
            </a:r>
            <a:r>
              <a:rPr lang="da-DK" dirty="0"/>
              <a:t>…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06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“coverage html” generates a nice html overview of the code that was executed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928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273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Guido van Rossum (@ Google 2005-12 -&gt; Dropbox 2013-19 -&gt; Microsoft, 2020-) is a core developer</a:t>
            </a:r>
            <a:r>
              <a:rPr lang="en-US" baseline="0" dirty="0"/>
              <a:t> for </a:t>
            </a:r>
            <a:r>
              <a:rPr lang="en-US" baseline="0" dirty="0" err="1"/>
              <a:t>mypy</a:t>
            </a:r>
            <a:endParaRPr lang="en-US" baseline="0" dirty="0"/>
          </a:p>
          <a:p>
            <a:r>
              <a:rPr lang="en-US" baseline="0" dirty="0"/>
              <a:t>Static type checking Python is used by Google, Facebook, Microsoft (according to Guido)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8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278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variable __annotations__ contains the annotations</a:t>
            </a:r>
            <a:r>
              <a:rPr lang="en-US" baseline="0" dirty="0"/>
              <a:t> of global variables</a:t>
            </a:r>
          </a:p>
          <a:p>
            <a:endParaRPr lang="en-US" baseline="0" dirty="0"/>
          </a:p>
          <a:p>
            <a:r>
              <a:rPr lang="en-US" baseline="0" dirty="0" err="1"/>
              <a:t>dataclasses</a:t>
            </a:r>
            <a:r>
              <a:rPr lang="en-US" baseline="0" dirty="0"/>
              <a:t> (@</a:t>
            </a:r>
            <a:r>
              <a:rPr lang="en-US" baseline="0" dirty="0" err="1"/>
              <a:t>dataclass</a:t>
            </a:r>
            <a:r>
              <a:rPr lang="en-US" baseline="0" dirty="0"/>
              <a:t> decorator) use type hints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639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  <a:r>
              <a:rPr lang="en-US" baseline="0" dirty="0"/>
              <a:t> in g has no type</a:t>
            </a:r>
          </a:p>
          <a:p>
            <a:r>
              <a:rPr lang="en-US" baseline="0" dirty="0"/>
              <a:t>Global variable annotations are in __annotations__</a:t>
            </a:r>
          </a:p>
          <a:p>
            <a:endParaRPr lang="en-US" baseline="0" dirty="0"/>
          </a:p>
          <a:p>
            <a:r>
              <a:rPr lang="da-DK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typing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Literal</a:t>
            </a:r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da-DK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Specific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can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tested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”</a:t>
            </a:r>
            <a:r>
              <a:rPr lang="da-DK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Literal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 from ”</a:t>
            </a:r>
            <a:r>
              <a:rPr lang="da-DK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typing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</a:t>
            </a:r>
          </a:p>
          <a:p>
            <a:b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da-D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a-DK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Literal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'sub'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]):</a:t>
            </a:r>
          </a:p>
          <a:p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'sub'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}:</a:t>
            </a:r>
          </a:p>
          <a:p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a-DK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a-DK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NotImplementedError</a:t>
            </a:r>
            <a:b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da-D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a-D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'sub'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a-D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addd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93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725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 not need to import typing from simple annotations (generic does), can use </a:t>
            </a:r>
            <a:r>
              <a:rPr lang="en-US" dirty="0" err="1"/>
              <a:t>builtin</a:t>
            </a:r>
            <a:r>
              <a:rPr lang="en-US" dirty="0"/>
              <a:t> type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deprecated functionality will be removed from the typing module in the first Python version released 5 years after the release of Python 3.9.0. (i.e. in 2025; but still available in 3.14 in 2026, but deprecated)</a:t>
            </a:r>
          </a:p>
          <a:p>
            <a:r>
              <a:rPr lang="da-DK" dirty="0"/>
              <a:t>Type union (Python 3.10)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52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41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51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VSCode</a:t>
            </a:r>
            <a:r>
              <a:rPr lang="da-DK" dirty="0"/>
              <a:t> plugin </a:t>
            </a:r>
            <a:r>
              <a:rPr lang="da-DK" dirty="0" err="1"/>
              <a:t>Pylance</a:t>
            </a:r>
            <a:r>
              <a:rPr lang="da-DK" dirty="0"/>
              <a:t> </a:t>
            </a:r>
            <a:r>
              <a:rPr lang="da-DK" dirty="0" err="1"/>
              <a:t>uses</a:t>
            </a:r>
            <a:r>
              <a:rPr lang="da-DK" dirty="0"/>
              <a:t> </a:t>
            </a:r>
            <a:r>
              <a:rPr lang="da-DK" dirty="0" err="1"/>
              <a:t>pyright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7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ralogix.com/blog/this-is-what-your-developers-are-doing-75-of-the-time-and-this-is-the-cost-you-pay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ev/peps/pep-0008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exception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MS.2004.1331296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reference/simple_stmts.html#asser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257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q.inria.fr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doctest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est.or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unittest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coverage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Goldbach%27s_weak_conjectur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ython.org/dev/peps/pep-0484/" TargetMode="External"/><Relationship Id="rId4" Type="http://schemas.openxmlformats.org/officeDocument/2006/relationships/hyperlink" Target="https://www.google.com/url?sa=t&amp;rct=j&amp;q=&amp;esrc=s&amp;source=web&amp;cd=1&amp;ved=2ahUKEwitnuqf5I7hAhWHAxAIHTJWA-kQFjAAegQIBxAB&amp;url=http://mypy-lang.org/&amp;usg=AOvVaw2bn63UXnfMdWbR3mNQ0dkV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484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585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eps.python.org/pep-0604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586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typing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128" y="2024683"/>
            <a:ext cx="11687441" cy="1325563"/>
          </a:xfrm>
        </p:spPr>
        <p:txBody>
          <a:bodyPr/>
          <a:lstStyle/>
          <a:p>
            <a:pPr algn="r"/>
            <a:r>
              <a:rPr lang="en-US" noProof="0" dirty="0"/>
              <a:t>Documentation, testing and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9810" y="3017757"/>
            <a:ext cx="8556951" cy="3602737"/>
          </a:xfrm>
        </p:spPr>
        <p:txBody>
          <a:bodyPr>
            <a:normAutofit fontScale="77500" lnSpcReduction="20000"/>
          </a:bodyPr>
          <a:lstStyle/>
          <a:p>
            <a:r>
              <a:rPr lang="en-US" noProof="0" dirty="0"/>
              <a:t>docstring</a:t>
            </a:r>
          </a:p>
          <a:p>
            <a:r>
              <a:rPr lang="en-US" noProof="0" dirty="0"/>
              <a:t>defensive programming</a:t>
            </a:r>
          </a:p>
          <a:p>
            <a:r>
              <a:rPr lang="en-US" noProof="0" dirty="0"/>
              <a:t>assert</a:t>
            </a:r>
          </a:p>
          <a:p>
            <a:r>
              <a:rPr lang="en-US" noProof="0" dirty="0"/>
              <a:t>test driven </a:t>
            </a:r>
            <a:r>
              <a:rPr lang="en-US" noProof="0" dirty="0" err="1"/>
              <a:t>developement</a:t>
            </a:r>
            <a:endParaRPr lang="en-US" noProof="0" dirty="0"/>
          </a:p>
          <a:p>
            <a:r>
              <a:rPr lang="en-US" noProof="0" dirty="0"/>
              <a:t>assertions</a:t>
            </a:r>
          </a:p>
          <a:p>
            <a:r>
              <a:rPr lang="en-US" noProof="0" dirty="0"/>
              <a:t>testing </a:t>
            </a:r>
          </a:p>
          <a:p>
            <a:r>
              <a:rPr lang="en-US" noProof="0" dirty="0" err="1"/>
              <a:t>unittest</a:t>
            </a:r>
            <a:endParaRPr lang="en-US" noProof="0" dirty="0"/>
          </a:p>
          <a:p>
            <a:r>
              <a:rPr lang="en-US" noProof="0" dirty="0"/>
              <a:t>debugger</a:t>
            </a:r>
          </a:p>
          <a:p>
            <a:r>
              <a:rPr lang="en-US" noProof="0" dirty="0"/>
              <a:t>coverage</a:t>
            </a:r>
          </a:p>
          <a:p>
            <a:r>
              <a:rPr lang="en-US" noProof="0" dirty="0"/>
              <a:t>static type checking (</a:t>
            </a:r>
            <a:r>
              <a:rPr lang="en-US" noProof="0" dirty="0" err="1"/>
              <a:t>mypy</a:t>
            </a:r>
            <a:r>
              <a:rPr lang="en-US" noProof="0" dirty="0"/>
              <a:t>, </a:t>
            </a:r>
            <a:r>
              <a:rPr lang="en-US" noProof="0" dirty="0" err="1"/>
              <a:t>pyright</a:t>
            </a:r>
            <a:r>
              <a:rPr lang="en-U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807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8B608-CA4D-85FA-FB61-25A32075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530" y="2668773"/>
            <a:ext cx="11297391" cy="2817627"/>
          </a:xfrm>
        </p:spPr>
        <p:txBody>
          <a:bodyPr/>
          <a:lstStyle/>
          <a:p>
            <a:r>
              <a:rPr lang="en-US" noProof="0" dirty="0">
                <a:effectLst/>
                <a:latin typeface="helvetica" panose="020B0604020202020204" pitchFamily="34" charset="0"/>
              </a:rPr>
              <a:t>On average, a developer creates 70 bugs per 1000 lines of code</a:t>
            </a:r>
            <a:endParaRPr lang="en-US" noProof="0" dirty="0"/>
          </a:p>
          <a:p>
            <a:r>
              <a:rPr lang="en-US" noProof="0" dirty="0">
                <a:effectLst/>
                <a:latin typeface="helvetica" panose="020B0604020202020204" pitchFamily="34" charset="0"/>
              </a:rPr>
              <a:t>15 bugs per 1,000 lines of code find their way to the customers</a:t>
            </a:r>
            <a:endParaRPr lang="en-US" noProof="0" dirty="0"/>
          </a:p>
          <a:p>
            <a:r>
              <a:rPr lang="en-US" noProof="0" dirty="0">
                <a:effectLst/>
                <a:latin typeface="helvetica" panose="020B0604020202020204" pitchFamily="34" charset="0"/>
              </a:rPr>
              <a:t>Fixing a bug takes 30 times longer than writing a line of code</a:t>
            </a:r>
            <a:endParaRPr lang="en-US" noProof="0" dirty="0"/>
          </a:p>
          <a:p>
            <a:r>
              <a:rPr lang="en-US" noProof="0" dirty="0">
                <a:effectLst/>
                <a:latin typeface="helvetica" panose="020B0604020202020204" pitchFamily="34" charset="0"/>
              </a:rPr>
              <a:t>75% of a developer’s time is spent on debugging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39654-1B93-DFB2-F363-8922545D274A}"/>
              </a:ext>
            </a:extLst>
          </p:cNvPr>
          <p:cNvSpPr txBox="1"/>
          <p:nvPr/>
        </p:nvSpPr>
        <p:spPr>
          <a:xfrm>
            <a:off x="5910943" y="6308209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coralogix.com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427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Ensuring good quality code ?</a:t>
            </a:r>
          </a:p>
        </p:txBody>
      </p:sp>
      <p:sp>
        <p:nvSpPr>
          <p:cNvPr id="15" name="Cloud 14"/>
          <p:cNvSpPr/>
          <p:nvPr/>
        </p:nvSpPr>
        <p:spPr>
          <a:xfrm>
            <a:off x="735798" y="2209231"/>
            <a:ext cx="2705862" cy="1815842"/>
          </a:xfrm>
          <a:prstGeom prst="cloud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0" dirty="0">
                <a:solidFill>
                  <a:schemeClr val="accent5">
                    <a:lumMod val="50000"/>
                  </a:schemeClr>
                </a:solidFill>
              </a:rPr>
              <a:t>Idea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923544" y="1475535"/>
            <a:ext cx="10601323" cy="4701428"/>
            <a:chOff x="923544" y="1475535"/>
            <a:chExt cx="10601323" cy="4701428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931920" y="1579172"/>
              <a:ext cx="0" cy="4597791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855542" y="1574553"/>
              <a:ext cx="2674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>
                  <a:solidFill>
                    <a:srgbClr val="C00000"/>
                  </a:solidFill>
                </a:rPr>
                <a:t>Development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40926" y="1564045"/>
              <a:ext cx="25839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>
                  <a:solidFill>
                    <a:srgbClr val="C00000"/>
                  </a:solidFill>
                </a:rPr>
                <a:t>Usage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23544" y="1563373"/>
              <a:ext cx="23732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>
                  <a:solidFill>
                    <a:srgbClr val="C00000"/>
                  </a:solidFill>
                </a:rPr>
                <a:t>Design phase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8345424" y="1475535"/>
              <a:ext cx="0" cy="4597791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3596455" y="2217152"/>
            <a:ext cx="3496398" cy="900000"/>
            <a:chOff x="3596455" y="2217152"/>
            <a:chExt cx="3496398" cy="900000"/>
          </a:xfrm>
        </p:grpSpPr>
        <p:sp>
          <p:nvSpPr>
            <p:cNvPr id="6" name="Rounded Rectangle 5"/>
            <p:cNvSpPr/>
            <p:nvPr/>
          </p:nvSpPr>
          <p:spPr>
            <a:xfrm>
              <a:off x="5292853" y="2217152"/>
              <a:ext cx="1800000" cy="900000"/>
            </a:xfrm>
            <a:prstGeom prst="roundRect">
              <a:avLst/>
            </a:prstGeom>
            <a:solidFill>
              <a:srgbClr val="FFFF0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noProof="0" dirty="0">
                  <a:solidFill>
                    <a:schemeClr val="accent5">
                      <a:lumMod val="50000"/>
                    </a:schemeClr>
                  </a:solidFill>
                </a:rPr>
                <a:t>Coding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3605080" y="2699449"/>
              <a:ext cx="1421531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9B5744-8806-4F1B-28D3-A8F4C3A07E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6455" y="2996174"/>
              <a:ext cx="1363022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7313656" y="2217152"/>
            <a:ext cx="4114438" cy="1144654"/>
            <a:chOff x="7313656" y="2217152"/>
            <a:chExt cx="4114438" cy="1144654"/>
          </a:xfrm>
        </p:grpSpPr>
        <p:sp>
          <p:nvSpPr>
            <p:cNvPr id="9" name="Rounded Rectangle 8"/>
            <p:cNvSpPr/>
            <p:nvPr/>
          </p:nvSpPr>
          <p:spPr>
            <a:xfrm>
              <a:off x="8940926" y="2217152"/>
              <a:ext cx="2487168" cy="1144654"/>
            </a:xfrm>
            <a:prstGeom prst="roundRect">
              <a:avLst/>
            </a:prstGeom>
            <a:solidFill>
              <a:srgbClr val="FFFF0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noProof="0" dirty="0">
                  <a:solidFill>
                    <a:schemeClr val="accent5">
                      <a:lumMod val="50000"/>
                    </a:schemeClr>
                  </a:solidFill>
                </a:rPr>
                <a:t>User runs program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313656" y="2699449"/>
              <a:ext cx="1421531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10628508" y="2999171"/>
            <a:ext cx="1621273" cy="1372475"/>
            <a:chOff x="10628508" y="2999171"/>
            <a:chExt cx="1621273" cy="1372475"/>
          </a:xfrm>
        </p:grpSpPr>
        <p:sp>
          <p:nvSpPr>
            <p:cNvPr id="39" name="Arc 38"/>
            <p:cNvSpPr/>
            <p:nvPr/>
          </p:nvSpPr>
          <p:spPr>
            <a:xfrm flipV="1">
              <a:off x="11077818" y="2999171"/>
              <a:ext cx="900000" cy="900000"/>
            </a:xfrm>
            <a:prstGeom prst="arc">
              <a:avLst>
                <a:gd name="adj1" fmla="val 12086864"/>
                <a:gd name="adj2" fmla="val 5019588"/>
              </a:avLst>
            </a:prstGeom>
            <a:ln w="762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628508" y="3909981"/>
              <a:ext cx="16212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>
                  <a:solidFill>
                    <a:srgbClr val="C00000"/>
                  </a:solidFill>
                </a:rPr>
                <a:t>success</a:t>
              </a:r>
            </a:p>
          </p:txBody>
        </p:sp>
      </p:grpSp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369163" y="4758972"/>
            <a:ext cx="3385119" cy="1785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noProof="0" dirty="0"/>
              <a:t>Goal</a:t>
            </a:r>
          </a:p>
          <a:p>
            <a:r>
              <a:rPr lang="en-US" sz="2400" noProof="0" dirty="0"/>
              <a:t>Develop programs that work correctly</a:t>
            </a:r>
          </a:p>
          <a:p>
            <a:r>
              <a:rPr lang="en-US" sz="2400" noProof="0" dirty="0"/>
              <a:t>Tools and techniques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7313656" y="3545454"/>
            <a:ext cx="4418611" cy="3044073"/>
            <a:chOff x="7313656" y="3545454"/>
            <a:chExt cx="4418611" cy="3044073"/>
          </a:xfrm>
        </p:grpSpPr>
        <p:sp>
          <p:nvSpPr>
            <p:cNvPr id="40" name="Freeform 39"/>
            <p:cNvSpPr/>
            <p:nvPr/>
          </p:nvSpPr>
          <p:spPr>
            <a:xfrm>
              <a:off x="7313656" y="3545454"/>
              <a:ext cx="1790318" cy="2227619"/>
            </a:xfrm>
            <a:custGeom>
              <a:avLst/>
              <a:gdLst>
                <a:gd name="connsiteX0" fmla="*/ 3054096 w 3054096"/>
                <a:gd name="connsiteY0" fmla="*/ 0 h 2402458"/>
                <a:gd name="connsiteX1" fmla="*/ 1444752 w 3054096"/>
                <a:gd name="connsiteY1" fmla="*/ 2029968 h 2402458"/>
                <a:gd name="connsiteX2" fmla="*/ 0 w 3054096"/>
                <a:gd name="connsiteY2" fmla="*/ 2395728 h 2402458"/>
                <a:gd name="connsiteX0" fmla="*/ 3054096 w 3054096"/>
                <a:gd name="connsiteY0" fmla="*/ 0 h 2416525"/>
                <a:gd name="connsiteX1" fmla="*/ 2470928 w 3054096"/>
                <a:gd name="connsiteY1" fmla="*/ 2104619 h 2416525"/>
                <a:gd name="connsiteX2" fmla="*/ 0 w 3054096"/>
                <a:gd name="connsiteY2" fmla="*/ 2395728 h 2416525"/>
                <a:gd name="connsiteX0" fmla="*/ 3054096 w 3054096"/>
                <a:gd name="connsiteY0" fmla="*/ 0 h 2416525"/>
                <a:gd name="connsiteX1" fmla="*/ 2470928 w 3054096"/>
                <a:gd name="connsiteY1" fmla="*/ 2104619 h 2416525"/>
                <a:gd name="connsiteX2" fmla="*/ 0 w 3054096"/>
                <a:gd name="connsiteY2" fmla="*/ 2395728 h 2416525"/>
                <a:gd name="connsiteX0" fmla="*/ 3054096 w 3054096"/>
                <a:gd name="connsiteY0" fmla="*/ 0 h 2416525"/>
                <a:gd name="connsiteX1" fmla="*/ 2470928 w 3054096"/>
                <a:gd name="connsiteY1" fmla="*/ 2104619 h 2416525"/>
                <a:gd name="connsiteX2" fmla="*/ 0 w 3054096"/>
                <a:gd name="connsiteY2" fmla="*/ 2395728 h 2416525"/>
                <a:gd name="connsiteX0" fmla="*/ 3054096 w 3054096"/>
                <a:gd name="connsiteY0" fmla="*/ 0 h 2411733"/>
                <a:gd name="connsiteX1" fmla="*/ 2128869 w 3054096"/>
                <a:gd name="connsiteY1" fmla="*/ 2085957 h 2411733"/>
                <a:gd name="connsiteX2" fmla="*/ 0 w 3054096"/>
                <a:gd name="connsiteY2" fmla="*/ 2395728 h 2411733"/>
                <a:gd name="connsiteX0" fmla="*/ 2907499 w 2907499"/>
                <a:gd name="connsiteY0" fmla="*/ 0 h 2469673"/>
                <a:gd name="connsiteX1" fmla="*/ 2128869 w 2907499"/>
                <a:gd name="connsiteY1" fmla="*/ 2141945 h 2469673"/>
                <a:gd name="connsiteX2" fmla="*/ 0 w 2907499"/>
                <a:gd name="connsiteY2" fmla="*/ 2451716 h 246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07499" h="2469673">
                  <a:moveTo>
                    <a:pt x="2907499" y="0"/>
                  </a:moveTo>
                  <a:cubicBezTo>
                    <a:pt x="2797125" y="983304"/>
                    <a:pt x="2613452" y="1733326"/>
                    <a:pt x="2128869" y="2141945"/>
                  </a:cubicBezTo>
                  <a:cubicBezTo>
                    <a:pt x="1644286" y="2550564"/>
                    <a:pt x="467868" y="2468480"/>
                    <a:pt x="0" y="2451716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533636" y="5389198"/>
              <a:ext cx="31986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>
                  <a:solidFill>
                    <a:srgbClr val="C00000"/>
                  </a:solidFill>
                </a:rPr>
                <a:t>runs forever / crash / incorrect output / explosion / ...</a:t>
              </a: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3455" y="5013620"/>
              <a:ext cx="487666" cy="405904"/>
            </a:xfrm>
            <a:prstGeom prst="rect">
              <a:avLst/>
            </a:prstGeom>
          </p:spPr>
        </p:pic>
      </p:grpSp>
      <p:sp>
        <p:nvSpPr>
          <p:cNvPr id="53" name="TextBox 52"/>
          <p:cNvSpPr txBox="1"/>
          <p:nvPr/>
        </p:nvSpPr>
        <p:spPr>
          <a:xfrm>
            <a:off x="7343955" y="1682579"/>
            <a:ext cx="1360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(hopefully)</a:t>
            </a:r>
          </a:p>
          <a:p>
            <a:pPr algn="ctr"/>
            <a:r>
              <a:rPr lang="en-US" noProof="0" dirty="0">
                <a:solidFill>
                  <a:srgbClr val="C00000"/>
                </a:solidFill>
              </a:rPr>
              <a:t>correct program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91D319-6B0E-0818-7D40-5019F06B7BA8}"/>
              </a:ext>
            </a:extLst>
          </p:cNvPr>
          <p:cNvGrpSpPr/>
          <p:nvPr/>
        </p:nvGrpSpPr>
        <p:grpSpPr>
          <a:xfrm>
            <a:off x="4126611" y="3084510"/>
            <a:ext cx="4426391" cy="3138563"/>
            <a:chOff x="4126611" y="3084510"/>
            <a:chExt cx="4426391" cy="3138563"/>
          </a:xfrm>
        </p:grpSpPr>
        <p:sp>
          <p:nvSpPr>
            <p:cNvPr id="7" name="Rounded Rectangle 6"/>
            <p:cNvSpPr/>
            <p:nvPr/>
          </p:nvSpPr>
          <p:spPr>
            <a:xfrm>
              <a:off x="4126611" y="3789269"/>
              <a:ext cx="1800000" cy="900000"/>
            </a:xfrm>
            <a:prstGeom prst="roundRect">
              <a:avLst/>
            </a:prstGeom>
            <a:solidFill>
              <a:srgbClr val="FFFF0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noProof="0" dirty="0">
                  <a:solidFill>
                    <a:schemeClr val="accent5">
                      <a:lumMod val="50000"/>
                    </a:schemeClr>
                  </a:solidFill>
                </a:rPr>
                <a:t>Fix bug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336018" y="5323073"/>
              <a:ext cx="1800000" cy="900000"/>
            </a:xfrm>
            <a:prstGeom prst="roundRect">
              <a:avLst/>
            </a:prstGeom>
            <a:solidFill>
              <a:srgbClr val="FFFF0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noProof="0" dirty="0">
                  <a:solidFill>
                    <a:schemeClr val="accent5">
                      <a:lumMod val="50000"/>
                    </a:schemeClr>
                  </a:solidFill>
                </a:rPr>
                <a:t>Find bug 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346129" y="3789269"/>
              <a:ext cx="1800000" cy="900000"/>
            </a:xfrm>
            <a:prstGeom prst="roundRect">
              <a:avLst/>
            </a:prstGeom>
            <a:solidFill>
              <a:srgbClr val="FFFF0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noProof="0" dirty="0">
                  <a:solidFill>
                    <a:schemeClr val="accent5">
                      <a:lumMod val="50000"/>
                    </a:schemeClr>
                  </a:solidFill>
                </a:rPr>
                <a:t>Testing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6584983" y="3186855"/>
              <a:ext cx="346169" cy="532711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 flipV="1">
              <a:off x="6940092" y="3186856"/>
              <a:ext cx="306037" cy="487483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6657933" y="4758972"/>
              <a:ext cx="318723" cy="449171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 flipV="1">
              <a:off x="5258980" y="4740978"/>
              <a:ext cx="354051" cy="467165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5162620" y="3155465"/>
              <a:ext cx="390595" cy="521857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6B8834-41C6-09CC-17E6-A2CD89E1144C}"/>
                </a:ext>
              </a:extLst>
            </p:cNvPr>
            <p:cNvSpPr txBox="1"/>
            <p:nvPr/>
          </p:nvSpPr>
          <p:spPr>
            <a:xfrm>
              <a:off x="6931729" y="3084510"/>
              <a:ext cx="16212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>
                  <a:solidFill>
                    <a:srgbClr val="C00000"/>
                  </a:solidFill>
                </a:rPr>
                <a:t>success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3C89E72-4626-F1E1-C0A1-5EF48DA387CD}"/>
                </a:ext>
              </a:extLst>
            </p:cNvPr>
            <p:cNvSpPr txBox="1"/>
            <p:nvPr/>
          </p:nvSpPr>
          <p:spPr>
            <a:xfrm>
              <a:off x="6736646" y="4769505"/>
              <a:ext cx="1108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noProof="0" dirty="0">
                  <a:solidFill>
                    <a:srgbClr val="C00000"/>
                  </a:solidFill>
                </a:rPr>
                <a:t>fail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567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5" grpId="0" uiExpand="1" build="p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good code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744200" cy="5032375"/>
          </a:xfrm>
        </p:spPr>
        <p:txBody>
          <a:bodyPr>
            <a:normAutofit/>
          </a:bodyPr>
          <a:lstStyle/>
          <a:p>
            <a:r>
              <a:rPr lang="en-US" noProof="0" dirty="0"/>
              <a:t>Readability</a:t>
            </a:r>
          </a:p>
          <a:p>
            <a:pPr lvl="1"/>
            <a:r>
              <a:rPr lang="en-US" noProof="0" dirty="0"/>
              <a:t>well-structured</a:t>
            </a:r>
          </a:p>
          <a:p>
            <a:pPr lvl="1"/>
            <a:r>
              <a:rPr lang="en-US" noProof="0" dirty="0"/>
              <a:t>documentation</a:t>
            </a:r>
          </a:p>
          <a:p>
            <a:pPr lvl="1"/>
            <a:r>
              <a:rPr lang="en-US" noProof="0" dirty="0"/>
              <a:t>comments</a:t>
            </a:r>
          </a:p>
          <a:p>
            <a:pPr lvl="1"/>
            <a:r>
              <a:rPr lang="en-US" noProof="0" dirty="0"/>
              <a:t>follow some standard structure (easy to recognize, follow </a:t>
            </a:r>
            <a:r>
              <a:rPr lang="en-US" noProof="0" dirty="0">
                <a:hlinkClick r:id="rId2"/>
              </a:rPr>
              <a:t>PEP8</a:t>
            </a:r>
            <a:r>
              <a:rPr lang="en-US" noProof="0" dirty="0"/>
              <a:t> Style Guide)</a:t>
            </a:r>
          </a:p>
          <a:p>
            <a:endParaRPr lang="en-US" sz="1000" noProof="0" dirty="0"/>
          </a:p>
          <a:p>
            <a:r>
              <a:rPr lang="en-US" noProof="0" dirty="0"/>
              <a:t>Correctness</a:t>
            </a:r>
          </a:p>
          <a:p>
            <a:pPr lvl="1"/>
            <a:r>
              <a:rPr lang="en-US" noProof="0" dirty="0"/>
              <a:t>outputs the correct answer on valid input</a:t>
            </a:r>
          </a:p>
          <a:p>
            <a:pPr lvl="1"/>
            <a:r>
              <a:rPr lang="en-US" noProof="0" dirty="0"/>
              <a:t>eventually stops with an answer on valid input (should not go into infinite loop)</a:t>
            </a:r>
          </a:p>
          <a:p>
            <a:pPr lvl="1"/>
            <a:endParaRPr lang="en-US" sz="1000" noProof="0" dirty="0"/>
          </a:p>
          <a:p>
            <a:r>
              <a:rPr lang="en-US" noProof="0" dirty="0"/>
              <a:t>Reusable...</a:t>
            </a:r>
          </a:p>
        </p:txBody>
      </p:sp>
    </p:spTree>
    <p:extLst>
      <p:ext uri="{BB962C8B-B14F-4D97-AF65-F5344CB8AC3E}">
        <p14:creationId xmlns:p14="http://schemas.microsoft.com/office/powerpoint/2010/main" val="364099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500" y="1482373"/>
            <a:ext cx="368391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noProof="0" dirty="0"/>
              <a:t>Documentation</a:t>
            </a:r>
          </a:p>
          <a:p>
            <a:r>
              <a:rPr lang="en-US" i="1" noProof="0" dirty="0"/>
              <a:t>specification of functionality</a:t>
            </a:r>
            <a:endParaRPr lang="en-US" noProof="0" dirty="0"/>
          </a:p>
          <a:p>
            <a:r>
              <a:rPr lang="en-US" noProof="0" dirty="0"/>
              <a:t>docstring</a:t>
            </a:r>
          </a:p>
          <a:p>
            <a:pPr lvl="1"/>
            <a:r>
              <a:rPr lang="en-US" i="1" noProof="0" dirty="0"/>
              <a:t>for users of the code </a:t>
            </a:r>
          </a:p>
          <a:p>
            <a:pPr lvl="1"/>
            <a:r>
              <a:rPr lang="en-US" noProof="0" dirty="0"/>
              <a:t>modules</a:t>
            </a:r>
          </a:p>
          <a:p>
            <a:pPr lvl="1"/>
            <a:r>
              <a:rPr lang="en-US" noProof="0" dirty="0"/>
              <a:t>methods</a:t>
            </a:r>
          </a:p>
          <a:p>
            <a:pPr lvl="1"/>
            <a:r>
              <a:rPr lang="en-US" noProof="0" dirty="0"/>
              <a:t>classes</a:t>
            </a:r>
          </a:p>
          <a:p>
            <a:r>
              <a:rPr lang="en-US" noProof="0" dirty="0"/>
              <a:t>comments</a:t>
            </a:r>
          </a:p>
          <a:p>
            <a:pPr lvl="1"/>
            <a:r>
              <a:rPr lang="en-US" i="1" noProof="0" dirty="0"/>
              <a:t>for readers of the code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21499" y="1482373"/>
            <a:ext cx="354651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noProof="0" dirty="0"/>
              <a:t>Testing</a:t>
            </a:r>
          </a:p>
          <a:p>
            <a:r>
              <a:rPr lang="en-US" noProof="0" dirty="0"/>
              <a:t>Correct implementation ?</a:t>
            </a:r>
          </a:p>
          <a:p>
            <a:r>
              <a:rPr lang="en-US" noProof="0" dirty="0"/>
              <a:t>Try to predict behavior on unknown input ?</a:t>
            </a:r>
          </a:p>
          <a:p>
            <a:r>
              <a:rPr lang="en-US" noProof="0" dirty="0"/>
              <a:t>Performance guarantees ?</a:t>
            </a:r>
          </a:p>
          <a:p>
            <a:endParaRPr lang="en-US" noProof="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196618" y="1482373"/>
            <a:ext cx="3546513" cy="244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noProof="0" dirty="0"/>
              <a:t>Debugging</a:t>
            </a:r>
          </a:p>
          <a:p>
            <a:r>
              <a:rPr lang="en-US" i="1" noProof="0" dirty="0"/>
              <a:t>Where is the #!¤$ bug ?</a:t>
            </a: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>
            <a:off x="8075582" y="1399248"/>
            <a:ext cx="0" cy="451466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cxnSpLocks/>
          </p:cNvCxnSpPr>
          <p:nvPr/>
        </p:nvCxnSpPr>
        <p:spPr>
          <a:xfrm>
            <a:off x="4690672" y="1399248"/>
            <a:ext cx="0" cy="453841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200" y="6414227"/>
            <a:ext cx="1126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”Program testing can be used to show the presence of bugs, but never to show their absence”  ̶  </a:t>
            </a:r>
            <a:r>
              <a:rPr lang="en-US" noProof="0" dirty="0" err="1">
                <a:solidFill>
                  <a:schemeClr val="bg1">
                    <a:lumMod val="50000"/>
                  </a:schemeClr>
                </a:solidFill>
              </a:rPr>
              <a:t>Edsger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W. Dijkstra</a:t>
            </a:r>
          </a:p>
        </p:txBody>
      </p:sp>
    </p:spTree>
    <p:extLst>
      <p:ext uri="{BB962C8B-B14F-4D97-AF65-F5344CB8AC3E}">
        <p14:creationId xmlns:p14="http://schemas.microsoft.com/office/powerpoint/2010/main" val="272454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283801"/>
              </p:ext>
            </p:extLst>
          </p:nvPr>
        </p:nvGraphicFramePr>
        <p:xfrm>
          <a:off x="1073626" y="-64305"/>
          <a:ext cx="10044748" cy="6955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9193">
                  <a:extLst>
                    <a:ext uri="{9D8B030D-6E8A-4147-A177-3AD203B41FA5}">
                      <a16:colId xmlns:a16="http://schemas.microsoft.com/office/drawing/2014/main" val="79341772"/>
                    </a:ext>
                  </a:extLst>
                </a:gridCol>
                <a:gridCol w="5075555">
                  <a:extLst>
                    <a:ext uri="{9D8B030D-6E8A-4147-A177-3AD203B41FA5}">
                      <a16:colId xmlns:a16="http://schemas.microsoft.com/office/drawing/2014/main" val="2603044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BaseException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+--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SystemExit</a:t>
                      </a:r>
                      <a:endParaRPr lang="en-US" sz="1400" b="1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KeyboardInterrupt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GeneratorExit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+--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Exception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StopAsyncIteration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ArithmeticError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FloatingPointError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OverflowError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ZeroDivisionError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endParaRPr lang="en-US" sz="1400" b="1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AttributeError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BufferError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EOFError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ModuleNotFoundError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LookupError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UnboundLocalError</a:t>
                      </a: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     +-- UnicodeDecodeError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UnicodeEncodeError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UnicodeTranslateError</a:t>
                      </a: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endParaRPr lang="en-US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BlockingIOError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ChildProcessError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BrokenPipeError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ConnectionAbortedError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ConnectionRefusedError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ConnectionResetError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FileExistsError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FileNotFoundError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InterruptedError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IsADirectoryError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NotADirectoryError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PermissionError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ProcessLookupError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TimeoutError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ReferenceError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RuntimeError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NotImplementedError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RecursionError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SyntaxError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IndentationError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|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SystemError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+-- Warning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DeprecationWarning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PendingDeprecationWarning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RuntimeWarning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SyntaxWarning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FutureWarning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BytesWarning</a:t>
                      </a:r>
                      <a:endParaRPr lang="en-US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+--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ResourceWarning</a:t>
                      </a:r>
                      <a:endParaRPr lang="en-US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1332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626" y="0"/>
            <a:ext cx="9441974" cy="1325563"/>
          </a:xfrm>
        </p:spPr>
        <p:txBody>
          <a:bodyPr/>
          <a:lstStyle/>
          <a:p>
            <a:r>
              <a:rPr lang="en-US" noProof="0" dirty="0"/>
              <a:t>Built-in exceptions</a:t>
            </a:r>
            <a:br>
              <a:rPr lang="en-US" noProof="0" dirty="0"/>
            </a:br>
            <a:r>
              <a:rPr lang="en-US" noProof="0" dirty="0"/>
              <a:t>		(class hierarchy)</a:t>
            </a:r>
          </a:p>
        </p:txBody>
      </p:sp>
      <p:sp>
        <p:nvSpPr>
          <p:cNvPr id="8" name="Rectangle 7"/>
          <p:cNvSpPr/>
          <p:nvPr/>
        </p:nvSpPr>
        <p:spPr>
          <a:xfrm rot="16200000">
            <a:off x="9668683" y="3423011"/>
            <a:ext cx="4281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docs.python.org/3/library/exceptions.html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132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Testing for unexpected behavior 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828342"/>
              </p:ext>
            </p:extLst>
          </p:nvPr>
        </p:nvGraphicFramePr>
        <p:xfrm>
          <a:off x="337679" y="1690688"/>
          <a:ext cx="6539230" cy="2029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9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infinite-recursion1.py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4955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f(depth):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f(depth + 1)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infinite recursion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8342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RecursionError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maximum recursion depth exceeded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050"/>
              </p:ext>
            </p:extLst>
          </p:nvPr>
        </p:nvGraphicFramePr>
        <p:xfrm>
          <a:off x="337679" y="3846711"/>
          <a:ext cx="6539230" cy="276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9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infinite-recursion2.py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4955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f(depth):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depth &gt; 100: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print('runaway recursion???')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raise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SystemExit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raise built-in exception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f(depth + 1)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8342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runaway recursion???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339051"/>
              </p:ext>
            </p:extLst>
          </p:nvPr>
        </p:nvGraphicFramePr>
        <p:xfrm>
          <a:off x="7026416" y="1690688"/>
          <a:ext cx="4827905" cy="315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79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infinite-recursion3.py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49557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f(depth):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depth &gt; 100: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print('runaway recursion???')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sys.exit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system function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f(depth + 1)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8342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runaway recursion???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570" y="2237577"/>
            <a:ext cx="487666" cy="405904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9338577" y="3413899"/>
            <a:ext cx="380661" cy="24814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56024" y="3477379"/>
            <a:ext cx="19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raises </a:t>
            </a:r>
            <a:r>
              <a:rPr lang="en-US" noProof="0" dirty="0" err="1">
                <a:solidFill>
                  <a:srgbClr val="C00000"/>
                </a:solidFill>
              </a:rPr>
              <a:t>SystemExit</a:t>
            </a:r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026416" y="5023842"/>
            <a:ext cx="4827906" cy="1547157"/>
          </a:xfrm>
        </p:spPr>
        <p:txBody>
          <a:bodyPr>
            <a:normAutofit fontScale="92500"/>
          </a:bodyPr>
          <a:lstStyle/>
          <a:p>
            <a:r>
              <a:rPr lang="en-US" noProof="0" dirty="0"/>
              <a:t>let the program eventually fail</a:t>
            </a:r>
          </a:p>
          <a:p>
            <a:r>
              <a:rPr lang="en-US" noProof="0" dirty="0"/>
              <a:t>check and raise exceptions</a:t>
            </a:r>
          </a:p>
          <a:p>
            <a:r>
              <a:rPr lang="en-US" noProof="0" dirty="0"/>
              <a:t>check and call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sys.exit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63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679" y="0"/>
            <a:ext cx="10515600" cy="1325563"/>
          </a:xfrm>
        </p:spPr>
        <p:txBody>
          <a:bodyPr/>
          <a:lstStyle/>
          <a:p>
            <a:r>
              <a:rPr lang="en-US" noProof="0" dirty="0"/>
              <a:t>Catching unexpected </a:t>
            </a:r>
            <a:r>
              <a:rPr lang="en-US" noProof="0" dirty="0" err="1"/>
              <a:t>behaviour</a:t>
            </a:r>
            <a:r>
              <a:rPr lang="en-US" noProof="0" dirty="0"/>
              <a:t> –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774550"/>
              </p:ext>
            </p:extLst>
          </p:nvPr>
        </p:nvGraphicFramePr>
        <p:xfrm>
          <a:off x="220385" y="1107547"/>
          <a:ext cx="653923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9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infinite-recursion4.py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4955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f(depth):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depth &lt;= 100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raise exception if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f(depth + 1)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8342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 "...\infinite-recursion4.py", line 2, in f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depth &lt;= 100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741610"/>
              </p:ext>
            </p:extLst>
          </p:nvPr>
        </p:nvGraphicFramePr>
        <p:xfrm>
          <a:off x="220385" y="3951640"/>
          <a:ext cx="6548112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811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infinite-recursion5.py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4955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f(depth):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depth &lt;= 100, 'runaway recursion???'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f(depth + 1)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9127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8342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 "...\infinite-recursion5.py", line 2, in f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depth &lt;= 100, "runaway recursion???"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runaway recursion???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5937813" y="2433110"/>
            <a:ext cx="1049396" cy="2120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187750"/>
              </p:ext>
            </p:extLst>
          </p:nvPr>
        </p:nvGraphicFramePr>
        <p:xfrm>
          <a:off x="6914645" y="4283486"/>
          <a:ext cx="5062855" cy="2380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1277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infinite-recursion6.py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49557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f(depth):</a:t>
                      </a:r>
                    </a:p>
                    <a:p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not depth &lt;= 100: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raise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('runaway recursion???')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f(depth + 1)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91277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8342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 "...\infinite-recursion6.py", line 3, in f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raise </a:t>
                      </a: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("runaway recursion???")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runaway recursion???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05763" y="1107547"/>
            <a:ext cx="5062855" cy="3175939"/>
          </a:xfrm>
        </p:spPr>
        <p:txBody>
          <a:bodyPr>
            <a:normAutofit lnSpcReduction="10000"/>
          </a:bodyPr>
          <a:lstStyle/>
          <a:p>
            <a:r>
              <a:rPr lang="en-US" sz="2600" noProof="0" dirty="0"/>
              <a:t>keyword </a:t>
            </a:r>
            <a:r>
              <a:rPr lang="en-US" sz="2600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sz="2600" noProof="0" dirty="0"/>
              <a:t> checks if </a:t>
            </a:r>
            <a:r>
              <a:rPr lang="en-US" sz="2600" noProof="0" dirty="0" err="1"/>
              <a:t>boolean</a:t>
            </a:r>
            <a:r>
              <a:rPr lang="en-US" sz="2600" noProof="0" dirty="0"/>
              <a:t> expression is true, if not, raises exception </a:t>
            </a:r>
            <a:r>
              <a:rPr lang="en-US" sz="2600" noProof="0" dirty="0" err="1">
                <a:solidFill>
                  <a:srgbClr val="C00000"/>
                </a:solidFill>
              </a:rPr>
              <a:t>AssertionError</a:t>
            </a:r>
            <a:endParaRPr lang="en-US" sz="2600" noProof="0" dirty="0"/>
          </a:p>
          <a:p>
            <a:r>
              <a:rPr lang="en-US" sz="2600" noProof="0" dirty="0"/>
              <a:t>optional second parameter passed to the constructor of the exception</a:t>
            </a:r>
          </a:p>
          <a:p>
            <a:r>
              <a:rPr lang="en-US" sz="2600" noProof="0" dirty="0"/>
              <a:t>try to </a:t>
            </a:r>
            <a:r>
              <a:rPr lang="en-US" sz="2600" noProof="0" dirty="0">
                <a:hlinkClick r:id="rId3"/>
              </a:rPr>
              <a:t>fail fast</a:t>
            </a:r>
            <a:r>
              <a:rPr lang="en-US" sz="2600" noProof="0" dirty="0"/>
              <a:t> to discover errors early – making debugging easier </a:t>
            </a:r>
            <a:endParaRPr lang="en-US" sz="2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6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679" y="387927"/>
            <a:ext cx="10515600" cy="1325563"/>
          </a:xfrm>
        </p:spPr>
        <p:txBody>
          <a:bodyPr/>
          <a:lstStyle/>
          <a:p>
            <a:r>
              <a:rPr lang="en-US" noProof="0" dirty="0"/>
              <a:t>Disabling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noProof="0" dirty="0"/>
              <a:t> statements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100307" y="1878167"/>
            <a:ext cx="4823838" cy="4254775"/>
          </a:xfrm>
        </p:spPr>
        <p:txBody>
          <a:bodyPr>
            <a:normAutofit/>
          </a:bodyPr>
          <a:lstStyle/>
          <a:p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noProof="0" dirty="0"/>
              <a:t> statements are good to help check correctness of program – but can </a:t>
            </a:r>
            <a:r>
              <a:rPr lang="en-US" noProof="0" dirty="0">
                <a:solidFill>
                  <a:srgbClr val="C00000"/>
                </a:solidFill>
              </a:rPr>
              <a:t>slow down </a:t>
            </a:r>
            <a:r>
              <a:rPr lang="en-US" noProof="0" dirty="0"/>
              <a:t>program</a:t>
            </a:r>
            <a:endParaRPr lang="en-US" noProof="0" dirty="0">
              <a:solidFill>
                <a:srgbClr val="C00000"/>
              </a:solidFill>
            </a:endParaRPr>
          </a:p>
          <a:p>
            <a:endParaRPr lang="en-US" noProof="0" dirty="0"/>
          </a:p>
          <a:p>
            <a:r>
              <a:rPr lang="en-US" noProof="0" dirty="0"/>
              <a:t>invoking Python with option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–O</a:t>
            </a:r>
            <a:r>
              <a:rPr lang="en-US" noProof="0" dirty="0"/>
              <a:t> disables all assertions</a:t>
            </a:r>
            <a:br>
              <a:rPr lang="en-US" noProof="0" dirty="0"/>
            </a:br>
            <a:r>
              <a:rPr lang="en-US" noProof="0" dirty="0"/>
              <a:t>(by setting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__debug__</a:t>
            </a:r>
            <a:r>
              <a:rPr lang="en-US" noProof="0" dirty="0"/>
              <a:t> to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noProof="0" dirty="0"/>
              <a:t>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15" y="2050473"/>
            <a:ext cx="5860053" cy="34854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45224" y="6285259"/>
            <a:ext cx="5605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4"/>
              </a:rPr>
              <a:t>docs.python.org/3/reference/</a:t>
            </a:r>
            <a:r>
              <a:rPr lang="en-US" noProof="0" dirty="0" err="1">
                <a:hlinkClick r:id="rId4"/>
              </a:rPr>
              <a:t>simple_stmts.html#assert</a:t>
            </a:r>
            <a:endParaRPr lang="en-US" noProof="0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3819529" y="1789046"/>
            <a:ext cx="220036" cy="68515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18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sz="287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8700" i="1" noProof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7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n-US" sz="28700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4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28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try... </a:t>
            </a:r>
            <a:r>
              <a:rPr lang="en-US" sz="3200" noProof="0" dirty="0"/>
              <a:t>(seriously, the bugs were not on purpose)</a:t>
            </a:r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487461"/>
              </p:ext>
            </p:extLst>
          </p:nvPr>
        </p:nvGraphicFramePr>
        <p:xfrm>
          <a:off x="3278377" y="1760971"/>
          <a:ext cx="563524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524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intsqrt_buggy.py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low = 0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high = x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low &lt; high - 1: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mid = (low + high) / 2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mid ** 2 &lt;= x: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low = mid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high = mid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low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3.125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3.125 ** 2 = 9.765625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(-10)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what should the answer be 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590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903" y="13681"/>
            <a:ext cx="10515600" cy="1325563"/>
          </a:xfrm>
        </p:spPr>
        <p:txBody>
          <a:bodyPr/>
          <a:lstStyle/>
          <a:p>
            <a:r>
              <a:rPr lang="en-US" noProof="0" dirty="0"/>
              <a:t>Let us add a specification...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326287"/>
              </p:ext>
            </p:extLst>
          </p:nvPr>
        </p:nvGraphicFramePr>
        <p:xfrm>
          <a:off x="306509" y="1488808"/>
          <a:ext cx="773136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13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intsqrt.py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'''Compute the integer square root of an integer x.</a:t>
                      </a:r>
                    </a:p>
                    <a:p>
                      <a:endParaRPr lang="en-US" sz="1800" b="1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Requires x &gt;= 0 is an integer.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Returns the integer floor(sqrt(x)).'''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 on function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module __main__: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Compute the integer square root of an integer x.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Requires x &gt;= 0 is an integer.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Returns the integer floor(sqrt(x)).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264589" y="6062538"/>
            <a:ext cx="38116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b="1" noProof="0" dirty="0">
                <a:solidFill>
                  <a:schemeClr val="bg1">
                    <a:lumMod val="50000"/>
                  </a:schemeClr>
                </a:solidFill>
              </a:rPr>
              <a:t>PEP 257 -- Docstring Conventions</a:t>
            </a:r>
          </a:p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www.python.org/dev/peps/pep-0257/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H="1">
            <a:off x="5165766" y="2885137"/>
            <a:ext cx="147901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44778" y="2636425"/>
            <a:ext cx="1619811" cy="557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input requirements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5770088" y="3246103"/>
            <a:ext cx="680001" cy="1858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50089" y="3302663"/>
            <a:ext cx="1674648" cy="557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output guarantees</a:t>
            </a:r>
          </a:p>
        </p:txBody>
      </p:sp>
      <p:sp>
        <p:nvSpPr>
          <p:cNvPr id="11" name="Left Brace 10"/>
          <p:cNvSpPr/>
          <p:nvPr/>
        </p:nvSpPr>
        <p:spPr>
          <a:xfrm>
            <a:off x="732333" y="2447366"/>
            <a:ext cx="149140" cy="997798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-21137" y="2761599"/>
            <a:ext cx="113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docstring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188308" y="1690688"/>
            <a:ext cx="3979538" cy="4371850"/>
          </a:xfrm>
        </p:spPr>
        <p:txBody>
          <a:bodyPr>
            <a:normAutofit/>
          </a:bodyPr>
          <a:lstStyle/>
          <a:p>
            <a:r>
              <a:rPr lang="en-US" sz="2400" noProof="0" dirty="0"/>
              <a:t>all methods, classes, and modules can have a </a:t>
            </a:r>
            <a:r>
              <a:rPr lang="en-US" sz="2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docstring</a:t>
            </a:r>
            <a:r>
              <a:rPr lang="en-US" sz="2400" noProof="0" dirty="0"/>
              <a:t> (ideally have) as a </a:t>
            </a:r>
            <a:r>
              <a:rPr lang="en-US" sz="2400" b="1" noProof="0" dirty="0"/>
              <a:t>specification</a:t>
            </a:r>
          </a:p>
          <a:p>
            <a:r>
              <a:rPr lang="en-US" sz="2400" noProof="0" dirty="0"/>
              <a:t>for methods: summarize purpose in first line, followed by input requirements and </a:t>
            </a:r>
            <a:r>
              <a:rPr lang="en-US" sz="2400" noProof="0" dirty="0" err="1"/>
              <a:t>ouput</a:t>
            </a:r>
            <a:r>
              <a:rPr lang="en-US" sz="2400" noProof="0" dirty="0"/>
              <a:t> guarantees</a:t>
            </a:r>
          </a:p>
          <a:p>
            <a:r>
              <a:rPr lang="en-US" sz="2400" noProof="0" dirty="0"/>
              <a:t>the docstring is assigned to the object’s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__doc__</a:t>
            </a:r>
            <a:r>
              <a:rPr lang="en-US" sz="2400" noProof="0" dirty="0"/>
              <a:t> attribute 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15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noProof="0" dirty="0"/>
              <a:t>Let us check input requirements...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585073"/>
              </p:ext>
            </p:extLst>
          </p:nvPr>
        </p:nvGraphicFramePr>
        <p:xfrm>
          <a:off x="306509" y="1690688"/>
          <a:ext cx="773136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13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intsqrt.py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'''Compute the integer square root of an integer x.</a:t>
                      </a:r>
                    </a:p>
                    <a:p>
                      <a:endParaRPr lang="en-US" sz="1800" b="1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Requires x &gt;= 0 is an integer.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Returns the integer floor(sqrt(x)).'''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int) 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0 &lt;= x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(-10)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File "...\int_sqrt.py", line 7, in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0 &lt;= 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77849" y="3774649"/>
            <a:ext cx="1619811" cy="557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check input requirements</a:t>
            </a:r>
          </a:p>
        </p:txBody>
      </p:sp>
      <p:sp>
        <p:nvSpPr>
          <p:cNvPr id="11" name="Left Brace 10"/>
          <p:cNvSpPr/>
          <p:nvPr/>
        </p:nvSpPr>
        <p:spPr>
          <a:xfrm flipH="1">
            <a:off x="4529833" y="3805382"/>
            <a:ext cx="125293" cy="517236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188308" y="1690688"/>
            <a:ext cx="3697183" cy="4371850"/>
          </a:xfrm>
        </p:spPr>
        <p:txBody>
          <a:bodyPr>
            <a:normAutofit/>
          </a:bodyPr>
          <a:lstStyle/>
          <a:p>
            <a:r>
              <a:rPr lang="en-US" sz="2400" noProof="0" dirty="0"/>
              <a:t>doing explicit checks for valid input arguments is part of </a:t>
            </a:r>
            <a:r>
              <a:rPr lang="en-US" sz="2400" b="1" noProof="0" dirty="0"/>
              <a:t>defensive programming</a:t>
            </a:r>
            <a:r>
              <a:rPr lang="en-US" sz="2400" noProof="0" dirty="0"/>
              <a:t> and helps spotting errors early</a:t>
            </a:r>
            <a:br>
              <a:rPr lang="en-US" sz="2400" noProof="0" dirty="0"/>
            </a:br>
            <a:br>
              <a:rPr lang="en-US" sz="2400" noProof="0" dirty="0"/>
            </a:br>
            <a:r>
              <a:rPr lang="en-US" sz="2400" noProof="0" dirty="0"/>
              <a:t>(instead of continuing using likely wrong  values... resulting in a final meaningless error)</a:t>
            </a:r>
          </a:p>
        </p:txBody>
      </p:sp>
    </p:spTree>
    <p:extLst>
      <p:ext uri="{BB962C8B-B14F-4D97-AF65-F5344CB8AC3E}">
        <p14:creationId xmlns:p14="http://schemas.microsoft.com/office/powerpoint/2010/main" val="152963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noProof="0" dirty="0"/>
              <a:t>Let us check if output correct...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383482"/>
              </p:ext>
            </p:extLst>
          </p:nvPr>
        </p:nvGraphicFramePr>
        <p:xfrm>
          <a:off x="343454" y="1238260"/>
          <a:ext cx="773136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13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intsqrt.py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'''Compute the integer square root of an integer x.</a:t>
                      </a:r>
                    </a:p>
                    <a:p>
                      <a:endParaRPr lang="en-US" sz="1800" b="1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Requires x &gt;= 0 is an integer.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Returns the integer floor(sqrt(x)).'''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int) 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0 &lt;= x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(result, int)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result ** 2 &lt;= x &lt; (result + 1) ** 2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result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File "...\int_sqrt.py", line 20, in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(result,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77057" y="4128746"/>
            <a:ext cx="961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check output</a:t>
            </a:r>
          </a:p>
        </p:txBody>
      </p:sp>
      <p:sp>
        <p:nvSpPr>
          <p:cNvPr id="11" name="Left Brace 10"/>
          <p:cNvSpPr/>
          <p:nvPr/>
        </p:nvSpPr>
        <p:spPr>
          <a:xfrm flipH="1">
            <a:off x="7014411" y="4147127"/>
            <a:ext cx="125293" cy="517236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188308" y="1690688"/>
            <a:ext cx="4003692" cy="4371850"/>
          </a:xfrm>
        </p:spPr>
        <p:txBody>
          <a:bodyPr>
            <a:normAutofit/>
          </a:bodyPr>
          <a:lstStyle/>
          <a:p>
            <a:r>
              <a:rPr lang="en-US" sz="2400" noProof="0" dirty="0"/>
              <a:t>output check identifies the error</a:t>
            </a:r>
          </a:p>
          <a:p>
            <a:pPr marL="0" indent="0" algn="ctr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mid = (low + high) </a:t>
            </a:r>
            <a:r>
              <a:rPr lang="en-US" sz="1800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8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400" noProof="0" dirty="0"/>
              <a:t>should have been</a:t>
            </a:r>
          </a:p>
          <a:p>
            <a:pPr marL="0" indent="0" algn="ctr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mid = (low + high) </a:t>
            </a:r>
            <a:r>
              <a:rPr lang="en-US" sz="1800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8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 algn="ctr">
              <a:buNone/>
            </a:pPr>
            <a:endParaRPr lang="en-US" sz="1800" noProof="0" dirty="0"/>
          </a:p>
          <a:p>
            <a:r>
              <a:rPr lang="en-US" sz="2400" noProof="0" dirty="0"/>
              <a:t>The output check helps us to ensure that function specifications are satisfied in applications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227196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noProof="0" dirty="0"/>
              <a:t>Let us test some input values...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382157"/>
              </p:ext>
            </p:extLst>
          </p:nvPr>
        </p:nvGraphicFramePr>
        <p:xfrm>
          <a:off x="306509" y="1224853"/>
          <a:ext cx="773136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13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intsqrt.py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</a:t>
                      </a:r>
                    </a:p>
                    <a:p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 == 0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(1) == 1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(2) == 1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 == 1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 == 2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 == 2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(200) == 14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Traceback (most recent call last):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File "...\int_sqrt.py", line 28, in &lt;module&gt;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(1)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File "...\int_sqrt.py", line 21, in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result ** 2 &lt;= x &lt; (result + 1) **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188308" y="1505488"/>
            <a:ext cx="3697183" cy="4371850"/>
          </a:xfrm>
        </p:spPr>
        <p:txBody>
          <a:bodyPr>
            <a:normAutofit/>
          </a:bodyPr>
          <a:lstStyle/>
          <a:p>
            <a:r>
              <a:rPr lang="en-US" sz="2400" noProof="0" dirty="0"/>
              <a:t>test identifies </a:t>
            </a:r>
            <a:br>
              <a:rPr lang="en-US" sz="2400" noProof="0" dirty="0"/>
            </a:br>
            <a:r>
              <a:rPr lang="en-US" sz="2400" noProof="0" dirty="0">
                <a:solidFill>
                  <a:srgbClr val="C00000"/>
                </a:solidFill>
              </a:rPr>
              <a:t>wrong output for x = 1</a:t>
            </a:r>
            <a:endParaRPr lang="en-US" sz="2000" noProof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82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1" y="-1"/>
            <a:ext cx="10515600" cy="1108955"/>
          </a:xfrm>
        </p:spPr>
        <p:txBody>
          <a:bodyPr/>
          <a:lstStyle/>
          <a:p>
            <a:r>
              <a:rPr lang="en-US" noProof="0" dirty="0"/>
              <a:t>Let us check progress of algorithm...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423318"/>
              </p:ext>
            </p:extLst>
          </p:nvPr>
        </p:nvGraphicFramePr>
        <p:xfrm>
          <a:off x="306509" y="1108955"/>
          <a:ext cx="7731368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13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intsqrt.py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...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low, high = 0, x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while low &lt; high - 1: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low &lt;= floor(sqrt(x)) &lt; high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assert low ** 2 &lt;= x &lt; high ** 2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mid = (low + high) // 2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mid ** 2 &lt;= x: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low = mid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high = mid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result = low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Traceback (most recent call last):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File "...\int_sqrt.py", line 28, in &lt;module&gt;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(1) 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File "...\int_sqrt.py", line 21, in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result ** 2 &lt;= x &lt; (result + 1) **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AssertionError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188308" y="1505487"/>
            <a:ext cx="3930740" cy="5167313"/>
          </a:xfrm>
        </p:spPr>
        <p:txBody>
          <a:bodyPr>
            <a:normAutofit/>
          </a:bodyPr>
          <a:lstStyle/>
          <a:p>
            <a:r>
              <a:rPr lang="en-US" sz="2400" noProof="0" dirty="0"/>
              <a:t>test identifies</a:t>
            </a:r>
            <a:br>
              <a:rPr lang="en-US" sz="2400" noProof="0" dirty="0"/>
            </a:br>
            <a:r>
              <a:rPr lang="en-US" sz="2400" noProof="0" dirty="0">
                <a:solidFill>
                  <a:srgbClr val="C00000"/>
                </a:solidFill>
              </a:rPr>
              <a:t>wrong output for x = 1</a:t>
            </a:r>
          </a:p>
          <a:p>
            <a:r>
              <a:rPr lang="en-US" sz="2400" noProof="0" dirty="0"/>
              <a:t>but invariant apparently correct ???</a:t>
            </a:r>
          </a:p>
          <a:p>
            <a:r>
              <a:rPr lang="en-US" sz="2400" noProof="0" dirty="0"/>
              <a:t>problem </a:t>
            </a:r>
          </a:p>
          <a:p>
            <a:pPr marL="0" indent="0" algn="ctr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low == result == 0</a:t>
            </a:r>
            <a:b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high == 1</a:t>
            </a:r>
            <a:endParaRPr lang="en-US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0">
              <a:buNone/>
            </a:pPr>
            <a:r>
              <a:rPr lang="en-US" sz="2400" noProof="0" dirty="0">
                <a:cs typeface="Courier New" panose="02070309020205020404" pitchFamily="49" charset="0"/>
              </a:rPr>
              <a:t>implies loop never entered</a:t>
            </a:r>
          </a:p>
          <a:p>
            <a:r>
              <a:rPr lang="en-US" sz="2400" noProof="0" dirty="0"/>
              <a:t>output check identifies the error</a:t>
            </a:r>
          </a:p>
          <a:p>
            <a:pPr marL="0" indent="0" algn="ctr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high = x</a:t>
            </a:r>
          </a:p>
          <a:p>
            <a:r>
              <a:rPr lang="en-US" sz="2400" noProof="0" dirty="0"/>
              <a:t>should have been</a:t>
            </a:r>
          </a:p>
          <a:p>
            <a:pPr marL="0" indent="0" algn="ctr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high = x </a:t>
            </a:r>
            <a:r>
              <a:rPr lang="en-US" sz="1800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+ 1</a:t>
            </a:r>
            <a:endParaRPr lang="en-US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noProof="0" dirty="0">
              <a:cs typeface="Courier New" panose="02070309020205020404" pitchFamily="49" charset="0"/>
            </a:endParaRPr>
          </a:p>
          <a:p>
            <a:endParaRPr lang="en-US" sz="2400" noProof="0" dirty="0"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923720" y="2395280"/>
                <a:ext cx="2157808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noProof="0" dirty="0">
                    <a:solidFill>
                      <a:srgbClr val="C00000"/>
                    </a:solidFill>
                  </a:rPr>
                  <a:t>check invariant</a:t>
                </a:r>
                <a:br>
                  <a:rPr lang="en-US" noProof="0" dirty="0">
                    <a:solidFill>
                      <a:srgbClr val="C00000"/>
                    </a:solidFill>
                  </a:rPr>
                </a:br>
                <a:r>
                  <a:rPr lang="en-US" noProof="0" dirty="0">
                    <a:solidFill>
                      <a:srgbClr val="C00000"/>
                    </a:solidFill>
                  </a:rPr>
                  <a:t> for loop</a:t>
                </a:r>
                <a:br>
                  <a:rPr lang="en-US" noProof="0" dirty="0">
                    <a:solidFill>
                      <a:srgbClr val="C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b="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nor/>
                                </m:rPr>
                                <a:rPr lang="en-US" b="0" i="0" noProof="0" smtClean="0">
                                  <a:solidFill>
                                    <a:srgbClr val="C00000"/>
                                  </a:solidFill>
                                  <a:latin typeface="Courier New" panose="02070309020205020404" pitchFamily="49" charset="0"/>
                                  <a:cs typeface="Courier New" panose="02070309020205020404" pitchFamily="49" charset="0"/>
                                </a:rPr>
                                <m:t>x</m:t>
                              </m:r>
                            </m:e>
                          </m:rad>
                        </m:e>
                      </m:d>
                      <m:r>
                        <a:rPr lang="en-US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∊[</m:t>
                      </m:r>
                      <m:r>
                        <m:rPr>
                          <m:nor/>
                        </m:rPr>
                        <a:rPr lang="en-US" b="0" i="0" noProof="0" smtClean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low</m:t>
                      </m:r>
                      <m:r>
                        <a:rPr lang="en-US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noProof="0" smtClean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high</m:t>
                      </m:r>
                      <m:r>
                        <a:rPr lang="en-US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[</m:t>
                      </m:r>
                    </m:oMath>
                  </m:oMathPara>
                </a14:m>
                <a:endParaRPr lang="en-US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720" y="2395280"/>
                <a:ext cx="2157808" cy="784830"/>
              </a:xfrm>
              <a:prstGeom prst="rect">
                <a:avLst/>
              </a:prstGeom>
              <a:blipFill>
                <a:blip r:embed="rId3"/>
                <a:stretch>
                  <a:fillRect t="-10078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/>
          <p:cNvSpPr/>
          <p:nvPr/>
        </p:nvSpPr>
        <p:spPr>
          <a:xfrm flipH="1">
            <a:off x="5982431" y="2377972"/>
            <a:ext cx="141277" cy="360000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4993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131940"/>
              </p:ext>
            </p:extLst>
          </p:nvPr>
        </p:nvGraphicFramePr>
        <p:xfrm>
          <a:off x="5704585" y="91440"/>
          <a:ext cx="6351905" cy="670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19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343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intsqrt.py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6220718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'''Compute the integer square root of an integer x.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Requires x &gt;= 0 is an integer. 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4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Returns the integer floor(sqrt(x)).'''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int)  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0 &lt;= x</a:t>
                      </a:r>
                      <a:endParaRPr lang="en-US" sz="14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low, high = 0, x + 1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low &lt; high - 1: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low &lt;= floor(sqrt(x)) &lt; high</a:t>
                      </a:r>
                      <a:endParaRPr lang="en-US" sz="14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assert low ** 2 &lt;= x &lt; high ** 2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mid = (low + high) // 2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mid ** 2 &lt;= x: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low = mid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high = mid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result = low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(result, int)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result ** 2 &lt;= x &lt; (result + 1) ** 2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result</a:t>
                      </a:r>
                    </a:p>
                    <a:p>
                      <a:endParaRPr lang="en-US" sz="14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 == 0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(1) == 1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(2) == 1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 == 1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 == 2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 == 2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(200) == 14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5126" y="414337"/>
            <a:ext cx="3685380" cy="1108955"/>
          </a:xfrm>
        </p:spPr>
        <p:txBody>
          <a:bodyPr/>
          <a:lstStyle/>
          <a:p>
            <a:r>
              <a:rPr lang="en-US" noProof="0" dirty="0"/>
              <a:t>Final program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88168" y="2254250"/>
            <a:ext cx="46767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noProof="0" dirty="0"/>
              <a:t>We have used </a:t>
            </a:r>
            <a:r>
              <a:rPr lang="en-US" sz="2400" b="1" noProof="0" dirty="0">
                <a:solidFill>
                  <a:srgbClr val="C00000"/>
                </a:solidFill>
              </a:rPr>
              <a:t>assertions</a:t>
            </a:r>
            <a:r>
              <a:rPr lang="en-US" sz="2400" b="1" noProof="0" dirty="0"/>
              <a:t> to:</a:t>
            </a:r>
          </a:p>
          <a:p>
            <a:r>
              <a:rPr lang="en-US" sz="2400" noProof="0" dirty="0"/>
              <a:t>Test if </a:t>
            </a:r>
            <a:r>
              <a:rPr lang="en-US" sz="2400" noProof="0" dirty="0">
                <a:solidFill>
                  <a:srgbClr val="C00000"/>
                </a:solidFill>
              </a:rPr>
              <a:t>input</a:t>
            </a:r>
            <a:r>
              <a:rPr lang="en-US" sz="2400" noProof="0" dirty="0"/>
              <a:t> arguments / usage is valid (defensive programming)</a:t>
            </a:r>
          </a:p>
          <a:p>
            <a:r>
              <a:rPr lang="en-US" sz="2400" noProof="0" dirty="0"/>
              <a:t>Test if computed </a:t>
            </a:r>
            <a:r>
              <a:rPr lang="en-US" sz="2400" noProof="0" dirty="0">
                <a:solidFill>
                  <a:srgbClr val="C00000"/>
                </a:solidFill>
              </a:rPr>
              <a:t>result</a:t>
            </a:r>
            <a:r>
              <a:rPr lang="en-US" sz="2400" noProof="0" dirty="0"/>
              <a:t> is correct</a:t>
            </a:r>
          </a:p>
          <a:p>
            <a:r>
              <a:rPr lang="en-US" sz="2400" noProof="0" dirty="0"/>
              <a:t>Test if an internal </a:t>
            </a:r>
            <a:r>
              <a:rPr lang="en-US" sz="2400" noProof="0" dirty="0">
                <a:solidFill>
                  <a:srgbClr val="C00000"/>
                </a:solidFill>
              </a:rPr>
              <a:t>invariant</a:t>
            </a:r>
            <a:r>
              <a:rPr lang="en-US" sz="2400" noProof="0" dirty="0"/>
              <a:t> in the computation is satisfied</a:t>
            </a:r>
          </a:p>
          <a:p>
            <a:r>
              <a:rPr lang="en-US" sz="2400" noProof="0" dirty="0"/>
              <a:t>Perform a </a:t>
            </a:r>
            <a:r>
              <a:rPr lang="en-US" sz="2400" noProof="0" dirty="0">
                <a:solidFill>
                  <a:srgbClr val="C00000"/>
                </a:solidFill>
              </a:rPr>
              <a:t>final test </a:t>
            </a:r>
            <a:r>
              <a:rPr lang="en-US" sz="2400" noProof="0" dirty="0"/>
              <a:t>for a set of test cases (should be run whenever we change anything in the implementation)</a:t>
            </a:r>
          </a:p>
          <a:p>
            <a:endParaRPr lang="en-US" sz="2400" noProof="0" dirty="0"/>
          </a:p>
          <a:p>
            <a:pPr marL="0" indent="0">
              <a:buNone/>
            </a:pP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93560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75" y="172243"/>
            <a:ext cx="11353800" cy="1325563"/>
          </a:xfrm>
        </p:spPr>
        <p:txBody>
          <a:bodyPr/>
          <a:lstStyle/>
          <a:p>
            <a:r>
              <a:rPr lang="en-US" noProof="0" dirty="0"/>
              <a:t>Which checks would you add to the below code?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56223"/>
              </p:ext>
            </p:extLst>
          </p:nvPr>
        </p:nvGraphicFramePr>
        <p:xfrm>
          <a:off x="1787366" y="1690688"/>
          <a:ext cx="8617268" cy="437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72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8745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binary-search.py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79877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L):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'''Binary search for x in sorted list L.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Assumes x is an integer, and L a non-decreasing list of integers.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Returns index i, -1 &lt;= i &lt; </a:t>
                      </a:r>
                      <a:r>
                        <a:rPr lang="en-US" sz="16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(L), where L[i] &lt;= x &lt; L[i+1],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assuming L[-1] = -</a:t>
                      </a:r>
                      <a:r>
                        <a:rPr lang="en-US" sz="16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infty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L[</a:t>
                      </a:r>
                      <a:r>
                        <a:rPr lang="en-US" sz="16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(L)] = +</a:t>
                      </a:r>
                      <a:r>
                        <a:rPr lang="en-US" sz="16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infty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.'''</a:t>
                      </a:r>
                      <a:endParaRPr lang="en-US" sz="16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low, high = -1,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</a:t>
                      </a:r>
                      <a:b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low + 1 &lt; high:</a:t>
                      </a:r>
                      <a:endParaRPr lang="en-US" sz="16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mid = (low + high) // 2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x &lt; L[mid]: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high = mid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low = mid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result = low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result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680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61484"/>
              </p:ext>
            </p:extLst>
          </p:nvPr>
        </p:nvGraphicFramePr>
        <p:xfrm>
          <a:off x="106074" y="89261"/>
          <a:ext cx="8441532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153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18073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binary-search-assertions.py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519664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L):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'''Binary search for x in sorted list L.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Assumes x is an integer, and L a non-decreasing list of integers.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Returns index i, -1 &lt;= i &lt; </a:t>
                      </a:r>
                      <a:r>
                        <a:rPr lang="en-US" sz="12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(L), where L[i] &lt;= x &lt; L[i+1],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assuming L[-1] = -</a:t>
                      </a:r>
                      <a:r>
                        <a:rPr lang="en-US" sz="12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infty</a:t>
                      </a:r>
                      <a:r>
                        <a:rPr lang="en-US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L[</a:t>
                      </a:r>
                      <a:r>
                        <a:rPr lang="en-US" sz="12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(L)] = +</a:t>
                      </a:r>
                      <a:r>
                        <a:rPr lang="en-US" sz="1200" b="1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infty</a:t>
                      </a:r>
                      <a:r>
                        <a:rPr lang="en-US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.'''</a:t>
                      </a:r>
                      <a:endParaRPr lang="en-US" sz="12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int)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list)    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all([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(e, int) for e in L])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all([L[i] &lt;= L[i + 1] for i in range(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- 1)])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low, high = -1,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</a:t>
                      </a:r>
                      <a:b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low + 1 &lt; high:  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L[low] &lt;=</a:t>
                      </a: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&lt; L[high]</a:t>
                      </a:r>
                      <a:b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assert (low == -1 or L[low] &lt;= x) and (high ==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or x &lt; L[high])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mid = (low + high) // 2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(L[mid], int)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(low == -1 or L[low] &lt;= L[mid]) and (high ==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or L[mid] &lt;= L[high])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x &lt; L[mid]: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high = mid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low = mid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result = low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assert 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(result, int) and -1 &lt;= result &lt;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and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((result == -1 and 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== 0 or x &lt; L[0])) or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(result ==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- 1 and x &gt;= L[-1]) or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(0 &lt;= result &lt;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- 1 and L[result] &lt;= x &lt; L[result + 1])))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result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[]) == -1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[7]) == 0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(7, [42]) == -1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(7, [42, 42, 42]) == -1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[7, 7, 7]) == 2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[7, 7, 7, 56, 81]) == 2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(8, [1, 3, 5, 7, 9]) == 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25341" y="1965145"/>
            <a:ext cx="1619811" cy="32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inefficient</a:t>
            </a:r>
          </a:p>
        </p:txBody>
      </p:sp>
      <p:sp>
        <p:nvSpPr>
          <p:cNvPr id="6" name="Left Brace 5"/>
          <p:cNvSpPr/>
          <p:nvPr/>
        </p:nvSpPr>
        <p:spPr>
          <a:xfrm flipH="1">
            <a:off x="5911496" y="1892374"/>
            <a:ext cx="141277" cy="434109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519" y="1906476"/>
            <a:ext cx="487666" cy="4059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62340" y="5937702"/>
            <a:ext cx="1619811" cy="32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test cases</a:t>
            </a:r>
          </a:p>
        </p:txBody>
      </p:sp>
      <p:sp>
        <p:nvSpPr>
          <p:cNvPr id="9" name="Left Brace 8"/>
          <p:cNvSpPr/>
          <p:nvPr/>
        </p:nvSpPr>
        <p:spPr>
          <a:xfrm flipH="1">
            <a:off x="4664475" y="5474057"/>
            <a:ext cx="141277" cy="1253663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Left Brace 9"/>
          <p:cNvSpPr/>
          <p:nvPr/>
        </p:nvSpPr>
        <p:spPr>
          <a:xfrm>
            <a:off x="411900" y="1593491"/>
            <a:ext cx="108000" cy="663776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eft Brace 10"/>
          <p:cNvSpPr/>
          <p:nvPr/>
        </p:nvSpPr>
        <p:spPr>
          <a:xfrm>
            <a:off x="411900" y="4505149"/>
            <a:ext cx="108000" cy="684000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eft Brace 11"/>
          <p:cNvSpPr/>
          <p:nvPr/>
        </p:nvSpPr>
        <p:spPr>
          <a:xfrm>
            <a:off x="411899" y="2730368"/>
            <a:ext cx="108000" cy="170952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-193132" y="4652659"/>
            <a:ext cx="8713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-193133" y="1753612"/>
            <a:ext cx="871311" cy="32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15128" y="2580598"/>
            <a:ext cx="721389" cy="32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loop</a:t>
            </a:r>
          </a:p>
        </p:txBody>
      </p:sp>
      <p:sp>
        <p:nvSpPr>
          <p:cNvPr id="14" name="Left Brace 13"/>
          <p:cNvSpPr/>
          <p:nvPr/>
        </p:nvSpPr>
        <p:spPr>
          <a:xfrm flipH="1">
            <a:off x="8288122" y="3104479"/>
            <a:ext cx="141277" cy="324000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Left Brace 17"/>
          <p:cNvSpPr/>
          <p:nvPr/>
        </p:nvSpPr>
        <p:spPr>
          <a:xfrm>
            <a:off x="411899" y="3104479"/>
            <a:ext cx="108000" cy="324000"/>
          </a:xfrm>
          <a:prstGeom prst="leftBrace">
            <a:avLst>
              <a:gd name="adj1" fmla="val 34803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 rot="16200000">
            <a:off x="-209590" y="3145493"/>
            <a:ext cx="871311" cy="32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noProof="0" dirty="0">
                <a:solidFill>
                  <a:srgbClr val="C00000"/>
                </a:solidFill>
              </a:rPr>
              <a:t>input</a:t>
            </a:r>
          </a:p>
        </p:txBody>
      </p:sp>
      <p:sp>
        <p:nvSpPr>
          <p:cNvPr id="20" name="Oval 19"/>
          <p:cNvSpPr/>
          <p:nvPr/>
        </p:nvSpPr>
        <p:spPr>
          <a:xfrm>
            <a:off x="6202147" y="2019428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8608233" y="3176479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9017259" y="817299"/>
            <a:ext cx="3001618" cy="1978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Verifying if L is a sorted list of integers can slow down the program significantly</a:t>
            </a:r>
          </a:p>
          <a:p>
            <a:pPr marL="0" indent="0">
              <a:buNone/>
            </a:pPr>
            <a:r>
              <a:rPr lang="en-US" sz="2000" noProof="0" dirty="0"/>
              <a:t>Alternative is to only verify if the part of L visited is a sorted subsequence</a:t>
            </a:r>
          </a:p>
        </p:txBody>
      </p:sp>
      <p:sp>
        <p:nvSpPr>
          <p:cNvPr id="23" name="Oval 22"/>
          <p:cNvSpPr/>
          <p:nvPr/>
        </p:nvSpPr>
        <p:spPr>
          <a:xfrm>
            <a:off x="8793086" y="893538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8788233" y="1846122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noProof="0" dirty="0">
                <a:solidFill>
                  <a:srgbClr val="C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2084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573601"/>
              </p:ext>
            </p:extLst>
          </p:nvPr>
        </p:nvGraphicFramePr>
        <p:xfrm>
          <a:off x="5995795" y="1885295"/>
          <a:ext cx="571373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37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73215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intsqrt_automatic_testing.py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85789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random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42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Dummy code – write test code first</a:t>
                      </a:r>
                      <a:endParaRPr lang="en-US" sz="14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test_int_sqrt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print('.', end='', flush=True)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Show progress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&gt;= 0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Verify input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answer =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int_sqrt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# Verify output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assert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answer ** 2 &lt;= x &lt; (answer + 1) ** 2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Test small inputs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x in range(0, 100):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test_int_sqrt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Test increasing sized inputs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d in range(3, 30):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_ in range(100):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Repeat for each size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test_int_sqrt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random.randint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10 ** d))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5125" y="414337"/>
            <a:ext cx="11580705" cy="110895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Test driven development / Stress tests / Random testing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82475" y="1785313"/>
            <a:ext cx="5049660" cy="4519582"/>
          </a:xfrm>
        </p:spPr>
        <p:txBody>
          <a:bodyPr>
            <a:norm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Test driven development</a:t>
            </a:r>
            <a:br>
              <a:rPr lang="en-US" sz="2400" noProof="0" dirty="0"/>
            </a:br>
            <a:r>
              <a:rPr lang="en-US" sz="2400" noProof="0" dirty="0"/>
              <a:t>Write the tests before functionality – only write code needed by tests</a:t>
            </a:r>
          </a:p>
          <a:p>
            <a:r>
              <a:rPr lang="en-US" sz="2400" noProof="0" dirty="0">
                <a:solidFill>
                  <a:srgbClr val="C00000"/>
                </a:solidFill>
              </a:rPr>
              <a:t>The challenge – what tests to do? </a:t>
            </a:r>
            <a:r>
              <a:rPr lang="en-US" sz="2400" noProof="0" dirty="0"/>
              <a:t>Can you manually find all relevant cases? In particular all edge cases?</a:t>
            </a:r>
          </a:p>
          <a:p>
            <a:r>
              <a:rPr lang="en-US" sz="2400" noProof="0" dirty="0">
                <a:solidFill>
                  <a:srgbClr val="C00000"/>
                </a:solidFill>
              </a:rPr>
              <a:t>Automate the testing?</a:t>
            </a:r>
          </a:p>
          <a:p>
            <a:pPr lvl="1"/>
            <a:r>
              <a:rPr lang="en-US" sz="2000" noProof="0" dirty="0"/>
              <a:t>Write method that can verify the output</a:t>
            </a:r>
            <a:br>
              <a:rPr lang="en-US" sz="2000" noProof="0" dirty="0"/>
            </a:br>
            <a:r>
              <a:rPr lang="en-US" sz="2000" noProof="0" dirty="0"/>
              <a:t>(possibly slower than the method)</a:t>
            </a:r>
          </a:p>
          <a:p>
            <a:pPr lvl="1"/>
            <a:r>
              <a:rPr lang="en-US" sz="2000" noProof="0" dirty="0"/>
              <a:t>Systematically try </a:t>
            </a:r>
            <a:r>
              <a:rPr lang="en-US" sz="2000" i="1" noProof="0" dirty="0"/>
              <a:t>all</a:t>
            </a:r>
            <a:r>
              <a:rPr lang="en-US" sz="2000" noProof="0" dirty="0"/>
              <a:t> possible inputs </a:t>
            </a:r>
            <a:br>
              <a:rPr lang="en-US" sz="2000" noProof="0" dirty="0"/>
            </a:br>
            <a:r>
              <a:rPr lang="en-US" sz="2000" noProof="0" dirty="0"/>
              <a:t>(if range is small)</a:t>
            </a:r>
          </a:p>
          <a:p>
            <a:pPr lvl="1"/>
            <a:r>
              <a:rPr lang="en-US" sz="2000" noProof="0" dirty="0"/>
              <a:t>Try a large random subset of inputs </a:t>
            </a:r>
            <a:br>
              <a:rPr lang="en-US" sz="2000" noProof="0" dirty="0"/>
            </a:br>
            <a:r>
              <a:rPr lang="en-US" sz="2000" noProof="0" dirty="0"/>
              <a:t>(if many possible inputs)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AE5DA8B-98F5-738C-7640-4FA16BA499A5}"/>
              </a:ext>
            </a:extLst>
          </p:cNvPr>
          <p:cNvCxnSpPr>
            <a:cxnSpLocks/>
          </p:cNvCxnSpPr>
          <p:nvPr/>
        </p:nvCxnSpPr>
        <p:spPr>
          <a:xfrm flipV="1">
            <a:off x="5457279" y="4391450"/>
            <a:ext cx="477585" cy="20384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F4AD72-87CB-C0F2-FD23-598B18181942}"/>
              </a:ext>
            </a:extLst>
          </p:cNvPr>
          <p:cNvCxnSpPr>
            <a:cxnSpLocks/>
          </p:cNvCxnSpPr>
          <p:nvPr/>
        </p:nvCxnSpPr>
        <p:spPr>
          <a:xfrm flipV="1">
            <a:off x="5051526" y="4950573"/>
            <a:ext cx="883338" cy="22804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7AA7F9-FFEB-859D-123C-BD9827424D67}"/>
              </a:ext>
            </a:extLst>
          </p:cNvPr>
          <p:cNvCxnSpPr>
            <a:cxnSpLocks/>
          </p:cNvCxnSpPr>
          <p:nvPr/>
        </p:nvCxnSpPr>
        <p:spPr>
          <a:xfrm flipV="1">
            <a:off x="4968046" y="5725192"/>
            <a:ext cx="966818" cy="1106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880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Testing – how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3866"/>
          </a:xfrm>
        </p:spPr>
        <p:txBody>
          <a:bodyPr>
            <a:normAutofit/>
          </a:bodyPr>
          <a:lstStyle/>
          <a:p>
            <a:r>
              <a:rPr lang="en-US" noProof="0" dirty="0"/>
              <a:t>Run set of test cases </a:t>
            </a:r>
          </a:p>
          <a:p>
            <a:pPr lvl="1"/>
            <a:r>
              <a:rPr lang="en-US" noProof="0" dirty="0"/>
              <a:t>test all cases in input/output specification</a:t>
            </a:r>
            <a:r>
              <a:rPr lang="en-US" b="1" noProof="0" dirty="0"/>
              <a:t> (black box testing)</a:t>
            </a:r>
          </a:p>
          <a:p>
            <a:pPr lvl="1"/>
            <a:r>
              <a:rPr lang="en-US" noProof="0" dirty="0"/>
              <a:t>test all special cases</a:t>
            </a:r>
            <a:r>
              <a:rPr lang="en-US" b="1" noProof="0" dirty="0"/>
              <a:t> (black box testing)</a:t>
            </a:r>
            <a:endParaRPr lang="en-US" noProof="0" dirty="0"/>
          </a:p>
          <a:p>
            <a:pPr lvl="1"/>
            <a:r>
              <a:rPr lang="en-US" noProof="0" dirty="0"/>
              <a:t>set of tests should force all lines of code to be tested </a:t>
            </a:r>
            <a:r>
              <a:rPr lang="en-US" b="1" noProof="0" dirty="0"/>
              <a:t>(glass box testing)</a:t>
            </a:r>
            <a:endParaRPr lang="en-US" noProof="0" dirty="0"/>
          </a:p>
          <a:p>
            <a:r>
              <a:rPr lang="en-US" noProof="0" dirty="0"/>
              <a:t>Visual test</a:t>
            </a:r>
          </a:p>
          <a:p>
            <a:r>
              <a:rPr lang="en-US" noProof="0" dirty="0"/>
              <a:t>Automatic testing</a:t>
            </a:r>
          </a:p>
          <a:p>
            <a:pPr lvl="1"/>
            <a:r>
              <a:rPr lang="en-US" noProof="0" dirty="0"/>
              <a:t>Systematically / randomly generate input instances</a:t>
            </a:r>
          </a:p>
          <a:p>
            <a:pPr lvl="1"/>
            <a:r>
              <a:rPr lang="en-US" noProof="0" dirty="0"/>
              <a:t>Create function to </a:t>
            </a:r>
            <a:r>
              <a:rPr lang="en-US" b="1" noProof="0" dirty="0"/>
              <a:t>validate </a:t>
            </a:r>
            <a:r>
              <a:rPr lang="en-US" noProof="0" dirty="0"/>
              <a:t>if output is correct </a:t>
            </a:r>
            <a:br>
              <a:rPr lang="en-US" noProof="0" dirty="0"/>
            </a:br>
            <a:r>
              <a:rPr lang="en-US" noProof="0" dirty="0"/>
              <a:t>(hopefully easier than finding the solution)</a:t>
            </a:r>
          </a:p>
          <a:p>
            <a:r>
              <a:rPr lang="en-US" noProof="0" dirty="0"/>
              <a:t>Formal verification</a:t>
            </a:r>
          </a:p>
          <a:p>
            <a:pPr lvl="1"/>
            <a:r>
              <a:rPr lang="en-US" noProof="0" dirty="0"/>
              <a:t>Use computer programs to do formal proofs of correctness, like using </a:t>
            </a:r>
            <a:r>
              <a:rPr lang="en-US" noProof="0" dirty="0">
                <a:hlinkClick r:id="rId3"/>
              </a:rPr>
              <a:t>Coq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4147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Visual testing – Convex hull computation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400" y="2221287"/>
            <a:ext cx="4609034" cy="34001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07" y="1930400"/>
            <a:ext cx="5433224" cy="39818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7602" y="5903621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3619" y="5903620"/>
            <a:ext cx="30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Bug ! </a:t>
            </a:r>
            <a:br>
              <a:rPr lang="en-US" sz="2400" b="1" noProof="0" dirty="0"/>
            </a:br>
            <a:r>
              <a:rPr lang="en-US" sz="2400" b="1" noProof="0" dirty="0"/>
              <a:t>(not convex)</a:t>
            </a:r>
          </a:p>
        </p:txBody>
      </p:sp>
    </p:spTree>
    <p:extLst>
      <p:ext uri="{BB962C8B-B14F-4D97-AF65-F5344CB8AC3E}">
        <p14:creationId xmlns:p14="http://schemas.microsoft.com/office/powerpoint/2010/main" val="1646757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296083"/>
              </p:ext>
            </p:extLst>
          </p:nvPr>
        </p:nvGraphicFramePr>
        <p:xfrm>
          <a:off x="3860798" y="826943"/>
          <a:ext cx="809053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41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3856355">
                  <a:extLst>
                    <a:ext uri="{9D8B030D-6E8A-4147-A177-3AD203B41FA5}">
                      <a16:colId xmlns:a16="http://schemas.microsoft.com/office/drawing/2014/main" val="4185332411"/>
                    </a:ext>
                  </a:extLst>
                </a:gridCol>
              </a:tblGrid>
              <a:tr h="241176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binary-search-doctest.py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998500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L):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'''Binary search for x in sorted list L.</a:t>
                      </a:r>
                    </a:p>
                    <a:p>
                      <a:endParaRPr lang="en-US" sz="12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Examples: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&gt;&gt;&gt;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[])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-1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&gt;&gt;&gt;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[7])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0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&gt;&gt;&gt;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[7,7,7,56,81])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2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&gt;&gt;&gt;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(8, [1,3,5,7,9])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3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</a:t>
                      </a:r>
                    </a:p>
                    <a:p>
                      <a:endParaRPr lang="en-US" sz="12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low, high = -1,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low + 1 &lt; high: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mid = (low + high) // 2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x &lt; L[mid]: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high = mid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low = mid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low</a:t>
                      </a:r>
                    </a:p>
                    <a:p>
                      <a:endParaRPr lang="en-US" sz="12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doctest</a:t>
                      </a:r>
                      <a:endParaRPr lang="en-US" sz="12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doctest.testmod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(verbose=True)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Trying: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Expecting: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-1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ok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Trying: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Expecting: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ok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Trying: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[7,7,7,56,81])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Expecting: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ok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Trying: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(8, [1,3,5,7,9])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Expecting: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ok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items had no tests: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__main__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items passed all tests: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4 tests in __main__.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endParaRPr lang="en-US" sz="12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tests in 2 items.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passed and 0 failed.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 passed.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909" y="365125"/>
            <a:ext cx="2975600" cy="1325563"/>
          </a:xfrm>
        </p:spPr>
        <p:txBody>
          <a:bodyPr/>
          <a:lstStyle/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doctest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8063024" y="6310807"/>
            <a:ext cx="3888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docs.python.org/3/library/doctest.html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909" y="1548534"/>
            <a:ext cx="3373581" cy="4351338"/>
          </a:xfrm>
        </p:spPr>
        <p:txBody>
          <a:bodyPr>
            <a:normAutofit/>
          </a:bodyPr>
          <a:lstStyle/>
          <a:p>
            <a:r>
              <a:rPr lang="en-US" sz="2000" noProof="0" dirty="0"/>
              <a:t>Python module </a:t>
            </a:r>
          </a:p>
          <a:p>
            <a:r>
              <a:rPr lang="en-US" sz="2000" noProof="0" dirty="0"/>
              <a:t>Test instances (pairs of input and corresponding output) are written in the doc strings, formatted as in an interactive Python session</a:t>
            </a:r>
          </a:p>
        </p:txBody>
      </p:sp>
    </p:spTree>
    <p:extLst>
      <p:ext uri="{BB962C8B-B14F-4D97-AF65-F5344CB8AC3E}">
        <p14:creationId xmlns:p14="http://schemas.microsoft.com/office/powerpoint/2010/main" val="3815491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381362"/>
              </p:ext>
            </p:extLst>
          </p:nvPr>
        </p:nvGraphicFramePr>
        <p:xfrm>
          <a:off x="5212079" y="106680"/>
          <a:ext cx="6831330" cy="664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13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binary-search-pytest.py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54164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pytest</a:t>
                      </a:r>
                      <a:endParaRPr lang="en-US" sz="1400" b="1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L):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'''Binary search for x in sorted list L.'''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low, high = -1,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low + 1 &lt; high: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mid = (low + high) // 2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x &lt; L[mid]: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high = mid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low = mid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low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test_binary_search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[]) == -1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[7]) == 0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[7,7,7,56,81]) == 2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assert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(8, [1,3,5,7,9]) == 3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test_types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with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pytest.raises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_ =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(5, ['a', 'b', 'c'])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404010"/>
                  </a:ext>
                </a:extLst>
              </a:tr>
              <a:tr h="1031537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C00000"/>
                        </a:buClr>
                        <a:buSzPct val="12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pytest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binary-search-pytest.py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============= test session starts =============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platform win32 -- Python 3.11.2, pytest-7.2.1, pluggy-1.0.0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plugins: anyio-3.6.2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collected 2 items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binary-search-pytest.py .. [100%]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============== 2 passed in 0.05s ==============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245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66286" cy="4351338"/>
          </a:xfrm>
        </p:spPr>
        <p:txBody>
          <a:bodyPr>
            <a:normAutofit/>
          </a:bodyPr>
          <a:lstStyle/>
          <a:p>
            <a:r>
              <a:rPr lang="en-US" sz="2400" noProof="0" dirty="0"/>
              <a:t>Run all tests stored in functions prefixed by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test_ </a:t>
            </a:r>
            <a:r>
              <a:rPr lang="en-US" sz="2400" noProof="0" dirty="0">
                <a:cs typeface="Courier New" panose="02070309020205020404" pitchFamily="49" charset="0"/>
              </a:rPr>
              <a:t>or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test_</a:t>
            </a:r>
            <a:r>
              <a:rPr lang="en-US" sz="2400" noProof="0" dirty="0">
                <a:cs typeface="Courier New" panose="02070309020205020404" pitchFamily="49" charset="0"/>
              </a:rPr>
              <a:t> prefixed test methods inside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400" noProof="0" dirty="0">
                <a:cs typeface="Courier New" panose="02070309020205020404" pitchFamily="49" charset="0"/>
              </a:rPr>
              <a:t> prefixed test classes</a:t>
            </a:r>
          </a:p>
          <a:p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noProof="0" dirty="0"/>
              <a:t>Run the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r>
              <a:rPr lang="en-US" sz="2400" noProof="0" dirty="0"/>
              <a:t> program from a shell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45044" y="6124468"/>
            <a:ext cx="19601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noProof="0" dirty="0">
                <a:hlinkClick r:id="rId3"/>
              </a:rPr>
              <a:t>pytest.org</a:t>
            </a:r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3701659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86" y="340261"/>
            <a:ext cx="10515600" cy="1325563"/>
          </a:xfrm>
        </p:spPr>
        <p:txBody>
          <a:bodyPr/>
          <a:lstStyle/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51267" y="6424076"/>
            <a:ext cx="3917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docs.python.org/3/library/unittest.html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876392"/>
              </p:ext>
            </p:extLst>
          </p:nvPr>
        </p:nvGraphicFramePr>
        <p:xfrm>
          <a:off x="4965713" y="180459"/>
          <a:ext cx="6986905" cy="6243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69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08332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binary-search-unittest.py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541644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L):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'''Binary search for x in sorted list L.'''</a:t>
                      </a:r>
                    </a:p>
                    <a:p>
                      <a:endParaRPr lang="en-US" sz="12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low, high = -1,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low + 1 &lt; high: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mid = (low + high) // 2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x &lt; L[mid]: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high = mid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low = mid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low</a:t>
                      </a:r>
                    </a:p>
                    <a:p>
                      <a:endParaRPr lang="en-US" sz="12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unittest</a:t>
                      </a:r>
                      <a:endParaRPr lang="en-US" sz="12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2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TestBinarySearch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unittest.TestCase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self.assertEqual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[]), -1)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self.assertEqual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[7]), 0)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self.assertEqual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[7,7,7,56,81]), 2)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self.assertEqual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(8, [1,3,5,7,9]), 3)</a:t>
                      </a:r>
                    </a:p>
                    <a:p>
                      <a:endParaRPr lang="en-US" sz="12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test_types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self.assertRaises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5, ['a', 'b', 'c'])</a:t>
                      </a:r>
                    </a:p>
                    <a:p>
                      <a:endParaRPr lang="en-US" sz="12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unittest.main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(verbosity=2)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08332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404010"/>
                  </a:ext>
                </a:extLst>
              </a:tr>
              <a:tr h="1031537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test_search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(__main__.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TestBinarySearch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... ok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test_types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(__main__.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TestBinarySearch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... ok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----------------------------------------------------------------------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 2 tests in 0.051s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2450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357909" y="1548534"/>
            <a:ext cx="42951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0" dirty="0"/>
              <a:t>Python module </a:t>
            </a:r>
          </a:p>
          <a:p>
            <a:r>
              <a:rPr lang="en-US" sz="2000" noProof="0" dirty="0"/>
              <a:t>A comprehensive </a:t>
            </a:r>
            <a:r>
              <a:rPr lang="en-US" sz="2000" noProof="0" dirty="0">
                <a:solidFill>
                  <a:srgbClr val="C00000"/>
                </a:solidFill>
              </a:rPr>
              <a:t>object-oriented test framework</a:t>
            </a:r>
            <a:r>
              <a:rPr lang="en-US" sz="2000" noProof="0" dirty="0"/>
              <a:t>, inspired by the corresponding JUnit test framework for Java</a:t>
            </a:r>
          </a:p>
        </p:txBody>
      </p:sp>
    </p:spTree>
    <p:extLst>
      <p:ext uri="{BB962C8B-B14F-4D97-AF65-F5344CB8AC3E}">
        <p14:creationId xmlns:p14="http://schemas.microsoft.com/office/powerpoint/2010/main" val="612598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Debugger (IDLE)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180520"/>
          </a:xfrm>
        </p:spPr>
        <p:txBody>
          <a:bodyPr/>
          <a:lstStyle/>
          <a:p>
            <a:r>
              <a:rPr lang="en-US" noProof="0" dirty="0"/>
              <a:t>When an exception has stopped the program, you can examine the state of the variables using </a:t>
            </a: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Debug &gt; Stack Viewer</a:t>
            </a:r>
            <a:r>
              <a:rPr lang="en-US" noProof="0" dirty="0"/>
              <a:t> in the Python shell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7023" t="67877" r="15000" b="7669"/>
          <a:stretch/>
        </p:blipFill>
        <p:spPr>
          <a:xfrm>
            <a:off x="-170754" y="3006145"/>
            <a:ext cx="7601527" cy="38076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773" y="3050378"/>
            <a:ext cx="4641154" cy="365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194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61" y="0"/>
            <a:ext cx="10515600" cy="1325563"/>
          </a:xfrm>
        </p:spPr>
        <p:txBody>
          <a:bodyPr/>
          <a:lstStyle/>
          <a:p>
            <a:r>
              <a:rPr lang="en-US" noProof="0" dirty="0"/>
              <a:t>Stepping through a program (IDLE debugger)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460" y="1140634"/>
            <a:ext cx="11784785" cy="2748460"/>
          </a:xfrm>
        </p:spPr>
        <p:txBody>
          <a:bodyPr>
            <a:normAutofit/>
          </a:bodyPr>
          <a:lstStyle/>
          <a:p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Debug &gt; Debugger </a:t>
            </a:r>
            <a:r>
              <a:rPr lang="en-US" noProof="0" dirty="0"/>
              <a:t>in the Python shell opens Debug Control window</a:t>
            </a:r>
          </a:p>
          <a:p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Right click</a:t>
            </a:r>
            <a:r>
              <a:rPr lang="en-US" noProof="0" dirty="0"/>
              <a:t> on a code line in editor to set a “breakpoint” in your code</a:t>
            </a:r>
          </a:p>
          <a:p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</a:rPr>
              <a:t>Debug Control: </a:t>
            </a:r>
            <a:r>
              <a:rPr lang="en-US" noProof="0" dirty="0"/>
              <a:t>Go </a:t>
            </a:r>
            <a:r>
              <a:rPr lang="en-US" noProof="0" dirty="0">
                <a:sym typeface="Wingdings" panose="05000000000000000000" pitchFamily="2" charset="2"/>
              </a:rPr>
              <a:t> run until next breakpoint is encountered; 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Step  execute one line of code; Over  run function call without details;  Out  finish current function call; Quit  Stop program; </a:t>
            </a:r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802" t="65790" r="31547" b="12426"/>
          <a:stretch/>
        </p:blipFill>
        <p:spPr>
          <a:xfrm>
            <a:off x="0" y="3566790"/>
            <a:ext cx="5044683" cy="32912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35708" t="65488" r="19762" b="14060"/>
          <a:stretch/>
        </p:blipFill>
        <p:spPr>
          <a:xfrm>
            <a:off x="4791919" y="4558637"/>
            <a:ext cx="4169594" cy="22739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46309" t="58559" r="18167" b="11052"/>
          <a:stretch/>
        </p:blipFill>
        <p:spPr>
          <a:xfrm>
            <a:off x="8961513" y="3626910"/>
            <a:ext cx="3214949" cy="326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74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3BC4-F992-437E-8464-C533EE3E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63C16-AF75-4AF4-8E42-E74A47312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3208" cy="4848307"/>
          </a:xfrm>
        </p:spPr>
        <p:txBody>
          <a:bodyPr>
            <a:normAutofit/>
          </a:bodyPr>
          <a:lstStyle/>
          <a:p>
            <a:r>
              <a:rPr lang="en-US" noProof="0" dirty="0"/>
              <a:t>Ensure that your tests cover the whole code and all possible branches are taken</a:t>
            </a:r>
          </a:p>
          <a:p>
            <a:r>
              <a:rPr lang="en-US" noProof="0" dirty="0"/>
              <a:t>The module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coverage</a:t>
            </a:r>
            <a:r>
              <a:rPr lang="en-US" noProof="0" dirty="0"/>
              <a:t> can monitor running your code and report which lines and branches were not executed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coverage</a:t>
            </a:r>
          </a:p>
          <a:p>
            <a:r>
              <a:rPr lang="en-US" b="1" noProof="0" dirty="0"/>
              <a:t>Note </a:t>
            </a:r>
            <a:r>
              <a:rPr lang="en-US" noProof="0" dirty="0"/>
              <a:t> 100% coverage does not guarantee that there are no errors… just fewer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1FFA2-EE27-4D28-82FF-83A8BFC9BB0F}"/>
              </a:ext>
            </a:extLst>
          </p:cNvPr>
          <p:cNvSpPr txBox="1"/>
          <p:nvPr/>
        </p:nvSpPr>
        <p:spPr>
          <a:xfrm>
            <a:off x="6096001" y="6194544"/>
            <a:ext cx="5991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pypi.org/project/coverage</a:t>
            </a:r>
            <a:endParaRPr lang="en-US" noProof="0" dirty="0"/>
          </a:p>
          <a:p>
            <a:pPr algn="r"/>
            <a:r>
              <a:rPr lang="en-US" noProof="0" dirty="0">
                <a:hlinkClick r:id="rId4"/>
              </a:rPr>
              <a:t>en.wikipedia.org/wiki/</a:t>
            </a:r>
            <a:r>
              <a:rPr lang="en-US" noProof="0" dirty="0" err="1">
                <a:hlinkClick r:id="rId4"/>
              </a:rPr>
              <a:t>Goldbach’s_weak_conjecture</a:t>
            </a:r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A64F6A-C25F-4319-BE42-0EE3AFCF5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822106"/>
              </p:ext>
            </p:extLst>
          </p:nvPr>
        </p:nvGraphicFramePr>
        <p:xfrm>
          <a:off x="6096000" y="405130"/>
          <a:ext cx="5891530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15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goldbach.py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01012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odd(x):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return x % 2 == 1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sum_of_three_primes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assert odd(n) and n &gt; 5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primes = (set(range(2, n + 1)) – 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set(x for f in range(2, n + 1) 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for x in range(2 * f, n + 1, f)))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for x in primes: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for y in primes: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z in primes: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if n == x + y + z: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print(n, 'is the sum of three primes', x, y, z)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print(n, 'is not the sum of three primes')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for n in range(7, 1000, 2):</a:t>
                      </a:r>
                    </a:p>
                    <a:p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sum_of_three_primes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404010"/>
                  </a:ext>
                </a:extLst>
              </a:tr>
              <a:tr h="1031537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C00000"/>
                        </a:buClr>
                        <a:buSzPct val="12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coverage run –-branch goldbach.py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 is the sum of three primes 2 2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 is the sum of three primes 2 2 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999 is the sum of three primes 3 5 991</a:t>
                      </a:r>
                    </a:p>
                    <a:p>
                      <a:pPr marL="285750" indent="-285750">
                        <a:buClr>
                          <a:srgbClr val="C00000"/>
                        </a:buClr>
                        <a:buSzPct val="12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coverage report -m goldbach.py</a:t>
                      </a:r>
                      <a:endParaRPr lang="en-US" sz="12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         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Stmts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Miss Branch </a:t>
                      </a:r>
                      <a:r>
                        <a:rPr lang="en-US" sz="12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BrPart</a:t>
                      </a: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Cover   Missing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---------------------------------------------------------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goldbach.py      14      1     12      1    92%   </a:t>
                      </a:r>
                      <a:r>
                        <a:rPr lang="en-US" sz="12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---------------------------------------------------------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            14      1     12      1    92%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2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539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ADA5-BDB5-469D-893C-A6E4F381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1662"/>
          </a:xfrm>
        </p:spPr>
        <p:txBody>
          <a:bodyPr/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coverage 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91FD9-D3D7-4CE3-B1FC-5C447D69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354" y="1516154"/>
            <a:ext cx="9193292" cy="50857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0359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Concluding remarks on debugging </a:t>
            </a:r>
            <a:r>
              <a:rPr lang="en-US" dirty="0"/>
              <a:t>and </a:t>
            </a:r>
            <a:r>
              <a:rPr lang="en-US" noProof="0"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Simple debugging: add print statements</a:t>
            </a:r>
          </a:p>
          <a:p>
            <a:r>
              <a:rPr lang="en-US" b="1" noProof="0" dirty="0"/>
              <a:t>Test driven development</a:t>
            </a:r>
            <a:r>
              <a:rPr lang="en-US" noProof="0" dirty="0"/>
              <a:t> </a:t>
            </a:r>
            <a:r>
              <a:rPr lang="en-US" noProof="0" dirty="0">
                <a:sym typeface="Wingdings" panose="05000000000000000000" pitchFamily="2" charset="2"/>
              </a:rPr>
              <a:t> Strategy for code development, 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where tests are written </a:t>
            </a:r>
            <a:r>
              <a:rPr lang="en-US" i="1" noProof="0" dirty="0">
                <a:sym typeface="Wingdings" panose="05000000000000000000" pitchFamily="2" charset="2"/>
              </a:rPr>
              <a:t>before</a:t>
            </a:r>
            <a:r>
              <a:rPr lang="en-US" noProof="0" dirty="0">
                <a:sym typeface="Wingdings" panose="05000000000000000000" pitchFamily="2" charset="2"/>
              </a:rPr>
              <a:t> the code</a:t>
            </a:r>
            <a:endParaRPr lang="en-US" noProof="0" dirty="0"/>
          </a:p>
          <a:p>
            <a:r>
              <a:rPr lang="en-US" b="1" noProof="0" dirty="0"/>
              <a:t>Defensive programming</a:t>
            </a:r>
            <a:r>
              <a:rPr lang="en-US" noProof="0" dirty="0"/>
              <a:t> </a:t>
            </a:r>
            <a:r>
              <a:rPr lang="en-US" noProof="0" dirty="0">
                <a:sym typeface="Wingdings" panose="05000000000000000000" pitchFamily="2" charset="2"/>
              </a:rPr>
              <a:t> </a:t>
            </a:r>
            <a:r>
              <a:rPr lang="en-US" noProof="0" dirty="0"/>
              <a:t>add tests (assertions) to check if input/arguments are valid according to specification</a:t>
            </a:r>
          </a:p>
          <a:p>
            <a:r>
              <a:rPr lang="en-US" noProof="0" dirty="0"/>
              <a:t>When designing tests, ensure </a:t>
            </a:r>
            <a:r>
              <a:rPr lang="en-US" b="1" noProof="0" dirty="0"/>
              <a:t>coverage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(the set of test cases should make sure all code lines get executed)</a:t>
            </a:r>
          </a:p>
          <a:p>
            <a:r>
              <a:rPr lang="en-US" b="1" noProof="0" dirty="0"/>
              <a:t>Python testing frameworks: </a:t>
            </a:r>
            <a:r>
              <a:rPr lang="en-US" b="1" noProof="0" dirty="0" err="1"/>
              <a:t>doctest</a:t>
            </a:r>
            <a:r>
              <a:rPr lang="en-US" b="1" noProof="0" dirty="0"/>
              <a:t>, </a:t>
            </a:r>
            <a:r>
              <a:rPr lang="en-US" b="1" noProof="0" dirty="0" err="1"/>
              <a:t>unittest</a:t>
            </a:r>
            <a:r>
              <a:rPr lang="en-US" b="1" noProof="0" dirty="0"/>
              <a:t>, </a:t>
            </a:r>
            <a:r>
              <a:rPr lang="en-US" b="1" noProof="0" dirty="0" err="1"/>
              <a:t>pytest</a:t>
            </a:r>
            <a:r>
              <a:rPr lang="en-US" b="1" noProof="0" dirty="0"/>
              <a:t>, ...</a:t>
            </a:r>
          </a:p>
        </p:txBody>
      </p:sp>
    </p:spTree>
    <p:extLst>
      <p:ext uri="{BB962C8B-B14F-4D97-AF65-F5344CB8AC3E}">
        <p14:creationId xmlns:p14="http://schemas.microsoft.com/office/powerpoint/2010/main" val="1110575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Mypy</a:t>
            </a:r>
            <a:r>
              <a:rPr lang="en-US" noProof="0" dirty="0"/>
              <a:t> – a static type checker for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0337"/>
            <a:ext cx="5052373" cy="5067663"/>
          </a:xfrm>
        </p:spPr>
        <p:txBody>
          <a:bodyPr>
            <a:normAutofit/>
          </a:bodyPr>
          <a:lstStyle/>
          <a:p>
            <a:r>
              <a:rPr lang="en-US" b="1" noProof="0" dirty="0"/>
              <a:t>Static type checking</a:t>
            </a:r>
            <a:r>
              <a:rPr lang="en-US" noProof="0" dirty="0"/>
              <a:t> tries to analyze a program for potential type errors </a:t>
            </a:r>
            <a:r>
              <a:rPr lang="en-US" noProof="0" dirty="0">
                <a:solidFill>
                  <a:srgbClr val="C00000"/>
                </a:solidFill>
              </a:rPr>
              <a:t>without</a:t>
            </a:r>
            <a:r>
              <a:rPr lang="en-US" noProof="0" dirty="0"/>
              <a:t> executing the program</a:t>
            </a:r>
          </a:p>
          <a:p>
            <a:r>
              <a:rPr lang="en-US" noProof="0" dirty="0"/>
              <a:t>Installing: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pip install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mypy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noProof="0" dirty="0">
                <a:cs typeface="Courier New" panose="02070309020205020404" pitchFamily="49" charset="0"/>
              </a:rPr>
              <a:t>Running Python will cause an error during execution, whereas using </a:t>
            </a:r>
            <a:r>
              <a:rPr lang="en-US" sz="2400" noProof="0" dirty="0" err="1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mypy</a:t>
            </a:r>
            <a:r>
              <a:rPr lang="en-US" sz="2400" noProof="0" dirty="0">
                <a:cs typeface="Courier New" panose="02070309020205020404" pitchFamily="49" charset="0"/>
              </a:rPr>
              <a:t> the error will be found without executing the program</a:t>
            </a:r>
          </a:p>
          <a:p>
            <a:r>
              <a:rPr lang="en-US" sz="2400" noProof="0" dirty="0">
                <a:cs typeface="Courier New" panose="02070309020205020404" pitchFamily="49" charset="0"/>
              </a:rPr>
              <a:t>Standard (and required) in statically typed languages like Java, C, C++</a:t>
            </a:r>
          </a:p>
          <a:p>
            <a:pPr marL="0" indent="0">
              <a:buNone/>
            </a:pPr>
            <a:endParaRPr lang="en-US" sz="2400" noProof="0" dirty="0"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2213" y="1294998"/>
            <a:ext cx="2482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noProof="0" dirty="0"/>
              <a:t>Experimental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967" y="1384433"/>
            <a:ext cx="487666" cy="40590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611943"/>
              </p:ext>
            </p:extLst>
          </p:nvPr>
        </p:nvGraphicFramePr>
        <p:xfrm>
          <a:off x="6210184" y="1938503"/>
          <a:ext cx="5679628" cy="4022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62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6009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mypy-simple.py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6617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 + '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06009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2376747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mypy-simple.py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unsupported operand type(s) for +: 'int' and 'str'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mypy-simple.py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mypy-simple.py:2: error: Unsupported operand types for + ("int" and "str")  [operator]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36329" y="6109336"/>
            <a:ext cx="42534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4"/>
              </a:rPr>
              <a:t>mypy-lang.org</a:t>
            </a:r>
            <a:br>
              <a:rPr lang="en-US" noProof="0" dirty="0"/>
            </a:br>
            <a:r>
              <a:rPr lang="en-US" noProof="0" dirty="0">
                <a:hlinkClick r:id="rId5"/>
              </a:rPr>
              <a:t>PEP 484 - Type Hints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0447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49262"/>
              </p:ext>
            </p:extLst>
          </p:nvPr>
        </p:nvGraphicFramePr>
        <p:xfrm>
          <a:off x="1686474" y="2296867"/>
          <a:ext cx="8819052" cy="3111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905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2512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mypy-add.py</a:t>
                      </a:r>
                    </a:p>
                  </a:txBody>
                  <a:tcPr marT="60853" marB="6085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38088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add(x, y):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+ y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bug: x int and y string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print(add(42, '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'))</a:t>
                      </a:r>
                    </a:p>
                  </a:txBody>
                  <a:tcPr marT="60853" marB="60853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2512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 marT="60853" marB="60853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298838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add.py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unsupported operand type(s) for +: 'int' and 'str'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add.py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Success: no issues found in 1 source file</a:t>
                      </a:r>
                    </a:p>
                  </a:txBody>
                  <a:tcPr marT="60853" marB="60853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mypy</a:t>
            </a:r>
            <a:r>
              <a:rPr lang="en-US" noProof="0" dirty="0"/>
              <a:t> does not spot all errors…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964" y="4891244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86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 hints (PEP 484)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0969"/>
            <a:ext cx="4782312" cy="4351338"/>
          </a:xfrm>
        </p:spPr>
        <p:txBody>
          <a:bodyPr>
            <a:normAutofit/>
          </a:bodyPr>
          <a:lstStyle/>
          <a:p>
            <a:r>
              <a:rPr lang="en-US" sz="2400" noProof="0" dirty="0"/>
              <a:t>Python allows type hints in programs</a:t>
            </a:r>
            <a:br>
              <a:rPr lang="en-US" sz="2400" noProof="0" dirty="0"/>
            </a:br>
            <a:endParaRPr lang="en-US" sz="2400" noProof="0" dirty="0"/>
          </a:p>
          <a:p>
            <a:r>
              <a:rPr lang="en-US" sz="2400" noProof="0" dirty="0"/>
              <a:t>Type hints are </a:t>
            </a:r>
            <a:r>
              <a:rPr lang="en-US" sz="2400" noProof="0" dirty="0">
                <a:solidFill>
                  <a:srgbClr val="C00000"/>
                </a:solidFill>
              </a:rPr>
              <a:t>ignored</a:t>
            </a:r>
            <a:r>
              <a:rPr lang="en-US" sz="2400" noProof="0" dirty="0"/>
              <a:t> at run-time by Python, but useful for static type analysis (e.g. </a:t>
            </a:r>
            <a:r>
              <a:rPr lang="en-US" sz="2400" noProof="0" dirty="0" err="1"/>
              <a:t>mypy</a:t>
            </a:r>
            <a:r>
              <a:rPr lang="en-US" sz="2400" noProof="0" dirty="0"/>
              <a:t>)</a:t>
            </a:r>
            <a:br>
              <a:rPr lang="en-US" sz="2400" noProof="0" dirty="0"/>
            </a:br>
            <a:endParaRPr lang="en-US" sz="2400" noProof="0" dirty="0"/>
          </a:p>
          <a:p>
            <a:r>
              <a:rPr lang="en-US" sz="2400" noProof="0" dirty="0"/>
              <a:t>Syntax</a:t>
            </a:r>
            <a:endParaRPr lang="en-US" noProof="0" dirty="0"/>
          </a:p>
          <a:p>
            <a:pPr marL="0" indent="0">
              <a:buNone/>
              <a:tabLst>
                <a:tab pos="719138" algn="l"/>
              </a:tabLst>
            </a:pPr>
            <a:r>
              <a:rPr lang="en-US" i="1" noProof="0" dirty="0"/>
              <a:t>	</a:t>
            </a:r>
            <a:r>
              <a:rPr lang="en-US" sz="2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2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</a:p>
          <a:p>
            <a:pPr marL="0" indent="0">
              <a:buNone/>
              <a:tabLst>
                <a:tab pos="719138" algn="l"/>
              </a:tabLst>
            </a:pPr>
            <a:r>
              <a:rPr lang="en-US" sz="2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variable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2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= value</a:t>
            </a:r>
          </a:p>
          <a:p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86173"/>
              </p:ext>
            </p:extLst>
          </p:nvPr>
        </p:nvGraphicFramePr>
        <p:xfrm>
          <a:off x="5766816" y="1027906"/>
          <a:ext cx="6191504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150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mypy-basic-types.py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int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type hint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42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'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type error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int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42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type hint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'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type error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 = 42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 = '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type changed from int to str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print(x, y, z)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mypy-basic-types.py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mypy-basic-types.py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mypy-basic-types.py:3: error: Incompatible types in assignment (expression has type "str", variable has type "int")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mypy-basic-types.py:5: error: ...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mypy-basic-types.py:7: error: 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569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 hints –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690688"/>
            <a:ext cx="11353800" cy="495922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3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name</a:t>
            </a:r>
            <a:r>
              <a:rPr lang="en-US" sz="3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en-US" sz="3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3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3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  <a:r>
              <a:rPr lang="en-US" sz="3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-&gt;</a:t>
            </a:r>
            <a:r>
              <a:rPr lang="en-US" sz="30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return type</a:t>
            </a:r>
            <a:r>
              <a:rPr lang="en-US" sz="3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algn="ctr">
              <a:buNone/>
            </a:pP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b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i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i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i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i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i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i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noProof="0" dirty="0">
                <a:cs typeface="Courier New" panose="02070309020205020404" pitchFamily="49" charset="0"/>
              </a:rPr>
              <a:t>For functions and methods </a:t>
            </a:r>
            <a:r>
              <a:rPr lang="en-US" sz="2200" i="1" noProof="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200" noProof="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.__annotations</a:t>
            </a:r>
            <a:r>
              <a:rPr lang="en-US" sz="2200" noProof="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2200" noProof="0" dirty="0">
                <a:solidFill>
                  <a:schemeClr val="accent6">
                    <a:lumMod val="75000"/>
                  </a:schemeClr>
                </a:solidFill>
                <a:cs typeface="Courier New" panose="02070309020205020404" pitchFamily="49" charset="0"/>
              </a:rPr>
              <a:t> </a:t>
            </a:r>
            <a:r>
              <a:rPr lang="en-US" sz="2200" noProof="0" dirty="0">
                <a:cs typeface="Courier New" panose="02070309020205020404" pitchFamily="49" charset="0"/>
              </a:rPr>
              <a:t>is a dictionary with the annotation</a:t>
            </a:r>
          </a:p>
          <a:p>
            <a:r>
              <a:rPr lang="en-US" sz="2200" noProof="0" dirty="0">
                <a:cs typeface="Courier New" panose="02070309020205020404" pitchFamily="49" charset="0"/>
              </a:rPr>
              <a:t>The types become part of the documentation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685639"/>
              </p:ext>
            </p:extLst>
          </p:nvPr>
        </p:nvGraphicFramePr>
        <p:xfrm>
          <a:off x="419100" y="2450360"/>
          <a:ext cx="1135380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960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6564198">
                  <a:extLst>
                    <a:ext uri="{9D8B030D-6E8A-4147-A177-3AD203B41FA5}">
                      <a16:colId xmlns:a16="http://schemas.microsoft.com/office/drawing/2014/main" val="1489949206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mypy-function.py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f(x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int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units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str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-&gt; str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str(x) + ' ' + units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g(x, units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str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-&gt; str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str(x) + ' ' + units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print(f(3, 'cm'))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print(f(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'one'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'meter'))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print(g(3, 'cm'))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print(g('one', 'meter'))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f.__annotations</a:t>
                      </a:r>
                      <a:r>
                        <a:rPr lang="en-US" sz="18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mypy-function.py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cm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one meter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cm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one meter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{'x': &lt;class 'int'&gt;, 'units': &lt;class 'str'&gt;, 'return': &lt;class 'str'&gt;}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mypy-function.py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mypy-function.py:8: error: Argument 1 to "f" has incompatible type "str"; expected "int"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406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9479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More type hints in Python 3.9</a:t>
            </a:r>
            <a:br>
              <a:rPr lang="en-US" noProof="0" dirty="0"/>
            </a:br>
            <a:r>
              <a:rPr lang="en-US" noProof="0" dirty="0"/>
              <a:t>	...see PEP 484 for even more...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03186"/>
              </p:ext>
            </p:extLst>
          </p:nvPr>
        </p:nvGraphicFramePr>
        <p:xfrm>
          <a:off x="708073" y="1690688"/>
          <a:ext cx="10775854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585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1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011829">
                <a:tc>
                  <a:txBody>
                    <a:bodyPr/>
                    <a:lstStyle/>
                    <a:p>
                      <a:pPr algn="l"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typing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Mapping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Tuple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Union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Optional</a:t>
                      </a:r>
                    </a:p>
                    <a:p>
                      <a:pPr>
                        <a:tabLst>
                          <a:tab pos="5376863" algn="l"/>
                        </a:tabLst>
                      </a:pPr>
                      <a:endParaRPr lang="en-US" sz="14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Set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{}  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{}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dictionary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Set[int]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{1, 2,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'}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'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is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not int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Mapping[int, int]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{1: 42,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'a'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1}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'a' is not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376863" algn="l"/>
                        </a:tabLst>
                        <a:defRPr/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Tuple[int, str]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(42,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7 is not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str</a:t>
                      </a:r>
                      <a:endParaRPr lang="en-US" sz="14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List[Union[int, str]]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[42, 'a',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list can only contain int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str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List[Optional[str]]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['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None,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list can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only contain str og None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7149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591864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mypy-typing.py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mypy-typing.py:3: error: Incompatible types in assignment (expression has type "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[&lt;nothing&gt;, &lt;nothing&gt;]", variable has type "Set[Any]")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mypy-typing.py:4: error: Argument 3 to &lt;set&gt; has incompatible type "str"; expected "int"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mypy-typing.py:5: error: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entry 1 has incompatible type "str": "int"; expected "int": "int"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mypy-typing.py:6: error: Incompatible types in assignment (expression has type "Tuple[int, int]", variable has type "Tuple[int, str]")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mypy-typing.py:7: error: List item 2 has incompatible type "None"; expected "Union[int, str]"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mypy-typing.py:8: error: List item 2 has incompatible type "int"; expected "Optional[str]"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34885" y="6406896"/>
            <a:ext cx="42534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PEP 484 - Type Hints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990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7889-221E-4872-84EB-2CBC93AF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… the same in Python 3.10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111968-1638-4444-A129-DD8554BDC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953352"/>
              </p:ext>
            </p:extLst>
          </p:nvPr>
        </p:nvGraphicFramePr>
        <p:xfrm>
          <a:off x="400277" y="1523420"/>
          <a:ext cx="11391446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144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1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mypy-typing-new.py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031738">
                <a:tc>
                  <a:txBody>
                    <a:bodyPr/>
                    <a:lstStyle/>
                    <a:p>
                      <a:pPr algn="l"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deprecated: from typing import Mapping, Set, List, Tuple, Union, Optional</a:t>
                      </a:r>
                    </a:p>
                    <a:p>
                      <a:pPr>
                        <a:tabLst>
                          <a:tab pos="5376863" algn="l"/>
                        </a:tabLst>
                      </a:pPr>
                      <a:endParaRPr lang="en-US" sz="14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set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{}  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{}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dictionary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set[int]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{1, 2,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'}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'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is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not int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[int, int]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{1: 42,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'a'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1}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'a' is not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376863" algn="l"/>
                        </a:tabLst>
                        <a:defRPr/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tuple[int, str]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(42,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7 is not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str</a:t>
                      </a:r>
                      <a:endParaRPr lang="en-US" sz="14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list[int | str]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[42, 'a',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list can only contain int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str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tabLst>
                          <a:tab pos="5376863" algn="l"/>
                        </a:tabLs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list[str | None]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['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None,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	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list can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only contain str og None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7149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591864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mypy-typing-new.py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mypy-typing-new.py:3: error: Incompatible types in assignment (expression has type "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[&lt;nothing&gt;, &lt;nothing&gt;]", variable has type "Set[Any]")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mypy-typing-new.py:4: error: Argument 3 to &lt;set&gt; has incompatible type "str"; expected "int"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mypy-typing-new.py:5: error: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entry 1 has incompatible type "str": "int"; expected "int": "int"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mypy-typing-new.py:6: error: Incompatible types in assignment (expression has type "Tuple[int, int]", variable has type "Tuple[int, str]")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mypy-typing-new.py:7: error: List item 2 has incompatible type "None"; expected "Union[int, str]"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mypy-typing-new.py:8: error: List item 2 has incompatible type "int"; expected "Optional[str]"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BF8C2F4-E08A-4E3E-A4EA-7A23184E9802}"/>
              </a:ext>
            </a:extLst>
          </p:cNvPr>
          <p:cNvSpPr/>
          <p:nvPr/>
        </p:nvSpPr>
        <p:spPr>
          <a:xfrm>
            <a:off x="4605454" y="6169709"/>
            <a:ext cx="7494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PEP 585 - Type Hinting Generics In Standard Collections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(Python 3.9)</a:t>
            </a:r>
            <a:br>
              <a:rPr lang="en-US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PEP 604 – Allow writing union types as X | Y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(Python 3.10)</a:t>
            </a:r>
          </a:p>
        </p:txBody>
      </p:sp>
    </p:spTree>
    <p:extLst>
      <p:ext uri="{BB962C8B-B14F-4D97-AF65-F5344CB8AC3E}">
        <p14:creationId xmlns:p14="http://schemas.microsoft.com/office/powerpoint/2010/main" val="1189195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7889-221E-4872-84EB-2CBC93AF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Specific values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111968-1638-4444-A129-DD8554BDC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778828"/>
              </p:ext>
            </p:extLst>
          </p:nvPr>
        </p:nvGraphicFramePr>
        <p:xfrm>
          <a:off x="1194084" y="1690688"/>
          <a:ext cx="980383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383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1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mypy-literal.py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03173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from typing import </a:t>
                      </a:r>
                      <a:r>
                        <a:rPr lang="en-US" sz="1400" b="1" kern="1200" noProof="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Literal</a:t>
                      </a:r>
                    </a:p>
                    <a:p>
                      <a:r>
                        <a:rPr lang="en-US" sz="1400" b="1" kern="120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calc(</a:t>
                      </a:r>
                      <a:r>
                        <a:rPr lang="en-US" sz="1400" b="1" kern="1200" noProof="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cmd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kern="1200" noProof="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Literal['add', 'sub']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, x: int, y: int) -&gt; int:</a:t>
                      </a:r>
                    </a:p>
                    <a:p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  match </a:t>
                      </a:r>
                      <a:r>
                        <a:rPr lang="en-US" sz="1400" b="1" kern="1200" noProof="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cmd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      case 'add': return x + y</a:t>
                      </a:r>
                    </a:p>
                    <a:p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      case 'sub': return x - y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      case _: raise </a:t>
                      </a:r>
                      <a:r>
                        <a:rPr lang="en-US" sz="1400" b="1" kern="1200" noProof="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ValueError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kern="1200" noProof="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f"Unknown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command '{</a:t>
                      </a:r>
                      <a:r>
                        <a:rPr lang="en-US" sz="1400" b="1" kern="1200" noProof="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cmd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}'")</a:t>
                      </a:r>
                    </a:p>
                    <a:p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print(f"{calc('add', 5, 8) = }")</a:t>
                      </a:r>
                    </a:p>
                    <a:p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print(f"{calc('sub', 5, 8) = }")</a:t>
                      </a:r>
                    </a:p>
                    <a:p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print(f"{calc(</a:t>
                      </a:r>
                      <a:r>
                        <a:rPr lang="en-US" sz="1400" b="1" kern="1200" noProof="0" dirty="0">
                          <a:solidFill>
                            <a:schemeClr val="accent6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1" kern="1200" noProof="0" dirty="0" err="1">
                          <a:solidFill>
                            <a:schemeClr val="accent6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mul</a:t>
                      </a:r>
                      <a:r>
                        <a:rPr lang="en-US" sz="1400" b="1" kern="1200" noProof="0" dirty="0">
                          <a:solidFill>
                            <a:schemeClr val="accent6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1" kern="1200" noProof="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, 5, 8) = }")</a:t>
                      </a:r>
                      <a:r>
                        <a:rPr lang="en-US" sz="1400" b="1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 # error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7149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591864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python.exe 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mypy-literal.py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calc('add', 5, 8) = 13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calc('sub', 5, 8) = -3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Unknown command '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mypy.exe 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.\mypy-literal.py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mypy-literal.py:11: error: Argument 1 to "calc" has incompatible type "Literal['</a:t>
                      </a:r>
                      <a:r>
                        <a:rPr lang="en-US" sz="1400" b="1" baseline="0" noProof="0" dirty="0" err="1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</a:t>
                      </a:r>
                      <a:r>
                        <a:rPr lang="en-US" sz="14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']"; expected "Literal['add', 'sub']"  [</a:t>
                      </a:r>
                      <a:r>
                        <a:rPr lang="en-US" sz="1400" b="1" baseline="0" noProof="0" dirty="0" err="1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</a:t>
                      </a:r>
                      <a:r>
                        <a:rPr lang="en-US" sz="14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-type]</a:t>
                      </a:r>
                      <a:endParaRPr lang="en-US" sz="14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Found 1 error in 1 file (checked 1 source file)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BF8C2F4-E08A-4E3E-A4EA-7A23184E9802}"/>
              </a:ext>
            </a:extLst>
          </p:cNvPr>
          <p:cNvSpPr/>
          <p:nvPr/>
        </p:nvSpPr>
        <p:spPr>
          <a:xfrm>
            <a:off x="7267699" y="6369740"/>
            <a:ext cx="4831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PEP 586 - Literal Types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(since Python 3.8)</a:t>
            </a:r>
          </a:p>
        </p:txBody>
      </p:sp>
    </p:spTree>
    <p:extLst>
      <p:ext uri="{BB962C8B-B14F-4D97-AF65-F5344CB8AC3E}">
        <p14:creationId xmlns:p14="http://schemas.microsoft.com/office/powerpoint/2010/main" val="3051839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1479-2DAB-0E4C-8587-5F928BDC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26" y="365125"/>
            <a:ext cx="11155374" cy="1325563"/>
          </a:xfrm>
        </p:spPr>
        <p:txBody>
          <a:bodyPr/>
          <a:lstStyle/>
          <a:p>
            <a:r>
              <a:rPr lang="en-US" noProof="0" dirty="0"/>
              <a:t>Type hints for methods with multiple signatures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FF389-8FB0-39CB-66EB-9D5E61F0C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2" y="3926975"/>
            <a:ext cx="5218607" cy="2425334"/>
          </a:xfrm>
        </p:spPr>
        <p:txBody>
          <a:bodyPr>
            <a:normAutofit/>
          </a:bodyPr>
          <a:lstStyle/>
          <a:p>
            <a:r>
              <a:rPr lang="en-US" sz="2400" noProof="0" dirty="0"/>
              <a:t>The right solution is useful for functions/methods with more complex overloaded type signatures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noProof="0" dirty="0"/>
              <a:t> </a:t>
            </a:r>
            <a:r>
              <a:rPr lang="en-US" sz="2400" noProof="0" dirty="0"/>
              <a:t>is the Python Ellipsis object</a:t>
            </a:r>
          </a:p>
          <a:p>
            <a:r>
              <a:rPr lang="en-US" sz="1800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@overload</a:t>
            </a:r>
            <a:r>
              <a:rPr lang="en-US" sz="2400" noProof="0" dirty="0"/>
              <a:t> is a Python </a:t>
            </a:r>
            <a:r>
              <a:rPr lang="en-US" sz="2400" i="1" noProof="0" dirty="0"/>
              <a:t>decorator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B032DE-B45D-754D-B1FB-ADACA52DE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885307"/>
              </p:ext>
            </p:extLst>
          </p:nvPr>
        </p:nvGraphicFramePr>
        <p:xfrm>
          <a:off x="198426" y="1690688"/>
          <a:ext cx="5928043" cy="200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80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4978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printing1.py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67102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MyClass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value: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| str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-&gt; None: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int):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print('An integer', value)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str):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print('A string', value)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EFE3A6-EB7C-A99E-0B34-A66F9C0E4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51359"/>
              </p:ext>
            </p:extLst>
          </p:nvPr>
        </p:nvGraphicFramePr>
        <p:xfrm>
          <a:off x="6306492" y="1690688"/>
          <a:ext cx="5614259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25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0379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printing2.py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94043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typing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overload</a:t>
                      </a:r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MyClass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# type definition of usages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@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overload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value: int) -&gt; None: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@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overload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value: str) -&gt; None: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# actual implementation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value):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int):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print('An integer', value)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str):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print('A string', value)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EEC26E-701A-F711-2D76-43DEA802906E}"/>
              </a:ext>
            </a:extLst>
          </p:cNvPr>
          <p:cNvSpPr txBox="1"/>
          <p:nvPr/>
        </p:nvSpPr>
        <p:spPr>
          <a:xfrm>
            <a:off x="5905444" y="6352309"/>
            <a:ext cx="6120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docs.python.org/3/library/typing.html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4012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E724-86C5-69E4-E4EF-E2018C97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 hints for class inheritance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728F4D-656A-D0F4-DBE6-C61834C1F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486991"/>
              </p:ext>
            </p:extLst>
          </p:nvPr>
        </p:nvGraphicFramePr>
        <p:xfrm>
          <a:off x="1726247" y="1777397"/>
          <a:ext cx="8739505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95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4978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abstract.py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67102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typing import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override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final</a:t>
                      </a:r>
                      <a:endParaRPr lang="en-US" sz="1600" b="1" noProof="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A():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@final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prevent subclasses to override f (since Python 3.8)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f(self):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print('f')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self.g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g(self):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raise </a:t>
                      </a:r>
                      <a:r>
                        <a:rPr lang="en-US" sz="1600" b="1" noProof="0" dirty="0" err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NotImplementedError</a:t>
                      </a:r>
                      <a:endParaRPr lang="en-US" sz="1600" b="1" noProof="0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B(A):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@override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check if parent class contains g (since Python 3.12)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g(self):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print('g')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F2CF69-C8CE-0A37-B7C7-95873253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173" y="5445506"/>
            <a:ext cx="8874788" cy="1412493"/>
          </a:xfrm>
        </p:spPr>
        <p:txBody>
          <a:bodyPr>
            <a:normAutofit/>
          </a:bodyPr>
          <a:lstStyle/>
          <a:p>
            <a:r>
              <a:rPr lang="en-US" noProof="0" dirty="0"/>
              <a:t>Use </a:t>
            </a:r>
            <a:r>
              <a:rPr lang="en-US" noProof="0" dirty="0" err="1">
                <a:solidFill>
                  <a:srgbClr val="C00000"/>
                </a:solidFill>
              </a:rPr>
              <a:t>pyright</a:t>
            </a:r>
            <a:r>
              <a:rPr lang="en-US" noProof="0" dirty="0"/>
              <a:t> (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pyright</a:t>
            </a:r>
            <a:r>
              <a:rPr lang="en-US" noProof="0" dirty="0"/>
              <a:t>) to check the above, a static type checking tool from Microsoft</a:t>
            </a:r>
          </a:p>
          <a:p>
            <a:r>
              <a:rPr lang="en-US" noProof="0" dirty="0" err="1"/>
              <a:t>mypy</a:t>
            </a:r>
            <a:r>
              <a:rPr lang="en-US" noProof="0" dirty="0"/>
              <a:t> does not check it (</a:t>
            </a:r>
            <a:r>
              <a:rPr lang="en-US" noProof="0" dirty="0" err="1"/>
              <a:t>mypy</a:t>
            </a:r>
            <a:r>
              <a:rPr lang="en-US" noProof="0" dirty="0"/>
              <a:t> 1.8.0)</a:t>
            </a:r>
          </a:p>
        </p:txBody>
      </p:sp>
    </p:spTree>
    <p:extLst>
      <p:ext uri="{BB962C8B-B14F-4D97-AF65-F5344CB8AC3E}">
        <p14:creationId xmlns:p14="http://schemas.microsoft.com/office/powerpoint/2010/main" val="14244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42394</TotalTime>
  <Words>6823</Words>
  <Application>Microsoft Office PowerPoint</Application>
  <PresentationFormat>Widescreen</PresentationFormat>
  <Paragraphs>923</Paragraphs>
  <Slides>39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Consolas</vt:lpstr>
      <vt:lpstr>CordiaUPC</vt:lpstr>
      <vt:lpstr>Courier New</vt:lpstr>
      <vt:lpstr>helvetica</vt:lpstr>
      <vt:lpstr>Wingdings</vt:lpstr>
      <vt:lpstr>Office Theme</vt:lpstr>
      <vt:lpstr>Documentation, testing and debugging</vt:lpstr>
      <vt:lpstr>PowerPoint Presentation</vt:lpstr>
      <vt:lpstr>Ensuring good quality code ?</vt:lpstr>
      <vt:lpstr>What is good code ?</vt:lpstr>
      <vt:lpstr>Why ?</vt:lpstr>
      <vt:lpstr>Built-in exceptions   (class hierarchy)</vt:lpstr>
      <vt:lpstr>Testing for unexpected behavior ?</vt:lpstr>
      <vt:lpstr>Catching unexpected behaviour – assert</vt:lpstr>
      <vt:lpstr>Disabling assert statements</vt:lpstr>
      <vt:lpstr>Example</vt:lpstr>
      <vt:lpstr>First try... (seriously, the bugs were not on purpose)</vt:lpstr>
      <vt:lpstr>Let us add a specification...</vt:lpstr>
      <vt:lpstr>Let us check input requirements...</vt:lpstr>
      <vt:lpstr>Let us check if output correct...</vt:lpstr>
      <vt:lpstr>Let us test some input values...</vt:lpstr>
      <vt:lpstr>Let us check progress of algorithm...</vt:lpstr>
      <vt:lpstr>Final program</vt:lpstr>
      <vt:lpstr>Which checks would you add to the below code?</vt:lpstr>
      <vt:lpstr>PowerPoint Presentation</vt:lpstr>
      <vt:lpstr>Test driven development / Stress tests / Random testing</vt:lpstr>
      <vt:lpstr>Testing – how ?</vt:lpstr>
      <vt:lpstr>Visual testing – Convex hull computation</vt:lpstr>
      <vt:lpstr>doctest</vt:lpstr>
      <vt:lpstr>pytest</vt:lpstr>
      <vt:lpstr>unittest</vt:lpstr>
      <vt:lpstr>Debugger (IDLE)</vt:lpstr>
      <vt:lpstr>Stepping through a program (IDLE debugger)</vt:lpstr>
      <vt:lpstr>Coverage</vt:lpstr>
      <vt:lpstr>coverage html</vt:lpstr>
      <vt:lpstr>Concluding remarks on debugging and testing</vt:lpstr>
      <vt:lpstr>Mypy – a static type checker for Python</vt:lpstr>
      <vt:lpstr>mypy does not spot all errors…</vt:lpstr>
      <vt:lpstr>Type hints (PEP 484)</vt:lpstr>
      <vt:lpstr>Type hints – functions</vt:lpstr>
      <vt:lpstr>More type hints in Python 3.9  ...see PEP 484 for even more...</vt:lpstr>
      <vt:lpstr>… the same in Python 3.10</vt:lpstr>
      <vt:lpstr>Specific values</vt:lpstr>
      <vt:lpstr>Type hints for methods with multiple signatures</vt:lpstr>
      <vt:lpstr>Type hints for class inheritance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1458</cp:revision>
  <dcterms:created xsi:type="dcterms:W3CDTF">2017-10-19T06:54:16Z</dcterms:created>
  <dcterms:modified xsi:type="dcterms:W3CDTF">2026-03-11T08:26:49Z</dcterms:modified>
</cp:coreProperties>
</file>